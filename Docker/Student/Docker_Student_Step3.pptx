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0DB7ED"/>
          </a:solidFill>
          <a:ln w="12700">
            <a:solidFill>
              <a:srgbClr val="0DB7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0DB7ED">
              <a:alpha val="10000"/>
            </a:srgbClr>
          </a:solidFill>
          <a:ln w="12700">
            <a:solidFill>
              <a:srgbClr val="0DB7ED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463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DB7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Dockerfile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640080" y="29260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your own custom Docker images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DOCKERFILE?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178040" y="109728"/>
            <a:ext cx="1600200" cy="475488"/>
          </a:xfrm>
          <a:prstGeom prst="roundRect">
            <a:avLst>
              <a:gd name="adj" fmla="val 11538"/>
            </a:avLst>
          </a:prstGeom>
          <a:solidFill>
            <a:srgbClr val="0DB7ED"/>
          </a:solidFill>
          <a:ln w="12700">
            <a:solidFill>
              <a:srgbClr val="0DB7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78040" y="109728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05  •  Dockerfile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8503920" cy="804672"/>
          </a:xfrm>
          <a:prstGeom prst="roundRect">
            <a:avLst>
              <a:gd name="adj" fmla="val 11364"/>
            </a:avLst>
          </a:prstGeom>
          <a:solidFill>
            <a:srgbClr val="E0F7FE"/>
          </a:solidFill>
          <a:ln w="12700">
            <a:solidFill>
              <a:srgbClr val="99D9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75488" y="914400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Dockerfile is a plain text file with step-by-step instructions for building a Docker image. Each instruction adds a layer to the image.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20040" y="181051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Build Flow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2212848"/>
            <a:ext cx="1572768" cy="804672"/>
          </a:xfrm>
          <a:prstGeom prst="roundRect">
            <a:avLst>
              <a:gd name="adj" fmla="val 11364"/>
            </a:avLst>
          </a:prstGeom>
          <a:solidFill>
            <a:srgbClr val="E0F7FE"/>
          </a:solidFill>
          <a:ln w="12700">
            <a:solidFill>
              <a:srgbClr val="475569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0040" y="2212848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Dockerfile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0040" y="267004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instructions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911096" y="2423160"/>
            <a:ext cx="164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075688" y="2212848"/>
            <a:ext cx="1572768" cy="804672"/>
          </a:xfrm>
          <a:prstGeom prst="roundRect">
            <a:avLst>
              <a:gd name="adj" fmla="val 11364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075688" y="2212848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build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75688" y="267004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the instructions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666744" y="2423160"/>
            <a:ext cx="164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831336" y="2212848"/>
            <a:ext cx="1572768" cy="804672"/>
          </a:xfrm>
          <a:prstGeom prst="roundRect">
            <a:avLst>
              <a:gd name="adj" fmla="val 11364"/>
            </a:avLst>
          </a:prstGeom>
          <a:solidFill>
            <a:srgbClr val="E0F7FE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831336" y="2212848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Image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831336" y="267004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result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422392" y="2423160"/>
            <a:ext cx="164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586984" y="2212848"/>
            <a:ext cx="1572768" cy="804672"/>
          </a:xfrm>
          <a:prstGeom prst="roundRect">
            <a:avLst>
              <a:gd name="adj" fmla="val 11364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586984" y="2212848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586984" y="267004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creates a container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178040" y="2423160"/>
            <a:ext cx="164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342632" y="2212848"/>
            <a:ext cx="1572768" cy="804672"/>
          </a:xfrm>
          <a:prstGeom prst="roundRect">
            <a:avLst>
              <a:gd name="adj" fmla="val 11364"/>
            </a:avLst>
          </a:prstGeom>
          <a:solidFill>
            <a:srgbClr val="E0F7FE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342632" y="2212848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Container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342632" y="2670048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running app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20040" y="3218688"/>
            <a:ext cx="4114800" cy="658368"/>
          </a:xfrm>
          <a:prstGeom prst="roundRect">
            <a:avLst>
              <a:gd name="adj" fmla="val 1388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57200" y="327355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 Plain text file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57200" y="354787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special software needed to write one. Any text editor works.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09160" y="3218688"/>
            <a:ext cx="4114800" cy="658368"/>
          </a:xfrm>
          <a:prstGeom prst="roundRect">
            <a:avLst>
              <a:gd name="adj" fmla="val 1388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846320" y="327355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🔁  Reproducible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846320" y="354787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docker build on any machine and get the exact same image every time.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20040" y="3968496"/>
            <a:ext cx="4114800" cy="658368"/>
          </a:xfrm>
          <a:prstGeom prst="roundRect">
            <a:avLst>
              <a:gd name="adj" fmla="val 1388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57200" y="402336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  Version controlled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457200" y="42976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your Dockerfile in Git alongside your code. Image history becomes code history.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709160" y="3968496"/>
            <a:ext cx="4114800" cy="658368"/>
          </a:xfrm>
          <a:prstGeom prst="roundRect">
            <a:avLst>
              <a:gd name="adj" fmla="val 1388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846320" y="402336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 Layer caching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4846320" y="42976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caches each layer. If nothing changed, rebuild is instant.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Training Programme  —  Section 05: Dockerfile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DOCKERFILE INSTRUCTIONS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178040" y="109728"/>
            <a:ext cx="1600200" cy="475488"/>
          </a:xfrm>
          <a:prstGeom prst="roundRect">
            <a:avLst>
              <a:gd name="adj" fmla="val 11538"/>
            </a:avLst>
          </a:prstGeom>
          <a:solidFill>
            <a:srgbClr val="0DB7ED"/>
          </a:solidFill>
          <a:ln w="12700">
            <a:solidFill>
              <a:srgbClr val="0DB7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78040" y="109728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05  •  Dockerfile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8503920" cy="34747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896112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Instruction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572768" y="896112"/>
            <a:ext cx="3493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Does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166360" y="89611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" y="1261872"/>
            <a:ext cx="8503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335024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B7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572768" y="1335024"/>
            <a:ext cx="3493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image to build on — always the first instruction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166360" y="1335024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python:3.11-slim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0040" y="1764792"/>
            <a:ext cx="8503920" cy="47548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1837944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WORKDIR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572768" y="1837944"/>
            <a:ext cx="3493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the working directory inside the container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166360" y="1837944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WORKDIR /app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0040" y="2267712"/>
            <a:ext cx="8503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2340864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572768" y="2340864"/>
            <a:ext cx="3493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 files from your machine into the image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166360" y="2340864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 requirements.txt 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0040" y="2770632"/>
            <a:ext cx="8503920" cy="47548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2843784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572768" y="2843784"/>
            <a:ext cx="3493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 a command during the build — e.g. install packages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166360" y="2843784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pip install -r requirements.txt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20040" y="3273552"/>
            <a:ext cx="8503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3346704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572768" y="3346704"/>
            <a:ext cx="3493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an environment variable inside the image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166360" y="3346704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 PORT=8080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0040" y="3776472"/>
            <a:ext cx="8503920" cy="47548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" y="3849624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EXPOSE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1572768" y="3849624"/>
            <a:ext cx="3493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which port the container listens on (does not publish it)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166360" y="3849624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EXPOSE 8080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20040" y="4279392"/>
            <a:ext cx="8503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1480" y="4352544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CMD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1572768" y="4352544"/>
            <a:ext cx="3493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 command to run when the container starts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166360" y="4352544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CMD ["python", "app.py"]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20040" y="4754880"/>
            <a:ext cx="8503920" cy="347472"/>
          </a:xfrm>
          <a:prstGeom prst="roundRect">
            <a:avLst>
              <a:gd name="adj" fmla="val 26316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475488" y="479145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  Rule: Put instructions that change rarely (FROM, RUN install) near the top. Put frequently changing ones (COPY your code) near the bottom — to maximise layer caching.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Training Programme  —  Section 05: Dockerfile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FIRST DOCKERFILE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178040" y="109728"/>
            <a:ext cx="1600200" cy="475488"/>
          </a:xfrm>
          <a:prstGeom prst="roundRect">
            <a:avLst>
              <a:gd name="adj" fmla="val 11538"/>
            </a:avLst>
          </a:prstGeom>
          <a:solidFill>
            <a:srgbClr val="0DB7ED"/>
          </a:solidFill>
          <a:ln w="12700">
            <a:solidFill>
              <a:srgbClr val="0DB7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78040" y="109728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05  •  Dockerfile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5074920" cy="4005072"/>
          </a:xfrm>
          <a:prstGeom prst="roundRect">
            <a:avLst>
              <a:gd name="adj" fmla="val 2283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75488" y="960120"/>
            <a:ext cx="4773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Dockerfile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75488" y="1234440"/>
            <a:ext cx="477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python:3.11-slim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75488" y="1664208"/>
            <a:ext cx="477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WORKDIR /app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5488" y="2093976"/>
            <a:ext cx="477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 requirements.txt 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5488" y="2308860"/>
            <a:ext cx="477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pip install -r requirements.txt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75488" y="2738628"/>
            <a:ext cx="477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 . 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75488" y="3168396"/>
            <a:ext cx="477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 PORT=8080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75488" y="3383280"/>
            <a:ext cx="477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9A8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EXPOSE 8080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5488" y="3813048"/>
            <a:ext cx="477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CMD ["python", "app.py"]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596128" y="868680"/>
            <a:ext cx="292608" cy="292608"/>
          </a:xfrm>
          <a:prstGeom prst="ellipse">
            <a:avLst/>
          </a:prstGeom>
          <a:solidFill>
            <a:srgbClr val="0DB7ED"/>
          </a:solidFill>
          <a:ln w="12700">
            <a:solidFill>
              <a:srgbClr val="0DB7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96128" y="868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961888" y="86868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python:3.11-slim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961888" y="1106424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the official Python 3.11 slim image as the base. Already has Python installed.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596128" y="1481328"/>
            <a:ext cx="292608" cy="292608"/>
          </a:xfrm>
          <a:prstGeom prst="ellipse">
            <a:avLst/>
          </a:prstGeom>
          <a:solidFill>
            <a:srgbClr val="0DB7ED"/>
          </a:solidFill>
          <a:ln w="12700">
            <a:solidFill>
              <a:srgbClr val="0DB7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96128" y="14813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961888" y="1481328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WORKDIR /app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961888" y="171907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subsequent commands run from /app inside the container.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596128" y="2084832"/>
            <a:ext cx="292608" cy="292608"/>
          </a:xfrm>
          <a:prstGeom prst="ellipse">
            <a:avLst/>
          </a:prstGeom>
          <a:solidFill>
            <a:srgbClr val="0DB7ED"/>
          </a:solidFill>
          <a:ln w="12700">
            <a:solidFill>
              <a:srgbClr val="0DB7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96128" y="20848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961888" y="208483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 requirements.txt first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961888" y="232257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 only the requirements file first — so pip install is cached separately from your code.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596128" y="2697480"/>
            <a:ext cx="292608" cy="292608"/>
          </a:xfrm>
          <a:prstGeom prst="ellipse">
            <a:avLst/>
          </a:prstGeom>
          <a:solidFill>
            <a:srgbClr val="0DB7ED"/>
          </a:solidFill>
          <a:ln w="12700">
            <a:solidFill>
              <a:srgbClr val="0DB7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96128" y="2697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961888" y="269748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pip install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961888" y="2935224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 Python packages during build. This layer is cached — only re-runs if requirements.txt changes.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596128" y="3310128"/>
            <a:ext cx="292608" cy="292608"/>
          </a:xfrm>
          <a:prstGeom prst="ellipse">
            <a:avLst/>
          </a:prstGeom>
          <a:solidFill>
            <a:srgbClr val="0DB7ED"/>
          </a:solidFill>
          <a:ln w="12700">
            <a:solidFill>
              <a:srgbClr val="0DB7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596128" y="33101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961888" y="3310128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 . .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961888" y="354787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 your application code. Separate from pip install so code changes don't invalidate the install cache.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596128" y="3913632"/>
            <a:ext cx="292608" cy="292608"/>
          </a:xfrm>
          <a:prstGeom prst="ellipse">
            <a:avLst/>
          </a:prstGeom>
          <a:solidFill>
            <a:srgbClr val="0DB7ED"/>
          </a:solidFill>
          <a:ln w="12700">
            <a:solidFill>
              <a:srgbClr val="0DB7E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96128" y="39136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961888" y="391363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CMD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961888" y="415137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 command when container starts. Use JSON array format — more reliable than shell string.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Training Programme  —  Section 05: Dockerfile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&amp; RUN YOUR IMAGE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178040" y="109728"/>
            <a:ext cx="1600200" cy="475488"/>
          </a:xfrm>
          <a:prstGeom prst="roundRect">
            <a:avLst>
              <a:gd name="adj" fmla="val 11538"/>
            </a:avLst>
          </a:prstGeom>
          <a:solidFill>
            <a:srgbClr val="0DB7ED"/>
          </a:solidFill>
          <a:ln w="12700">
            <a:solidFill>
              <a:srgbClr val="0DB7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78040" y="109728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05  •  Dockerfile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20040" y="86868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Once you have a Dockerfile, two commands take you from code to running container: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325880"/>
            <a:ext cx="8503920" cy="1536192"/>
          </a:xfrm>
          <a:prstGeom prst="roundRect">
            <a:avLst>
              <a:gd name="adj" fmla="val 5952"/>
            </a:avLst>
          </a:prstGeom>
          <a:solidFill>
            <a:srgbClr val="E0F7FE"/>
          </a:solidFill>
          <a:ln w="12700">
            <a:solidFill>
              <a:srgbClr val="99D9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" y="1444752"/>
            <a:ext cx="502920" cy="502920"/>
          </a:xfrm>
          <a:prstGeom prst="roundRect">
            <a:avLst>
              <a:gd name="adj" fmla="val 12727"/>
            </a:avLst>
          </a:prstGeom>
          <a:solidFill>
            <a:srgbClr val="0DB7ED"/>
          </a:solidFill>
          <a:ln w="12700">
            <a:solidFill>
              <a:srgbClr val="0DB7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4447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15568" y="144475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B7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the image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115568" y="1810512"/>
            <a:ext cx="7589520" cy="502920"/>
          </a:xfrm>
          <a:prstGeom prst="roundRect">
            <a:avLst>
              <a:gd name="adj" fmla="val 18182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261872" y="1901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build -t my-python-app:v1.0 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15568" y="2359152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-t  gives the image a name and tag     .  tells Docker to look for the Dockerfile in the current directory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2971800"/>
            <a:ext cx="8503920" cy="1536192"/>
          </a:xfrm>
          <a:prstGeom prst="roundRect">
            <a:avLst>
              <a:gd name="adj" fmla="val 5952"/>
            </a:avLst>
          </a:prstGeom>
          <a:solidFill>
            <a:srgbClr val="ECFDF5"/>
          </a:solidFill>
          <a:ln w="1270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" y="3090672"/>
            <a:ext cx="502920" cy="502920"/>
          </a:xfrm>
          <a:prstGeom prst="roundRect">
            <a:avLst>
              <a:gd name="adj" fmla="val 12727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30906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15568" y="309067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a container from the image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115568" y="3456432"/>
            <a:ext cx="7589520" cy="502920"/>
          </a:xfrm>
          <a:prstGeom prst="roundRect">
            <a:avLst>
              <a:gd name="adj" fmla="val 18182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261872" y="35478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 -d --name myapp -p 8080:8080 my-python-app:v1.0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15568" y="4005072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app is now running in a container, accessible at http://localhost:8080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4645152"/>
            <a:ext cx="8503920" cy="365760"/>
          </a:xfrm>
          <a:prstGeom prst="roundRect">
            <a:avLst>
              <a:gd name="adj" fmla="val 25000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75488" y="46817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  Create a .dockerignore file to exclude node_modules, .git, __pycache__ from the build — keeps images lean and build times fast.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Training Programme  —  Section 05: Dockerfile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PRACTICES — DOCKERFILE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178040" y="109728"/>
            <a:ext cx="1600200" cy="475488"/>
          </a:xfrm>
          <a:prstGeom prst="roundRect">
            <a:avLst>
              <a:gd name="adj" fmla="val 11538"/>
            </a:avLst>
          </a:prstGeom>
          <a:solidFill>
            <a:srgbClr val="0DB7ED"/>
          </a:solidFill>
          <a:ln w="12700">
            <a:solidFill>
              <a:srgbClr val="0DB7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78040" y="109728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05  •  Dockerfile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0040" y="896112"/>
            <a:ext cx="8503920" cy="1234440"/>
          </a:xfrm>
          <a:prstGeom prst="roundRect">
            <a:avLst>
              <a:gd name="adj" fmla="val 740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75488" y="1060704"/>
            <a:ext cx="475488" cy="868680"/>
          </a:xfrm>
          <a:prstGeom prst="roundRect">
            <a:avLst>
              <a:gd name="adj" fmla="val 13462"/>
            </a:avLst>
          </a:prstGeom>
          <a:solidFill>
            <a:srgbClr val="0DB7ED"/>
          </a:solidFill>
          <a:ln w="12700">
            <a:solidFill>
              <a:srgbClr val="0DB7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060704"/>
            <a:ext cx="4754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7280" y="1005840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B7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Use a specific base image tag — never FROM python:latest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1408176"/>
            <a:ext cx="7406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python:latest will use a different version every time you build. Use FROM python:3.11-slim so every build is identical. This is the Dockerfile equivalent of pinning dependency versions.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2267712"/>
            <a:ext cx="8503920" cy="1234440"/>
          </a:xfrm>
          <a:prstGeom prst="roundRect">
            <a:avLst>
              <a:gd name="adj" fmla="val 740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" y="2432304"/>
            <a:ext cx="475488" cy="868680"/>
          </a:xfrm>
          <a:prstGeom prst="roundRect">
            <a:avLst>
              <a:gd name="adj" fmla="val 13462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2432304"/>
            <a:ext cx="4754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97280" y="2377440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Order instructions by how often they change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2779776"/>
            <a:ext cx="7406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 rarely-changing instructions (install dependencies) before frequently-changing ones (copy your code). Docker caches each layer — if layer 3 changes, layers 1 and 2 are reused. Wrong order = slow builds every time.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3639312"/>
            <a:ext cx="8503920" cy="1234440"/>
          </a:xfrm>
          <a:prstGeom prst="roundRect">
            <a:avLst>
              <a:gd name="adj" fmla="val 740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" y="3803904"/>
            <a:ext cx="475488" cy="868680"/>
          </a:xfrm>
          <a:prstGeom prst="roundRect">
            <a:avLst>
              <a:gd name="adj" fmla="val 13462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3803904"/>
            <a:ext cx="4754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97280" y="3749040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Use Alpine or slim base images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97280" y="4151376"/>
            <a:ext cx="7406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python:3.11-alpine produces a 50MB image. FROM python:3.11 produces a 917MB image. Smaller images pull faster, deploy faster and have fewer security vulnerabilities to patch.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Training Programme  —  Section 05: Dockerfile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0DB7ED"/>
          </a:solidFill>
          <a:ln w="12700">
            <a:solidFill>
              <a:srgbClr val="0DB7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0DB7ED">
              <a:alpha val="10000"/>
            </a:srgbClr>
          </a:solidFill>
          <a:ln w="12700">
            <a:solidFill>
              <a:srgbClr val="0DB7ED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463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DB7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Docker Volumes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640080" y="29260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Making data persist beyond the container lifecycle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DO WE NEED VOLUMES?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178040" y="109728"/>
            <a:ext cx="1600200" cy="475488"/>
          </a:xfrm>
          <a:prstGeom prst="roundRect">
            <a:avLst>
              <a:gd name="adj" fmla="val 11538"/>
            </a:avLst>
          </a:prstGeom>
          <a:solidFill>
            <a:srgbClr val="0DB7ED"/>
          </a:solidFill>
          <a:ln w="12700">
            <a:solidFill>
              <a:srgbClr val="0DB7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78040" y="109728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06  •  Volumes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8503920" cy="896112"/>
          </a:xfrm>
          <a:prstGeom prst="roundRect">
            <a:avLst>
              <a:gd name="adj" fmla="val 10204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75488" y="93268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 The Problem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5488" y="1243584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Containers are ephemeral — when you remove a container, everything inside it is gone. Your database, your uploaded files, your logs — all deleted. You need a way to store data outside the container.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190195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Volume Works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2304288"/>
            <a:ext cx="3291840" cy="1965960"/>
          </a:xfrm>
          <a:prstGeom prst="roundRect">
            <a:avLst>
              <a:gd name="adj" fmla="val 4651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5488" y="239572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🖥️  Host Machine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5488" y="2761488"/>
            <a:ext cx="2788920" cy="1170432"/>
          </a:xfrm>
          <a:prstGeom prst="roundRect">
            <a:avLst>
              <a:gd name="adj" fmla="val 7813"/>
            </a:avLst>
          </a:prstGeom>
          <a:solidFill>
            <a:srgbClr val="ECFDF5"/>
          </a:solidFill>
          <a:ln w="1270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1792" y="2834640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📁  Docker Volume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21792" y="3127248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/var/lib/docker/volumes/...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21792" y="3401568"/>
            <a:ext cx="24871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persists here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 after container removed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70332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59669"/>
                </a:solidFill>
              </a:rPr>
              <a:t>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11880" y="349300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mounted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251960" y="2304288"/>
            <a:ext cx="3291840" cy="1965960"/>
          </a:xfrm>
          <a:prstGeom prst="roundRect">
            <a:avLst>
              <a:gd name="adj" fmla="val 4651"/>
            </a:avLst>
          </a:prstGeom>
          <a:solidFill>
            <a:srgbClr val="E0F7FE"/>
          </a:solidFill>
          <a:ln w="12700">
            <a:solidFill>
              <a:srgbClr val="99D9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407408" y="239572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B7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🐳  Container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407408" y="2761488"/>
            <a:ext cx="278892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0DB7E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553712" y="2834640"/>
            <a:ext cx="2487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B7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📁  /data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53712" y="3127248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writes data here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553712" y="3401568"/>
            <a:ext cx="24871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 removed →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 stays safe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20040" y="440740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🗄️  Database files — PostgreSQL, MySQL, MongoDB data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709160" y="440740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📤  User uploads — Images, documents, media files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20040" y="472744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 Application logs — Logs that must survive restarts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709160" y="472744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🔧  Config files — Inject config without rebuilding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Training Programme  —  Section 06: Volumes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VOLUME TYPES &amp; COMMANDS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178040" y="109728"/>
            <a:ext cx="1600200" cy="475488"/>
          </a:xfrm>
          <a:prstGeom prst="roundRect">
            <a:avLst>
              <a:gd name="adj" fmla="val 11538"/>
            </a:avLst>
          </a:prstGeom>
          <a:solidFill>
            <a:srgbClr val="0DB7ED"/>
          </a:solidFill>
          <a:ln w="12700">
            <a:solidFill>
              <a:srgbClr val="0DB7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78040" y="109728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06  •  Volumes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8503920" cy="1207008"/>
          </a:xfrm>
          <a:prstGeom prst="roundRect">
            <a:avLst>
              <a:gd name="adj" fmla="val 7576"/>
            </a:avLst>
          </a:prstGeom>
          <a:solidFill>
            <a:srgbClr val="ECFDF5"/>
          </a:solidFill>
          <a:ln w="1270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75488" y="960120"/>
            <a:ext cx="1389888" cy="320040"/>
          </a:xfrm>
          <a:prstGeom prst="roundRect">
            <a:avLst>
              <a:gd name="adj" fmla="val 17143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960120"/>
            <a:ext cx="1389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993392" y="96012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Named Volume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5488" y="1344168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manages the storage location. Easiest to use and most portable.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687568" y="1252728"/>
            <a:ext cx="2999232" cy="658368"/>
          </a:xfrm>
          <a:prstGeom prst="roundRect">
            <a:avLst>
              <a:gd name="adj" fmla="val 13889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806440" y="1344168"/>
            <a:ext cx="2761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 -v mydata:/app/data nginx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20040" y="2194560"/>
            <a:ext cx="8503920" cy="1207008"/>
          </a:xfrm>
          <a:prstGeom prst="roundRect">
            <a:avLst>
              <a:gd name="adj" fmla="val 7576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" y="2286000"/>
            <a:ext cx="1389888" cy="320040"/>
          </a:xfrm>
          <a:prstGeom prst="roundRect">
            <a:avLst>
              <a:gd name="adj" fmla="val 17143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2286000"/>
            <a:ext cx="1389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993392" y="228600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Bind Mount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5488" y="2670048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a specific folder on your machine into the container. Great for local development — code changes reflect instantly.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687568" y="2578608"/>
            <a:ext cx="2999232" cy="658368"/>
          </a:xfrm>
          <a:prstGeom prst="roundRect">
            <a:avLst>
              <a:gd name="adj" fmla="val 13889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806440" y="2670048"/>
            <a:ext cx="2761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 -v /home/user/app:/app nginx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20040" y="3520440"/>
            <a:ext cx="8503920" cy="1207008"/>
          </a:xfrm>
          <a:prstGeom prst="roundRect">
            <a:avLst>
              <a:gd name="adj" fmla="val 7576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" y="3611880"/>
            <a:ext cx="1389888" cy="320040"/>
          </a:xfrm>
          <a:prstGeom prst="roundRect">
            <a:avLst>
              <a:gd name="adj" fmla="val 17143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" y="3611880"/>
            <a:ext cx="13898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Temporary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993392" y="361188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tmpfs Mount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75488" y="3995928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Stored in memory only. Fast but lost on container stop. Use for sensitive data like tokens.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687568" y="3904488"/>
            <a:ext cx="2999232" cy="658368"/>
          </a:xfrm>
          <a:prstGeom prst="roundRect">
            <a:avLst>
              <a:gd name="adj" fmla="val 13889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806440" y="3995928"/>
            <a:ext cx="2761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 --tmpfs /tmp nginx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20040" y="489204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Essential Volume Commands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Training Programme  —  Section 06: Volumes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VOLUME COMMANDS &amp; BEST PRACTICES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178040" y="109728"/>
            <a:ext cx="1600200" cy="475488"/>
          </a:xfrm>
          <a:prstGeom prst="roundRect">
            <a:avLst>
              <a:gd name="adj" fmla="val 11538"/>
            </a:avLst>
          </a:prstGeom>
          <a:solidFill>
            <a:srgbClr val="0DB7ED"/>
          </a:solidFill>
          <a:ln w="12700">
            <a:solidFill>
              <a:srgbClr val="0DB7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78040" y="109728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06  •  Volumes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8503920" cy="329184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89611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29200" y="89611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Does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" y="1243584"/>
            <a:ext cx="85039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28930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volume create mydata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29200" y="128930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 named volume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1627632"/>
            <a:ext cx="850392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167335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volume ls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029200" y="167335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 all volumes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2011680"/>
            <a:ext cx="85039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0574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volume inspect mydata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029200" y="20574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volume details and mount path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2395728"/>
            <a:ext cx="850392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244144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volume rm mydata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029200" y="244144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a volume (must be unused)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2779776"/>
            <a:ext cx="85039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28254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volume prune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029200" y="282549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 all unused volumes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3163824"/>
            <a:ext cx="850392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320954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 -v mydata:/app/data myapp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029200" y="320954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Mount named volume into container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0040" y="3547872"/>
            <a:ext cx="85039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359359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 -v $(pwd):/app myapp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029200" y="359359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Bind mount current directory (dev mode)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0040" y="896112"/>
            <a:ext cx="8503920" cy="1234440"/>
          </a:xfrm>
          <a:prstGeom prst="roundRect">
            <a:avLst>
              <a:gd name="adj" fmla="val 740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5488" y="1060704"/>
            <a:ext cx="475488" cy="868680"/>
          </a:xfrm>
          <a:prstGeom prst="roundRect">
            <a:avLst>
              <a:gd name="adj" fmla="val 13462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" y="1060704"/>
            <a:ext cx="4754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097280" y="1005840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Use named volumes — not bind mounts — in production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097280" y="1408176"/>
            <a:ext cx="7406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Bind mounts depend on the host path existing and having the right permissions. Named volumes are managed by Docker, portable across machines and work correctly in production environments.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20040" y="2267712"/>
            <a:ext cx="8503920" cy="1234440"/>
          </a:xfrm>
          <a:prstGeom prst="roundRect">
            <a:avLst>
              <a:gd name="adj" fmla="val 740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5488" y="2432304"/>
            <a:ext cx="475488" cy="868680"/>
          </a:xfrm>
          <a:prstGeom prst="roundRect">
            <a:avLst>
              <a:gd name="adj" fmla="val 13462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5488" y="2432304"/>
            <a:ext cx="4754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097280" y="2377440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Never store data inside the container itself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1097280" y="2779776"/>
            <a:ext cx="7406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you docker rm a container, all data inside it is gone permanently. Always mount a volume for any data that matters — databases, uploads, logs, config.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Training Programme  —  Section 06: Volumes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" cy="51435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-731520"/>
            <a:ext cx="3840480" cy="3840480"/>
          </a:xfrm>
          <a:prstGeom prst="ellipse">
            <a:avLst/>
          </a:prstGeom>
          <a:solidFill>
            <a:srgbClr val="059669">
              <a:alpha val="8000"/>
            </a:srgbClr>
          </a:solidFill>
          <a:ln w="12700">
            <a:solidFill>
              <a:srgbClr val="059669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6576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🔬  LAB 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80467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Dockerfile &amp; Volumes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94360" y="1664208"/>
            <a:ext cx="4114800" cy="2743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874520"/>
            <a:ext cx="292608" cy="29260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874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05840" y="1874520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 simple Python Flask app with a requirements.txt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" y="2350008"/>
            <a:ext cx="292608" cy="29260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3500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05840" y="2350008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a Dockerfile — FROM, WORKDIR, COPY, RUN, EXPOSE, CMD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4360" y="2825496"/>
            <a:ext cx="292608" cy="29260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8254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05840" y="2825496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the image: docker build -t my-flask-app:v1.0 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4360" y="3300984"/>
            <a:ext cx="292608" cy="29260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3009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05840" y="3300984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it: docker run -d --name flask -p 5000:5000 my-flask-app:v1.0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94360" y="3776472"/>
            <a:ext cx="292608" cy="29260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7764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05840" y="3776472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 http://localhost:5000 — confirm your app is running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94360" y="4251960"/>
            <a:ext cx="292608" cy="29260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42519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05840" y="4251960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 named volume and mount it: docker run -v mydata:/app/data ...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94360" y="4617720"/>
            <a:ext cx="4389120" cy="384048"/>
          </a:xfrm>
          <a:prstGeom prst="roundRect">
            <a:avLst>
              <a:gd name="adj" fmla="val 16667"/>
            </a:avLst>
          </a:prstGeom>
          <a:solidFill>
            <a:srgbClr val="059669">
              <a:alpha val="20000"/>
            </a:srgbClr>
          </a:solidFill>
          <a:ln w="12700">
            <a:solidFill>
              <a:srgbClr val="059669">
                <a:alpha val="4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4626864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 Duration: 14:30 – 16:00  •  Day 1 Afternoon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COMING NEXT — KUBERNETES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178040" y="109728"/>
            <a:ext cx="1600200" cy="475488"/>
          </a:xfrm>
          <a:prstGeom prst="roundRect">
            <a:avLst>
              <a:gd name="adj" fmla="val 11538"/>
            </a:avLst>
          </a:prstGeom>
          <a:solidFill>
            <a:srgbClr val="0DB7ED"/>
          </a:solidFill>
          <a:ln w="12700">
            <a:solidFill>
              <a:srgbClr val="0DB7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78040" y="109728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Next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8503920" cy="658368"/>
          </a:xfrm>
          <a:prstGeom prst="round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75488" y="914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now understand Docker images, containers, Dockerfiles and volumes. Everything you learned today directly feeds into Kubernetes — which is where containers operate at scale.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664208"/>
            <a:ext cx="2697480" cy="3035808"/>
          </a:xfrm>
          <a:prstGeom prst="roundRect">
            <a:avLst>
              <a:gd name="adj" fmla="val 339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5488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☸️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75488" y="2377440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B7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Kubernetes?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75488" y="2852928"/>
            <a:ext cx="242316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Kubernetes (K8s) is an orchestration platform that manages many containers across many machines — handling deployment, scaling, healing and networking automatically.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172968" y="1664208"/>
            <a:ext cx="2697480" cy="3035808"/>
          </a:xfrm>
          <a:prstGeom prst="roundRect">
            <a:avLst>
              <a:gd name="adj" fmla="val 339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328416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🔗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328416" y="2377440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Docker → Kubernetes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328416" y="2852928"/>
            <a:ext cx="242316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Kubernetes workload is built from Docker images. What you built today with docker run is what Kubernetes runs at scale — with auto-restart, load balancing and rolling updates.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25896" y="1664208"/>
            <a:ext cx="2697480" cy="3035808"/>
          </a:xfrm>
          <a:prstGeom prst="roundRect">
            <a:avLst>
              <a:gd name="adj" fmla="val 339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181344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🏗️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181344" y="2377440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Will Learn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181344" y="2852928"/>
            <a:ext cx="242316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Pods, Deployments, Services, ConfigMaps, Secrets, Namespaces, RBAC and Helm — all on Day 2.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Training Programme  —  End of Section 06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HAVE LEARNED TODAY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178040" y="109728"/>
            <a:ext cx="1600200" cy="475488"/>
          </a:xfrm>
          <a:prstGeom prst="roundRect">
            <a:avLst>
              <a:gd name="adj" fmla="val 11538"/>
            </a:avLst>
          </a:prstGeom>
          <a:solidFill>
            <a:srgbClr val="0DB7ED"/>
          </a:solidFill>
          <a:ln w="12700">
            <a:solidFill>
              <a:srgbClr val="0DB7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78040" y="109728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 Summary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2697480" cy="1901952"/>
          </a:xfrm>
          <a:prstGeom prst="roundRect">
            <a:avLst>
              <a:gd name="adj" fmla="val 4808"/>
            </a:avLst>
          </a:prstGeom>
          <a:solidFill>
            <a:srgbClr val="E0F7FE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29768" y="96012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0DB7ED"/>
          </a:solidFill>
          <a:ln w="12700">
            <a:solidFill>
              <a:srgbClr val="0DB7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960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978408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B7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Docker?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9768" y="1435608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The problem Docker solves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29768" y="1819656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Containers vs Virtual Machines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29768" y="2203704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Docker architecture — Client, Daemon, Registry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172968" y="868680"/>
            <a:ext cx="2697480" cy="1901952"/>
          </a:xfrm>
          <a:prstGeom prst="roundRect">
            <a:avLst>
              <a:gd name="adj" fmla="val 4808"/>
            </a:avLst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82696" y="96012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82696" y="960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767328" y="978408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Docker Architecture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82696" y="1435608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Images, Containers, Volumes, Networks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282696" y="1819656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How Client talks to Daemon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282696" y="2203704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Docker Hub registry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025896" y="868680"/>
            <a:ext cx="2697480" cy="1901952"/>
          </a:xfrm>
          <a:prstGeom prst="roundRect">
            <a:avLst>
              <a:gd name="adj" fmla="val 4808"/>
            </a:avLst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35624" y="96012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35624" y="960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620256" y="978408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Docker Images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135624" y="1435608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Layers and caching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135624" y="1819656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Pulling and tagging images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135624" y="2203704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Alpine vs Slim vs Full variants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20040" y="2880360"/>
            <a:ext cx="2697480" cy="1901952"/>
          </a:xfrm>
          <a:prstGeom prst="roundRect">
            <a:avLst>
              <a:gd name="adj" fmla="val 4808"/>
            </a:avLst>
          </a:prstGeom>
          <a:solidFill>
            <a:srgbClr val="D1FAE5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29768" y="297180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9768" y="2971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14400" y="2990088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Docker Containers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29768" y="3447288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docker run with key flags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29768" y="3831336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Managing and debugging containers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29768" y="4215384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Port mapping and resource limits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172968" y="2880360"/>
            <a:ext cx="2697480" cy="1901952"/>
          </a:xfrm>
          <a:prstGeom prst="roundRect">
            <a:avLst>
              <a:gd name="adj" fmla="val 4808"/>
            </a:avLst>
          </a:prstGeom>
          <a:solidFill>
            <a:srgbClr val="EDE9FE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282696" y="297180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82696" y="2971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3767328" y="2990088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Dockerfile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282696" y="3447288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Writing FROM, COPY, RUN, CMD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3282696" y="3831336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Building images with docker build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3282696" y="4215384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Layer caching best practices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025896" y="2880360"/>
            <a:ext cx="2697480" cy="1901952"/>
          </a:xfrm>
          <a:prstGeom prst="roundRect">
            <a:avLst>
              <a:gd name="adj" fmla="val 4808"/>
            </a:avLst>
          </a:prstGeom>
          <a:solidFill>
            <a:srgbClr val="FEF3C7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135624" y="297180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135624" y="2971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620256" y="2990088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Volumes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135624" y="3447288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Named volumes vs bind mounts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135624" y="3831336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Persisting data beyond the container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6135624" y="4215384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docker volume commands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Training Programme  —  Course Complete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" cy="5143500"/>
          </a:xfrm>
          <a:prstGeom prst="rect">
            <a:avLst/>
          </a:prstGeom>
          <a:solidFill>
            <a:srgbClr val="0DB7ED"/>
          </a:solidFill>
          <a:ln w="12700">
            <a:solidFill>
              <a:srgbClr val="0DB7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-914400"/>
            <a:ext cx="4389120" cy="4389120"/>
          </a:xfrm>
          <a:prstGeom prst="ellipse">
            <a:avLst/>
          </a:prstGeom>
          <a:solidFill>
            <a:srgbClr val="0DB7ED">
              <a:alpha val="10000"/>
            </a:srgbClr>
          </a:solidFill>
          <a:ln w="12700">
            <a:solidFill>
              <a:srgbClr val="0DB7ED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3200400"/>
            <a:ext cx="2743200" cy="2743200"/>
          </a:xfrm>
          <a:prstGeom prst="ellipse">
            <a:avLst/>
          </a:prstGeom>
          <a:solidFill>
            <a:srgbClr val="0DB7ED">
              <a:alpha val="12000"/>
            </a:srgbClr>
          </a:solidFill>
          <a:ln w="12700">
            <a:solidFill>
              <a:srgbClr val="0DB7ED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9144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Well Done.</a:t>
            </a:r>
            <a:endParaRPr lang="en-US" sz="5200" dirty="0"/>
          </a:p>
        </p:txBody>
      </p:sp>
      <p:sp>
        <p:nvSpPr>
          <p:cNvPr id="6" name="Shape 4"/>
          <p:cNvSpPr/>
          <p:nvPr/>
        </p:nvSpPr>
        <p:spPr>
          <a:xfrm>
            <a:off x="594360" y="1920240"/>
            <a:ext cx="4114800" cy="27432"/>
          </a:xfrm>
          <a:prstGeom prst="rect">
            <a:avLst/>
          </a:prstGeom>
          <a:solidFill>
            <a:srgbClr val="0DB7ED"/>
          </a:solidFill>
          <a:ln w="12700">
            <a:solidFill>
              <a:srgbClr val="0DB7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2084832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DB7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have completed the Docker Foundation Training.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2578608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Tomorrow you will apply everything you learned today inside Kubernetes — the platform that orchestrates containers at scale.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4360" y="3337560"/>
            <a:ext cx="2926080" cy="530352"/>
          </a:xfrm>
          <a:prstGeom prst="roundRect">
            <a:avLst>
              <a:gd name="adj" fmla="val 13793"/>
            </a:avLst>
          </a:prstGeom>
          <a:solidFill>
            <a:srgbClr val="0DB7ED"/>
          </a:solidFill>
          <a:ln w="12700">
            <a:solidFill>
              <a:srgbClr val="0DB7E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3337560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7731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Training Material  —  Not for Distribution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Docker Training - Step 3 - Dockerfile &amp; Volumes</dc:title>
  <dc:subject>PptxGenJS Presentation</dc:subject>
  <dc:creator>PptxGenJS</dc:creator>
  <cp:lastModifiedBy>PptxGenJS</cp:lastModifiedBy>
  <cp:revision>1</cp:revision>
  <dcterms:created xsi:type="dcterms:W3CDTF">2026-07-01T11:54:43Z</dcterms:created>
  <dcterms:modified xsi:type="dcterms:W3CDTF">2026-07-01T11:54:43Z</dcterms:modified>
</cp:coreProperties>
</file>