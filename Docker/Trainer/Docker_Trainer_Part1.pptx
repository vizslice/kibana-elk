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TRAINER GUIDE — PART 1 OF 3
Covers: Title, Prep, Agenda, Section 01 (Why Docker), Section 02 (Architecture)
Do NOT project this file to students. Use Docker_Student.pptx on the shared screen.
Keep this file open on your second monitor or printed.
All trainer notes, timing, live demo instructions and common student errors are in the speaker notes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BIGGEST RISK: Docker Desktop not running on a student machine. Always check BEFORE teaching starts.
SECOND RISK: Image pulls during the session consuming time. Pre-pull all images the evening before:
docker pull nginx:alpine nginx:latest python:3.11-slim ubuntu:22.04
WSL2 on Windows: If Docker Desktop fails with WSL2 errors, run in PowerShell as admin:
wsl --install
wsl --set-default-version 2
Then restart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09:00 – 09:10
Don't read the agenda line-by-line. Just highlight the rhythm: morning = teaching, afternoon = hands-on lab. Same structure as yesterday if this group did test automation training.
Key message to set upfront: 'Everything you learn today directly feeds into Kubernetes tomorrow. Docker is the foundation — by end of day you will understand exactly what Kubernetes is orchestrating.'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Say: 'Before we open a terminal or type a single command — we need to understand the problem Docker was built to solve. Everything else makes sense once you understand the problem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 09:22  (12 min)
This is the motivating slide. Spend real time here — if students feel the pain of the problem, the solution makes sense.
Real story to tell: 'A developer spends 3 days debugging a production crash. Turns out the Python version was 3.8 in production and 3.11 in dev. A single decimal version difference broke everything. Docker prevents this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09:22 – 09:34  (12 min)
The shipping container analogy is the most important thing on this slide. Say it in your own words, not just reading it.
Then walk through the four points quickly — 1 minute each. The 'Run Anywhere' point is the one that resonates most with juniors who have struggled with environment setup.
Common question: 'Is Docker the same as a virtual machine?' Say: 'Great question — next slide answers that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09:34 – 09:44  (10 min)
Key numbers to say out loud: 'A VM might be 10-50 GB and take 2-3 minutes to boot. A Docker container might be 50 MB and start in under 2 seconds.'
Important clarification: Containers are NOT less secure than VMs for most workloads. They are different — containers share the OS kernel (lighter), VMs have their own OS (heavier but more isolated). For this training, containers are the right choice.
Common question: 'If containers share the OS, can one container see another container's data?' Answer: No — Docker isolates each container's filesystem, network and processes. They cannot see each other unless you explicitly connect them.
BREAK COMING: 10:12 — keep this in mind as you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09:44
Say: 'Now that we know WHY Docker exists, let's look at HOW it works. Three pieces — client, daemon, registry. Once you understand these three, every docker command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09:44 – 10:02  (18 min)
Draw the three boxes on the whiteboard or virtual whiteboard while explaining. Physical drawing helps it stick better than just reading the slide.
Key analogy for the Daemon: 'The Docker Daemon is like a restaurant kitchen. You (the client) place an order at the counter. The kitchen (daemon) does the work. Docker Hub is the supermarket where the kitchen sources its ingredients (images).'
Core objects — walk through quickly: 1 minute each. Students will see all four in action today. They don't need to memorise them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10:02 – 10:12  (10 min)
This is the mental model slide. Before students type any command, they need these three concepts.
For concept 01: ask 'If I have a Python 3.11 image and I run docker run three times, how many containers do I have?' Answer: 3 independent containers from 1 image.
For concept 02: layer caching becomes critical once they write Dockerfiles. Plant the seed now: 'We'll come back to layers when we write our first Dockerfile — they make builds much faster if you order your instructions correctly.'
BREAK: 10:12 – 10:22
During break: check everyone can run docker --version in their terminal. Fix any issues before the next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bookmarked. These are the 6 errors you will see most in a Docker training session.
Port already allocated is very common when students forget to stop a container from a previous exercise — the port stays bound.
WSL2 errors only occur on Windows. If more than one student hits this, stop the group and fix all affected machines before continuing — it blocks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C2D12"/>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EF4444"/>
          </a:solidFill>
          <a:ln w="12700">
            <a:solidFill>
              <a:srgbClr val="EF4444"/>
            </a:solidFill>
            <a:prstDash val="solid"/>
          </a:ln>
        </p:spPr>
      </p:sp>
      <p:sp>
        <p:nvSpPr>
          <p:cNvPr id="3" name="Shape 1"/>
          <p:cNvSpPr/>
          <p:nvPr/>
        </p:nvSpPr>
        <p:spPr>
          <a:xfrm>
            <a:off x="6583680" y="-1097280"/>
            <a:ext cx="4114800" cy="4114800"/>
          </a:xfrm>
          <a:prstGeom prst="ellipse">
            <a:avLst/>
          </a:prstGeom>
          <a:solidFill>
            <a:srgbClr val="EF4444">
              <a:alpha val="12000"/>
            </a:srgbClr>
          </a:solidFill>
          <a:ln w="12700">
            <a:solidFill>
              <a:srgbClr val="EF4444">
                <a:alpha val="22000"/>
              </a:srgbClr>
            </a:solidFill>
            <a:prstDash val="solid"/>
          </a:ln>
        </p:spPr>
      </p:sp>
      <p:sp>
        <p:nvSpPr>
          <p:cNvPr id="4" name="Text 2"/>
          <p:cNvSpPr/>
          <p:nvPr/>
        </p:nvSpPr>
        <p:spPr>
          <a:xfrm>
            <a:off x="594360" y="822960"/>
            <a:ext cx="822960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DOCKER</a:t>
            </a:r>
            <a:endParaRPr lang="en-US" sz="5200" dirty="0"/>
          </a:p>
        </p:txBody>
      </p:sp>
      <p:sp>
        <p:nvSpPr>
          <p:cNvPr id="5" name="Text 3"/>
          <p:cNvSpPr/>
          <p:nvPr/>
        </p:nvSpPr>
        <p:spPr>
          <a:xfrm>
            <a:off x="594360" y="1719072"/>
            <a:ext cx="7315200" cy="621792"/>
          </a:xfrm>
          <a:prstGeom prst="rect">
            <a:avLst/>
          </a:prstGeom>
          <a:noFill/>
          <a:ln/>
        </p:spPr>
        <p:txBody>
          <a:bodyPr wrap="square" lIns="0" tIns="0" rIns="0" bIns="0" rtlCol="0" anchor="ctr"/>
          <a:lstStyle/>
          <a:p>
            <a:pPr indent="0" marL="0">
              <a:buNone/>
            </a:pPr>
            <a:r>
              <a:rPr lang="en-US" sz="2600" dirty="0">
                <a:solidFill>
                  <a:srgbClr val="FCA5A5"/>
                </a:solidFill>
                <a:latin typeface="Cambria" pitchFamily="34" charset="0"/>
                <a:ea typeface="Cambria" pitchFamily="34" charset="-122"/>
                <a:cs typeface="Cambria" pitchFamily="34" charset="-120"/>
              </a:rPr>
              <a:t>Trainer Guide  —  Part 1 of 3</a:t>
            </a:r>
            <a:endParaRPr lang="en-US" sz="2600" dirty="0"/>
          </a:p>
        </p:txBody>
      </p:sp>
      <p:sp>
        <p:nvSpPr>
          <p:cNvPr id="6" name="Shape 4"/>
          <p:cNvSpPr/>
          <p:nvPr/>
        </p:nvSpPr>
        <p:spPr>
          <a:xfrm>
            <a:off x="594360" y="2450592"/>
            <a:ext cx="4572000" cy="27432"/>
          </a:xfrm>
          <a:prstGeom prst="rect">
            <a:avLst/>
          </a:prstGeom>
          <a:solidFill>
            <a:srgbClr val="EF4444"/>
          </a:solidFill>
          <a:ln w="12700">
            <a:solidFill>
              <a:srgbClr val="EF4444"/>
            </a:solidFill>
            <a:prstDash val="solid"/>
          </a:ln>
        </p:spPr>
      </p:sp>
      <p:sp>
        <p:nvSpPr>
          <p:cNvPr id="7" name="Text 5"/>
          <p:cNvSpPr/>
          <p:nvPr/>
        </p:nvSpPr>
        <p:spPr>
          <a:xfrm>
            <a:off x="594360" y="2606040"/>
            <a:ext cx="7772400" cy="329184"/>
          </a:xfrm>
          <a:prstGeom prst="rect">
            <a:avLst/>
          </a:prstGeom>
          <a:noFill/>
          <a:ln/>
        </p:spPr>
        <p:txBody>
          <a:bodyPr wrap="square" lIns="0" tIns="0" rIns="0" bIns="0" rtlCol="0" anchor="ctr"/>
          <a:lstStyle/>
          <a:p>
            <a:pPr indent="0" marL="0">
              <a:buNone/>
            </a:pPr>
            <a:r>
              <a:rPr lang="en-US" sz="1200" b="1" dirty="0">
                <a:solidFill>
                  <a:srgbClr val="FCA5A5"/>
                </a:solidFill>
                <a:latin typeface="Arial" pitchFamily="34" charset="0"/>
                <a:ea typeface="Arial" pitchFamily="34" charset="-122"/>
                <a:cs typeface="Arial" pitchFamily="34" charset="-120"/>
              </a:rPr>
              <a:t>🔒  This deck is for the trainer only — not for distribution to students.</a:t>
            </a:r>
            <a:endParaRPr lang="en-US" sz="1200" dirty="0"/>
          </a:p>
        </p:txBody>
      </p:sp>
      <p:sp>
        <p:nvSpPr>
          <p:cNvPr id="8" name="Text 6"/>
          <p:cNvSpPr/>
          <p:nvPr/>
        </p:nvSpPr>
        <p:spPr>
          <a:xfrm>
            <a:off x="594360" y="2999232"/>
            <a:ext cx="8229600"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Covers  </a:t>
            </a:r>
            <a:pPr indent="0" marL="0">
              <a:buNone/>
            </a:pPr>
            <a:r>
              <a:rPr lang="en-US" sz="1150" dirty="0">
                <a:solidFill>
                  <a:srgbClr val="FCA5A5"/>
                </a:solidFill>
                <a:latin typeface="Arial" pitchFamily="34" charset="0"/>
                <a:ea typeface="Arial" pitchFamily="34" charset="-122"/>
                <a:cs typeface="Arial" pitchFamily="34" charset="-120"/>
              </a:rPr>
              <a:t>Part 1: Title, Prep, Agenda, Section 01 (Why Docker), Section 02 (Architecture)</a:t>
            </a:r>
            <a:endParaRPr lang="en-US" sz="1150" dirty="0"/>
          </a:p>
        </p:txBody>
      </p:sp>
      <p:sp>
        <p:nvSpPr>
          <p:cNvPr id="9" name="Text 7"/>
          <p:cNvSpPr/>
          <p:nvPr/>
        </p:nvSpPr>
        <p:spPr>
          <a:xfrm>
            <a:off x="594360" y="3364992"/>
            <a:ext cx="8229600"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Student deck  </a:t>
            </a:r>
            <a:pPr indent="0" marL="0">
              <a:buNone/>
            </a:pPr>
            <a:r>
              <a:rPr lang="en-US" sz="1150" dirty="0">
                <a:solidFill>
                  <a:srgbClr val="FCA5A5"/>
                </a:solidFill>
                <a:latin typeface="Arial" pitchFamily="34" charset="0"/>
                <a:ea typeface="Arial" pitchFamily="34" charset="-122"/>
                <a:cs typeface="Arial" pitchFamily="34" charset="-120"/>
              </a:rPr>
              <a:t>Share Docker_Student.pptx only — that file has no trainer content.</a:t>
            </a:r>
            <a:endParaRPr lang="en-US" sz="1150" dirty="0"/>
          </a:p>
        </p:txBody>
      </p:sp>
      <p:sp>
        <p:nvSpPr>
          <p:cNvPr id="10" name="Shape 8"/>
          <p:cNvSpPr/>
          <p:nvPr/>
        </p:nvSpPr>
        <p:spPr>
          <a:xfrm>
            <a:off x="0" y="4754880"/>
            <a:ext cx="9144000" cy="388620"/>
          </a:xfrm>
          <a:prstGeom prst="rect">
            <a:avLst/>
          </a:prstGeom>
          <a:solidFill>
            <a:srgbClr val="450A0A"/>
          </a:solidFill>
          <a:ln w="12700">
            <a:solidFill>
              <a:srgbClr val="450A0A"/>
            </a:solidFill>
            <a:prstDash val="solid"/>
          </a:ln>
        </p:spPr>
      </p:sp>
      <p:sp>
        <p:nvSpPr>
          <p:cNvPr id="11" name="Text 9"/>
          <p:cNvSpPr/>
          <p:nvPr/>
        </p:nvSpPr>
        <p:spPr>
          <a:xfrm>
            <a:off x="457200" y="4773168"/>
            <a:ext cx="8229600" cy="320040"/>
          </a:xfrm>
          <a:prstGeom prst="rect">
            <a:avLst/>
          </a:prstGeom>
          <a:noFill/>
          <a:ln/>
        </p:spPr>
        <p:txBody>
          <a:bodyPr wrap="square" lIns="0" tIns="0" rIns="0" bIns="0" rtlCol="0" anchor="ctr"/>
          <a:lstStyle/>
          <a:p>
            <a:pPr algn="ctr" indent="0" marL="0">
              <a:buNone/>
            </a:pPr>
            <a:r>
              <a:rPr lang="en-US" sz="1000" dirty="0">
                <a:solidFill>
                  <a:srgbClr val="FCA5A5"/>
                </a:solidFill>
                <a:latin typeface="Arial" pitchFamily="34" charset="0"/>
                <a:ea typeface="Arial" pitchFamily="34" charset="-122"/>
                <a:cs typeface="Arial" pitchFamily="34" charset="-120"/>
              </a:rPr>
              <a:t>CONFIDENTIAL — TRAINER USE ONLY — Do Not Distribute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TRAINER PREPARATION GUIDE</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207008"/>
            <a:ext cx="2697480" cy="3657600"/>
          </a:xfrm>
          <a:prstGeom prst="roundRect">
            <a:avLst>
              <a:gd name="adj" fmla="val 3390"/>
            </a:avLst>
          </a:prstGeom>
          <a:solidFill>
            <a:srgbClr val="E0F7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Shape 7"/>
          <p:cNvSpPr/>
          <p:nvPr/>
        </p:nvSpPr>
        <p:spPr>
          <a:xfrm>
            <a:off x="429768" y="1316736"/>
            <a:ext cx="2487168" cy="347472"/>
          </a:xfrm>
          <a:prstGeom prst="roundRect">
            <a:avLst>
              <a:gd name="adj" fmla="val 15789"/>
            </a:avLst>
          </a:prstGeom>
          <a:solidFill>
            <a:srgbClr val="0DB7ED"/>
          </a:solidFill>
          <a:ln w="12700">
            <a:solidFill>
              <a:srgbClr val="0DB7ED"/>
            </a:solidFill>
            <a:prstDash val="solid"/>
          </a:ln>
        </p:spPr>
      </p:sp>
      <p:sp>
        <p:nvSpPr>
          <p:cNvPr id="10" name="Text 8"/>
          <p:cNvSpPr/>
          <p:nvPr/>
        </p:nvSpPr>
        <p:spPr>
          <a:xfrm>
            <a:off x="429768"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Before Training Day</a:t>
            </a:r>
            <a:endParaRPr lang="en-US" sz="950" dirty="0"/>
          </a:p>
        </p:txBody>
      </p:sp>
      <p:sp>
        <p:nvSpPr>
          <p:cNvPr id="11" name="Text 9"/>
          <p:cNvSpPr/>
          <p:nvPr/>
        </p:nvSpPr>
        <p:spPr>
          <a:xfrm>
            <a:off x="484632"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Install Docker Desktop on all lab machines — verify with: docker --version</a:t>
            </a:r>
            <a:endParaRPr lang="en-US" sz="950" dirty="0"/>
          </a:p>
        </p:txBody>
      </p:sp>
      <p:sp>
        <p:nvSpPr>
          <p:cNvPr id="12" name="Text 10"/>
          <p:cNvSpPr/>
          <p:nvPr/>
        </p:nvSpPr>
        <p:spPr>
          <a:xfrm>
            <a:off x="484632"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Run: docker pull nginx:alpine nginx:latest python:3.11-slim to pre-cache images</a:t>
            </a:r>
            <a:endParaRPr lang="en-US" sz="950" dirty="0"/>
          </a:p>
        </p:txBody>
      </p:sp>
      <p:sp>
        <p:nvSpPr>
          <p:cNvPr id="13" name="Text 11"/>
          <p:cNvSpPr/>
          <p:nvPr/>
        </p:nvSpPr>
        <p:spPr>
          <a:xfrm>
            <a:off x="484632"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Clone or create the lab project folder with the sample Python Flask app</a:t>
            </a:r>
            <a:endParaRPr lang="en-US" sz="950" dirty="0"/>
          </a:p>
        </p:txBody>
      </p:sp>
      <p:sp>
        <p:nvSpPr>
          <p:cNvPr id="14" name="Text 12"/>
          <p:cNvSpPr/>
          <p:nvPr/>
        </p:nvSpPr>
        <p:spPr>
          <a:xfrm>
            <a:off x="484632"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Verify pip install works inside a container on each machine</a:t>
            </a:r>
            <a:endParaRPr lang="en-US" sz="950" dirty="0"/>
          </a:p>
        </p:txBody>
      </p:sp>
      <p:sp>
        <p:nvSpPr>
          <p:cNvPr id="15" name="Text 13"/>
          <p:cNvSpPr/>
          <p:nvPr/>
        </p:nvSpPr>
        <p:spPr>
          <a:xfrm>
            <a:off x="484632"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Open Docker Desktop and confirm the Docker Engine is running (green icon)</a:t>
            </a:r>
            <a:endParaRPr lang="en-US" sz="950" dirty="0"/>
          </a:p>
        </p:txBody>
      </p:sp>
      <p:sp>
        <p:nvSpPr>
          <p:cNvPr id="16" name="Text 14"/>
          <p:cNvSpPr/>
          <p:nvPr/>
        </p:nvSpPr>
        <p:spPr>
          <a:xfrm>
            <a:off x="484632" y="413308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Test: docker run -d -p 8080:80 nginx:alpine then visit localhost:8080</a:t>
            </a:r>
            <a:endParaRPr lang="en-US" sz="950" dirty="0"/>
          </a:p>
        </p:txBody>
      </p:sp>
      <p:sp>
        <p:nvSpPr>
          <p:cNvPr id="17" name="Shape 15"/>
          <p:cNvSpPr/>
          <p:nvPr/>
        </p:nvSpPr>
        <p:spPr>
          <a:xfrm>
            <a:off x="3172968" y="1207008"/>
            <a:ext cx="2697480" cy="3657600"/>
          </a:xfrm>
          <a:prstGeom prst="roundRect">
            <a:avLst>
              <a:gd name="adj" fmla="val 3390"/>
            </a:avLst>
          </a:prstGeom>
          <a:solidFill>
            <a:srgbClr val="D1FAE5"/>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3282696" y="1316736"/>
            <a:ext cx="2487168" cy="347472"/>
          </a:xfrm>
          <a:prstGeom prst="roundRect">
            <a:avLst>
              <a:gd name="adj" fmla="val 15789"/>
            </a:avLst>
          </a:prstGeom>
          <a:solidFill>
            <a:srgbClr val="059669"/>
          </a:solidFill>
          <a:ln w="12700">
            <a:solidFill>
              <a:srgbClr val="059669"/>
            </a:solidFill>
            <a:prstDash val="solid"/>
          </a:ln>
        </p:spPr>
      </p:sp>
      <p:sp>
        <p:nvSpPr>
          <p:cNvPr id="19" name="Text 17"/>
          <p:cNvSpPr/>
          <p:nvPr/>
        </p:nvSpPr>
        <p:spPr>
          <a:xfrm>
            <a:off x="3282696"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Morning — Before 09:00</a:t>
            </a:r>
            <a:endParaRPr lang="en-US" sz="950" dirty="0"/>
          </a:p>
        </p:txBody>
      </p:sp>
      <p:sp>
        <p:nvSpPr>
          <p:cNvPr id="20" name="Text 18"/>
          <p:cNvSpPr/>
          <p:nvPr/>
        </p:nvSpPr>
        <p:spPr>
          <a:xfrm>
            <a:off x="3337560"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Open student deck on projector — check Docker blue renders correctly</a:t>
            </a:r>
            <a:endParaRPr lang="en-US" sz="950" dirty="0"/>
          </a:p>
        </p:txBody>
      </p:sp>
      <p:sp>
        <p:nvSpPr>
          <p:cNvPr id="21" name="Text 19"/>
          <p:cNvSpPr/>
          <p:nvPr/>
        </p:nvSpPr>
        <p:spPr>
          <a:xfrm>
            <a:off x="3337560"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Have terminal open with Docker Desktop running in the background</a:t>
            </a:r>
            <a:endParaRPr lang="en-US" sz="950" dirty="0"/>
          </a:p>
        </p:txBody>
      </p:sp>
      <p:sp>
        <p:nvSpPr>
          <p:cNvPr id="22" name="Text 20"/>
          <p:cNvSpPr/>
          <p:nvPr/>
        </p:nvSpPr>
        <p:spPr>
          <a:xfrm>
            <a:off x="3337560"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Pre-pull any remaining images to avoid download delays during demos</a:t>
            </a:r>
            <a:endParaRPr lang="en-US" sz="950" dirty="0"/>
          </a:p>
        </p:txBody>
      </p:sp>
      <p:sp>
        <p:nvSpPr>
          <p:cNvPr id="23" name="Text 21"/>
          <p:cNvSpPr/>
          <p:nvPr/>
        </p:nvSpPr>
        <p:spPr>
          <a:xfrm>
            <a:off x="3337560"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Write today's schedule on the whiteboard or shared screen</a:t>
            </a:r>
            <a:endParaRPr lang="en-US" sz="950" dirty="0"/>
          </a:p>
        </p:txBody>
      </p:sp>
      <p:sp>
        <p:nvSpPr>
          <p:cNvPr id="24" name="Text 22"/>
          <p:cNvSpPr/>
          <p:nvPr/>
        </p:nvSpPr>
        <p:spPr>
          <a:xfrm>
            <a:off x="3337560"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Confirm all students have Docker Desktop installed and running</a:t>
            </a:r>
            <a:endParaRPr lang="en-US" sz="950" dirty="0"/>
          </a:p>
        </p:txBody>
      </p:sp>
      <p:sp>
        <p:nvSpPr>
          <p:cNvPr id="25" name="Shape 23"/>
          <p:cNvSpPr/>
          <p:nvPr/>
        </p:nvSpPr>
        <p:spPr>
          <a:xfrm>
            <a:off x="6025896" y="1207008"/>
            <a:ext cx="2697480" cy="3657600"/>
          </a:xfrm>
          <a:prstGeom prst="roundRect">
            <a:avLst>
              <a:gd name="adj" fmla="val 3390"/>
            </a:avLst>
          </a:prstGeom>
          <a:solidFill>
            <a:srgbClr val="FEF3C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Shape 24"/>
          <p:cNvSpPr/>
          <p:nvPr/>
        </p:nvSpPr>
        <p:spPr>
          <a:xfrm>
            <a:off x="6135624" y="1316736"/>
            <a:ext cx="2487168" cy="347472"/>
          </a:xfrm>
          <a:prstGeom prst="roundRect">
            <a:avLst>
              <a:gd name="adj" fmla="val 15789"/>
            </a:avLst>
          </a:prstGeom>
          <a:solidFill>
            <a:srgbClr val="D97706"/>
          </a:solidFill>
          <a:ln w="12700">
            <a:solidFill>
              <a:srgbClr val="D97706"/>
            </a:solidFill>
            <a:prstDash val="solid"/>
          </a:ln>
        </p:spPr>
      </p:sp>
      <p:sp>
        <p:nvSpPr>
          <p:cNvPr id="27" name="Text 25"/>
          <p:cNvSpPr/>
          <p:nvPr/>
        </p:nvSpPr>
        <p:spPr>
          <a:xfrm>
            <a:off x="6135624" y="1316736"/>
            <a:ext cx="248716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Docker Desktop Check</a:t>
            </a:r>
            <a:endParaRPr lang="en-US" sz="950" dirty="0"/>
          </a:p>
        </p:txBody>
      </p:sp>
      <p:sp>
        <p:nvSpPr>
          <p:cNvPr id="28" name="Text 26"/>
          <p:cNvSpPr/>
          <p:nvPr/>
        </p:nvSpPr>
        <p:spPr>
          <a:xfrm>
            <a:off x="6190488" y="1755648"/>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Students open Docker Desktop before 09:00</a:t>
            </a:r>
            <a:endParaRPr lang="en-US" sz="950" dirty="0"/>
          </a:p>
        </p:txBody>
      </p:sp>
      <p:sp>
        <p:nvSpPr>
          <p:cNvPr id="29" name="Text 27"/>
          <p:cNvSpPr/>
          <p:nvPr/>
        </p:nvSpPr>
        <p:spPr>
          <a:xfrm>
            <a:off x="6190488" y="2231136"/>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Engine status must show green / running</a:t>
            </a:r>
            <a:endParaRPr lang="en-US" sz="950" dirty="0"/>
          </a:p>
        </p:txBody>
      </p:sp>
      <p:sp>
        <p:nvSpPr>
          <p:cNvPr id="30" name="Text 28"/>
          <p:cNvSpPr/>
          <p:nvPr/>
        </p:nvSpPr>
        <p:spPr>
          <a:xfrm>
            <a:off x="6190488" y="2706624"/>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If any machine shows error: restart Docker Desktop first</a:t>
            </a:r>
            <a:endParaRPr lang="en-US" sz="950" dirty="0"/>
          </a:p>
        </p:txBody>
      </p:sp>
      <p:sp>
        <p:nvSpPr>
          <p:cNvPr id="31" name="Text 29"/>
          <p:cNvSpPr/>
          <p:nvPr/>
        </p:nvSpPr>
        <p:spPr>
          <a:xfrm>
            <a:off x="6190488" y="3182112"/>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If restart fails: reinstall Docker Desktop (keep installer ready)</a:t>
            </a:r>
            <a:endParaRPr lang="en-US" sz="950" dirty="0"/>
          </a:p>
        </p:txBody>
      </p:sp>
      <p:sp>
        <p:nvSpPr>
          <p:cNvPr id="32" name="Text 30"/>
          <p:cNvSpPr/>
          <p:nvPr/>
        </p:nvSpPr>
        <p:spPr>
          <a:xfrm>
            <a:off x="6190488" y="3657600"/>
            <a:ext cx="2423160" cy="43891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WSL2 errors on Windows: Enable WSL2 via PowerShell as admin</a:t>
            </a:r>
            <a:endParaRPr lang="en-US" sz="950" dirty="0"/>
          </a:p>
        </p:txBody>
      </p:sp>
      <p:sp>
        <p:nvSpPr>
          <p:cNvPr id="33" name="Shape 31"/>
          <p:cNvSpPr/>
          <p:nvPr/>
        </p:nvSpPr>
        <p:spPr>
          <a:xfrm>
            <a:off x="0" y="4846320"/>
            <a:ext cx="9144000" cy="297180"/>
          </a:xfrm>
          <a:prstGeom prst="rect">
            <a:avLst/>
          </a:prstGeom>
          <a:solidFill>
            <a:srgbClr val="7C2D12"/>
          </a:solidFill>
          <a:ln w="12700">
            <a:solidFill>
              <a:srgbClr val="7C2D12"/>
            </a:solidFill>
            <a:prstDash val="solid"/>
          </a:ln>
        </p:spPr>
      </p:sp>
      <p:sp>
        <p:nvSpPr>
          <p:cNvPr id="34" name="Text 3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Preparation Checklist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AGENDA — 1 DAY PROGRAMME</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Overview</a:t>
            </a:r>
            <a:endParaRPr lang="en-US" sz="950" dirty="0"/>
          </a:p>
        </p:txBody>
      </p:sp>
      <p:sp>
        <p:nvSpPr>
          <p:cNvPr id="6" name="Shape 4"/>
          <p:cNvSpPr/>
          <p:nvPr/>
        </p:nvSpPr>
        <p:spPr>
          <a:xfrm>
            <a:off x="411480" y="841248"/>
            <a:ext cx="8321040" cy="713232"/>
          </a:xfrm>
          <a:prstGeom prst="roundRect">
            <a:avLst>
              <a:gd name="adj" fmla="val 12821"/>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548640" y="978408"/>
            <a:ext cx="1536192" cy="438912"/>
          </a:xfrm>
          <a:prstGeom prst="roundRect">
            <a:avLst>
              <a:gd name="adj" fmla="val 14583"/>
            </a:avLst>
          </a:prstGeom>
          <a:solidFill>
            <a:srgbClr val="0DB7ED"/>
          </a:solidFill>
          <a:ln w="12700">
            <a:solidFill>
              <a:srgbClr val="0DB7ED"/>
            </a:solidFill>
            <a:prstDash val="solid"/>
          </a:ln>
        </p:spPr>
      </p:sp>
      <p:sp>
        <p:nvSpPr>
          <p:cNvPr id="8" name="Text 6"/>
          <p:cNvSpPr/>
          <p:nvPr/>
        </p:nvSpPr>
        <p:spPr>
          <a:xfrm>
            <a:off x="548640" y="978408"/>
            <a:ext cx="1536192"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09:00 – 10:25</a:t>
            </a:r>
            <a:endParaRPr lang="en-US" sz="950" dirty="0"/>
          </a:p>
        </p:txBody>
      </p:sp>
      <p:sp>
        <p:nvSpPr>
          <p:cNvPr id="9" name="Text 7"/>
          <p:cNvSpPr/>
          <p:nvPr/>
        </p:nvSpPr>
        <p:spPr>
          <a:xfrm>
            <a:off x="2267712" y="914400"/>
            <a:ext cx="6400800" cy="292608"/>
          </a:xfrm>
          <a:prstGeom prst="rect">
            <a:avLst/>
          </a:prstGeom>
          <a:noFill/>
          <a:ln/>
        </p:spPr>
        <p:txBody>
          <a:bodyPr wrap="square" lIns="0" tIns="0" rIns="0" bIns="0" rtlCol="0" anchor="ctr"/>
          <a:lstStyle/>
          <a:p>
            <a:pPr indent="0" marL="0">
              <a:buNone/>
            </a:pPr>
            <a:r>
              <a:rPr lang="en-US" sz="1300" b="1" dirty="0">
                <a:solidFill>
                  <a:srgbClr val="0DB7ED"/>
                </a:solidFill>
                <a:latin typeface="Cambria" pitchFamily="34" charset="0"/>
                <a:ea typeface="Cambria" pitchFamily="34" charset="-122"/>
                <a:cs typeface="Cambria" pitchFamily="34" charset="-120"/>
              </a:rPr>
              <a:t>🎓  Teaching Block 1</a:t>
            </a:r>
            <a:endParaRPr lang="en-US" sz="1300" dirty="0"/>
          </a:p>
        </p:txBody>
      </p:sp>
      <p:sp>
        <p:nvSpPr>
          <p:cNvPr id="10" name="Text 8"/>
          <p:cNvSpPr/>
          <p:nvPr/>
        </p:nvSpPr>
        <p:spPr>
          <a:xfrm>
            <a:off x="2267712" y="1225296"/>
            <a:ext cx="63093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What is Docker &amp; Why it Exists  •  Docker Architecture  •  Docker Images</a:t>
            </a:r>
            <a:endParaRPr lang="en-US" sz="1000" dirty="0"/>
          </a:p>
        </p:txBody>
      </p:sp>
      <p:sp>
        <p:nvSpPr>
          <p:cNvPr id="11" name="Shape 9"/>
          <p:cNvSpPr/>
          <p:nvPr/>
        </p:nvSpPr>
        <p:spPr>
          <a:xfrm>
            <a:off x="411480" y="1645920"/>
            <a:ext cx="8321040" cy="457200"/>
          </a:xfrm>
          <a:prstGeom prst="roundRect">
            <a:avLst>
              <a:gd name="adj" fmla="val 2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548640" y="1655064"/>
            <a:ext cx="1536192" cy="438912"/>
          </a:xfrm>
          <a:prstGeom prst="roundRect">
            <a:avLst>
              <a:gd name="adj" fmla="val 14583"/>
            </a:avLst>
          </a:prstGeom>
          <a:solidFill>
            <a:srgbClr val="94A3B8"/>
          </a:solidFill>
          <a:ln w="12700">
            <a:solidFill>
              <a:srgbClr val="94A3B8"/>
            </a:solidFill>
            <a:prstDash val="solid"/>
          </a:ln>
        </p:spPr>
      </p:sp>
      <p:sp>
        <p:nvSpPr>
          <p:cNvPr id="13" name="Text 11"/>
          <p:cNvSpPr/>
          <p:nvPr/>
        </p:nvSpPr>
        <p:spPr>
          <a:xfrm>
            <a:off x="548640" y="1655064"/>
            <a:ext cx="1536192"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10:25 – 10:35</a:t>
            </a:r>
            <a:endParaRPr lang="en-US" sz="950" dirty="0"/>
          </a:p>
        </p:txBody>
      </p:sp>
      <p:sp>
        <p:nvSpPr>
          <p:cNvPr id="14" name="Text 12"/>
          <p:cNvSpPr/>
          <p:nvPr/>
        </p:nvSpPr>
        <p:spPr>
          <a:xfrm>
            <a:off x="2267712" y="1719072"/>
            <a:ext cx="6400800" cy="292608"/>
          </a:xfrm>
          <a:prstGeom prst="rect">
            <a:avLst/>
          </a:prstGeom>
          <a:noFill/>
          <a:ln/>
        </p:spPr>
        <p:txBody>
          <a:bodyPr wrap="square" lIns="0" tIns="0" rIns="0" bIns="0" rtlCol="0" anchor="ctr"/>
          <a:lstStyle/>
          <a:p>
            <a:pPr indent="0" marL="0">
              <a:buNone/>
            </a:pPr>
            <a:r>
              <a:rPr lang="en-US" sz="1300" b="1" dirty="0">
                <a:solidFill>
                  <a:srgbClr val="94A3B8"/>
                </a:solidFill>
                <a:latin typeface="Cambria" pitchFamily="34" charset="0"/>
                <a:ea typeface="Cambria" pitchFamily="34" charset="-122"/>
                <a:cs typeface="Cambria" pitchFamily="34" charset="-120"/>
              </a:rPr>
              <a:t>☕  Break</a:t>
            </a:r>
            <a:endParaRPr lang="en-US" sz="1300" dirty="0"/>
          </a:p>
        </p:txBody>
      </p:sp>
      <p:sp>
        <p:nvSpPr>
          <p:cNvPr id="15" name="Shape 13"/>
          <p:cNvSpPr/>
          <p:nvPr/>
        </p:nvSpPr>
        <p:spPr>
          <a:xfrm>
            <a:off x="411480" y="2194560"/>
            <a:ext cx="8321040" cy="713232"/>
          </a:xfrm>
          <a:prstGeom prst="roundRect">
            <a:avLst>
              <a:gd name="adj" fmla="val 12821"/>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548640" y="2331720"/>
            <a:ext cx="1536192" cy="438912"/>
          </a:xfrm>
          <a:prstGeom prst="roundRect">
            <a:avLst>
              <a:gd name="adj" fmla="val 14583"/>
            </a:avLst>
          </a:prstGeom>
          <a:solidFill>
            <a:srgbClr val="0DB7ED"/>
          </a:solidFill>
          <a:ln w="12700">
            <a:solidFill>
              <a:srgbClr val="0DB7ED"/>
            </a:solidFill>
            <a:prstDash val="solid"/>
          </a:ln>
        </p:spPr>
      </p:sp>
      <p:sp>
        <p:nvSpPr>
          <p:cNvPr id="17" name="Text 15"/>
          <p:cNvSpPr/>
          <p:nvPr/>
        </p:nvSpPr>
        <p:spPr>
          <a:xfrm>
            <a:off x="548640" y="2331720"/>
            <a:ext cx="1536192"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10:35 – 12:00</a:t>
            </a:r>
            <a:endParaRPr lang="en-US" sz="950" dirty="0"/>
          </a:p>
        </p:txBody>
      </p:sp>
      <p:sp>
        <p:nvSpPr>
          <p:cNvPr id="18" name="Text 16"/>
          <p:cNvSpPr/>
          <p:nvPr/>
        </p:nvSpPr>
        <p:spPr>
          <a:xfrm>
            <a:off x="2267712" y="2267712"/>
            <a:ext cx="6400800" cy="292608"/>
          </a:xfrm>
          <a:prstGeom prst="rect">
            <a:avLst/>
          </a:prstGeom>
          <a:noFill/>
          <a:ln/>
        </p:spPr>
        <p:txBody>
          <a:bodyPr wrap="square" lIns="0" tIns="0" rIns="0" bIns="0" rtlCol="0" anchor="ctr"/>
          <a:lstStyle/>
          <a:p>
            <a:pPr indent="0" marL="0">
              <a:buNone/>
            </a:pPr>
            <a:r>
              <a:rPr lang="en-US" sz="1300" b="1" dirty="0">
                <a:solidFill>
                  <a:srgbClr val="0DB7ED"/>
                </a:solidFill>
                <a:latin typeface="Cambria" pitchFamily="34" charset="0"/>
                <a:ea typeface="Cambria" pitchFamily="34" charset="-122"/>
                <a:cs typeface="Cambria" pitchFamily="34" charset="-120"/>
              </a:rPr>
              <a:t>🎓  Teaching Block 2</a:t>
            </a:r>
            <a:endParaRPr lang="en-US" sz="1300" dirty="0"/>
          </a:p>
        </p:txBody>
      </p:sp>
      <p:sp>
        <p:nvSpPr>
          <p:cNvPr id="19" name="Text 17"/>
          <p:cNvSpPr/>
          <p:nvPr/>
        </p:nvSpPr>
        <p:spPr>
          <a:xfrm>
            <a:off x="2267712" y="2578608"/>
            <a:ext cx="63093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Docker Containers  •  Dockerfile  •  Volumes</a:t>
            </a:r>
            <a:endParaRPr lang="en-US" sz="1000" dirty="0"/>
          </a:p>
        </p:txBody>
      </p:sp>
      <p:sp>
        <p:nvSpPr>
          <p:cNvPr id="20" name="Shape 18"/>
          <p:cNvSpPr/>
          <p:nvPr/>
        </p:nvSpPr>
        <p:spPr>
          <a:xfrm>
            <a:off x="411480" y="2999232"/>
            <a:ext cx="8321040" cy="457200"/>
          </a:xfrm>
          <a:prstGeom prst="roundRect">
            <a:avLst>
              <a:gd name="adj" fmla="val 2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548640" y="3008376"/>
            <a:ext cx="1536192" cy="438912"/>
          </a:xfrm>
          <a:prstGeom prst="roundRect">
            <a:avLst>
              <a:gd name="adj" fmla="val 14583"/>
            </a:avLst>
          </a:prstGeom>
          <a:solidFill>
            <a:srgbClr val="94A3B8"/>
          </a:solidFill>
          <a:ln w="12700">
            <a:solidFill>
              <a:srgbClr val="94A3B8"/>
            </a:solidFill>
            <a:prstDash val="solid"/>
          </a:ln>
        </p:spPr>
      </p:sp>
      <p:sp>
        <p:nvSpPr>
          <p:cNvPr id="22" name="Text 20"/>
          <p:cNvSpPr/>
          <p:nvPr/>
        </p:nvSpPr>
        <p:spPr>
          <a:xfrm>
            <a:off x="548640" y="3008376"/>
            <a:ext cx="1536192"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12:00 – 13:00</a:t>
            </a:r>
            <a:endParaRPr lang="en-US" sz="950" dirty="0"/>
          </a:p>
        </p:txBody>
      </p:sp>
      <p:sp>
        <p:nvSpPr>
          <p:cNvPr id="23" name="Text 21"/>
          <p:cNvSpPr/>
          <p:nvPr/>
        </p:nvSpPr>
        <p:spPr>
          <a:xfrm>
            <a:off x="2267712" y="3072384"/>
            <a:ext cx="6400800" cy="292608"/>
          </a:xfrm>
          <a:prstGeom prst="rect">
            <a:avLst/>
          </a:prstGeom>
          <a:noFill/>
          <a:ln/>
        </p:spPr>
        <p:txBody>
          <a:bodyPr wrap="square" lIns="0" tIns="0" rIns="0" bIns="0" rtlCol="0" anchor="ctr"/>
          <a:lstStyle/>
          <a:p>
            <a:pPr indent="0" marL="0">
              <a:buNone/>
            </a:pPr>
            <a:r>
              <a:rPr lang="en-US" sz="1300" b="1" dirty="0">
                <a:solidFill>
                  <a:srgbClr val="94A3B8"/>
                </a:solidFill>
                <a:latin typeface="Cambria" pitchFamily="34" charset="0"/>
                <a:ea typeface="Cambria" pitchFamily="34" charset="-122"/>
                <a:cs typeface="Cambria" pitchFamily="34" charset="-120"/>
              </a:rPr>
              <a:t>🍽️  Lunch</a:t>
            </a:r>
            <a:endParaRPr lang="en-US" sz="1300" dirty="0"/>
          </a:p>
        </p:txBody>
      </p:sp>
      <p:sp>
        <p:nvSpPr>
          <p:cNvPr id="24" name="Shape 22"/>
          <p:cNvSpPr/>
          <p:nvPr/>
        </p:nvSpPr>
        <p:spPr>
          <a:xfrm>
            <a:off x="411480" y="3547872"/>
            <a:ext cx="8321040" cy="713232"/>
          </a:xfrm>
          <a:prstGeom prst="roundRect">
            <a:avLst>
              <a:gd name="adj" fmla="val 12821"/>
            </a:avLst>
          </a:prstGeom>
          <a:solidFill>
            <a:srgbClr val="D1FAE5"/>
          </a:solidFill>
          <a:ln w="12700">
            <a:solidFill>
              <a:srgbClr val="6EE7B7"/>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548640" y="3685032"/>
            <a:ext cx="1536192" cy="438912"/>
          </a:xfrm>
          <a:prstGeom prst="roundRect">
            <a:avLst>
              <a:gd name="adj" fmla="val 14583"/>
            </a:avLst>
          </a:prstGeom>
          <a:solidFill>
            <a:srgbClr val="059669"/>
          </a:solidFill>
          <a:ln w="12700">
            <a:solidFill>
              <a:srgbClr val="059669"/>
            </a:solidFill>
            <a:prstDash val="solid"/>
          </a:ln>
        </p:spPr>
      </p:sp>
      <p:sp>
        <p:nvSpPr>
          <p:cNvPr id="26" name="Text 24"/>
          <p:cNvSpPr/>
          <p:nvPr/>
        </p:nvSpPr>
        <p:spPr>
          <a:xfrm>
            <a:off x="548640" y="3685032"/>
            <a:ext cx="1536192"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13:00 – 16:00</a:t>
            </a:r>
            <a:endParaRPr lang="en-US" sz="950" dirty="0"/>
          </a:p>
        </p:txBody>
      </p:sp>
      <p:sp>
        <p:nvSpPr>
          <p:cNvPr id="27" name="Text 25"/>
          <p:cNvSpPr/>
          <p:nvPr/>
        </p:nvSpPr>
        <p:spPr>
          <a:xfrm>
            <a:off x="2267712" y="3621024"/>
            <a:ext cx="6400800" cy="292608"/>
          </a:xfrm>
          <a:prstGeom prst="rect">
            <a:avLst/>
          </a:prstGeom>
          <a:noFill/>
          <a:ln/>
        </p:spPr>
        <p:txBody>
          <a:bodyPr wrap="square" lIns="0" tIns="0" rIns="0" bIns="0" rtlCol="0" anchor="ctr"/>
          <a:lstStyle/>
          <a:p>
            <a:pPr indent="0" marL="0">
              <a:buNone/>
            </a:pPr>
            <a:r>
              <a:rPr lang="en-US" sz="1300" b="1" dirty="0">
                <a:solidFill>
                  <a:srgbClr val="059669"/>
                </a:solidFill>
                <a:latin typeface="Cambria" pitchFamily="34" charset="0"/>
                <a:ea typeface="Cambria" pitchFamily="34" charset="-122"/>
                <a:cs typeface="Cambria" pitchFamily="34" charset="-120"/>
              </a:rPr>
              <a:t>🔬  Lab — Hands-On Docker</a:t>
            </a:r>
            <a:endParaRPr lang="en-US" sz="1300" dirty="0"/>
          </a:p>
        </p:txBody>
      </p:sp>
      <p:sp>
        <p:nvSpPr>
          <p:cNvPr id="28" name="Text 26"/>
          <p:cNvSpPr/>
          <p:nvPr/>
        </p:nvSpPr>
        <p:spPr>
          <a:xfrm>
            <a:off x="2267712" y="3931920"/>
            <a:ext cx="63093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Pull &amp; inspect images  •  Run containers  •  Write a Dockerfile  •  Mount a volume</a:t>
            </a:r>
            <a:endParaRPr lang="en-US" sz="1000" dirty="0"/>
          </a:p>
        </p:txBody>
      </p:sp>
      <p:sp>
        <p:nvSpPr>
          <p:cNvPr id="29" name="Shape 27"/>
          <p:cNvSpPr/>
          <p:nvPr/>
        </p:nvSpPr>
        <p:spPr>
          <a:xfrm>
            <a:off x="320040" y="4315968"/>
            <a:ext cx="8503920" cy="658368"/>
          </a:xfrm>
          <a:prstGeom prst="roundRect">
            <a:avLst>
              <a:gd name="adj" fmla="val 13889"/>
            </a:avLst>
          </a:prstGeom>
          <a:solidFill>
            <a:srgbClr val="FFF7ED"/>
          </a:solidFill>
          <a:ln w="12700">
            <a:solidFill>
              <a:srgbClr val="FED7AA"/>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457200" y="4407408"/>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  —  Opening</a:t>
            </a:r>
            <a:endParaRPr lang="en-US" sz="1000" dirty="0"/>
          </a:p>
        </p:txBody>
      </p:sp>
      <p:sp>
        <p:nvSpPr>
          <p:cNvPr id="31" name="Text 29"/>
          <p:cNvSpPr/>
          <p:nvPr/>
        </p:nvSpPr>
        <p:spPr>
          <a:xfrm>
            <a:off x="457200" y="4700016"/>
            <a:ext cx="8229600" cy="155448"/>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Ask the group: 'Has anyone used Docker before?' and 'Has anyone hit the works-on-my-machine problem?' Let 2-3 people answer. 3 minutes max, then move to Section 01.</a:t>
            </a:r>
            <a:endParaRPr lang="en-US" sz="1000" dirty="0"/>
          </a:p>
        </p:txBody>
      </p:sp>
      <p:sp>
        <p:nvSpPr>
          <p:cNvPr id="32" name="Shape 30"/>
          <p:cNvSpPr/>
          <p:nvPr/>
        </p:nvSpPr>
        <p:spPr>
          <a:xfrm>
            <a:off x="0" y="4846320"/>
            <a:ext cx="9144000" cy="297180"/>
          </a:xfrm>
          <a:prstGeom prst="rect">
            <a:avLst/>
          </a:prstGeom>
          <a:solidFill>
            <a:srgbClr val="0F172A"/>
          </a:solidFill>
          <a:ln w="12700">
            <a:solidFill>
              <a:srgbClr val="0F172A"/>
            </a:solidFill>
            <a:prstDash val="solid"/>
          </a:ln>
        </p:spPr>
      </p:sp>
      <p:sp>
        <p:nvSpPr>
          <p:cNvPr id="33" name="Text 31"/>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Agenda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DB7ED"/>
          </a:solidFill>
          <a:ln w="12700">
            <a:solidFill>
              <a:srgbClr val="0DB7ED"/>
            </a:solidFill>
            <a:prstDash val="solid"/>
          </a:ln>
        </p:spPr>
      </p:sp>
      <p:sp>
        <p:nvSpPr>
          <p:cNvPr id="3" name="Shape 1"/>
          <p:cNvSpPr/>
          <p:nvPr/>
        </p:nvSpPr>
        <p:spPr>
          <a:xfrm>
            <a:off x="5943600" y="-914400"/>
            <a:ext cx="4572000" cy="4572000"/>
          </a:xfrm>
          <a:prstGeom prst="ellipse">
            <a:avLst/>
          </a:prstGeom>
          <a:solidFill>
            <a:srgbClr val="0DB7ED">
              <a:alpha val="10000"/>
            </a:srgbClr>
          </a:solidFill>
          <a:ln w="12700">
            <a:solidFill>
              <a:srgbClr val="0DB7ED">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DB7ED"/>
                </a:solidFill>
                <a:latin typeface="Arial" pitchFamily="34" charset="0"/>
                <a:ea typeface="Arial" pitchFamily="34" charset="-122"/>
                <a:cs typeface="Arial" pitchFamily="34" charset="-120"/>
              </a:rPr>
              <a:t>SECTION 01</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What is Docker?</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Understanding the problem Docker solves and why it exists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PROBLEM DOCKER SOLVES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What is Docker?</a:t>
            </a:r>
            <a:endParaRPr lang="en-US" sz="950" dirty="0"/>
          </a:p>
        </p:txBody>
      </p:sp>
      <p:sp>
        <p:nvSpPr>
          <p:cNvPr id="6" name="Shape 4"/>
          <p:cNvSpPr/>
          <p:nvPr/>
        </p:nvSpPr>
        <p:spPr>
          <a:xfrm>
            <a:off x="320040" y="868680"/>
            <a:ext cx="8503920" cy="804672"/>
          </a:xfrm>
          <a:prstGeom prst="roundRect">
            <a:avLst>
              <a:gd name="adj" fmla="val 11364"/>
            </a:avLst>
          </a:prstGeom>
          <a:solidFill>
            <a:srgbClr val="FEF2F2"/>
          </a:solidFill>
          <a:ln w="12700">
            <a:solidFill>
              <a:srgbClr val="FECACA"/>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14400"/>
            <a:ext cx="8229600" cy="713232"/>
          </a:xfrm>
          <a:prstGeom prst="rect">
            <a:avLst/>
          </a:prstGeom>
          <a:noFill/>
          <a:ln/>
        </p:spPr>
        <p:txBody>
          <a:bodyPr wrap="square" lIns="0" tIns="0" rIns="0" bIns="0" rtlCol="0" anchor="ctr"/>
          <a:lstStyle/>
          <a:p>
            <a:pPr indent="0" marL="0">
              <a:buNone/>
            </a:pPr>
            <a:r>
              <a:rPr lang="en-US" sz="1350" dirty="0">
                <a:solidFill>
                  <a:srgbClr val="0F172A"/>
                </a:solidFill>
                <a:latin typeface="Cambria" pitchFamily="34" charset="0"/>
                <a:ea typeface="Cambria" pitchFamily="34" charset="-122"/>
                <a:cs typeface="Cambria" pitchFamily="34" charset="-120"/>
              </a:rPr>
              <a:t>"It works on my machine" — the most common phrase in software development, and the problem Docker was built to eliminate.</a:t>
            </a:r>
            <a:endParaRPr lang="en-US" sz="1350" dirty="0"/>
          </a:p>
        </p:txBody>
      </p:sp>
      <p:sp>
        <p:nvSpPr>
          <p:cNvPr id="8" name="Shape 6"/>
          <p:cNvSpPr/>
          <p:nvPr/>
        </p:nvSpPr>
        <p:spPr>
          <a:xfrm>
            <a:off x="320040" y="1828800"/>
            <a:ext cx="2697480" cy="2633472"/>
          </a:xfrm>
          <a:prstGeom prst="roundRect">
            <a:avLst>
              <a:gd name="adj" fmla="val 347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84632" y="1938528"/>
            <a:ext cx="594360" cy="59436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0" name="Text 8"/>
          <p:cNvSpPr/>
          <p:nvPr/>
        </p:nvSpPr>
        <p:spPr>
          <a:xfrm>
            <a:off x="484632" y="2578608"/>
            <a:ext cx="2423160" cy="457200"/>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Works on Dev, Breaks in Production</a:t>
            </a:r>
            <a:endParaRPr lang="en-US" sz="1200" dirty="0"/>
          </a:p>
        </p:txBody>
      </p:sp>
      <p:sp>
        <p:nvSpPr>
          <p:cNvPr id="11" name="Text 9"/>
          <p:cNvSpPr/>
          <p:nvPr/>
        </p:nvSpPr>
        <p:spPr>
          <a:xfrm>
            <a:off x="484632" y="3063240"/>
            <a:ext cx="2423160" cy="129844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Developer uses Python 3.11. Production server has Python 3.8. The app crashes. Nobody knows why until hours of debugging.</a:t>
            </a:r>
            <a:endParaRPr lang="en-US" sz="1050" dirty="0"/>
          </a:p>
        </p:txBody>
      </p:sp>
      <p:sp>
        <p:nvSpPr>
          <p:cNvPr id="12" name="Shape 10"/>
          <p:cNvSpPr/>
          <p:nvPr/>
        </p:nvSpPr>
        <p:spPr>
          <a:xfrm>
            <a:off x="3172968" y="1828800"/>
            <a:ext cx="2697480" cy="2633472"/>
          </a:xfrm>
          <a:prstGeom prst="roundRect">
            <a:avLst>
              <a:gd name="adj" fmla="val 347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3337560" y="1938528"/>
            <a:ext cx="594360" cy="59436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4" name="Text 12"/>
          <p:cNvSpPr/>
          <p:nvPr/>
        </p:nvSpPr>
        <p:spPr>
          <a:xfrm>
            <a:off x="3337560" y="2578608"/>
            <a:ext cx="2423160" cy="457200"/>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Dependency Hell</a:t>
            </a:r>
            <a:endParaRPr lang="en-US" sz="1200" dirty="0"/>
          </a:p>
        </p:txBody>
      </p:sp>
      <p:sp>
        <p:nvSpPr>
          <p:cNvPr id="15" name="Text 13"/>
          <p:cNvSpPr/>
          <p:nvPr/>
        </p:nvSpPr>
        <p:spPr>
          <a:xfrm>
            <a:off x="3337560" y="3063240"/>
            <a:ext cx="2423160" cy="129844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App A needs library version 1.2. App B needs the same library at version 2.0. They cannot both run on the same machine without conflict.</a:t>
            </a:r>
            <a:endParaRPr lang="en-US" sz="1050" dirty="0"/>
          </a:p>
        </p:txBody>
      </p:sp>
      <p:sp>
        <p:nvSpPr>
          <p:cNvPr id="16" name="Shape 14"/>
          <p:cNvSpPr/>
          <p:nvPr/>
        </p:nvSpPr>
        <p:spPr>
          <a:xfrm>
            <a:off x="6025896" y="1828800"/>
            <a:ext cx="2697480" cy="2633472"/>
          </a:xfrm>
          <a:prstGeom prst="roundRect">
            <a:avLst>
              <a:gd name="adj" fmla="val 347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6190488" y="1938528"/>
            <a:ext cx="594360" cy="59436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8" name="Text 16"/>
          <p:cNvSpPr/>
          <p:nvPr/>
        </p:nvSpPr>
        <p:spPr>
          <a:xfrm>
            <a:off x="6190488" y="2578608"/>
            <a:ext cx="2423160" cy="457200"/>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Slow, Inconsistent Setup</a:t>
            </a:r>
            <a:endParaRPr lang="en-US" sz="1200" dirty="0"/>
          </a:p>
        </p:txBody>
      </p:sp>
      <p:sp>
        <p:nvSpPr>
          <p:cNvPr id="19" name="Text 17"/>
          <p:cNvSpPr/>
          <p:nvPr/>
        </p:nvSpPr>
        <p:spPr>
          <a:xfrm>
            <a:off x="6190488" y="3063240"/>
            <a:ext cx="2423160" cy="129844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New team member spends 2 days setting up their environment. They still hit issues the others never saw. Every machine is slightly different.</a:t>
            </a:r>
            <a:endParaRPr lang="en-US" sz="1050" dirty="0"/>
          </a:p>
        </p:txBody>
      </p:sp>
      <p:sp>
        <p:nvSpPr>
          <p:cNvPr id="20" name="Shape 18"/>
          <p:cNvSpPr/>
          <p:nvPr/>
        </p:nvSpPr>
        <p:spPr>
          <a:xfrm>
            <a:off x="320040" y="4553712"/>
            <a:ext cx="8503920" cy="621792"/>
          </a:xfrm>
          <a:prstGeom prst="roundRect">
            <a:avLst>
              <a:gd name="adj" fmla="val 14706"/>
            </a:avLst>
          </a:prstGeom>
          <a:solidFill>
            <a:srgbClr val="FFF7ED"/>
          </a:solidFill>
          <a:ln w="12700">
            <a:solidFill>
              <a:srgbClr val="FED7AA"/>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457200" y="4645152"/>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  —  Engagement</a:t>
            </a:r>
            <a:endParaRPr lang="en-US" sz="1000" dirty="0"/>
          </a:p>
        </p:txBody>
      </p:sp>
      <p:sp>
        <p:nvSpPr>
          <p:cNvPr id="22" name="Text 20"/>
          <p:cNvSpPr/>
          <p:nvPr/>
        </p:nvSpPr>
        <p:spPr>
          <a:xfrm>
            <a:off x="457200" y="4937760"/>
            <a:ext cx="8229600" cy="118872"/>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Ask: 'Has anyone had a colleague say it works on my machine but the deployed version crashes?' Let 2-3 people respond. Then: 'That exact problem is what Docker was built to fix.'</a:t>
            </a:r>
            <a:endParaRPr lang="en-US" sz="1000" dirty="0"/>
          </a:p>
        </p:txBody>
      </p:sp>
      <p:sp>
        <p:nvSpPr>
          <p:cNvPr id="23" name="Shape 21"/>
          <p:cNvSpPr/>
          <p:nvPr/>
        </p:nvSpPr>
        <p:spPr>
          <a:xfrm>
            <a:off x="0" y="4846320"/>
            <a:ext cx="9144000" cy="297180"/>
          </a:xfrm>
          <a:prstGeom prst="rect">
            <a:avLst/>
          </a:prstGeom>
          <a:solidFill>
            <a:srgbClr val="0F172A"/>
          </a:solidFill>
          <a:ln w="12700">
            <a:solidFill>
              <a:srgbClr val="0F172A"/>
            </a:solidFill>
            <a:prstDash val="solid"/>
          </a:ln>
        </p:spPr>
      </p:sp>
      <p:sp>
        <p:nvSpPr>
          <p:cNvPr id="24" name="Text 2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What is Docker?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DOCKER?</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What is Docker?</a:t>
            </a:r>
            <a:endParaRPr lang="en-US" sz="950" dirty="0"/>
          </a:p>
        </p:txBody>
      </p:sp>
      <p:sp>
        <p:nvSpPr>
          <p:cNvPr id="6" name="Shape 4"/>
          <p:cNvSpPr/>
          <p:nvPr/>
        </p:nvSpPr>
        <p:spPr>
          <a:xfrm>
            <a:off x="320040" y="868680"/>
            <a:ext cx="8503920" cy="896112"/>
          </a:xfrm>
          <a:prstGeom prst="roundRect">
            <a:avLst>
              <a:gd name="adj" fmla="val 10204"/>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14400"/>
            <a:ext cx="8229600" cy="804672"/>
          </a:xfrm>
          <a:prstGeom prst="rect">
            <a:avLst/>
          </a:prstGeom>
          <a:noFill/>
          <a:ln/>
        </p:spPr>
        <p:txBody>
          <a:bodyPr wrap="square" lIns="0" tIns="0" rIns="0" bIns="0" rtlCol="0" anchor="ctr"/>
          <a:lstStyle/>
          <a:p>
            <a:pPr indent="0" marL="0">
              <a:buNone/>
            </a:pPr>
            <a:r>
              <a:rPr lang="en-US" sz="1350" dirty="0">
                <a:solidFill>
                  <a:srgbClr val="0F172A"/>
                </a:solidFill>
                <a:latin typeface="Cambria" pitchFamily="34" charset="0"/>
                <a:ea typeface="Cambria" pitchFamily="34" charset="-122"/>
                <a:cs typeface="Cambria" pitchFamily="34" charset="-120"/>
              </a:rPr>
              <a:t>Docker is a platform that packages your application and everything it needs — code, runtime, libraries, config — into a single portable unit called a container.</a:t>
            </a:r>
            <a:endParaRPr lang="en-US" sz="1350" dirty="0"/>
          </a:p>
        </p:txBody>
      </p:sp>
      <p:sp>
        <p:nvSpPr>
          <p:cNvPr id="8" name="Shape 6"/>
          <p:cNvSpPr/>
          <p:nvPr/>
        </p:nvSpPr>
        <p:spPr>
          <a:xfrm>
            <a:off x="320040" y="1901952"/>
            <a:ext cx="8503920" cy="1078992"/>
          </a:xfrm>
          <a:prstGeom prst="roundRect">
            <a:avLst>
              <a:gd name="adj" fmla="val 8475"/>
            </a:avLst>
          </a:prstGeom>
          <a:solidFill>
            <a:srgbClr val="EFF6FF"/>
          </a:solidFill>
          <a:ln w="12700">
            <a:solidFill>
              <a:srgbClr val="BFDBFE"/>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75488" y="1993392"/>
            <a:ext cx="8229600" cy="320040"/>
          </a:xfrm>
          <a:prstGeom prst="rect">
            <a:avLst/>
          </a:prstGeom>
          <a:noFill/>
          <a:ln/>
        </p:spPr>
        <p:txBody>
          <a:bodyPr wrap="square" lIns="0" tIns="0" rIns="0" bIns="0" rtlCol="0" anchor="ctr"/>
          <a:lstStyle/>
          <a:p>
            <a:pPr indent="0" marL="0">
              <a:buNone/>
            </a:pPr>
            <a:r>
              <a:rPr lang="en-US" sz="1200" b="1" dirty="0">
                <a:solidFill>
                  <a:srgbClr val="0DB7ED"/>
                </a:solidFill>
                <a:latin typeface="Arial" pitchFamily="34" charset="0"/>
                <a:ea typeface="Arial" pitchFamily="34" charset="-122"/>
                <a:cs typeface="Arial" pitchFamily="34" charset="-120"/>
              </a:rPr>
              <a:t>🚢  Real World Analogy</a:t>
            </a:r>
            <a:endParaRPr lang="en-US" sz="1200" dirty="0"/>
          </a:p>
        </p:txBody>
      </p:sp>
      <p:sp>
        <p:nvSpPr>
          <p:cNvPr id="10" name="Text 8"/>
          <p:cNvSpPr/>
          <p:nvPr/>
        </p:nvSpPr>
        <p:spPr>
          <a:xfrm>
            <a:off x="475488" y="2331720"/>
            <a:ext cx="8229600" cy="566928"/>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Before shipping containers, cargo was loaded piece by piece onto each ship — slow, inconsistent, unreliable. The standardised shipping container changed everything. Docker does exactly the same for software — package once, run anywhere on any machine.</a:t>
            </a:r>
            <a:endParaRPr lang="en-US" sz="1100" dirty="0"/>
          </a:p>
        </p:txBody>
      </p:sp>
      <p:sp>
        <p:nvSpPr>
          <p:cNvPr id="11" name="Shape 9"/>
          <p:cNvSpPr/>
          <p:nvPr/>
        </p:nvSpPr>
        <p:spPr>
          <a:xfrm>
            <a:off x="320040" y="3127248"/>
            <a:ext cx="411480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484632" y="3182112"/>
            <a:ext cx="379476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Package Once</a:t>
            </a:r>
            <a:endParaRPr lang="en-US" sz="1150" dirty="0"/>
          </a:p>
        </p:txBody>
      </p:sp>
      <p:sp>
        <p:nvSpPr>
          <p:cNvPr id="13" name="Text 11"/>
          <p:cNvSpPr/>
          <p:nvPr/>
        </p:nvSpPr>
        <p:spPr>
          <a:xfrm>
            <a:off x="484632" y="3456432"/>
            <a:ext cx="37947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Bundle your app and all its dependencies into one container image.</a:t>
            </a:r>
            <a:endParaRPr lang="en-US" sz="1000" dirty="0"/>
          </a:p>
        </p:txBody>
      </p:sp>
      <p:sp>
        <p:nvSpPr>
          <p:cNvPr id="14" name="Shape 12"/>
          <p:cNvSpPr/>
          <p:nvPr/>
        </p:nvSpPr>
        <p:spPr>
          <a:xfrm>
            <a:off x="4709160" y="3127248"/>
            <a:ext cx="411480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4873752" y="3182112"/>
            <a:ext cx="379476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Run Anywhere</a:t>
            </a:r>
            <a:endParaRPr lang="en-US" sz="1150" dirty="0"/>
          </a:p>
        </p:txBody>
      </p:sp>
      <p:sp>
        <p:nvSpPr>
          <p:cNvPr id="16" name="Text 14"/>
          <p:cNvSpPr/>
          <p:nvPr/>
        </p:nvSpPr>
        <p:spPr>
          <a:xfrm>
            <a:off x="4873752" y="3456432"/>
            <a:ext cx="37947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Same container runs on your laptop, a colleague's machine, or a cloud server.</a:t>
            </a:r>
            <a:endParaRPr lang="en-US" sz="1000" dirty="0"/>
          </a:p>
        </p:txBody>
      </p:sp>
      <p:sp>
        <p:nvSpPr>
          <p:cNvPr id="17" name="Shape 15"/>
          <p:cNvSpPr/>
          <p:nvPr/>
        </p:nvSpPr>
        <p:spPr>
          <a:xfrm>
            <a:off x="320040" y="3877056"/>
            <a:ext cx="411480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484632" y="3931920"/>
            <a:ext cx="379476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Isolated</a:t>
            </a:r>
            <a:endParaRPr lang="en-US" sz="1150" dirty="0"/>
          </a:p>
        </p:txBody>
      </p:sp>
      <p:sp>
        <p:nvSpPr>
          <p:cNvPr id="19" name="Text 17"/>
          <p:cNvSpPr/>
          <p:nvPr/>
        </p:nvSpPr>
        <p:spPr>
          <a:xfrm>
            <a:off x="484632" y="4206240"/>
            <a:ext cx="37947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Containers don't interfere with each other or with the host system.</a:t>
            </a:r>
            <a:endParaRPr lang="en-US" sz="1000" dirty="0"/>
          </a:p>
        </p:txBody>
      </p:sp>
      <p:sp>
        <p:nvSpPr>
          <p:cNvPr id="20" name="Shape 18"/>
          <p:cNvSpPr/>
          <p:nvPr/>
        </p:nvSpPr>
        <p:spPr>
          <a:xfrm>
            <a:off x="4709160" y="3877056"/>
            <a:ext cx="411480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4873752" y="3931920"/>
            <a:ext cx="379476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Fast</a:t>
            </a:r>
            <a:endParaRPr lang="en-US" sz="1150" dirty="0"/>
          </a:p>
        </p:txBody>
      </p:sp>
      <p:sp>
        <p:nvSpPr>
          <p:cNvPr id="22" name="Text 20"/>
          <p:cNvSpPr/>
          <p:nvPr/>
        </p:nvSpPr>
        <p:spPr>
          <a:xfrm>
            <a:off x="4873752" y="4206240"/>
            <a:ext cx="379476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Containers start in seconds, not minutes like virtual machines.</a:t>
            </a:r>
            <a:endParaRPr lang="en-US" sz="1000" dirty="0"/>
          </a:p>
        </p:txBody>
      </p:sp>
      <p:sp>
        <p:nvSpPr>
          <p:cNvPr id="23" name="Shape 21"/>
          <p:cNvSpPr/>
          <p:nvPr/>
        </p:nvSpPr>
        <p:spPr>
          <a:xfrm>
            <a:off x="0" y="4846320"/>
            <a:ext cx="9144000" cy="297180"/>
          </a:xfrm>
          <a:prstGeom prst="rect">
            <a:avLst/>
          </a:prstGeom>
          <a:solidFill>
            <a:srgbClr val="0F172A"/>
          </a:solidFill>
          <a:ln w="12700">
            <a:solidFill>
              <a:srgbClr val="0F172A"/>
            </a:solidFill>
            <a:prstDash val="solid"/>
          </a:ln>
        </p:spPr>
      </p:sp>
      <p:sp>
        <p:nvSpPr>
          <p:cNvPr id="24" name="Text 2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What is Docker?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CONTAINERS vs VIRTUAL MACHINES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01  •  What is Docker?</a:t>
            </a:r>
            <a:endParaRPr lang="en-US" sz="950" dirty="0"/>
          </a:p>
        </p:txBody>
      </p:sp>
      <p:sp>
        <p:nvSpPr>
          <p:cNvPr id="6" name="Shape 4"/>
          <p:cNvSpPr/>
          <p:nvPr/>
        </p:nvSpPr>
        <p:spPr>
          <a:xfrm>
            <a:off x="320040" y="868680"/>
            <a:ext cx="4023360" cy="3977640"/>
          </a:xfrm>
          <a:prstGeom prst="roundRect">
            <a:avLst>
              <a:gd name="adj" fmla="val 229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60120"/>
            <a:ext cx="3657600" cy="411480"/>
          </a:xfrm>
          <a:prstGeom prst="rect">
            <a:avLst/>
          </a:prstGeom>
          <a:noFill/>
          <a:ln/>
        </p:spPr>
        <p:txBody>
          <a:bodyPr wrap="square" lIns="0" tIns="0" rIns="0" bIns="0" rtlCol="0" anchor="ctr"/>
          <a:lstStyle/>
          <a:p>
            <a:pPr indent="0" marL="0">
              <a:buNone/>
            </a:pPr>
            <a:r>
              <a:rPr lang="en-US" sz="1500" b="1" dirty="0">
                <a:solidFill>
                  <a:srgbClr val="475569"/>
                </a:solidFill>
                <a:latin typeface="Cambria" pitchFamily="34" charset="0"/>
                <a:ea typeface="Cambria" pitchFamily="34" charset="-122"/>
                <a:cs typeface="Cambria" pitchFamily="34" charset="-120"/>
              </a:rPr>
              <a:t>🖥️  Virtual Machine</a:t>
            </a:r>
            <a:endParaRPr lang="en-US" sz="1500" dirty="0"/>
          </a:p>
        </p:txBody>
      </p:sp>
      <p:sp>
        <p:nvSpPr>
          <p:cNvPr id="8" name="Shape 6"/>
          <p:cNvSpPr/>
          <p:nvPr/>
        </p:nvSpPr>
        <p:spPr>
          <a:xfrm>
            <a:off x="548640" y="1444752"/>
            <a:ext cx="3566160" cy="438912"/>
          </a:xfrm>
          <a:prstGeom prst="roundRect">
            <a:avLst>
              <a:gd name="adj" fmla="val 20833"/>
            </a:avLst>
          </a:prstGeom>
          <a:solidFill>
            <a:srgbClr val="FEF2F2"/>
          </a:solidFill>
          <a:ln w="12700">
            <a:solidFill>
              <a:srgbClr val="FECACA"/>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48640" y="1444752"/>
            <a:ext cx="3566160" cy="438912"/>
          </a:xfrm>
          <a:prstGeom prst="rect">
            <a:avLst/>
          </a:prstGeom>
          <a:noFill/>
          <a:ln/>
        </p:spPr>
        <p:txBody>
          <a:bodyPr wrap="square" lIns="0" tIns="0" rIns="0" bIns="0" rtlCol="0" anchor="ctr"/>
          <a:lstStyle/>
          <a:p>
            <a:pPr algn="ctr" indent="0" marL="0">
              <a:buNone/>
            </a:pPr>
            <a:r>
              <a:rPr lang="en-US" sz="1100" dirty="0">
                <a:solidFill>
                  <a:srgbClr val="0F172A"/>
                </a:solidFill>
                <a:latin typeface="Arial" pitchFamily="34" charset="0"/>
                <a:ea typeface="Arial" pitchFamily="34" charset="-122"/>
                <a:cs typeface="Arial" pitchFamily="34" charset="-120"/>
              </a:rPr>
              <a:t>App A</a:t>
            </a:r>
            <a:endParaRPr lang="en-US" sz="1100" dirty="0"/>
          </a:p>
        </p:txBody>
      </p:sp>
      <p:sp>
        <p:nvSpPr>
          <p:cNvPr id="10" name="Shape 8"/>
          <p:cNvSpPr/>
          <p:nvPr/>
        </p:nvSpPr>
        <p:spPr>
          <a:xfrm>
            <a:off x="548640" y="1947672"/>
            <a:ext cx="3566160" cy="438912"/>
          </a:xfrm>
          <a:prstGeom prst="roundRect">
            <a:avLst>
              <a:gd name="adj" fmla="val 20833"/>
            </a:avLst>
          </a:prstGeom>
          <a:solidFill>
            <a:srgbClr val="FEE2E2"/>
          </a:solidFill>
          <a:ln w="12700">
            <a:solidFill>
              <a:srgbClr val="FCA5A5"/>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48640" y="1947672"/>
            <a:ext cx="3566160" cy="438912"/>
          </a:xfrm>
          <a:prstGeom prst="rect">
            <a:avLst/>
          </a:prstGeom>
          <a:noFill/>
          <a:ln/>
        </p:spPr>
        <p:txBody>
          <a:bodyPr wrap="square" lIns="0" tIns="0" rIns="0" bIns="0" rtlCol="0" anchor="ctr"/>
          <a:lstStyle/>
          <a:p>
            <a:pPr algn="ctr" indent="0" marL="0">
              <a:buNone/>
            </a:pPr>
            <a:r>
              <a:rPr lang="en-US" sz="1100" dirty="0">
                <a:solidFill>
                  <a:srgbClr val="0F172A"/>
                </a:solidFill>
                <a:latin typeface="Arial" pitchFamily="34" charset="0"/>
                <a:ea typeface="Arial" pitchFamily="34" charset="-122"/>
                <a:cs typeface="Arial" pitchFamily="34" charset="-120"/>
              </a:rPr>
              <a:t>Guest OS (full)</a:t>
            </a:r>
            <a:endParaRPr lang="en-US" sz="1100" dirty="0"/>
          </a:p>
        </p:txBody>
      </p:sp>
      <p:sp>
        <p:nvSpPr>
          <p:cNvPr id="12" name="Shape 10"/>
          <p:cNvSpPr/>
          <p:nvPr/>
        </p:nvSpPr>
        <p:spPr>
          <a:xfrm>
            <a:off x="548640" y="2450592"/>
            <a:ext cx="3566160" cy="438912"/>
          </a:xfrm>
          <a:prstGeom prst="roundRect">
            <a:avLst>
              <a:gd name="adj" fmla="val 20833"/>
            </a:avLst>
          </a:prstGeom>
          <a:solidFill>
            <a:srgbClr val="E5E7EB"/>
          </a:solidFill>
          <a:ln w="12700">
            <a:solidFill>
              <a:srgbClr val="D1D5DB"/>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548640" y="2450592"/>
            <a:ext cx="3566160" cy="438912"/>
          </a:xfrm>
          <a:prstGeom prst="rect">
            <a:avLst/>
          </a:prstGeom>
          <a:noFill/>
          <a:ln/>
        </p:spPr>
        <p:txBody>
          <a:bodyPr wrap="square" lIns="0" tIns="0" rIns="0" bIns="0" rtlCol="0" anchor="ctr"/>
          <a:lstStyle/>
          <a:p>
            <a:pPr algn="ctr" indent="0" marL="0">
              <a:buNone/>
            </a:pPr>
            <a:r>
              <a:rPr lang="en-US" sz="1100" dirty="0">
                <a:solidFill>
                  <a:srgbClr val="0F172A"/>
                </a:solidFill>
                <a:latin typeface="Arial" pitchFamily="34" charset="0"/>
                <a:ea typeface="Arial" pitchFamily="34" charset="-122"/>
                <a:cs typeface="Arial" pitchFamily="34" charset="-120"/>
              </a:rPr>
              <a:t>Hypervisor</a:t>
            </a:r>
            <a:endParaRPr lang="en-US" sz="1100" dirty="0"/>
          </a:p>
        </p:txBody>
      </p:sp>
      <p:sp>
        <p:nvSpPr>
          <p:cNvPr id="14" name="Shape 12"/>
          <p:cNvSpPr/>
          <p:nvPr/>
        </p:nvSpPr>
        <p:spPr>
          <a:xfrm>
            <a:off x="548640" y="2953512"/>
            <a:ext cx="3566160" cy="438912"/>
          </a:xfrm>
          <a:prstGeom prst="roundRect">
            <a:avLst>
              <a:gd name="adj" fmla="val 20833"/>
            </a:avLst>
          </a:prstGeom>
          <a:solidFill>
            <a:srgbClr val="F3F4F6"/>
          </a:solidFill>
          <a:ln w="12700">
            <a:solidFill>
              <a:srgbClr val="E5E7EB"/>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548640" y="2953512"/>
            <a:ext cx="3566160" cy="438912"/>
          </a:xfrm>
          <a:prstGeom prst="rect">
            <a:avLst/>
          </a:prstGeom>
          <a:noFill/>
          <a:ln/>
        </p:spPr>
        <p:txBody>
          <a:bodyPr wrap="square" lIns="0" tIns="0" rIns="0" bIns="0"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Host OS</a:t>
            </a:r>
            <a:endParaRPr lang="en-US" sz="1100" dirty="0"/>
          </a:p>
        </p:txBody>
      </p:sp>
      <p:sp>
        <p:nvSpPr>
          <p:cNvPr id="16" name="Shape 14"/>
          <p:cNvSpPr/>
          <p:nvPr/>
        </p:nvSpPr>
        <p:spPr>
          <a:xfrm>
            <a:off x="548640" y="3456432"/>
            <a:ext cx="3566160" cy="438912"/>
          </a:xfrm>
          <a:prstGeom prst="roundRect">
            <a:avLst>
              <a:gd name="adj" fmla="val 20833"/>
            </a:avLst>
          </a:prstGeom>
          <a:solidFill>
            <a:srgbClr val="E5E7EB"/>
          </a:solidFill>
          <a:ln w="12700">
            <a:solidFill>
              <a:srgbClr val="D1D5DB"/>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548640" y="3456432"/>
            <a:ext cx="3566160" cy="438912"/>
          </a:xfrm>
          <a:prstGeom prst="rect">
            <a:avLst/>
          </a:prstGeom>
          <a:noFill/>
          <a:ln/>
        </p:spPr>
        <p:txBody>
          <a:bodyPr wrap="square" lIns="0" tIns="0" rIns="0" bIns="0"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Hardware</a:t>
            </a:r>
            <a:endParaRPr lang="en-US" sz="1100" dirty="0"/>
          </a:p>
        </p:txBody>
      </p:sp>
      <p:sp>
        <p:nvSpPr>
          <p:cNvPr id="18" name="Text 16"/>
          <p:cNvSpPr/>
          <p:nvPr/>
        </p:nvSpPr>
        <p:spPr>
          <a:xfrm>
            <a:off x="475488" y="4023360"/>
            <a:ext cx="3749040" cy="7132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Each VM includes a full OS</a:t>
            </a:r>
            <a:endParaRPr lang="en-US" sz="1000" dirty="0"/>
          </a:p>
          <a:p>
            <a:pPr indent="0" marL="0">
              <a:buNone/>
            </a:pPr>
            <a:r>
              <a:rPr lang="en-US" sz="1000" dirty="0">
                <a:solidFill>
                  <a:srgbClr val="475569"/>
                </a:solidFill>
                <a:latin typeface="Arial" pitchFamily="34" charset="0"/>
                <a:ea typeface="Arial" pitchFamily="34" charset="-122"/>
                <a:cs typeface="Arial" pitchFamily="34" charset="-120"/>
              </a:rPr>
              <a:t>Heavy — GBs in size</a:t>
            </a:r>
            <a:endParaRPr lang="en-US" sz="1000" dirty="0"/>
          </a:p>
          <a:p>
            <a:pPr indent="0" marL="0">
              <a:buNone/>
            </a:pPr>
            <a:r>
              <a:rPr lang="en-US" sz="1000" dirty="0">
                <a:solidFill>
                  <a:srgbClr val="475569"/>
                </a:solidFill>
                <a:latin typeface="Arial" pitchFamily="34" charset="0"/>
                <a:ea typeface="Arial" pitchFamily="34" charset="-122"/>
                <a:cs typeface="Arial" pitchFamily="34" charset="-120"/>
              </a:rPr>
              <a:t>Slow to start (minutes)</a:t>
            </a:r>
            <a:endParaRPr lang="en-US" sz="1000" dirty="0"/>
          </a:p>
          <a:p>
            <a:pPr indent="0" marL="0">
              <a:buNone/>
            </a:pPr>
            <a:r>
              <a:rPr lang="en-US" sz="1000" dirty="0">
                <a:solidFill>
                  <a:srgbClr val="475569"/>
                </a:solidFill>
                <a:latin typeface="Arial" pitchFamily="34" charset="0"/>
                <a:ea typeface="Arial" pitchFamily="34" charset="-122"/>
                <a:cs typeface="Arial" pitchFamily="34" charset="-120"/>
              </a:rPr>
              <a:t>Strong isolation</a:t>
            </a:r>
            <a:endParaRPr lang="en-US" sz="1000" dirty="0"/>
          </a:p>
        </p:txBody>
      </p:sp>
      <p:sp>
        <p:nvSpPr>
          <p:cNvPr id="19" name="Shape 17"/>
          <p:cNvSpPr/>
          <p:nvPr/>
        </p:nvSpPr>
        <p:spPr>
          <a:xfrm>
            <a:off x="4206240" y="2148840"/>
            <a:ext cx="731520" cy="731520"/>
          </a:xfrm>
          <a:prstGeom prst="ellipse">
            <a:avLst/>
          </a:prstGeom>
          <a:solidFill>
            <a:srgbClr val="0F172A"/>
          </a:solidFill>
          <a:ln w="12700">
            <a:solidFill>
              <a:srgbClr val="0F172A"/>
            </a:solidFill>
            <a:prstDash val="solid"/>
          </a:ln>
        </p:spPr>
      </p:sp>
      <p:sp>
        <p:nvSpPr>
          <p:cNvPr id="20" name="Text 18"/>
          <p:cNvSpPr/>
          <p:nvPr/>
        </p:nvSpPr>
        <p:spPr>
          <a:xfrm>
            <a:off x="4206240" y="2148840"/>
            <a:ext cx="7315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VS</a:t>
            </a:r>
            <a:endParaRPr lang="en-US" sz="1200" dirty="0"/>
          </a:p>
        </p:txBody>
      </p:sp>
      <p:sp>
        <p:nvSpPr>
          <p:cNvPr id="21" name="Shape 19"/>
          <p:cNvSpPr/>
          <p:nvPr/>
        </p:nvSpPr>
        <p:spPr>
          <a:xfrm>
            <a:off x="4800600" y="868680"/>
            <a:ext cx="4023360" cy="3977640"/>
          </a:xfrm>
          <a:prstGeom prst="roundRect">
            <a:avLst>
              <a:gd name="adj" fmla="val 2299"/>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4956048" y="960120"/>
            <a:ext cx="3657600" cy="411480"/>
          </a:xfrm>
          <a:prstGeom prst="rect">
            <a:avLst/>
          </a:prstGeom>
          <a:noFill/>
          <a:ln/>
        </p:spPr>
        <p:txBody>
          <a:bodyPr wrap="square" lIns="0" tIns="0" rIns="0" bIns="0" rtlCol="0" anchor="ctr"/>
          <a:lstStyle/>
          <a:p>
            <a:pPr indent="0" marL="0">
              <a:buNone/>
            </a:pPr>
            <a:r>
              <a:rPr lang="en-US" sz="1500" b="1" dirty="0">
                <a:solidFill>
                  <a:srgbClr val="0DB7ED"/>
                </a:solidFill>
                <a:latin typeface="Cambria" pitchFamily="34" charset="0"/>
                <a:ea typeface="Cambria" pitchFamily="34" charset="-122"/>
                <a:cs typeface="Cambria" pitchFamily="34" charset="-120"/>
              </a:rPr>
              <a:t>🐳  Docker Container</a:t>
            </a:r>
            <a:endParaRPr lang="en-US" sz="1500" dirty="0"/>
          </a:p>
        </p:txBody>
      </p:sp>
      <p:sp>
        <p:nvSpPr>
          <p:cNvPr id="23" name="Shape 21"/>
          <p:cNvSpPr/>
          <p:nvPr/>
        </p:nvSpPr>
        <p:spPr>
          <a:xfrm>
            <a:off x="5029200" y="1444752"/>
            <a:ext cx="3566160" cy="438912"/>
          </a:xfrm>
          <a:prstGeom prst="roundRect">
            <a:avLst>
              <a:gd name="adj" fmla="val 20833"/>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24" name="Text 22"/>
          <p:cNvSpPr/>
          <p:nvPr/>
        </p:nvSpPr>
        <p:spPr>
          <a:xfrm>
            <a:off x="5029200" y="1444752"/>
            <a:ext cx="3566160" cy="438912"/>
          </a:xfrm>
          <a:prstGeom prst="rect">
            <a:avLst/>
          </a:prstGeom>
          <a:noFill/>
          <a:ln/>
        </p:spPr>
        <p:txBody>
          <a:bodyPr wrap="square" lIns="0" tIns="0" rIns="0" bIns="0" rtlCol="0" anchor="ctr"/>
          <a:lstStyle/>
          <a:p>
            <a:pPr algn="ctr" indent="0" marL="0">
              <a:buNone/>
            </a:pPr>
            <a:r>
              <a:rPr lang="en-US" sz="1100" dirty="0">
                <a:solidFill>
                  <a:srgbClr val="0F172A"/>
                </a:solidFill>
                <a:latin typeface="Arial" pitchFamily="34" charset="0"/>
                <a:ea typeface="Arial" pitchFamily="34" charset="-122"/>
                <a:cs typeface="Arial" pitchFamily="34" charset="-120"/>
              </a:rPr>
              <a:t>App A</a:t>
            </a:r>
            <a:endParaRPr lang="en-US" sz="1100" dirty="0"/>
          </a:p>
        </p:txBody>
      </p:sp>
      <p:sp>
        <p:nvSpPr>
          <p:cNvPr id="25" name="Shape 23"/>
          <p:cNvSpPr/>
          <p:nvPr/>
        </p:nvSpPr>
        <p:spPr>
          <a:xfrm>
            <a:off x="5029200" y="1947672"/>
            <a:ext cx="3566160" cy="438912"/>
          </a:xfrm>
          <a:prstGeom prst="roundRect">
            <a:avLst>
              <a:gd name="adj" fmla="val 20833"/>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5029200" y="1947672"/>
            <a:ext cx="3566160" cy="438912"/>
          </a:xfrm>
          <a:prstGeom prst="rect">
            <a:avLst/>
          </a:prstGeom>
          <a:noFill/>
          <a:ln/>
        </p:spPr>
        <p:txBody>
          <a:bodyPr wrap="square" lIns="0" tIns="0" rIns="0" bIns="0" rtlCol="0" anchor="ctr"/>
          <a:lstStyle/>
          <a:p>
            <a:pPr algn="ctr" indent="0" marL="0">
              <a:buNone/>
            </a:pPr>
            <a:r>
              <a:rPr lang="en-US" sz="1100" dirty="0">
                <a:solidFill>
                  <a:srgbClr val="0F172A"/>
                </a:solidFill>
                <a:latin typeface="Arial" pitchFamily="34" charset="0"/>
                <a:ea typeface="Arial" pitchFamily="34" charset="-122"/>
                <a:cs typeface="Arial" pitchFamily="34" charset="-120"/>
              </a:rPr>
              <a:t>App B</a:t>
            </a:r>
            <a:endParaRPr lang="en-US" sz="1100" dirty="0"/>
          </a:p>
        </p:txBody>
      </p:sp>
      <p:sp>
        <p:nvSpPr>
          <p:cNvPr id="27" name="Shape 25"/>
          <p:cNvSpPr/>
          <p:nvPr/>
        </p:nvSpPr>
        <p:spPr>
          <a:xfrm>
            <a:off x="5029200" y="2450592"/>
            <a:ext cx="3566160" cy="438912"/>
          </a:xfrm>
          <a:prstGeom prst="roundRect">
            <a:avLst>
              <a:gd name="adj" fmla="val 20833"/>
            </a:avLst>
          </a:prstGeom>
          <a:solidFill>
            <a:srgbClr val="0DB7ED"/>
          </a:solidFill>
          <a:ln w="12700">
            <a:solidFill>
              <a:srgbClr val="0DB7ED"/>
            </a:solidFill>
            <a:prstDash val="solid"/>
          </a:ln>
          <a:effectLst>
            <a:outerShdw sx="100000" sy="100000" kx="0" ky="0" algn="bl" rotWithShape="0" blurRad="101600" dist="38100" dir="2700000">
              <a:srgbClr val="000000">
                <a:alpha val="12000"/>
              </a:srgbClr>
            </a:outerShdw>
          </a:effectLst>
        </p:spPr>
      </p:sp>
      <p:sp>
        <p:nvSpPr>
          <p:cNvPr id="28" name="Text 26"/>
          <p:cNvSpPr/>
          <p:nvPr/>
        </p:nvSpPr>
        <p:spPr>
          <a:xfrm>
            <a:off x="5029200" y="2450592"/>
            <a:ext cx="356616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Docker Engine</a:t>
            </a:r>
            <a:endParaRPr lang="en-US" sz="1100" dirty="0"/>
          </a:p>
        </p:txBody>
      </p:sp>
      <p:sp>
        <p:nvSpPr>
          <p:cNvPr id="29" name="Shape 27"/>
          <p:cNvSpPr/>
          <p:nvPr/>
        </p:nvSpPr>
        <p:spPr>
          <a:xfrm>
            <a:off x="5029200" y="2953512"/>
            <a:ext cx="3566160" cy="438912"/>
          </a:xfrm>
          <a:prstGeom prst="roundRect">
            <a:avLst>
              <a:gd name="adj" fmla="val 20833"/>
            </a:avLst>
          </a:prstGeom>
          <a:solidFill>
            <a:srgbClr val="F3F4F6"/>
          </a:solidFill>
          <a:ln w="12700">
            <a:solidFill>
              <a:srgbClr val="E5E7EB"/>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5029200" y="2953512"/>
            <a:ext cx="3566160" cy="438912"/>
          </a:xfrm>
          <a:prstGeom prst="rect">
            <a:avLst/>
          </a:prstGeom>
          <a:noFill/>
          <a:ln/>
        </p:spPr>
        <p:txBody>
          <a:bodyPr wrap="square" lIns="0" tIns="0" rIns="0" bIns="0" rtlCol="0" anchor="ctr"/>
          <a:lstStyle/>
          <a:p>
            <a:pPr algn="ctr" indent="0" marL="0">
              <a:buNone/>
            </a:pPr>
            <a:r>
              <a:rPr lang="en-US" sz="1100" dirty="0">
                <a:solidFill>
                  <a:srgbClr val="0F172A"/>
                </a:solidFill>
                <a:latin typeface="Arial" pitchFamily="34" charset="0"/>
                <a:ea typeface="Arial" pitchFamily="34" charset="-122"/>
                <a:cs typeface="Arial" pitchFamily="34" charset="-120"/>
              </a:rPr>
              <a:t>Host OS</a:t>
            </a:r>
            <a:endParaRPr lang="en-US" sz="1100" dirty="0"/>
          </a:p>
        </p:txBody>
      </p:sp>
      <p:sp>
        <p:nvSpPr>
          <p:cNvPr id="31" name="Shape 29"/>
          <p:cNvSpPr/>
          <p:nvPr/>
        </p:nvSpPr>
        <p:spPr>
          <a:xfrm>
            <a:off x="5029200" y="3456432"/>
            <a:ext cx="3566160" cy="438912"/>
          </a:xfrm>
          <a:prstGeom prst="roundRect">
            <a:avLst>
              <a:gd name="adj" fmla="val 20833"/>
            </a:avLst>
          </a:prstGeom>
          <a:solidFill>
            <a:srgbClr val="E5E7EB"/>
          </a:solidFill>
          <a:ln w="12700">
            <a:solidFill>
              <a:srgbClr val="D1D5DB"/>
            </a:solidFill>
            <a:prstDash val="solid"/>
          </a:ln>
          <a:effectLst>
            <a:outerShdw sx="100000" sy="100000" kx="0" ky="0" algn="bl" rotWithShape="0" blurRad="101600" dist="38100" dir="2700000">
              <a:srgbClr val="000000">
                <a:alpha val="12000"/>
              </a:srgbClr>
            </a:outerShdw>
          </a:effectLst>
        </p:spPr>
      </p:sp>
      <p:sp>
        <p:nvSpPr>
          <p:cNvPr id="32" name="Text 30"/>
          <p:cNvSpPr/>
          <p:nvPr/>
        </p:nvSpPr>
        <p:spPr>
          <a:xfrm>
            <a:off x="5029200" y="3456432"/>
            <a:ext cx="3566160" cy="438912"/>
          </a:xfrm>
          <a:prstGeom prst="rect">
            <a:avLst/>
          </a:prstGeom>
          <a:noFill/>
          <a:ln/>
        </p:spPr>
        <p:txBody>
          <a:bodyPr wrap="square" lIns="0" tIns="0" rIns="0" bIns="0" rtlCol="0" anchor="ctr"/>
          <a:lstStyle/>
          <a:p>
            <a:pPr algn="ctr" indent="0" marL="0">
              <a:buNone/>
            </a:pPr>
            <a:r>
              <a:rPr lang="en-US" sz="1100" dirty="0">
                <a:solidFill>
                  <a:srgbClr val="0F172A"/>
                </a:solidFill>
                <a:latin typeface="Arial" pitchFamily="34" charset="0"/>
                <a:ea typeface="Arial" pitchFamily="34" charset="-122"/>
                <a:cs typeface="Arial" pitchFamily="34" charset="-120"/>
              </a:rPr>
              <a:t>Hardware</a:t>
            </a:r>
            <a:endParaRPr lang="en-US" sz="1100" dirty="0"/>
          </a:p>
        </p:txBody>
      </p:sp>
      <p:sp>
        <p:nvSpPr>
          <p:cNvPr id="33" name="Text 31"/>
          <p:cNvSpPr/>
          <p:nvPr/>
        </p:nvSpPr>
        <p:spPr>
          <a:xfrm>
            <a:off x="4956048" y="4023360"/>
            <a:ext cx="3749040" cy="7132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Shares host OS kernel</a:t>
            </a:r>
            <a:endParaRPr lang="en-US" sz="1000" dirty="0"/>
          </a:p>
          <a:p>
            <a:pPr indent="0" marL="0">
              <a:buNone/>
            </a:pPr>
            <a:r>
              <a:rPr lang="en-US" sz="1000" dirty="0">
                <a:solidFill>
                  <a:srgbClr val="475569"/>
                </a:solidFill>
                <a:latin typeface="Arial" pitchFamily="34" charset="0"/>
                <a:ea typeface="Arial" pitchFamily="34" charset="-122"/>
                <a:cs typeface="Arial" pitchFamily="34" charset="-120"/>
              </a:rPr>
              <a:t>Lightweight — MBs in size</a:t>
            </a:r>
            <a:endParaRPr lang="en-US" sz="1000" dirty="0"/>
          </a:p>
          <a:p>
            <a:pPr indent="0" marL="0">
              <a:buNone/>
            </a:pPr>
            <a:r>
              <a:rPr lang="en-US" sz="1000" dirty="0">
                <a:solidFill>
                  <a:srgbClr val="475569"/>
                </a:solidFill>
                <a:latin typeface="Arial" pitchFamily="34" charset="0"/>
                <a:ea typeface="Arial" pitchFamily="34" charset="-122"/>
                <a:cs typeface="Arial" pitchFamily="34" charset="-120"/>
              </a:rPr>
              <a:t>Starts in seconds</a:t>
            </a:r>
            <a:endParaRPr lang="en-US" sz="1000" dirty="0"/>
          </a:p>
          <a:p>
            <a:pPr indent="0" marL="0">
              <a:buNone/>
            </a:pPr>
            <a:r>
              <a:rPr lang="en-US" sz="1000" dirty="0">
                <a:solidFill>
                  <a:srgbClr val="475569"/>
                </a:solidFill>
                <a:latin typeface="Arial" pitchFamily="34" charset="0"/>
                <a:ea typeface="Arial" pitchFamily="34" charset="-122"/>
                <a:cs typeface="Arial" pitchFamily="34" charset="-120"/>
              </a:rPr>
              <a:t>Process-level isolation</a:t>
            </a:r>
            <a:endParaRPr lang="en-US" sz="1000" dirty="0"/>
          </a:p>
        </p:txBody>
      </p:sp>
      <p:sp>
        <p:nvSpPr>
          <p:cNvPr id="34" name="Shape 32"/>
          <p:cNvSpPr/>
          <p:nvPr/>
        </p:nvSpPr>
        <p:spPr>
          <a:xfrm>
            <a:off x="0" y="4846320"/>
            <a:ext cx="9144000" cy="297180"/>
          </a:xfrm>
          <a:prstGeom prst="rect">
            <a:avLst/>
          </a:prstGeom>
          <a:solidFill>
            <a:srgbClr val="0F172A"/>
          </a:solidFill>
          <a:ln w="12700">
            <a:solidFill>
              <a:srgbClr val="0F172A"/>
            </a:solidFill>
            <a:prstDash val="solid"/>
          </a:ln>
        </p:spPr>
      </p:sp>
      <p:sp>
        <p:nvSpPr>
          <p:cNvPr id="35" name="Text 3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01: What is Docker?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DB7ED"/>
          </a:solidFill>
          <a:ln w="12700">
            <a:solidFill>
              <a:srgbClr val="0DB7ED"/>
            </a:solidFill>
            <a:prstDash val="solid"/>
          </a:ln>
        </p:spPr>
      </p:sp>
      <p:sp>
        <p:nvSpPr>
          <p:cNvPr id="3" name="Shape 1"/>
          <p:cNvSpPr/>
          <p:nvPr/>
        </p:nvSpPr>
        <p:spPr>
          <a:xfrm>
            <a:off x="5943600" y="-914400"/>
            <a:ext cx="4572000" cy="4572000"/>
          </a:xfrm>
          <a:prstGeom prst="ellipse">
            <a:avLst/>
          </a:prstGeom>
          <a:solidFill>
            <a:srgbClr val="0DB7ED">
              <a:alpha val="10000"/>
            </a:srgbClr>
          </a:solidFill>
          <a:ln w="12700">
            <a:solidFill>
              <a:srgbClr val="0DB7ED">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DB7ED"/>
                </a:solidFill>
                <a:latin typeface="Arial" pitchFamily="34" charset="0"/>
                <a:ea typeface="Arial" pitchFamily="34" charset="-122"/>
                <a:cs typeface="Arial" pitchFamily="34" charset="-120"/>
              </a:rPr>
              <a:t>SECTION 02</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Docker Architecture</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How Docker works under the hood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DOCKER ARCHITECTURE</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02  •  Architecture</a:t>
            </a:r>
            <a:endParaRPr lang="en-US" sz="950" dirty="0"/>
          </a:p>
        </p:txBody>
      </p:sp>
      <p:sp>
        <p:nvSpPr>
          <p:cNvPr id="6" name="Shape 4"/>
          <p:cNvSpPr/>
          <p:nvPr/>
        </p:nvSpPr>
        <p:spPr>
          <a:xfrm>
            <a:off x="320040" y="868680"/>
            <a:ext cx="2697480" cy="1901952"/>
          </a:xfrm>
          <a:prstGeom prst="roundRect">
            <a:avLst>
              <a:gd name="adj" fmla="val 4808"/>
            </a:avLst>
          </a:prstGeom>
          <a:solidFill>
            <a:srgbClr val="EFF6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84632" y="987552"/>
            <a:ext cx="594360" cy="59436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8" name="Text 6"/>
          <p:cNvSpPr/>
          <p:nvPr/>
        </p:nvSpPr>
        <p:spPr>
          <a:xfrm>
            <a:off x="484632" y="1627632"/>
            <a:ext cx="2423160" cy="329184"/>
          </a:xfrm>
          <a:prstGeom prst="rect">
            <a:avLst/>
          </a:prstGeom>
          <a:noFill/>
          <a:ln/>
        </p:spPr>
        <p:txBody>
          <a:bodyPr wrap="square" lIns="0" tIns="0" rIns="0" bIns="0" rtlCol="0" anchor="ctr"/>
          <a:lstStyle/>
          <a:p>
            <a:pPr indent="0" marL="0">
              <a:buNone/>
            </a:pPr>
            <a:r>
              <a:rPr lang="en-US" sz="1300" b="1" dirty="0">
                <a:solidFill>
                  <a:srgbClr val="2563EB"/>
                </a:solidFill>
                <a:latin typeface="Cambria" pitchFamily="34" charset="0"/>
                <a:ea typeface="Cambria" pitchFamily="34" charset="-122"/>
                <a:cs typeface="Cambria" pitchFamily="34" charset="-120"/>
              </a:rPr>
              <a:t>Docker Client</a:t>
            </a:r>
            <a:endParaRPr lang="en-US" sz="1300" dirty="0"/>
          </a:p>
        </p:txBody>
      </p:sp>
      <p:sp>
        <p:nvSpPr>
          <p:cNvPr id="9" name="Text 7"/>
          <p:cNvSpPr/>
          <p:nvPr/>
        </p:nvSpPr>
        <p:spPr>
          <a:xfrm>
            <a:off x="484632" y="1975104"/>
            <a:ext cx="2423160" cy="71323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The CLI you type into.</a:t>
            </a:r>
            <a:endParaRPr lang="en-US" sz="1050" dirty="0"/>
          </a:p>
          <a:p>
            <a:pPr indent="0" marL="0">
              <a:buNone/>
            </a:pPr>
            <a:r>
              <a:rPr lang="en-US" sz="1050" dirty="0">
                <a:solidFill>
                  <a:srgbClr val="475569"/>
                </a:solidFill>
                <a:latin typeface="Arial" pitchFamily="34" charset="0"/>
                <a:ea typeface="Arial" pitchFamily="34" charset="-122"/>
                <a:cs typeface="Arial" pitchFamily="34" charset="-120"/>
              </a:rPr>
              <a:t>docker run, docker build,</a:t>
            </a:r>
            <a:endParaRPr lang="en-US" sz="1050" dirty="0"/>
          </a:p>
          <a:p>
            <a:pPr indent="0" marL="0">
              <a:buNone/>
            </a:pPr>
            <a:r>
              <a:rPr lang="en-US" sz="1050" dirty="0">
                <a:solidFill>
                  <a:srgbClr val="475569"/>
                </a:solidFill>
                <a:latin typeface="Arial" pitchFamily="34" charset="0"/>
                <a:ea typeface="Arial" pitchFamily="34" charset="-122"/>
                <a:cs typeface="Arial" pitchFamily="34" charset="-120"/>
              </a:rPr>
              <a:t>docker pull — all go here.</a:t>
            </a:r>
            <a:endParaRPr lang="en-US" sz="1050" dirty="0"/>
          </a:p>
        </p:txBody>
      </p:sp>
      <p:sp>
        <p:nvSpPr>
          <p:cNvPr id="10" name="Shape 8"/>
          <p:cNvSpPr/>
          <p:nvPr/>
        </p:nvSpPr>
        <p:spPr>
          <a:xfrm>
            <a:off x="3172968" y="868680"/>
            <a:ext cx="2697480" cy="1901952"/>
          </a:xfrm>
          <a:prstGeom prst="roundRect">
            <a:avLst>
              <a:gd name="adj" fmla="val 4808"/>
            </a:avLst>
          </a:prstGeom>
          <a:solidFill>
            <a:srgbClr val="E0F7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3337560" y="987552"/>
            <a:ext cx="594360" cy="59436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2" name="Text 10"/>
          <p:cNvSpPr/>
          <p:nvPr/>
        </p:nvSpPr>
        <p:spPr>
          <a:xfrm>
            <a:off x="3337560" y="1627632"/>
            <a:ext cx="2423160" cy="329184"/>
          </a:xfrm>
          <a:prstGeom prst="rect">
            <a:avLst/>
          </a:prstGeom>
          <a:noFill/>
          <a:ln/>
        </p:spPr>
        <p:txBody>
          <a:bodyPr wrap="square" lIns="0" tIns="0" rIns="0" bIns="0" rtlCol="0" anchor="ctr"/>
          <a:lstStyle/>
          <a:p>
            <a:pPr indent="0" marL="0">
              <a:buNone/>
            </a:pPr>
            <a:r>
              <a:rPr lang="en-US" sz="1300" b="1" dirty="0">
                <a:solidFill>
                  <a:srgbClr val="0DB7ED"/>
                </a:solidFill>
                <a:latin typeface="Cambria" pitchFamily="34" charset="0"/>
                <a:ea typeface="Cambria" pitchFamily="34" charset="-122"/>
                <a:cs typeface="Cambria" pitchFamily="34" charset="-120"/>
              </a:rPr>
              <a:t>Docker Daemon</a:t>
            </a:r>
            <a:endParaRPr lang="en-US" sz="1300" dirty="0"/>
          </a:p>
        </p:txBody>
      </p:sp>
      <p:sp>
        <p:nvSpPr>
          <p:cNvPr id="13" name="Text 11"/>
          <p:cNvSpPr/>
          <p:nvPr/>
        </p:nvSpPr>
        <p:spPr>
          <a:xfrm>
            <a:off x="3337560" y="1975104"/>
            <a:ext cx="2423160" cy="71323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The background engine that does the real work — builds images, runs containers, manages storage.</a:t>
            </a:r>
            <a:endParaRPr lang="en-US" sz="1050" dirty="0"/>
          </a:p>
        </p:txBody>
      </p:sp>
      <p:sp>
        <p:nvSpPr>
          <p:cNvPr id="14" name="Shape 12"/>
          <p:cNvSpPr/>
          <p:nvPr/>
        </p:nvSpPr>
        <p:spPr>
          <a:xfrm>
            <a:off x="6025896" y="868680"/>
            <a:ext cx="2697480" cy="1901952"/>
          </a:xfrm>
          <a:prstGeom prst="roundRect">
            <a:avLst>
              <a:gd name="adj" fmla="val 4808"/>
            </a:avLst>
          </a:prstGeom>
          <a:solidFill>
            <a:srgbClr val="D1FAE5"/>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6190488" y="987552"/>
            <a:ext cx="594360" cy="59436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6" name="Text 14"/>
          <p:cNvSpPr/>
          <p:nvPr/>
        </p:nvSpPr>
        <p:spPr>
          <a:xfrm>
            <a:off x="6190488" y="1627632"/>
            <a:ext cx="2423160" cy="329184"/>
          </a:xfrm>
          <a:prstGeom prst="rect">
            <a:avLst/>
          </a:prstGeom>
          <a:noFill/>
          <a:ln/>
        </p:spPr>
        <p:txBody>
          <a:bodyPr wrap="square" lIns="0" tIns="0" rIns="0" bIns="0" rtlCol="0" anchor="ctr"/>
          <a:lstStyle/>
          <a:p>
            <a:pPr indent="0" marL="0">
              <a:buNone/>
            </a:pPr>
            <a:r>
              <a:rPr lang="en-US" sz="1300" b="1" dirty="0">
                <a:solidFill>
                  <a:srgbClr val="059669"/>
                </a:solidFill>
                <a:latin typeface="Cambria" pitchFamily="34" charset="0"/>
                <a:ea typeface="Cambria" pitchFamily="34" charset="-122"/>
                <a:cs typeface="Cambria" pitchFamily="34" charset="-120"/>
              </a:rPr>
              <a:t>Docker Registry</a:t>
            </a:r>
            <a:endParaRPr lang="en-US" sz="1300" dirty="0"/>
          </a:p>
        </p:txBody>
      </p:sp>
      <p:sp>
        <p:nvSpPr>
          <p:cNvPr id="17" name="Text 15"/>
          <p:cNvSpPr/>
          <p:nvPr/>
        </p:nvSpPr>
        <p:spPr>
          <a:xfrm>
            <a:off x="6190488" y="1975104"/>
            <a:ext cx="2423160" cy="71323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Where images are stored and shared. Docker Hub is the default public registry.</a:t>
            </a:r>
            <a:endParaRPr lang="en-US" sz="1050" dirty="0"/>
          </a:p>
        </p:txBody>
      </p:sp>
      <p:sp>
        <p:nvSpPr>
          <p:cNvPr id="18" name="Text 16"/>
          <p:cNvSpPr/>
          <p:nvPr/>
        </p:nvSpPr>
        <p:spPr>
          <a:xfrm>
            <a:off x="3035808" y="1536192"/>
            <a:ext cx="594360" cy="347472"/>
          </a:xfrm>
          <a:prstGeom prst="rect">
            <a:avLst/>
          </a:prstGeom>
          <a:noFill/>
          <a:ln/>
        </p:spPr>
        <p:txBody>
          <a:bodyPr wrap="square" lIns="0" tIns="0" rIns="0" bIns="0" rtlCol="0" anchor="ctr"/>
          <a:lstStyle/>
          <a:p>
            <a:pPr algn="ctr" indent="0" marL="0">
              <a:buNone/>
            </a:pPr>
            <a:r>
              <a:rPr lang="en-US" sz="2000" dirty="0">
                <a:solidFill>
                  <a:srgbClr val="94A3B8"/>
                </a:solidFill>
              </a:rPr>
              <a:t>→</a:t>
            </a:r>
            <a:endParaRPr lang="en-US" sz="2000" dirty="0"/>
          </a:p>
        </p:txBody>
      </p:sp>
      <p:sp>
        <p:nvSpPr>
          <p:cNvPr id="19" name="Text 17"/>
          <p:cNvSpPr/>
          <p:nvPr/>
        </p:nvSpPr>
        <p:spPr>
          <a:xfrm>
            <a:off x="2962656" y="1901952"/>
            <a:ext cx="749808" cy="256032"/>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REST API</a:t>
            </a:r>
            <a:endParaRPr lang="en-US" sz="850" dirty="0"/>
          </a:p>
        </p:txBody>
      </p:sp>
      <p:sp>
        <p:nvSpPr>
          <p:cNvPr id="20" name="Text 18"/>
          <p:cNvSpPr/>
          <p:nvPr/>
        </p:nvSpPr>
        <p:spPr>
          <a:xfrm>
            <a:off x="5897880" y="1536192"/>
            <a:ext cx="594360" cy="347472"/>
          </a:xfrm>
          <a:prstGeom prst="rect">
            <a:avLst/>
          </a:prstGeom>
          <a:noFill/>
          <a:ln/>
        </p:spPr>
        <p:txBody>
          <a:bodyPr wrap="square" lIns="0" tIns="0" rIns="0" bIns="0" rtlCol="0" anchor="ctr"/>
          <a:lstStyle/>
          <a:p>
            <a:pPr algn="ctr" indent="0" marL="0">
              <a:buNone/>
            </a:pPr>
            <a:r>
              <a:rPr lang="en-US" sz="2000" dirty="0">
                <a:solidFill>
                  <a:srgbClr val="94A3B8"/>
                </a:solidFill>
              </a:rPr>
              <a:t>→</a:t>
            </a:r>
            <a:endParaRPr lang="en-US" sz="2000" dirty="0"/>
          </a:p>
        </p:txBody>
      </p:sp>
      <p:sp>
        <p:nvSpPr>
          <p:cNvPr id="21" name="Text 19"/>
          <p:cNvSpPr/>
          <p:nvPr/>
        </p:nvSpPr>
        <p:spPr>
          <a:xfrm>
            <a:off x="5824728" y="1901952"/>
            <a:ext cx="749808" cy="256032"/>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pull / push</a:t>
            </a:r>
            <a:endParaRPr lang="en-US" sz="850" dirty="0"/>
          </a:p>
        </p:txBody>
      </p:sp>
      <p:sp>
        <p:nvSpPr>
          <p:cNvPr id="22" name="Text 20"/>
          <p:cNvSpPr/>
          <p:nvPr/>
        </p:nvSpPr>
        <p:spPr>
          <a:xfrm>
            <a:off x="320040" y="2852928"/>
            <a:ext cx="3657600" cy="292608"/>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Core Objects</a:t>
            </a:r>
            <a:endParaRPr lang="en-US" sz="1200" dirty="0"/>
          </a:p>
        </p:txBody>
      </p:sp>
      <p:sp>
        <p:nvSpPr>
          <p:cNvPr id="23" name="Shape 21"/>
          <p:cNvSpPr/>
          <p:nvPr/>
        </p:nvSpPr>
        <p:spPr>
          <a:xfrm>
            <a:off x="320040" y="3182112"/>
            <a:ext cx="2029968"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4" name="Shape 22"/>
          <p:cNvSpPr/>
          <p:nvPr/>
        </p:nvSpPr>
        <p:spPr>
          <a:xfrm>
            <a:off x="429768" y="3273552"/>
            <a:ext cx="1810512" cy="347472"/>
          </a:xfrm>
          <a:prstGeom prst="roundRect">
            <a:avLst>
              <a:gd name="adj" fmla="val 15789"/>
            </a:avLst>
          </a:prstGeom>
          <a:solidFill>
            <a:srgbClr val="0DB7ED"/>
          </a:solidFill>
          <a:ln w="12700">
            <a:solidFill>
              <a:srgbClr val="0DB7ED"/>
            </a:solidFill>
            <a:prstDash val="solid"/>
          </a:ln>
        </p:spPr>
      </p:sp>
      <p:sp>
        <p:nvSpPr>
          <p:cNvPr id="25" name="Text 23"/>
          <p:cNvSpPr/>
          <p:nvPr/>
        </p:nvSpPr>
        <p:spPr>
          <a:xfrm>
            <a:off x="429768" y="3273552"/>
            <a:ext cx="181051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Image</a:t>
            </a:r>
            <a:endParaRPr lang="en-US" sz="1200" dirty="0"/>
          </a:p>
        </p:txBody>
      </p:sp>
      <p:sp>
        <p:nvSpPr>
          <p:cNvPr id="26" name="Text 24"/>
          <p:cNvSpPr/>
          <p:nvPr/>
        </p:nvSpPr>
        <p:spPr>
          <a:xfrm>
            <a:off x="429768" y="3657600"/>
            <a:ext cx="1810512" cy="713232"/>
          </a:xfrm>
          <a:prstGeom prst="rect">
            <a:avLst/>
          </a:prstGeom>
          <a:noFill/>
          <a:ln/>
        </p:spPr>
        <p:txBody>
          <a:bodyPr wrap="square" lIns="0" tIns="0" rIns="0" bIns="0" rtlCol="0" anchor="ctr"/>
          <a:lstStyle/>
          <a:p>
            <a:pPr algn="ctr" indent="0" marL="0">
              <a:buNone/>
            </a:pPr>
            <a:r>
              <a:rPr lang="en-US" sz="1000" dirty="0">
                <a:solidFill>
                  <a:srgbClr val="475569"/>
                </a:solidFill>
                <a:latin typeface="Arial" pitchFamily="34" charset="0"/>
                <a:ea typeface="Arial" pitchFamily="34" charset="-122"/>
                <a:cs typeface="Arial" pitchFamily="34" charset="-120"/>
              </a:rPr>
              <a:t>Read-only template. The blueprint.</a:t>
            </a:r>
            <a:endParaRPr lang="en-US" sz="1000" dirty="0"/>
          </a:p>
        </p:txBody>
      </p:sp>
      <p:sp>
        <p:nvSpPr>
          <p:cNvPr id="27" name="Shape 25"/>
          <p:cNvSpPr/>
          <p:nvPr/>
        </p:nvSpPr>
        <p:spPr>
          <a:xfrm>
            <a:off x="2496312" y="3182112"/>
            <a:ext cx="2029968"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8" name="Shape 26"/>
          <p:cNvSpPr/>
          <p:nvPr/>
        </p:nvSpPr>
        <p:spPr>
          <a:xfrm>
            <a:off x="2606040" y="3273552"/>
            <a:ext cx="1810512" cy="347472"/>
          </a:xfrm>
          <a:prstGeom prst="roundRect">
            <a:avLst>
              <a:gd name="adj" fmla="val 15789"/>
            </a:avLst>
          </a:prstGeom>
          <a:solidFill>
            <a:srgbClr val="2563EB"/>
          </a:solidFill>
          <a:ln w="12700">
            <a:solidFill>
              <a:srgbClr val="2563EB"/>
            </a:solidFill>
            <a:prstDash val="solid"/>
          </a:ln>
        </p:spPr>
      </p:sp>
      <p:sp>
        <p:nvSpPr>
          <p:cNvPr id="29" name="Text 27"/>
          <p:cNvSpPr/>
          <p:nvPr/>
        </p:nvSpPr>
        <p:spPr>
          <a:xfrm>
            <a:off x="2606040" y="3273552"/>
            <a:ext cx="181051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Container</a:t>
            </a:r>
            <a:endParaRPr lang="en-US" sz="1200" dirty="0"/>
          </a:p>
        </p:txBody>
      </p:sp>
      <p:sp>
        <p:nvSpPr>
          <p:cNvPr id="30" name="Text 28"/>
          <p:cNvSpPr/>
          <p:nvPr/>
        </p:nvSpPr>
        <p:spPr>
          <a:xfrm>
            <a:off x="2606040" y="3657600"/>
            <a:ext cx="1810512" cy="713232"/>
          </a:xfrm>
          <a:prstGeom prst="rect">
            <a:avLst/>
          </a:prstGeom>
          <a:noFill/>
          <a:ln/>
        </p:spPr>
        <p:txBody>
          <a:bodyPr wrap="square" lIns="0" tIns="0" rIns="0" bIns="0" rtlCol="0" anchor="ctr"/>
          <a:lstStyle/>
          <a:p>
            <a:pPr algn="ctr" indent="0" marL="0">
              <a:buNone/>
            </a:pPr>
            <a:r>
              <a:rPr lang="en-US" sz="1000" dirty="0">
                <a:solidFill>
                  <a:srgbClr val="475569"/>
                </a:solidFill>
                <a:latin typeface="Arial" pitchFamily="34" charset="0"/>
                <a:ea typeface="Arial" pitchFamily="34" charset="-122"/>
                <a:cs typeface="Arial" pitchFamily="34" charset="-120"/>
              </a:rPr>
              <a:t>Running instance of an image.</a:t>
            </a:r>
            <a:endParaRPr lang="en-US" sz="1000" dirty="0"/>
          </a:p>
        </p:txBody>
      </p:sp>
      <p:sp>
        <p:nvSpPr>
          <p:cNvPr id="31" name="Shape 29"/>
          <p:cNvSpPr/>
          <p:nvPr/>
        </p:nvSpPr>
        <p:spPr>
          <a:xfrm>
            <a:off x="4672584" y="3182112"/>
            <a:ext cx="2029968"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2" name="Shape 30"/>
          <p:cNvSpPr/>
          <p:nvPr/>
        </p:nvSpPr>
        <p:spPr>
          <a:xfrm>
            <a:off x="4782312" y="3273552"/>
            <a:ext cx="1810512" cy="347472"/>
          </a:xfrm>
          <a:prstGeom prst="roundRect">
            <a:avLst>
              <a:gd name="adj" fmla="val 15789"/>
            </a:avLst>
          </a:prstGeom>
          <a:solidFill>
            <a:srgbClr val="059669"/>
          </a:solidFill>
          <a:ln w="12700">
            <a:solidFill>
              <a:srgbClr val="059669"/>
            </a:solidFill>
            <a:prstDash val="solid"/>
          </a:ln>
        </p:spPr>
      </p:sp>
      <p:sp>
        <p:nvSpPr>
          <p:cNvPr id="33" name="Text 31"/>
          <p:cNvSpPr/>
          <p:nvPr/>
        </p:nvSpPr>
        <p:spPr>
          <a:xfrm>
            <a:off x="4782312" y="3273552"/>
            <a:ext cx="181051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Volume</a:t>
            </a:r>
            <a:endParaRPr lang="en-US" sz="1200" dirty="0"/>
          </a:p>
        </p:txBody>
      </p:sp>
      <p:sp>
        <p:nvSpPr>
          <p:cNvPr id="34" name="Text 32"/>
          <p:cNvSpPr/>
          <p:nvPr/>
        </p:nvSpPr>
        <p:spPr>
          <a:xfrm>
            <a:off x="4782312" y="3657600"/>
            <a:ext cx="1810512" cy="713232"/>
          </a:xfrm>
          <a:prstGeom prst="rect">
            <a:avLst/>
          </a:prstGeom>
          <a:noFill/>
          <a:ln/>
        </p:spPr>
        <p:txBody>
          <a:bodyPr wrap="square" lIns="0" tIns="0" rIns="0" bIns="0" rtlCol="0" anchor="ctr"/>
          <a:lstStyle/>
          <a:p>
            <a:pPr algn="ctr" indent="0" marL="0">
              <a:buNone/>
            </a:pPr>
            <a:r>
              <a:rPr lang="en-US" sz="1000" dirty="0">
                <a:solidFill>
                  <a:srgbClr val="475569"/>
                </a:solidFill>
                <a:latin typeface="Arial" pitchFamily="34" charset="0"/>
                <a:ea typeface="Arial" pitchFamily="34" charset="-122"/>
                <a:cs typeface="Arial" pitchFamily="34" charset="-120"/>
              </a:rPr>
              <a:t>Persistent data storage.</a:t>
            </a:r>
            <a:endParaRPr lang="en-US" sz="1000" dirty="0"/>
          </a:p>
        </p:txBody>
      </p:sp>
      <p:sp>
        <p:nvSpPr>
          <p:cNvPr id="35" name="Shape 33"/>
          <p:cNvSpPr/>
          <p:nvPr/>
        </p:nvSpPr>
        <p:spPr>
          <a:xfrm>
            <a:off x="6848856" y="3182112"/>
            <a:ext cx="2029968" cy="1298448"/>
          </a:xfrm>
          <a:prstGeom prst="roundRect">
            <a:avLst>
              <a:gd name="adj" fmla="val 7042"/>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6" name="Shape 34"/>
          <p:cNvSpPr/>
          <p:nvPr/>
        </p:nvSpPr>
        <p:spPr>
          <a:xfrm>
            <a:off x="6958584" y="3273552"/>
            <a:ext cx="1810512" cy="347472"/>
          </a:xfrm>
          <a:prstGeom prst="roundRect">
            <a:avLst>
              <a:gd name="adj" fmla="val 15789"/>
            </a:avLst>
          </a:prstGeom>
          <a:solidFill>
            <a:srgbClr val="7C3AED"/>
          </a:solidFill>
          <a:ln w="12700">
            <a:solidFill>
              <a:srgbClr val="7C3AED"/>
            </a:solidFill>
            <a:prstDash val="solid"/>
          </a:ln>
        </p:spPr>
      </p:sp>
      <p:sp>
        <p:nvSpPr>
          <p:cNvPr id="37" name="Text 35"/>
          <p:cNvSpPr/>
          <p:nvPr/>
        </p:nvSpPr>
        <p:spPr>
          <a:xfrm>
            <a:off x="6958584" y="3273552"/>
            <a:ext cx="181051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Network</a:t>
            </a:r>
            <a:endParaRPr lang="en-US" sz="1200" dirty="0"/>
          </a:p>
        </p:txBody>
      </p:sp>
      <p:sp>
        <p:nvSpPr>
          <p:cNvPr id="38" name="Text 36"/>
          <p:cNvSpPr/>
          <p:nvPr/>
        </p:nvSpPr>
        <p:spPr>
          <a:xfrm>
            <a:off x="6958584" y="3657600"/>
            <a:ext cx="1810512" cy="713232"/>
          </a:xfrm>
          <a:prstGeom prst="rect">
            <a:avLst/>
          </a:prstGeom>
          <a:noFill/>
          <a:ln/>
        </p:spPr>
        <p:txBody>
          <a:bodyPr wrap="square" lIns="0" tIns="0" rIns="0" bIns="0" rtlCol="0" anchor="ctr"/>
          <a:lstStyle/>
          <a:p>
            <a:pPr algn="ctr" indent="0" marL="0">
              <a:buNone/>
            </a:pPr>
            <a:r>
              <a:rPr lang="en-US" sz="1000" dirty="0">
                <a:solidFill>
                  <a:srgbClr val="475569"/>
                </a:solidFill>
                <a:latin typeface="Arial" pitchFamily="34" charset="0"/>
                <a:ea typeface="Arial" pitchFamily="34" charset="-122"/>
                <a:cs typeface="Arial" pitchFamily="34" charset="-120"/>
              </a:rPr>
              <a:t>How containers communicate.</a:t>
            </a:r>
            <a:endParaRPr lang="en-US" sz="1000" dirty="0"/>
          </a:p>
        </p:txBody>
      </p:sp>
      <p:sp>
        <p:nvSpPr>
          <p:cNvPr id="39" name="Shape 37"/>
          <p:cNvSpPr/>
          <p:nvPr/>
        </p:nvSpPr>
        <p:spPr>
          <a:xfrm>
            <a:off x="0" y="4846320"/>
            <a:ext cx="9144000" cy="297180"/>
          </a:xfrm>
          <a:prstGeom prst="rect">
            <a:avLst/>
          </a:prstGeom>
          <a:solidFill>
            <a:srgbClr val="0F172A"/>
          </a:solidFill>
          <a:ln w="12700">
            <a:solidFill>
              <a:srgbClr val="0F172A"/>
            </a:solidFill>
            <a:prstDash val="solid"/>
          </a:ln>
        </p:spPr>
      </p:sp>
      <p:sp>
        <p:nvSpPr>
          <p:cNvPr id="40" name="Text 38"/>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02: Docker Architecture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KEY CONCEPTS BEFORE WE CODE</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02  •  Architecture</a:t>
            </a:r>
            <a:endParaRPr lang="en-US" sz="950" dirty="0"/>
          </a:p>
        </p:txBody>
      </p:sp>
      <p:sp>
        <p:nvSpPr>
          <p:cNvPr id="6" name="Shape 4"/>
          <p:cNvSpPr/>
          <p:nvPr/>
        </p:nvSpPr>
        <p:spPr>
          <a:xfrm>
            <a:off x="320040" y="8961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75488" y="1060704"/>
            <a:ext cx="475488" cy="868680"/>
          </a:xfrm>
          <a:prstGeom prst="roundRect">
            <a:avLst>
              <a:gd name="adj" fmla="val 13462"/>
            </a:avLst>
          </a:prstGeom>
          <a:solidFill>
            <a:srgbClr val="0DB7ED"/>
          </a:solidFill>
          <a:ln w="12700">
            <a:solidFill>
              <a:srgbClr val="0DB7ED"/>
            </a:solidFill>
            <a:prstDash val="solid"/>
          </a:ln>
        </p:spPr>
      </p:sp>
      <p:sp>
        <p:nvSpPr>
          <p:cNvPr id="8" name="Text 6"/>
          <p:cNvSpPr/>
          <p:nvPr/>
        </p:nvSpPr>
        <p:spPr>
          <a:xfrm>
            <a:off x="475488" y="10607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9" name="Text 7"/>
          <p:cNvSpPr/>
          <p:nvPr/>
        </p:nvSpPr>
        <p:spPr>
          <a:xfrm>
            <a:off x="1097280" y="1005840"/>
            <a:ext cx="7406640" cy="384048"/>
          </a:xfrm>
          <a:prstGeom prst="rect">
            <a:avLst/>
          </a:prstGeom>
          <a:noFill/>
          <a:ln/>
        </p:spPr>
        <p:txBody>
          <a:bodyPr wrap="square" lIns="0" tIns="0" rIns="0" bIns="0" rtlCol="0" anchor="ctr"/>
          <a:lstStyle/>
          <a:p>
            <a:pPr indent="0" marL="0">
              <a:buNone/>
            </a:pPr>
            <a:r>
              <a:rPr lang="en-US" sz="1300" b="1" dirty="0">
                <a:solidFill>
                  <a:srgbClr val="0DB7ED"/>
                </a:solidFill>
                <a:latin typeface="Arial" pitchFamily="34" charset="0"/>
                <a:ea typeface="Arial" pitchFamily="34" charset="-122"/>
                <a:cs typeface="Arial" pitchFamily="34" charset="-120"/>
              </a:rPr>
              <a:t>Image  →  Container</a:t>
            </a:r>
            <a:endParaRPr lang="en-US" sz="1300" dirty="0"/>
          </a:p>
        </p:txBody>
      </p:sp>
      <p:sp>
        <p:nvSpPr>
          <p:cNvPr id="10" name="Text 8"/>
          <p:cNvSpPr/>
          <p:nvPr/>
        </p:nvSpPr>
        <p:spPr>
          <a:xfrm>
            <a:off x="1097280" y="14081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An image is the blueprint (like a class in code). A container is a running instance (like an object). One image can run many containers simultaneously — each completely independent.</a:t>
            </a:r>
            <a:endParaRPr lang="en-US" sz="1100" dirty="0"/>
          </a:p>
        </p:txBody>
      </p:sp>
      <p:sp>
        <p:nvSpPr>
          <p:cNvPr id="11" name="Shape 9"/>
          <p:cNvSpPr/>
          <p:nvPr/>
        </p:nvSpPr>
        <p:spPr>
          <a:xfrm>
            <a:off x="320040" y="22677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475488" y="2432304"/>
            <a:ext cx="475488" cy="868680"/>
          </a:xfrm>
          <a:prstGeom prst="roundRect">
            <a:avLst>
              <a:gd name="adj" fmla="val 13462"/>
            </a:avLst>
          </a:prstGeom>
          <a:solidFill>
            <a:srgbClr val="2563EB"/>
          </a:solidFill>
          <a:ln w="12700">
            <a:solidFill>
              <a:srgbClr val="2563EB"/>
            </a:solidFill>
            <a:prstDash val="solid"/>
          </a:ln>
        </p:spPr>
      </p:sp>
      <p:sp>
        <p:nvSpPr>
          <p:cNvPr id="13" name="Text 11"/>
          <p:cNvSpPr/>
          <p:nvPr/>
        </p:nvSpPr>
        <p:spPr>
          <a:xfrm>
            <a:off x="475488" y="24323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4" name="Text 12"/>
          <p:cNvSpPr/>
          <p:nvPr/>
        </p:nvSpPr>
        <p:spPr>
          <a:xfrm>
            <a:off x="1097280" y="2377440"/>
            <a:ext cx="7406640" cy="384048"/>
          </a:xfrm>
          <a:prstGeom prst="rect">
            <a:avLst/>
          </a:prstGeom>
          <a:noFill/>
          <a:ln/>
        </p:spPr>
        <p:txBody>
          <a:bodyPr wrap="square" lIns="0" tIns="0" rIns="0" bIns="0" rtlCol="0" anchor="ctr"/>
          <a:lstStyle/>
          <a:p>
            <a:pPr indent="0" marL="0">
              <a:buNone/>
            </a:pPr>
            <a:r>
              <a:rPr lang="en-US" sz="1300" b="1" dirty="0">
                <a:solidFill>
                  <a:srgbClr val="2563EB"/>
                </a:solidFill>
                <a:latin typeface="Arial" pitchFamily="34" charset="0"/>
                <a:ea typeface="Arial" pitchFamily="34" charset="-122"/>
                <a:cs typeface="Arial" pitchFamily="34" charset="-120"/>
              </a:rPr>
              <a:t>Layers</a:t>
            </a:r>
            <a:endParaRPr lang="en-US" sz="1300" dirty="0"/>
          </a:p>
        </p:txBody>
      </p:sp>
      <p:sp>
        <p:nvSpPr>
          <p:cNvPr id="15" name="Text 13"/>
          <p:cNvSpPr/>
          <p:nvPr/>
        </p:nvSpPr>
        <p:spPr>
          <a:xfrm>
            <a:off x="1097280" y="27797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Every Docker image is built from layers. Each instruction in a Dockerfile adds a layer. Layers are cached and shared between images — two images with the same base OS share those base layers on disk.</a:t>
            </a:r>
            <a:endParaRPr lang="en-US" sz="1100" dirty="0"/>
          </a:p>
        </p:txBody>
      </p:sp>
      <p:sp>
        <p:nvSpPr>
          <p:cNvPr id="16" name="Shape 14"/>
          <p:cNvSpPr/>
          <p:nvPr/>
        </p:nvSpPr>
        <p:spPr>
          <a:xfrm>
            <a:off x="320040" y="36393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475488" y="3803904"/>
            <a:ext cx="475488" cy="868680"/>
          </a:xfrm>
          <a:prstGeom prst="roundRect">
            <a:avLst>
              <a:gd name="adj" fmla="val 13462"/>
            </a:avLst>
          </a:prstGeom>
          <a:solidFill>
            <a:srgbClr val="059669"/>
          </a:solidFill>
          <a:ln w="12700">
            <a:solidFill>
              <a:srgbClr val="059669"/>
            </a:solidFill>
            <a:prstDash val="solid"/>
          </a:ln>
        </p:spPr>
      </p:sp>
      <p:sp>
        <p:nvSpPr>
          <p:cNvPr id="18" name="Text 16"/>
          <p:cNvSpPr/>
          <p:nvPr/>
        </p:nvSpPr>
        <p:spPr>
          <a:xfrm>
            <a:off x="475488" y="38039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9" name="Text 17"/>
          <p:cNvSpPr/>
          <p:nvPr/>
        </p:nvSpPr>
        <p:spPr>
          <a:xfrm>
            <a:off x="1097280" y="3749040"/>
            <a:ext cx="7406640" cy="384048"/>
          </a:xfrm>
          <a:prstGeom prst="rect">
            <a:avLst/>
          </a:prstGeom>
          <a:noFill/>
          <a:ln/>
        </p:spPr>
        <p:txBody>
          <a:bodyPr wrap="square" lIns="0" tIns="0" rIns="0" bIns="0" rtlCol="0" anchor="ctr"/>
          <a:lstStyle/>
          <a:p>
            <a:pPr indent="0" marL="0">
              <a:buNone/>
            </a:pPr>
            <a:r>
              <a:rPr lang="en-US" sz="1300" b="1" dirty="0">
                <a:solidFill>
                  <a:srgbClr val="059669"/>
                </a:solidFill>
                <a:latin typeface="Arial" pitchFamily="34" charset="0"/>
                <a:ea typeface="Arial" pitchFamily="34" charset="-122"/>
                <a:cs typeface="Arial" pitchFamily="34" charset="-120"/>
              </a:rPr>
              <a:t>Registry</a:t>
            </a:r>
            <a:endParaRPr lang="en-US" sz="1300" dirty="0"/>
          </a:p>
        </p:txBody>
      </p:sp>
      <p:sp>
        <p:nvSpPr>
          <p:cNvPr id="20" name="Text 18"/>
          <p:cNvSpPr/>
          <p:nvPr/>
        </p:nvSpPr>
        <p:spPr>
          <a:xfrm>
            <a:off x="1097280" y="41513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Docker Hub is the default public registry — like GitHub but for images. You pull images from it (docker pull) and can push your own images to share (docker push). Private registries also exist for company-internal images.</a:t>
            </a:r>
            <a:endParaRPr lang="en-US" sz="1100" dirty="0"/>
          </a:p>
        </p:txBody>
      </p:sp>
      <p:sp>
        <p:nvSpPr>
          <p:cNvPr id="21" name="Shape 19"/>
          <p:cNvSpPr/>
          <p:nvPr/>
        </p:nvSpPr>
        <p:spPr>
          <a:xfrm>
            <a:off x="0" y="4846320"/>
            <a:ext cx="9144000" cy="297180"/>
          </a:xfrm>
          <a:prstGeom prst="rect">
            <a:avLst/>
          </a:prstGeom>
          <a:solidFill>
            <a:srgbClr val="0F172A"/>
          </a:solidFill>
          <a:ln w="12700">
            <a:solidFill>
              <a:srgbClr val="0F172A"/>
            </a:solidFill>
            <a:prstDash val="solid"/>
          </a:ln>
        </p:spPr>
      </p:sp>
      <p:sp>
        <p:nvSpPr>
          <p:cNvPr id="22" name="Text 2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02: Docker Architecture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COMMON SETUP ERRORS — QUICK FIXES</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207008"/>
            <a:ext cx="8503920" cy="329184"/>
          </a:xfrm>
          <a:prstGeom prst="rect">
            <a:avLst/>
          </a:prstGeom>
          <a:solidFill>
            <a:srgbClr val="0F172A"/>
          </a:solidFill>
          <a:ln w="12700">
            <a:solidFill>
              <a:srgbClr val="0F172A"/>
            </a:solidFill>
            <a:prstDash val="solid"/>
          </a:ln>
        </p:spPr>
      </p:sp>
      <p:sp>
        <p:nvSpPr>
          <p:cNvPr id="9" name="Text 7"/>
          <p:cNvSpPr/>
          <p:nvPr/>
        </p:nvSpPr>
        <p:spPr>
          <a:xfrm>
            <a:off x="411480" y="1234440"/>
            <a:ext cx="265176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Error Message</a:t>
            </a:r>
            <a:endParaRPr lang="en-US" sz="1050" dirty="0"/>
          </a:p>
        </p:txBody>
      </p:sp>
      <p:sp>
        <p:nvSpPr>
          <p:cNvPr id="10" name="Text 8"/>
          <p:cNvSpPr/>
          <p:nvPr/>
        </p:nvSpPr>
        <p:spPr>
          <a:xfrm>
            <a:off x="3154680" y="1234440"/>
            <a:ext cx="2395728"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Cause</a:t>
            </a:r>
            <a:endParaRPr lang="en-US" sz="1050" dirty="0"/>
          </a:p>
        </p:txBody>
      </p:sp>
      <p:sp>
        <p:nvSpPr>
          <p:cNvPr id="11" name="Text 9"/>
          <p:cNvSpPr/>
          <p:nvPr/>
        </p:nvSpPr>
        <p:spPr>
          <a:xfrm>
            <a:off x="5623560" y="1234440"/>
            <a:ext cx="356616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Quick Fix</a:t>
            </a:r>
            <a:endParaRPr lang="en-US" sz="1050" dirty="0"/>
          </a:p>
        </p:txBody>
      </p:sp>
      <p:sp>
        <p:nvSpPr>
          <p:cNvPr id="12" name="Shape 10"/>
          <p:cNvSpPr/>
          <p:nvPr/>
        </p:nvSpPr>
        <p:spPr>
          <a:xfrm>
            <a:off x="320040" y="1572768"/>
            <a:ext cx="8503920" cy="475488"/>
          </a:xfrm>
          <a:prstGeom prst="rect">
            <a:avLst/>
          </a:prstGeom>
          <a:solidFill>
            <a:srgbClr val="FFFFFF"/>
          </a:solidFill>
          <a:ln w="12700">
            <a:solidFill>
              <a:srgbClr val="E2E8F0"/>
            </a:solidFill>
            <a:prstDash val="solid"/>
          </a:ln>
        </p:spPr>
      </p:sp>
      <p:sp>
        <p:nvSpPr>
          <p:cNvPr id="13" name="Text 11"/>
          <p:cNvSpPr/>
          <p:nvPr/>
        </p:nvSpPr>
        <p:spPr>
          <a:xfrm>
            <a:off x="411480" y="1627632"/>
            <a:ext cx="2651760" cy="347472"/>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Cannot connect to the Docker daemon</a:t>
            </a:r>
            <a:endParaRPr lang="en-US" sz="900" dirty="0"/>
          </a:p>
        </p:txBody>
      </p:sp>
      <p:sp>
        <p:nvSpPr>
          <p:cNvPr id="14" name="Text 12"/>
          <p:cNvSpPr/>
          <p:nvPr/>
        </p:nvSpPr>
        <p:spPr>
          <a:xfrm>
            <a:off x="3154680" y="1627632"/>
            <a:ext cx="2395728" cy="3474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Docker Desktop is not running</a:t>
            </a:r>
            <a:endParaRPr lang="en-US" sz="950" dirty="0"/>
          </a:p>
        </p:txBody>
      </p:sp>
      <p:sp>
        <p:nvSpPr>
          <p:cNvPr id="15" name="Text 13"/>
          <p:cNvSpPr/>
          <p:nvPr/>
        </p:nvSpPr>
        <p:spPr>
          <a:xfrm>
            <a:off x="5623560" y="1627632"/>
            <a:ext cx="3566160" cy="347472"/>
          </a:xfrm>
          <a:prstGeom prst="rect">
            <a:avLst/>
          </a:prstGeom>
          <a:noFill/>
          <a:ln/>
        </p:spPr>
        <p:txBody>
          <a:bodyPr wrap="square" lIns="0" tIns="0" rIns="0" bIns="0" rtlCol="0" anchor="ctr"/>
          <a:lstStyle/>
          <a:p>
            <a:pPr indent="0" marL="0">
              <a:buNone/>
            </a:pPr>
            <a:r>
              <a:rPr lang="en-US" sz="950" dirty="0">
                <a:solidFill>
                  <a:srgbClr val="059669"/>
                </a:solidFill>
                <a:latin typeface="Arial" pitchFamily="34" charset="0"/>
                <a:ea typeface="Arial" pitchFamily="34" charset="-122"/>
                <a:cs typeface="Arial" pitchFamily="34" charset="-120"/>
              </a:rPr>
              <a:t>Open Docker Desktop and wait for the green 'Engine running' status</a:t>
            </a:r>
            <a:endParaRPr lang="en-US" sz="950" dirty="0"/>
          </a:p>
        </p:txBody>
      </p:sp>
      <p:sp>
        <p:nvSpPr>
          <p:cNvPr id="16" name="Shape 14"/>
          <p:cNvSpPr/>
          <p:nvPr/>
        </p:nvSpPr>
        <p:spPr>
          <a:xfrm>
            <a:off x="320040" y="2075688"/>
            <a:ext cx="8503920" cy="475488"/>
          </a:xfrm>
          <a:prstGeom prst="rect">
            <a:avLst/>
          </a:prstGeom>
          <a:solidFill>
            <a:srgbClr val="F1F5F9"/>
          </a:solidFill>
          <a:ln w="12700">
            <a:solidFill>
              <a:srgbClr val="E2E8F0"/>
            </a:solidFill>
            <a:prstDash val="solid"/>
          </a:ln>
        </p:spPr>
      </p:sp>
      <p:sp>
        <p:nvSpPr>
          <p:cNvPr id="17" name="Text 15"/>
          <p:cNvSpPr/>
          <p:nvPr/>
        </p:nvSpPr>
        <p:spPr>
          <a:xfrm>
            <a:off x="411480" y="2130552"/>
            <a:ext cx="2651760" cy="347472"/>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docker: command not found</a:t>
            </a:r>
            <a:endParaRPr lang="en-US" sz="900" dirty="0"/>
          </a:p>
        </p:txBody>
      </p:sp>
      <p:sp>
        <p:nvSpPr>
          <p:cNvPr id="18" name="Text 16"/>
          <p:cNvSpPr/>
          <p:nvPr/>
        </p:nvSpPr>
        <p:spPr>
          <a:xfrm>
            <a:off x="3154680" y="2130552"/>
            <a:ext cx="2395728" cy="3474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Docker Desktop not installed or PATH not set</a:t>
            </a:r>
            <a:endParaRPr lang="en-US" sz="950" dirty="0"/>
          </a:p>
        </p:txBody>
      </p:sp>
      <p:sp>
        <p:nvSpPr>
          <p:cNvPr id="19" name="Text 17"/>
          <p:cNvSpPr/>
          <p:nvPr/>
        </p:nvSpPr>
        <p:spPr>
          <a:xfrm>
            <a:off x="5623560" y="2130552"/>
            <a:ext cx="3566160" cy="347472"/>
          </a:xfrm>
          <a:prstGeom prst="rect">
            <a:avLst/>
          </a:prstGeom>
          <a:noFill/>
          <a:ln/>
        </p:spPr>
        <p:txBody>
          <a:bodyPr wrap="square" lIns="0" tIns="0" rIns="0" bIns="0" rtlCol="0" anchor="ctr"/>
          <a:lstStyle/>
          <a:p>
            <a:pPr indent="0" marL="0">
              <a:buNone/>
            </a:pPr>
            <a:r>
              <a:rPr lang="en-US" sz="950" dirty="0">
                <a:solidFill>
                  <a:srgbClr val="059669"/>
                </a:solidFill>
                <a:latin typeface="Arial" pitchFamily="34" charset="0"/>
                <a:ea typeface="Arial" pitchFamily="34" charset="-122"/>
                <a:cs typeface="Arial" pitchFamily="34" charset="-120"/>
              </a:rPr>
              <a:t>Re-install Docker Desktop. On Windows restart terminal after install.</a:t>
            </a:r>
            <a:endParaRPr lang="en-US" sz="950" dirty="0"/>
          </a:p>
        </p:txBody>
      </p:sp>
      <p:sp>
        <p:nvSpPr>
          <p:cNvPr id="20" name="Shape 18"/>
          <p:cNvSpPr/>
          <p:nvPr/>
        </p:nvSpPr>
        <p:spPr>
          <a:xfrm>
            <a:off x="320040" y="2578608"/>
            <a:ext cx="8503920" cy="475488"/>
          </a:xfrm>
          <a:prstGeom prst="rect">
            <a:avLst/>
          </a:prstGeom>
          <a:solidFill>
            <a:srgbClr val="FFFFFF"/>
          </a:solidFill>
          <a:ln w="12700">
            <a:solidFill>
              <a:srgbClr val="E2E8F0"/>
            </a:solidFill>
            <a:prstDash val="solid"/>
          </a:ln>
        </p:spPr>
      </p:sp>
      <p:sp>
        <p:nvSpPr>
          <p:cNvPr id="21" name="Text 19"/>
          <p:cNvSpPr/>
          <p:nvPr/>
        </p:nvSpPr>
        <p:spPr>
          <a:xfrm>
            <a:off x="411480" y="2633472"/>
            <a:ext cx="2651760" cy="347472"/>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WSL2 kernel update required</a:t>
            </a:r>
            <a:endParaRPr lang="en-US" sz="900" dirty="0"/>
          </a:p>
        </p:txBody>
      </p:sp>
      <p:sp>
        <p:nvSpPr>
          <p:cNvPr id="22" name="Text 20"/>
          <p:cNvSpPr/>
          <p:nvPr/>
        </p:nvSpPr>
        <p:spPr>
          <a:xfrm>
            <a:off x="3154680" y="2633472"/>
            <a:ext cx="2395728" cy="3474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Windows WSL2 not updated</a:t>
            </a:r>
            <a:endParaRPr lang="en-US" sz="950" dirty="0"/>
          </a:p>
        </p:txBody>
      </p:sp>
      <p:sp>
        <p:nvSpPr>
          <p:cNvPr id="23" name="Text 21"/>
          <p:cNvSpPr/>
          <p:nvPr/>
        </p:nvSpPr>
        <p:spPr>
          <a:xfrm>
            <a:off x="5623560" y="2633472"/>
            <a:ext cx="3566160" cy="347472"/>
          </a:xfrm>
          <a:prstGeom prst="rect">
            <a:avLst/>
          </a:prstGeom>
          <a:noFill/>
          <a:ln/>
        </p:spPr>
        <p:txBody>
          <a:bodyPr wrap="square" lIns="0" tIns="0" rIns="0" bIns="0" rtlCol="0" anchor="ctr"/>
          <a:lstStyle/>
          <a:p>
            <a:pPr indent="0" marL="0">
              <a:buNone/>
            </a:pPr>
            <a:r>
              <a:rPr lang="en-US" sz="950" dirty="0">
                <a:solidFill>
                  <a:srgbClr val="059669"/>
                </a:solidFill>
                <a:latin typeface="Arial" pitchFamily="34" charset="0"/>
                <a:ea typeface="Arial" pitchFamily="34" charset="-122"/>
                <a:cs typeface="Arial" pitchFamily="34" charset="-120"/>
              </a:rPr>
              <a:t>Run in PowerShell as admin: wsl --update then restart</a:t>
            </a:r>
            <a:endParaRPr lang="en-US" sz="950" dirty="0"/>
          </a:p>
        </p:txBody>
      </p:sp>
      <p:sp>
        <p:nvSpPr>
          <p:cNvPr id="24" name="Shape 22"/>
          <p:cNvSpPr/>
          <p:nvPr/>
        </p:nvSpPr>
        <p:spPr>
          <a:xfrm>
            <a:off x="320040" y="3081528"/>
            <a:ext cx="8503920" cy="475488"/>
          </a:xfrm>
          <a:prstGeom prst="rect">
            <a:avLst/>
          </a:prstGeom>
          <a:solidFill>
            <a:srgbClr val="F1F5F9"/>
          </a:solidFill>
          <a:ln w="12700">
            <a:solidFill>
              <a:srgbClr val="E2E8F0"/>
            </a:solidFill>
            <a:prstDash val="solid"/>
          </a:ln>
        </p:spPr>
      </p:sp>
      <p:sp>
        <p:nvSpPr>
          <p:cNvPr id="25" name="Text 23"/>
          <p:cNvSpPr/>
          <p:nvPr/>
        </p:nvSpPr>
        <p:spPr>
          <a:xfrm>
            <a:off x="411480" y="3136392"/>
            <a:ext cx="2651760" cy="347472"/>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permission denied while connecting to daemon socket</a:t>
            </a:r>
            <a:endParaRPr lang="en-US" sz="900" dirty="0"/>
          </a:p>
        </p:txBody>
      </p:sp>
      <p:sp>
        <p:nvSpPr>
          <p:cNvPr id="26" name="Text 24"/>
          <p:cNvSpPr/>
          <p:nvPr/>
        </p:nvSpPr>
        <p:spPr>
          <a:xfrm>
            <a:off x="3154680" y="3136392"/>
            <a:ext cx="2395728" cy="3474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User not in docker group (Linux only)</a:t>
            </a:r>
            <a:endParaRPr lang="en-US" sz="950" dirty="0"/>
          </a:p>
        </p:txBody>
      </p:sp>
      <p:sp>
        <p:nvSpPr>
          <p:cNvPr id="27" name="Text 25"/>
          <p:cNvSpPr/>
          <p:nvPr/>
        </p:nvSpPr>
        <p:spPr>
          <a:xfrm>
            <a:off x="5623560" y="3136392"/>
            <a:ext cx="3566160" cy="347472"/>
          </a:xfrm>
          <a:prstGeom prst="rect">
            <a:avLst/>
          </a:prstGeom>
          <a:noFill/>
          <a:ln/>
        </p:spPr>
        <p:txBody>
          <a:bodyPr wrap="square" lIns="0" tIns="0" rIns="0" bIns="0" rtlCol="0" anchor="ctr"/>
          <a:lstStyle/>
          <a:p>
            <a:pPr indent="0" marL="0">
              <a:buNone/>
            </a:pPr>
            <a:r>
              <a:rPr lang="en-US" sz="950" dirty="0">
                <a:solidFill>
                  <a:srgbClr val="059669"/>
                </a:solidFill>
                <a:latin typeface="Arial" pitchFamily="34" charset="0"/>
                <a:ea typeface="Arial" pitchFamily="34" charset="-122"/>
                <a:cs typeface="Arial" pitchFamily="34" charset="-120"/>
              </a:rPr>
              <a:t>Run: sudo usermod -aG docker $USER then logout and login</a:t>
            </a:r>
            <a:endParaRPr lang="en-US" sz="950" dirty="0"/>
          </a:p>
        </p:txBody>
      </p:sp>
      <p:sp>
        <p:nvSpPr>
          <p:cNvPr id="28" name="Shape 26"/>
          <p:cNvSpPr/>
          <p:nvPr/>
        </p:nvSpPr>
        <p:spPr>
          <a:xfrm>
            <a:off x="320040" y="3584448"/>
            <a:ext cx="8503920" cy="475488"/>
          </a:xfrm>
          <a:prstGeom prst="rect">
            <a:avLst/>
          </a:prstGeom>
          <a:solidFill>
            <a:srgbClr val="FFFFFF"/>
          </a:solidFill>
          <a:ln w="12700">
            <a:solidFill>
              <a:srgbClr val="E2E8F0"/>
            </a:solidFill>
            <a:prstDash val="solid"/>
          </a:ln>
        </p:spPr>
      </p:sp>
      <p:sp>
        <p:nvSpPr>
          <p:cNvPr id="29" name="Text 27"/>
          <p:cNvSpPr/>
          <p:nvPr/>
        </p:nvSpPr>
        <p:spPr>
          <a:xfrm>
            <a:off x="411480" y="3639312"/>
            <a:ext cx="2651760" cy="347472"/>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port is already allocated</a:t>
            </a:r>
            <a:endParaRPr lang="en-US" sz="900" dirty="0"/>
          </a:p>
        </p:txBody>
      </p:sp>
      <p:sp>
        <p:nvSpPr>
          <p:cNvPr id="30" name="Text 28"/>
          <p:cNvSpPr/>
          <p:nvPr/>
        </p:nvSpPr>
        <p:spPr>
          <a:xfrm>
            <a:off x="3154680" y="3639312"/>
            <a:ext cx="2395728" cy="3474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Another process using the same port</a:t>
            </a:r>
            <a:endParaRPr lang="en-US" sz="950" dirty="0"/>
          </a:p>
        </p:txBody>
      </p:sp>
      <p:sp>
        <p:nvSpPr>
          <p:cNvPr id="31" name="Text 29"/>
          <p:cNvSpPr/>
          <p:nvPr/>
        </p:nvSpPr>
        <p:spPr>
          <a:xfrm>
            <a:off x="5623560" y="3639312"/>
            <a:ext cx="3566160" cy="347472"/>
          </a:xfrm>
          <a:prstGeom prst="rect">
            <a:avLst/>
          </a:prstGeom>
          <a:noFill/>
          <a:ln/>
        </p:spPr>
        <p:txBody>
          <a:bodyPr wrap="square" lIns="0" tIns="0" rIns="0" bIns="0" rtlCol="0" anchor="ctr"/>
          <a:lstStyle/>
          <a:p>
            <a:pPr indent="0" marL="0">
              <a:buNone/>
            </a:pPr>
            <a:r>
              <a:rPr lang="en-US" sz="950" dirty="0">
                <a:solidFill>
                  <a:srgbClr val="059669"/>
                </a:solidFill>
                <a:latin typeface="Arial" pitchFamily="34" charset="0"/>
                <a:ea typeface="Arial" pitchFamily="34" charset="-122"/>
                <a:cs typeface="Arial" pitchFamily="34" charset="-120"/>
              </a:rPr>
              <a:t>Use a different host port: -p 8081:80 instead of -p 8080:80</a:t>
            </a:r>
            <a:endParaRPr lang="en-US" sz="950" dirty="0"/>
          </a:p>
        </p:txBody>
      </p:sp>
      <p:sp>
        <p:nvSpPr>
          <p:cNvPr id="32" name="Shape 30"/>
          <p:cNvSpPr/>
          <p:nvPr/>
        </p:nvSpPr>
        <p:spPr>
          <a:xfrm>
            <a:off x="320040" y="4087368"/>
            <a:ext cx="8503920" cy="475488"/>
          </a:xfrm>
          <a:prstGeom prst="rect">
            <a:avLst/>
          </a:prstGeom>
          <a:solidFill>
            <a:srgbClr val="F1F5F9"/>
          </a:solidFill>
          <a:ln w="12700">
            <a:solidFill>
              <a:srgbClr val="E2E8F0"/>
            </a:solidFill>
            <a:prstDash val="solid"/>
          </a:ln>
        </p:spPr>
      </p:sp>
      <p:sp>
        <p:nvSpPr>
          <p:cNvPr id="33" name="Text 31"/>
          <p:cNvSpPr/>
          <p:nvPr/>
        </p:nvSpPr>
        <p:spPr>
          <a:xfrm>
            <a:off x="411480" y="4142232"/>
            <a:ext cx="2651760" cy="347472"/>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No space left on device</a:t>
            </a:r>
            <a:endParaRPr lang="en-US" sz="900" dirty="0"/>
          </a:p>
        </p:txBody>
      </p:sp>
      <p:sp>
        <p:nvSpPr>
          <p:cNvPr id="34" name="Text 32"/>
          <p:cNvSpPr/>
          <p:nvPr/>
        </p:nvSpPr>
        <p:spPr>
          <a:xfrm>
            <a:off x="3154680" y="4142232"/>
            <a:ext cx="2395728" cy="3474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Docker images filling disk</a:t>
            </a:r>
            <a:endParaRPr lang="en-US" sz="950" dirty="0"/>
          </a:p>
        </p:txBody>
      </p:sp>
      <p:sp>
        <p:nvSpPr>
          <p:cNvPr id="35" name="Text 33"/>
          <p:cNvSpPr/>
          <p:nvPr/>
        </p:nvSpPr>
        <p:spPr>
          <a:xfrm>
            <a:off x="5623560" y="4142232"/>
            <a:ext cx="3566160" cy="347472"/>
          </a:xfrm>
          <a:prstGeom prst="rect">
            <a:avLst/>
          </a:prstGeom>
          <a:noFill/>
          <a:ln/>
        </p:spPr>
        <p:txBody>
          <a:bodyPr wrap="square" lIns="0" tIns="0" rIns="0" bIns="0" rtlCol="0" anchor="ctr"/>
          <a:lstStyle/>
          <a:p>
            <a:pPr indent="0" marL="0">
              <a:buNone/>
            </a:pPr>
            <a:r>
              <a:rPr lang="en-US" sz="950" dirty="0">
                <a:solidFill>
                  <a:srgbClr val="059669"/>
                </a:solidFill>
                <a:latin typeface="Arial" pitchFamily="34" charset="0"/>
                <a:ea typeface="Arial" pitchFamily="34" charset="-122"/>
                <a:cs typeface="Arial" pitchFamily="34" charset="-120"/>
              </a:rPr>
              <a:t>Run: docker system prune -a to reclaim space</a:t>
            </a:r>
            <a:endParaRPr lang="en-US" sz="950" dirty="0"/>
          </a:p>
        </p:txBody>
      </p:sp>
      <p:sp>
        <p:nvSpPr>
          <p:cNvPr id="36" name="Shape 34"/>
          <p:cNvSpPr/>
          <p:nvPr/>
        </p:nvSpPr>
        <p:spPr>
          <a:xfrm>
            <a:off x="0" y="4846320"/>
            <a:ext cx="9144000" cy="297180"/>
          </a:xfrm>
          <a:prstGeom prst="rect">
            <a:avLst/>
          </a:prstGeom>
          <a:solidFill>
            <a:srgbClr val="7C2D12"/>
          </a:solidFill>
          <a:ln w="12700">
            <a:solidFill>
              <a:srgbClr val="7C2D12"/>
            </a:solidFill>
            <a:prstDash val="solid"/>
          </a:ln>
        </p:spPr>
      </p:sp>
      <p:sp>
        <p:nvSpPr>
          <p:cNvPr id="37" name="Text 35"/>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Setup Errors Quick Reference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Training - Trainer Guide Part 1</dc:title>
  <dc:subject>PptxGenJS Presentation</dc:subject>
  <dc:creator>PptxGenJS</dc:creator>
  <cp:lastModifiedBy>PptxGenJS</cp:lastModifiedBy>
  <cp:revision>1</cp:revision>
  <dcterms:created xsi:type="dcterms:W3CDTF">2026-07-01T11:59:37Z</dcterms:created>
  <dcterms:modified xsi:type="dcterms:W3CDTF">2026-07-01T11:59:37Z</dcterms:modified>
</cp:coreProperties>
</file>