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14:45 (after Lab 1 debrief)
Say: 'So far you have been using images that other people built. Now you build your own. A Dockerfile is a recipe — you write the instructions, Docker follows them to create your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14:45 – 14:57  (12 min)
Key message: a Dockerfile makes your entire environment reproducible in code. Anyone can clone your repo, run docker build, and get an identical environment. No more setup documents, no more 'it works on my machine'.
Version controlled point: connect this back to the opening — 'Remember the problem we talked about this morning? Dockerfile in Git solves it permanently. Your environment becomes part of your codebase.'
Layer caching — plant this seed now. 'Docker is smart — if nothing changed in a layer, it reuses the cached version. This makes rebuilds very fast. BUT the order of your instructions matters. We'll see this in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14:57 – 15:09  (12 min)
Don't read every row. Walk through them in order — they are the Dockerfile in order.
IMPORTANT distinction to make:
- COPY: copies files from your machine into the image at build time
- RUN: executes a command inside the image at build time
- CMD: runs when a container starts, not at build time
Common confusion: students think CMD runs at build time. Correct them early: 'CMD is what happens when you docker run. RUN is what happens when you docker build.'
The caching rule at the bottom: 'If you COPY your code before you RUN pip install, then every time you change one line of code, pip install runs again from scratch. That wastes minutes on every build. Copy requirements first, install, then copy your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15:09 – 15:21  (12 min)
LIVE CODE THIS — open a text editor on screen share, type the Dockerfile line by line.
Do not use copy-paste. Typing it reinforces each instruction.
While typing:
- FROM: 'This is always line 1 — no exceptions.'
- WORKDIR: 'Without this, files end up scattered in / — messy. Always set a working directory.'
- COPY requirements.txt first: 'Notice what I do NOT do — I don't COPY everything first. Why? Caching.'
- RUN pip install: 'This is slow. We want it cached. If requirements haven't changed, Docker reuses this layer.'
- COPY . .: 'NOW I copy all my code. Code changes frequently but that's fine — only this layer and CMD re-run.'
After writing: run docker build -t my-flask-app:v1.0 . and let students watch the layers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15:21 – 15:33  (12 min)
LIVE DEMO — run docker build in terminal while students watch:
docker build -t my-flask-app:v1.0 .
Point out: 'Each Step X/7 line is one Dockerfile instruction. Each step is a layer.'
Then run: docker build -t my-flask-app:v1.0 . again immediately.
Show: 'Using cache' appears on every line. 'That is layer caching in action. The second build is nearly instant.'
Then change one line of app.py and rebuild. Show only the COPY and CMD layers re-run. The pip install layer is still cached.
.dockerignore: create a quick .dockerignore file: node_modules, .git, __pycache__, *.pyc
With it: docker build takes 2s. Without it on a large project: 30s+ just copying unnecessary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15:33 – 15:43  (10 min)
BP 02 caching exercise: ask students 'In this Dockerfile, if I change app.py, which layers re-run?'
Answer: only COPY . . and CMD. pip install is cached. Good — that's the right order.
Now ask: 'What if I swapped them — COPY . . first, then RUN pip install?'
Answer: every code change triggers a full pip install. Could add 2-3 minutes to every build on a project with many packages.
BP 03 — for alpine: mention the gotcha — if a package has C extensions and Alpine's musl libc causes issues, use slim instead. For this training, slim is a safe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15:43
Say: 'Remember the best practice from Section 04 — never store important data inside a container? Now we solve that problem. Volumes are how Docker handles persistent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15:43 – 15:55  (12 min)
Tell the data loss story: 'A developer runs a MySQL container for a week, builds up test data, then runs docker rm to clean up the container. All the data is gone permanently. The database file lived inside the container. This is the problem volumes solve.'
The diagram shows the key concept: the volume lives on the host machine, NOT inside the container. The container just mounts it. Remove the container — volume remains. Create a new container and mount the same volume — all the data is still there.
Live demo (quick): docker run -d --name db -v mydata:/var/lib/mysql -e MYSQL_ROOT_PASSWORD=pw mysql:8.0
docker volume ls   (shows mydata)
docker rm -f db
docker volume ls   (mydata still exists)
That demonstration alone makes the concept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15:55 – 16:05  (10 min)
For this junior audience focus on Named Volumes and Bind Mounts only. tmpfs is edge-case.
Named vs Bind — the key difference:
- Named: 'Docker decides WHERE to store the data on your machine. You just give it a name. Use this in production.'
- Bind: 'YOU decide the exact path. Great for development — you edit a file on your machine and the container sees the change immediately without a rebuild.'
Bind mount demo for devs: docker run -v $(pwd):/app -p 5000:5000 my-flask-app:v1.0
Edit app.py on the host. Refresh the browser. Changes appear instantly. This is how developers use Docker day-to-day — no rebuild needed for code changes.
Production rule: always use named volumes in production. Bind mounts depend on the host path existing — fragile in automated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16:05 – 16:15  (10 min)
This is the last teaching slide before the final lab. Keep it quick — 5-6 minutes on commands, 4-5 minutes on best practices.
Live demo:
docker volume create mydata
docker volume ls
docker run -d -v mydata:/data ubuntu sh -c 'echo hello &gt; /data/test.txt &amp;&amp; sleep 3600'
docker exec &lt;id&gt; cat /data/test.txt   → shows 'hello'
docker rm -f &lt;id&gt;
docker run --rm -v mydata:/data ubuntu cat /data/test.txt   → still shows 'hello'
That sequence proves the data survived the container removal. Very impactful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TRAINER GUIDE
TIMING: 14:30 – 16:00
Lab 2 is the most hands-on lab of the day. Students write their own code AND their own Dockerfile.
Provide a starter Flask app if students are not Python developers:
# app.py
from flask import Flask
app = Flask(__name__)
@app.route('/')
def hello(): return 'Hello from Docker!'
if __name__ == '__main__': app.run(host='0.0.0.0', port=5000)
# requirements.txt
flask==3.0.0
COMMON ERRORS:
1. ModuleNotFoundError: flask — pip install ran but Dockerfile COPY order wrong. Fix: check COPY requirements.txt . comes BEFORE RUN pip install.
2. Connection refused at localhost:5000 — app.run() needs host='0.0.0.0' not '127.0.0.1'. Without this, Flask only listens inside the container, not on the exposed port.
3. docker build fails with 'no such file: requirements.txt' — student is running docker build from the wrong directory. Must be in the same folder as the Dockerfile. Check: ls Dockerfile
4. Volume not persisting — check -v mydata:/app/data is included in the docker run command. docker inspect &lt;container&gt; to verify mounts.
For the volume task: have students write a file into the volume, remove the container, then mount the volume in a new container and verify the file is still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0.0.0.0 binding issue is the single most common Lab 2 error. When Flask binds to 127.0.0.1 (localhost), it only accepts connections from inside the container. Requests from the host machine are rejected. Binding to 0.0.0.0 accepts connections from any interface including the mapped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16:15 – 16:20  (5 min)
Ask: 'Who feels confident they could write a Dockerfile for their own project this week?' Show of hands.
Acknowledge hesitation: 'If you are not fully confident yet — that is expected. You did this once today. Do it three more times and it will feel natural. The lab exercises in the take-home guide are there for exactly that.'
Bridge to Kubernetes: 'Everything you learned today is the foundation for tomorrow. Kubernetes takes what you built in docker run and manages it at scale across many machines. You will recognise the concepts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DOCKER TRAINER GUIDE — PART 3
All 3 parts combined:
Part 1: Title, Prep, Agenda, Section 01 (Why Docker), Section 02 (Architecture)  — 11 slides
Part 2: Section 03 (Images), Section 04 (Containers), Lab 1 + Answers  — 13 slides
Part 3: Section 05 (Dockerfile), Section 06 (Volumes), Lab 2 + Answers, Summary, Close  — 14 slides
Total: 38 trainer slides with speaker notes on every slide.
Post-training checklist:
1. Ensure all containers are stopped on lab machines: docker stop $(docker ps -q)
2. Optional: docker system prune -a to reclaim disk space
3. Send students the take-home lab exercises
4. Send Kubernetes Day 2 joining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DB7ED"/>
          </a:solidFill>
          <a:ln w="12700">
            <a:solidFill>
              <a:srgbClr val="0DB7ED"/>
            </a:solidFill>
            <a:prstDash val="solid"/>
          </a:ln>
        </p:spPr>
      </p:sp>
      <p:sp>
        <p:nvSpPr>
          <p:cNvPr id="3" name="Shape 1"/>
          <p:cNvSpPr/>
          <p:nvPr/>
        </p:nvSpPr>
        <p:spPr>
          <a:xfrm>
            <a:off x="5943600" y="-914400"/>
            <a:ext cx="4572000" cy="4572000"/>
          </a:xfrm>
          <a:prstGeom prst="ellipse">
            <a:avLst/>
          </a:prstGeom>
          <a:solidFill>
            <a:srgbClr val="0DB7ED">
              <a:alpha val="10000"/>
            </a:srgbClr>
          </a:solidFill>
          <a:ln w="12700">
            <a:solidFill>
              <a:srgbClr val="0DB7ED">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0DB7ED"/>
                </a:solidFill>
                <a:latin typeface="Arial" pitchFamily="34" charset="0"/>
                <a:ea typeface="Arial" pitchFamily="34" charset="-122"/>
                <a:cs typeface="Arial" pitchFamily="34" charset="-120"/>
              </a:rPr>
              <a:t>SECTION 05</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Dockerfile</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Building your own custom Docker images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IS A DOCKERFILE?</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05  •  Dockerfile</a:t>
            </a:r>
            <a:endParaRPr lang="en-US" sz="950" dirty="0"/>
          </a:p>
        </p:txBody>
      </p:sp>
      <p:sp>
        <p:nvSpPr>
          <p:cNvPr id="6" name="Shape 4"/>
          <p:cNvSpPr/>
          <p:nvPr/>
        </p:nvSpPr>
        <p:spPr>
          <a:xfrm>
            <a:off x="320040" y="868680"/>
            <a:ext cx="8503920" cy="804672"/>
          </a:xfrm>
          <a:prstGeom prst="roundRect">
            <a:avLst>
              <a:gd name="adj" fmla="val 11364"/>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14400"/>
            <a:ext cx="8229600" cy="713232"/>
          </a:xfrm>
          <a:prstGeom prst="rect">
            <a:avLst/>
          </a:prstGeom>
          <a:noFill/>
          <a:ln/>
        </p:spPr>
        <p:txBody>
          <a:bodyPr wrap="square" lIns="0" tIns="0" rIns="0" bIns="0" rtlCol="0" anchor="ctr"/>
          <a:lstStyle/>
          <a:p>
            <a:pPr indent="0" marL="0">
              <a:buNone/>
            </a:pPr>
            <a:r>
              <a:rPr lang="en-US" sz="1350" dirty="0">
                <a:solidFill>
                  <a:srgbClr val="0F172A"/>
                </a:solidFill>
                <a:latin typeface="Cambria" pitchFamily="34" charset="0"/>
                <a:ea typeface="Cambria" pitchFamily="34" charset="-122"/>
                <a:cs typeface="Cambria" pitchFamily="34" charset="-120"/>
              </a:rPr>
              <a:t>A Dockerfile is a plain text file with step-by-step instructions for building a Docker image. Each instruction adds a layer to the image.</a:t>
            </a:r>
            <a:endParaRPr lang="en-US" sz="1350" dirty="0"/>
          </a:p>
        </p:txBody>
      </p:sp>
      <p:sp>
        <p:nvSpPr>
          <p:cNvPr id="8" name="Text 6"/>
          <p:cNvSpPr/>
          <p:nvPr/>
        </p:nvSpPr>
        <p:spPr>
          <a:xfrm>
            <a:off x="320040" y="1810512"/>
            <a:ext cx="3657600" cy="320040"/>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The Build Flow</a:t>
            </a:r>
            <a:endParaRPr lang="en-US" sz="1200" dirty="0"/>
          </a:p>
        </p:txBody>
      </p:sp>
      <p:sp>
        <p:nvSpPr>
          <p:cNvPr id="9" name="Shape 7"/>
          <p:cNvSpPr/>
          <p:nvPr/>
        </p:nvSpPr>
        <p:spPr>
          <a:xfrm>
            <a:off x="320040" y="2212848"/>
            <a:ext cx="1572768" cy="804672"/>
          </a:xfrm>
          <a:prstGeom prst="roundRect">
            <a:avLst>
              <a:gd name="adj" fmla="val 11364"/>
            </a:avLst>
          </a:prstGeom>
          <a:solidFill>
            <a:srgbClr val="E0F7FE"/>
          </a:solidFill>
          <a:ln w="12700">
            <a:solidFill>
              <a:srgbClr val="475569"/>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320040" y="2212848"/>
            <a:ext cx="1572768" cy="475488"/>
          </a:xfrm>
          <a:prstGeom prst="rect">
            <a:avLst/>
          </a:prstGeom>
          <a:noFill/>
          <a:ln/>
        </p:spPr>
        <p:txBody>
          <a:bodyPr wrap="square" lIns="0" tIns="0" rIns="0" bIns="0" rtlCol="0" anchor="ctr"/>
          <a:lstStyle/>
          <a:p>
            <a:pPr algn="ctr" indent="0" marL="0">
              <a:buNone/>
            </a:pPr>
            <a:r>
              <a:rPr lang="en-US" sz="1200" b="1" dirty="0">
                <a:solidFill>
                  <a:srgbClr val="475569"/>
                </a:solidFill>
                <a:latin typeface="Cambria" pitchFamily="34" charset="0"/>
                <a:ea typeface="Cambria" pitchFamily="34" charset="-122"/>
                <a:cs typeface="Cambria" pitchFamily="34" charset="-120"/>
              </a:rPr>
              <a:t>Dockerfile</a:t>
            </a:r>
            <a:endParaRPr lang="en-US" sz="1200" dirty="0"/>
          </a:p>
        </p:txBody>
      </p:sp>
      <p:sp>
        <p:nvSpPr>
          <p:cNvPr id="11" name="Text 9"/>
          <p:cNvSpPr/>
          <p:nvPr/>
        </p:nvSpPr>
        <p:spPr>
          <a:xfrm>
            <a:off x="320040" y="2670048"/>
            <a:ext cx="1572768" cy="274320"/>
          </a:xfrm>
          <a:prstGeom prst="rect">
            <a:avLst/>
          </a:prstGeom>
          <a:noFill/>
          <a:ln/>
        </p:spPr>
        <p:txBody>
          <a:bodyPr wrap="square" lIns="0" tIns="0" rIns="0" bIns="0" rtlCol="0" anchor="ctr"/>
          <a:lstStyle/>
          <a:p>
            <a:pPr algn="ctr" indent="0" marL="0">
              <a:buNone/>
            </a:pPr>
            <a:r>
              <a:rPr lang="en-US" sz="850" dirty="0">
                <a:solidFill>
                  <a:srgbClr val="475569"/>
                </a:solidFill>
                <a:latin typeface="Arial" pitchFamily="34" charset="0"/>
                <a:ea typeface="Arial" pitchFamily="34" charset="-122"/>
                <a:cs typeface="Arial" pitchFamily="34" charset="-120"/>
              </a:rPr>
              <a:t>your instructions</a:t>
            </a:r>
            <a:endParaRPr lang="en-US" sz="850" dirty="0"/>
          </a:p>
        </p:txBody>
      </p:sp>
      <p:sp>
        <p:nvSpPr>
          <p:cNvPr id="12" name="Text 10"/>
          <p:cNvSpPr/>
          <p:nvPr/>
        </p:nvSpPr>
        <p:spPr>
          <a:xfrm>
            <a:off x="1911096" y="2423160"/>
            <a:ext cx="164592" cy="320040"/>
          </a:xfrm>
          <a:prstGeom prst="rect">
            <a:avLst/>
          </a:prstGeom>
          <a:noFill/>
          <a:ln/>
        </p:spPr>
        <p:txBody>
          <a:bodyPr wrap="square" lIns="0" tIns="0" rIns="0" bIns="0" rtlCol="0" anchor="ctr"/>
          <a:lstStyle/>
          <a:p>
            <a:pPr algn="ctr" indent="0" marL="0">
              <a:buNone/>
            </a:pPr>
            <a:r>
              <a:rPr lang="en-US" sz="1600" dirty="0">
                <a:solidFill>
                  <a:srgbClr val="94A3B8"/>
                </a:solidFill>
              </a:rPr>
              <a:t>→</a:t>
            </a:r>
            <a:endParaRPr lang="en-US" sz="1600" dirty="0"/>
          </a:p>
        </p:txBody>
      </p:sp>
      <p:sp>
        <p:nvSpPr>
          <p:cNvPr id="13" name="Shape 11"/>
          <p:cNvSpPr/>
          <p:nvPr/>
        </p:nvSpPr>
        <p:spPr>
          <a:xfrm>
            <a:off x="2075688" y="2212848"/>
            <a:ext cx="1572768" cy="804672"/>
          </a:xfrm>
          <a:prstGeom prst="roundRect">
            <a:avLst>
              <a:gd name="adj" fmla="val 11364"/>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2075688" y="2212848"/>
            <a:ext cx="1572768" cy="475488"/>
          </a:xfrm>
          <a:prstGeom prst="rect">
            <a:avLst/>
          </a:prstGeom>
          <a:noFill/>
          <a:ln/>
        </p:spPr>
        <p:txBody>
          <a:bodyPr wrap="square" lIns="0" tIns="0" rIns="0" bIns="0" rtlCol="0" anchor="ctr"/>
          <a:lstStyle/>
          <a:p>
            <a:pPr algn="ctr" indent="0" marL="0">
              <a:buNone/>
            </a:pPr>
            <a:r>
              <a:rPr lang="en-US" sz="950" b="1" dirty="0">
                <a:solidFill>
                  <a:srgbClr val="6EE7B7"/>
                </a:solidFill>
                <a:latin typeface="Courier New" pitchFamily="34" charset="0"/>
                <a:ea typeface="Courier New" pitchFamily="34" charset="-122"/>
                <a:cs typeface="Courier New" pitchFamily="34" charset="-120"/>
              </a:rPr>
              <a:t>docker build</a:t>
            </a:r>
            <a:endParaRPr lang="en-US" sz="950" dirty="0"/>
          </a:p>
        </p:txBody>
      </p:sp>
      <p:sp>
        <p:nvSpPr>
          <p:cNvPr id="15" name="Text 13"/>
          <p:cNvSpPr/>
          <p:nvPr/>
        </p:nvSpPr>
        <p:spPr>
          <a:xfrm>
            <a:off x="2075688" y="2670048"/>
            <a:ext cx="1572768" cy="274320"/>
          </a:xfrm>
          <a:prstGeom prst="rect">
            <a:avLst/>
          </a:prstGeom>
          <a:noFill/>
          <a:ln/>
        </p:spPr>
        <p:txBody>
          <a:bodyPr wrap="square" lIns="0" tIns="0" rIns="0" bIns="0"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runs instructions</a:t>
            </a:r>
            <a:endParaRPr lang="en-US" sz="850" dirty="0"/>
          </a:p>
        </p:txBody>
      </p:sp>
      <p:sp>
        <p:nvSpPr>
          <p:cNvPr id="16" name="Text 14"/>
          <p:cNvSpPr/>
          <p:nvPr/>
        </p:nvSpPr>
        <p:spPr>
          <a:xfrm>
            <a:off x="3666744" y="2423160"/>
            <a:ext cx="164592" cy="320040"/>
          </a:xfrm>
          <a:prstGeom prst="rect">
            <a:avLst/>
          </a:prstGeom>
          <a:noFill/>
          <a:ln/>
        </p:spPr>
        <p:txBody>
          <a:bodyPr wrap="square" lIns="0" tIns="0" rIns="0" bIns="0" rtlCol="0" anchor="ctr"/>
          <a:lstStyle/>
          <a:p>
            <a:pPr algn="ctr" indent="0" marL="0">
              <a:buNone/>
            </a:pPr>
            <a:r>
              <a:rPr lang="en-US" sz="1600" dirty="0">
                <a:solidFill>
                  <a:srgbClr val="94A3B8"/>
                </a:solidFill>
              </a:rPr>
              <a:t>→</a:t>
            </a:r>
            <a:endParaRPr lang="en-US" sz="1600" dirty="0"/>
          </a:p>
        </p:txBody>
      </p:sp>
      <p:sp>
        <p:nvSpPr>
          <p:cNvPr id="17" name="Shape 15"/>
          <p:cNvSpPr/>
          <p:nvPr/>
        </p:nvSpPr>
        <p:spPr>
          <a:xfrm>
            <a:off x="3831336" y="2212848"/>
            <a:ext cx="1572768" cy="804672"/>
          </a:xfrm>
          <a:prstGeom prst="roundRect">
            <a:avLst>
              <a:gd name="adj" fmla="val 11364"/>
            </a:avLst>
          </a:prstGeom>
          <a:solidFill>
            <a:srgbClr val="E0F7FE"/>
          </a:solidFill>
          <a:ln w="12700">
            <a:solidFill>
              <a:srgbClr val="2563EB"/>
            </a:solidFill>
            <a:prstDash val="solid"/>
          </a:ln>
          <a:effectLst>
            <a:outerShdw sx="100000" sy="100000" kx="0" ky="0" algn="bl" rotWithShape="0" blurRad="101600" dist="38100" dir="2700000">
              <a:srgbClr val="000000">
                <a:alpha val="12000"/>
              </a:srgbClr>
            </a:outerShdw>
          </a:effectLst>
        </p:spPr>
      </p:sp>
      <p:sp>
        <p:nvSpPr>
          <p:cNvPr id="18" name="Text 16"/>
          <p:cNvSpPr/>
          <p:nvPr/>
        </p:nvSpPr>
        <p:spPr>
          <a:xfrm>
            <a:off x="3831336" y="2212848"/>
            <a:ext cx="1572768" cy="475488"/>
          </a:xfrm>
          <a:prstGeom prst="rect">
            <a:avLst/>
          </a:prstGeom>
          <a:noFill/>
          <a:ln/>
        </p:spPr>
        <p:txBody>
          <a:bodyPr wrap="square" lIns="0" tIns="0" rIns="0" bIns="0" rtlCol="0" anchor="ctr"/>
          <a:lstStyle/>
          <a:p>
            <a:pPr algn="ctr" indent="0" marL="0">
              <a:buNone/>
            </a:pPr>
            <a:r>
              <a:rPr lang="en-US" sz="1200" b="1" dirty="0">
                <a:solidFill>
                  <a:srgbClr val="2563EB"/>
                </a:solidFill>
                <a:latin typeface="Cambria" pitchFamily="34" charset="0"/>
                <a:ea typeface="Cambria" pitchFamily="34" charset="-122"/>
                <a:cs typeface="Cambria" pitchFamily="34" charset="-120"/>
              </a:rPr>
              <a:t>Image</a:t>
            </a:r>
            <a:endParaRPr lang="en-US" sz="1200" dirty="0"/>
          </a:p>
        </p:txBody>
      </p:sp>
      <p:sp>
        <p:nvSpPr>
          <p:cNvPr id="19" name="Text 17"/>
          <p:cNvSpPr/>
          <p:nvPr/>
        </p:nvSpPr>
        <p:spPr>
          <a:xfrm>
            <a:off x="3831336" y="2670048"/>
            <a:ext cx="1572768" cy="274320"/>
          </a:xfrm>
          <a:prstGeom prst="rect">
            <a:avLst/>
          </a:prstGeom>
          <a:noFill/>
          <a:ln/>
        </p:spPr>
        <p:txBody>
          <a:bodyPr wrap="square" lIns="0" tIns="0" rIns="0" bIns="0" rtlCol="0" anchor="ctr"/>
          <a:lstStyle/>
          <a:p>
            <a:pPr algn="ctr" indent="0" marL="0">
              <a:buNone/>
            </a:pPr>
            <a:r>
              <a:rPr lang="en-US" sz="850" dirty="0">
                <a:solidFill>
                  <a:srgbClr val="475569"/>
                </a:solidFill>
                <a:latin typeface="Arial" pitchFamily="34" charset="0"/>
                <a:ea typeface="Arial" pitchFamily="34" charset="-122"/>
                <a:cs typeface="Arial" pitchFamily="34" charset="-120"/>
              </a:rPr>
              <a:t>the result</a:t>
            </a:r>
            <a:endParaRPr lang="en-US" sz="850" dirty="0"/>
          </a:p>
        </p:txBody>
      </p:sp>
      <p:sp>
        <p:nvSpPr>
          <p:cNvPr id="20" name="Text 18"/>
          <p:cNvSpPr/>
          <p:nvPr/>
        </p:nvSpPr>
        <p:spPr>
          <a:xfrm>
            <a:off x="5422392" y="2423160"/>
            <a:ext cx="164592" cy="320040"/>
          </a:xfrm>
          <a:prstGeom prst="rect">
            <a:avLst/>
          </a:prstGeom>
          <a:noFill/>
          <a:ln/>
        </p:spPr>
        <p:txBody>
          <a:bodyPr wrap="square" lIns="0" tIns="0" rIns="0" bIns="0" rtlCol="0" anchor="ctr"/>
          <a:lstStyle/>
          <a:p>
            <a:pPr algn="ctr" indent="0" marL="0">
              <a:buNone/>
            </a:pPr>
            <a:r>
              <a:rPr lang="en-US" sz="1600" dirty="0">
                <a:solidFill>
                  <a:srgbClr val="94A3B8"/>
                </a:solidFill>
              </a:rPr>
              <a:t>→</a:t>
            </a:r>
            <a:endParaRPr lang="en-US" sz="1600" dirty="0"/>
          </a:p>
        </p:txBody>
      </p:sp>
      <p:sp>
        <p:nvSpPr>
          <p:cNvPr id="21" name="Shape 19"/>
          <p:cNvSpPr/>
          <p:nvPr/>
        </p:nvSpPr>
        <p:spPr>
          <a:xfrm>
            <a:off x="5586984" y="2212848"/>
            <a:ext cx="1572768" cy="804672"/>
          </a:xfrm>
          <a:prstGeom prst="roundRect">
            <a:avLst>
              <a:gd name="adj" fmla="val 11364"/>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5586984" y="2212848"/>
            <a:ext cx="1572768" cy="475488"/>
          </a:xfrm>
          <a:prstGeom prst="rect">
            <a:avLst/>
          </a:prstGeom>
          <a:noFill/>
          <a:ln/>
        </p:spPr>
        <p:txBody>
          <a:bodyPr wrap="square" lIns="0" tIns="0" rIns="0" bIns="0" rtlCol="0" anchor="ctr"/>
          <a:lstStyle/>
          <a:p>
            <a:pPr algn="ctr" indent="0" marL="0">
              <a:buNone/>
            </a:pPr>
            <a:r>
              <a:rPr lang="en-US" sz="950" b="1" dirty="0">
                <a:solidFill>
                  <a:srgbClr val="6EE7B7"/>
                </a:solidFill>
                <a:latin typeface="Courier New" pitchFamily="34" charset="0"/>
                <a:ea typeface="Courier New" pitchFamily="34" charset="-122"/>
                <a:cs typeface="Courier New" pitchFamily="34" charset="-120"/>
              </a:rPr>
              <a:t>docker run</a:t>
            </a:r>
            <a:endParaRPr lang="en-US" sz="950" dirty="0"/>
          </a:p>
        </p:txBody>
      </p:sp>
      <p:sp>
        <p:nvSpPr>
          <p:cNvPr id="23" name="Text 21"/>
          <p:cNvSpPr/>
          <p:nvPr/>
        </p:nvSpPr>
        <p:spPr>
          <a:xfrm>
            <a:off x="5586984" y="2670048"/>
            <a:ext cx="1572768" cy="274320"/>
          </a:xfrm>
          <a:prstGeom prst="rect">
            <a:avLst/>
          </a:prstGeom>
          <a:noFill/>
          <a:ln/>
        </p:spPr>
        <p:txBody>
          <a:bodyPr wrap="square" lIns="0" tIns="0" rIns="0" bIns="0" rtlCol="0" anchor="ctr"/>
          <a:lstStyle/>
          <a:p>
            <a:pPr algn="ctr" indent="0" marL="0">
              <a:buNone/>
            </a:pPr>
            <a:r>
              <a:rPr lang="en-US" sz="850" dirty="0">
                <a:solidFill>
                  <a:srgbClr val="94A3B8"/>
                </a:solidFill>
                <a:latin typeface="Arial" pitchFamily="34" charset="0"/>
                <a:ea typeface="Arial" pitchFamily="34" charset="-122"/>
                <a:cs typeface="Arial" pitchFamily="34" charset="-120"/>
              </a:rPr>
              <a:t>creates container</a:t>
            </a:r>
            <a:endParaRPr lang="en-US" sz="850" dirty="0"/>
          </a:p>
        </p:txBody>
      </p:sp>
      <p:sp>
        <p:nvSpPr>
          <p:cNvPr id="24" name="Text 22"/>
          <p:cNvSpPr/>
          <p:nvPr/>
        </p:nvSpPr>
        <p:spPr>
          <a:xfrm>
            <a:off x="7178040" y="2423160"/>
            <a:ext cx="164592" cy="320040"/>
          </a:xfrm>
          <a:prstGeom prst="rect">
            <a:avLst/>
          </a:prstGeom>
          <a:noFill/>
          <a:ln/>
        </p:spPr>
        <p:txBody>
          <a:bodyPr wrap="square" lIns="0" tIns="0" rIns="0" bIns="0" rtlCol="0" anchor="ctr"/>
          <a:lstStyle/>
          <a:p>
            <a:pPr algn="ctr" indent="0" marL="0">
              <a:buNone/>
            </a:pPr>
            <a:r>
              <a:rPr lang="en-US" sz="1600" dirty="0">
                <a:solidFill>
                  <a:srgbClr val="94A3B8"/>
                </a:solidFill>
              </a:rPr>
              <a:t>→</a:t>
            </a:r>
            <a:endParaRPr lang="en-US" sz="1600" dirty="0"/>
          </a:p>
        </p:txBody>
      </p:sp>
      <p:sp>
        <p:nvSpPr>
          <p:cNvPr id="25" name="Shape 23"/>
          <p:cNvSpPr/>
          <p:nvPr/>
        </p:nvSpPr>
        <p:spPr>
          <a:xfrm>
            <a:off x="7342632" y="2212848"/>
            <a:ext cx="1572768" cy="804672"/>
          </a:xfrm>
          <a:prstGeom prst="roundRect">
            <a:avLst>
              <a:gd name="adj" fmla="val 11364"/>
            </a:avLst>
          </a:prstGeom>
          <a:solidFill>
            <a:srgbClr val="E0F7FE"/>
          </a:solidFill>
          <a:ln w="12700">
            <a:solidFill>
              <a:srgbClr val="059669"/>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7342632" y="2212848"/>
            <a:ext cx="1572768" cy="475488"/>
          </a:xfrm>
          <a:prstGeom prst="rect">
            <a:avLst/>
          </a:prstGeom>
          <a:noFill/>
          <a:ln/>
        </p:spPr>
        <p:txBody>
          <a:bodyPr wrap="square" lIns="0" tIns="0" rIns="0" bIns="0" rtlCol="0" anchor="ctr"/>
          <a:lstStyle/>
          <a:p>
            <a:pPr algn="ctr" indent="0" marL="0">
              <a:buNone/>
            </a:pPr>
            <a:r>
              <a:rPr lang="en-US" sz="1200" b="1" dirty="0">
                <a:solidFill>
                  <a:srgbClr val="059669"/>
                </a:solidFill>
                <a:latin typeface="Cambria" pitchFamily="34" charset="0"/>
                <a:ea typeface="Cambria" pitchFamily="34" charset="-122"/>
                <a:cs typeface="Cambria" pitchFamily="34" charset="-120"/>
              </a:rPr>
              <a:t>Container</a:t>
            </a:r>
            <a:endParaRPr lang="en-US" sz="1200" dirty="0"/>
          </a:p>
        </p:txBody>
      </p:sp>
      <p:sp>
        <p:nvSpPr>
          <p:cNvPr id="27" name="Text 25"/>
          <p:cNvSpPr/>
          <p:nvPr/>
        </p:nvSpPr>
        <p:spPr>
          <a:xfrm>
            <a:off x="7342632" y="2670048"/>
            <a:ext cx="1572768" cy="274320"/>
          </a:xfrm>
          <a:prstGeom prst="rect">
            <a:avLst/>
          </a:prstGeom>
          <a:noFill/>
          <a:ln/>
        </p:spPr>
        <p:txBody>
          <a:bodyPr wrap="square" lIns="0" tIns="0" rIns="0" bIns="0" rtlCol="0" anchor="ctr"/>
          <a:lstStyle/>
          <a:p>
            <a:pPr algn="ctr" indent="0" marL="0">
              <a:buNone/>
            </a:pPr>
            <a:r>
              <a:rPr lang="en-US" sz="850" dirty="0">
                <a:solidFill>
                  <a:srgbClr val="475569"/>
                </a:solidFill>
                <a:latin typeface="Arial" pitchFamily="34" charset="0"/>
                <a:ea typeface="Arial" pitchFamily="34" charset="-122"/>
                <a:cs typeface="Arial" pitchFamily="34" charset="-120"/>
              </a:rPr>
              <a:t>running app</a:t>
            </a:r>
            <a:endParaRPr lang="en-US" sz="850" dirty="0"/>
          </a:p>
        </p:txBody>
      </p:sp>
      <p:sp>
        <p:nvSpPr>
          <p:cNvPr id="28" name="Shape 26"/>
          <p:cNvSpPr/>
          <p:nvPr/>
        </p:nvSpPr>
        <p:spPr>
          <a:xfrm>
            <a:off x="320040" y="3218688"/>
            <a:ext cx="411480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9" name="Text 27"/>
          <p:cNvSpPr/>
          <p:nvPr/>
        </p:nvSpPr>
        <p:spPr>
          <a:xfrm>
            <a:off x="457200" y="3273552"/>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Plain text</a:t>
            </a:r>
            <a:endParaRPr lang="en-US" sz="1150" dirty="0"/>
          </a:p>
        </p:txBody>
      </p:sp>
      <p:sp>
        <p:nvSpPr>
          <p:cNvPr id="30" name="Text 28"/>
          <p:cNvSpPr/>
          <p:nvPr/>
        </p:nvSpPr>
        <p:spPr>
          <a:xfrm>
            <a:off x="457200" y="3547872"/>
            <a:ext cx="384048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No special software. Any text editor works.</a:t>
            </a:r>
            <a:endParaRPr lang="en-US" sz="1000" dirty="0"/>
          </a:p>
        </p:txBody>
      </p:sp>
      <p:sp>
        <p:nvSpPr>
          <p:cNvPr id="31" name="Shape 29"/>
          <p:cNvSpPr/>
          <p:nvPr/>
        </p:nvSpPr>
        <p:spPr>
          <a:xfrm>
            <a:off x="4709160" y="3218688"/>
            <a:ext cx="411480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2" name="Text 30"/>
          <p:cNvSpPr/>
          <p:nvPr/>
        </p:nvSpPr>
        <p:spPr>
          <a:xfrm>
            <a:off x="4846320" y="3273552"/>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Reproducible</a:t>
            </a:r>
            <a:endParaRPr lang="en-US" sz="1150" dirty="0"/>
          </a:p>
        </p:txBody>
      </p:sp>
      <p:sp>
        <p:nvSpPr>
          <p:cNvPr id="33" name="Text 31"/>
          <p:cNvSpPr/>
          <p:nvPr/>
        </p:nvSpPr>
        <p:spPr>
          <a:xfrm>
            <a:off x="4846320" y="3547872"/>
            <a:ext cx="384048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Same Dockerfile = identical image on any machine.</a:t>
            </a:r>
            <a:endParaRPr lang="en-US" sz="1000" dirty="0"/>
          </a:p>
        </p:txBody>
      </p:sp>
      <p:sp>
        <p:nvSpPr>
          <p:cNvPr id="34" name="Shape 32"/>
          <p:cNvSpPr/>
          <p:nvPr/>
        </p:nvSpPr>
        <p:spPr>
          <a:xfrm>
            <a:off x="320040" y="3968496"/>
            <a:ext cx="411480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5" name="Text 33"/>
          <p:cNvSpPr/>
          <p:nvPr/>
        </p:nvSpPr>
        <p:spPr>
          <a:xfrm>
            <a:off x="457200" y="4023360"/>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Version controlled</a:t>
            </a:r>
            <a:endParaRPr lang="en-US" sz="1150" dirty="0"/>
          </a:p>
        </p:txBody>
      </p:sp>
      <p:sp>
        <p:nvSpPr>
          <p:cNvPr id="36" name="Text 34"/>
          <p:cNvSpPr/>
          <p:nvPr/>
        </p:nvSpPr>
        <p:spPr>
          <a:xfrm>
            <a:off x="457200" y="4297680"/>
            <a:ext cx="384048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Store in Git alongside your code.</a:t>
            </a:r>
            <a:endParaRPr lang="en-US" sz="1000" dirty="0"/>
          </a:p>
        </p:txBody>
      </p:sp>
      <p:sp>
        <p:nvSpPr>
          <p:cNvPr id="37" name="Shape 35"/>
          <p:cNvSpPr/>
          <p:nvPr/>
        </p:nvSpPr>
        <p:spPr>
          <a:xfrm>
            <a:off x="4709160" y="3968496"/>
            <a:ext cx="4114800" cy="658368"/>
          </a:xfrm>
          <a:prstGeom prst="roundRect">
            <a:avLst>
              <a:gd name="adj" fmla="val 13889"/>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8" name="Text 36"/>
          <p:cNvSpPr/>
          <p:nvPr/>
        </p:nvSpPr>
        <p:spPr>
          <a:xfrm>
            <a:off x="4846320" y="4023360"/>
            <a:ext cx="3840480" cy="256032"/>
          </a:xfrm>
          <a:prstGeom prst="rect">
            <a:avLst/>
          </a:prstGeom>
          <a:noFill/>
          <a:ln/>
        </p:spPr>
        <p:txBody>
          <a:bodyPr wrap="square" lIns="0" tIns="0" rIns="0" bIns="0" rtlCol="0" anchor="ctr"/>
          <a:lstStyle/>
          <a:p>
            <a:pPr indent="0" marL="0">
              <a:buNone/>
            </a:pPr>
            <a:r>
              <a:rPr lang="en-US" sz="1150" b="1" dirty="0">
                <a:solidFill>
                  <a:srgbClr val="0F172A"/>
                </a:solidFill>
                <a:latin typeface="Arial" pitchFamily="34" charset="0"/>
                <a:ea typeface="Arial" pitchFamily="34" charset="-122"/>
                <a:cs typeface="Arial" pitchFamily="34" charset="-120"/>
              </a:rPr>
              <a:t>⚡  Layer caching</a:t>
            </a:r>
            <a:endParaRPr lang="en-US" sz="1150" dirty="0"/>
          </a:p>
        </p:txBody>
      </p:sp>
      <p:sp>
        <p:nvSpPr>
          <p:cNvPr id="39" name="Text 37"/>
          <p:cNvSpPr/>
          <p:nvPr/>
        </p:nvSpPr>
        <p:spPr>
          <a:xfrm>
            <a:off x="4846320" y="4297680"/>
            <a:ext cx="384048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Docker caches each layer. Re-builds are fast.</a:t>
            </a:r>
            <a:endParaRPr lang="en-US" sz="1000" dirty="0"/>
          </a:p>
        </p:txBody>
      </p:sp>
      <p:sp>
        <p:nvSpPr>
          <p:cNvPr id="40" name="Shape 38"/>
          <p:cNvSpPr/>
          <p:nvPr/>
        </p:nvSpPr>
        <p:spPr>
          <a:xfrm>
            <a:off x="0" y="4846320"/>
            <a:ext cx="9144000" cy="297180"/>
          </a:xfrm>
          <a:prstGeom prst="rect">
            <a:avLst/>
          </a:prstGeom>
          <a:solidFill>
            <a:srgbClr val="0F172A"/>
          </a:solidFill>
          <a:ln w="12700">
            <a:solidFill>
              <a:srgbClr val="0F172A"/>
            </a:solidFill>
            <a:prstDash val="solid"/>
          </a:ln>
        </p:spPr>
      </p:sp>
      <p:sp>
        <p:nvSpPr>
          <p:cNvPr id="41" name="Text 3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05: Dockerfile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DOCKERFILE INSTRUCTIONS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05  •  Dockerfile</a:t>
            </a:r>
            <a:endParaRPr lang="en-US" sz="950" dirty="0"/>
          </a:p>
        </p:txBody>
      </p:sp>
      <p:sp>
        <p:nvSpPr>
          <p:cNvPr id="6" name="Shape 4"/>
          <p:cNvSpPr/>
          <p:nvPr/>
        </p:nvSpPr>
        <p:spPr>
          <a:xfrm>
            <a:off x="320040" y="868680"/>
            <a:ext cx="8503920" cy="347472"/>
          </a:xfrm>
          <a:prstGeom prst="rect">
            <a:avLst/>
          </a:prstGeom>
          <a:solidFill>
            <a:srgbClr val="0F172A"/>
          </a:solidFill>
          <a:ln w="12700">
            <a:solidFill>
              <a:srgbClr val="0F172A"/>
            </a:solidFill>
            <a:prstDash val="solid"/>
          </a:ln>
        </p:spPr>
      </p:sp>
      <p:sp>
        <p:nvSpPr>
          <p:cNvPr id="7" name="Text 5"/>
          <p:cNvSpPr/>
          <p:nvPr/>
        </p:nvSpPr>
        <p:spPr>
          <a:xfrm>
            <a:off x="411480" y="896112"/>
            <a:ext cx="1078992" cy="27432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Instruction</a:t>
            </a:r>
            <a:endParaRPr lang="en-US" sz="1050" dirty="0"/>
          </a:p>
        </p:txBody>
      </p:sp>
      <p:sp>
        <p:nvSpPr>
          <p:cNvPr id="8" name="Text 6"/>
          <p:cNvSpPr/>
          <p:nvPr/>
        </p:nvSpPr>
        <p:spPr>
          <a:xfrm>
            <a:off x="1572768" y="896112"/>
            <a:ext cx="3493008" cy="27432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What It Does</a:t>
            </a:r>
            <a:endParaRPr lang="en-US" sz="1050" dirty="0"/>
          </a:p>
        </p:txBody>
      </p:sp>
      <p:sp>
        <p:nvSpPr>
          <p:cNvPr id="9" name="Text 7"/>
          <p:cNvSpPr/>
          <p:nvPr/>
        </p:nvSpPr>
        <p:spPr>
          <a:xfrm>
            <a:off x="5166360" y="896112"/>
            <a:ext cx="3566160" cy="27432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Example</a:t>
            </a:r>
            <a:endParaRPr lang="en-US" sz="1050" dirty="0"/>
          </a:p>
        </p:txBody>
      </p:sp>
      <p:sp>
        <p:nvSpPr>
          <p:cNvPr id="10" name="Shape 8"/>
          <p:cNvSpPr/>
          <p:nvPr/>
        </p:nvSpPr>
        <p:spPr>
          <a:xfrm>
            <a:off x="320040" y="1261872"/>
            <a:ext cx="8503920" cy="475488"/>
          </a:xfrm>
          <a:prstGeom prst="rect">
            <a:avLst/>
          </a:prstGeom>
          <a:solidFill>
            <a:srgbClr val="FFFFFF"/>
          </a:solidFill>
          <a:ln w="12700">
            <a:solidFill>
              <a:srgbClr val="E2E8F0"/>
            </a:solidFill>
            <a:prstDash val="solid"/>
          </a:ln>
        </p:spPr>
      </p:sp>
      <p:sp>
        <p:nvSpPr>
          <p:cNvPr id="11" name="Text 9"/>
          <p:cNvSpPr/>
          <p:nvPr/>
        </p:nvSpPr>
        <p:spPr>
          <a:xfrm>
            <a:off x="411480" y="1335024"/>
            <a:ext cx="1078992" cy="292608"/>
          </a:xfrm>
          <a:prstGeom prst="rect">
            <a:avLst/>
          </a:prstGeom>
          <a:noFill/>
          <a:ln/>
        </p:spPr>
        <p:txBody>
          <a:bodyPr wrap="square" lIns="0" tIns="0" rIns="0" bIns="0" rtlCol="0" anchor="ctr"/>
          <a:lstStyle/>
          <a:p>
            <a:pPr indent="0" marL="0">
              <a:buNone/>
            </a:pPr>
            <a:r>
              <a:rPr lang="en-US" sz="1150" b="1" dirty="0">
                <a:solidFill>
                  <a:srgbClr val="0DB7ED"/>
                </a:solidFill>
                <a:latin typeface="Courier New" pitchFamily="34" charset="0"/>
                <a:ea typeface="Courier New" pitchFamily="34" charset="-122"/>
                <a:cs typeface="Courier New" pitchFamily="34" charset="-120"/>
              </a:rPr>
              <a:t>FROM</a:t>
            </a:r>
            <a:endParaRPr lang="en-US" sz="1150" dirty="0"/>
          </a:p>
        </p:txBody>
      </p:sp>
      <p:sp>
        <p:nvSpPr>
          <p:cNvPr id="12" name="Text 10"/>
          <p:cNvSpPr/>
          <p:nvPr/>
        </p:nvSpPr>
        <p:spPr>
          <a:xfrm>
            <a:off x="1572768" y="1335024"/>
            <a:ext cx="3493008" cy="292608"/>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Base image to build on — always the first instruction</a:t>
            </a:r>
            <a:endParaRPr lang="en-US" sz="1000" dirty="0"/>
          </a:p>
        </p:txBody>
      </p:sp>
      <p:sp>
        <p:nvSpPr>
          <p:cNvPr id="13" name="Text 11"/>
          <p:cNvSpPr/>
          <p:nvPr/>
        </p:nvSpPr>
        <p:spPr>
          <a:xfrm>
            <a:off x="5166360" y="1335024"/>
            <a:ext cx="3566160" cy="292608"/>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FROM python:3.11-slim</a:t>
            </a:r>
            <a:endParaRPr lang="en-US" sz="900" dirty="0"/>
          </a:p>
        </p:txBody>
      </p:sp>
      <p:sp>
        <p:nvSpPr>
          <p:cNvPr id="14" name="Shape 12"/>
          <p:cNvSpPr/>
          <p:nvPr/>
        </p:nvSpPr>
        <p:spPr>
          <a:xfrm>
            <a:off x="320040" y="1764792"/>
            <a:ext cx="8503920" cy="475488"/>
          </a:xfrm>
          <a:prstGeom prst="rect">
            <a:avLst/>
          </a:prstGeom>
          <a:solidFill>
            <a:srgbClr val="F1F5F9"/>
          </a:solidFill>
          <a:ln w="12700">
            <a:solidFill>
              <a:srgbClr val="E2E8F0"/>
            </a:solidFill>
            <a:prstDash val="solid"/>
          </a:ln>
        </p:spPr>
      </p:sp>
      <p:sp>
        <p:nvSpPr>
          <p:cNvPr id="15" name="Text 13"/>
          <p:cNvSpPr/>
          <p:nvPr/>
        </p:nvSpPr>
        <p:spPr>
          <a:xfrm>
            <a:off x="411480" y="1837944"/>
            <a:ext cx="1078992" cy="292608"/>
          </a:xfrm>
          <a:prstGeom prst="rect">
            <a:avLst/>
          </a:prstGeom>
          <a:noFill/>
          <a:ln/>
        </p:spPr>
        <p:txBody>
          <a:bodyPr wrap="square" lIns="0" tIns="0" rIns="0" bIns="0" rtlCol="0" anchor="ctr"/>
          <a:lstStyle/>
          <a:p>
            <a:pPr indent="0" marL="0">
              <a:buNone/>
            </a:pPr>
            <a:r>
              <a:rPr lang="en-US" sz="1150" b="1" dirty="0">
                <a:solidFill>
                  <a:srgbClr val="2563EB"/>
                </a:solidFill>
                <a:latin typeface="Courier New" pitchFamily="34" charset="0"/>
                <a:ea typeface="Courier New" pitchFamily="34" charset="-122"/>
                <a:cs typeface="Courier New" pitchFamily="34" charset="-120"/>
              </a:rPr>
              <a:t>WORKDIR</a:t>
            </a:r>
            <a:endParaRPr lang="en-US" sz="1150" dirty="0"/>
          </a:p>
        </p:txBody>
      </p:sp>
      <p:sp>
        <p:nvSpPr>
          <p:cNvPr id="16" name="Text 14"/>
          <p:cNvSpPr/>
          <p:nvPr/>
        </p:nvSpPr>
        <p:spPr>
          <a:xfrm>
            <a:off x="1572768" y="1837944"/>
            <a:ext cx="3493008" cy="292608"/>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Set the working directory inside the container</a:t>
            </a:r>
            <a:endParaRPr lang="en-US" sz="1000" dirty="0"/>
          </a:p>
        </p:txBody>
      </p:sp>
      <p:sp>
        <p:nvSpPr>
          <p:cNvPr id="17" name="Text 15"/>
          <p:cNvSpPr/>
          <p:nvPr/>
        </p:nvSpPr>
        <p:spPr>
          <a:xfrm>
            <a:off x="5166360" y="1837944"/>
            <a:ext cx="3566160" cy="292608"/>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WORKDIR /app</a:t>
            </a:r>
            <a:endParaRPr lang="en-US" sz="900" dirty="0"/>
          </a:p>
        </p:txBody>
      </p:sp>
      <p:sp>
        <p:nvSpPr>
          <p:cNvPr id="18" name="Shape 16"/>
          <p:cNvSpPr/>
          <p:nvPr/>
        </p:nvSpPr>
        <p:spPr>
          <a:xfrm>
            <a:off x="320040" y="2267712"/>
            <a:ext cx="8503920" cy="475488"/>
          </a:xfrm>
          <a:prstGeom prst="rect">
            <a:avLst/>
          </a:prstGeom>
          <a:solidFill>
            <a:srgbClr val="FFFFFF"/>
          </a:solidFill>
          <a:ln w="12700">
            <a:solidFill>
              <a:srgbClr val="E2E8F0"/>
            </a:solidFill>
            <a:prstDash val="solid"/>
          </a:ln>
        </p:spPr>
      </p:sp>
      <p:sp>
        <p:nvSpPr>
          <p:cNvPr id="19" name="Text 17"/>
          <p:cNvSpPr/>
          <p:nvPr/>
        </p:nvSpPr>
        <p:spPr>
          <a:xfrm>
            <a:off x="411480" y="2340864"/>
            <a:ext cx="1078992" cy="292608"/>
          </a:xfrm>
          <a:prstGeom prst="rect">
            <a:avLst/>
          </a:prstGeom>
          <a:noFill/>
          <a:ln/>
        </p:spPr>
        <p:txBody>
          <a:bodyPr wrap="square" lIns="0" tIns="0" rIns="0" bIns="0" rtlCol="0" anchor="ctr"/>
          <a:lstStyle/>
          <a:p>
            <a:pPr indent="0" marL="0">
              <a:buNone/>
            </a:pPr>
            <a:r>
              <a:rPr lang="en-US" sz="1150" b="1" dirty="0">
                <a:solidFill>
                  <a:srgbClr val="0D9488"/>
                </a:solidFill>
                <a:latin typeface="Courier New" pitchFamily="34" charset="0"/>
                <a:ea typeface="Courier New" pitchFamily="34" charset="-122"/>
                <a:cs typeface="Courier New" pitchFamily="34" charset="-120"/>
              </a:rPr>
              <a:t>COPY</a:t>
            </a:r>
            <a:endParaRPr lang="en-US" sz="1150" dirty="0"/>
          </a:p>
        </p:txBody>
      </p:sp>
      <p:sp>
        <p:nvSpPr>
          <p:cNvPr id="20" name="Text 18"/>
          <p:cNvSpPr/>
          <p:nvPr/>
        </p:nvSpPr>
        <p:spPr>
          <a:xfrm>
            <a:off x="1572768" y="2340864"/>
            <a:ext cx="3493008" cy="292608"/>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Copy files from your machine into the image</a:t>
            </a:r>
            <a:endParaRPr lang="en-US" sz="1000" dirty="0"/>
          </a:p>
        </p:txBody>
      </p:sp>
      <p:sp>
        <p:nvSpPr>
          <p:cNvPr id="21" name="Text 19"/>
          <p:cNvSpPr/>
          <p:nvPr/>
        </p:nvSpPr>
        <p:spPr>
          <a:xfrm>
            <a:off x="5166360" y="2340864"/>
            <a:ext cx="3566160" cy="292608"/>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COPY requirements.txt .</a:t>
            </a:r>
            <a:endParaRPr lang="en-US" sz="900" dirty="0"/>
          </a:p>
        </p:txBody>
      </p:sp>
      <p:sp>
        <p:nvSpPr>
          <p:cNvPr id="22" name="Shape 20"/>
          <p:cNvSpPr/>
          <p:nvPr/>
        </p:nvSpPr>
        <p:spPr>
          <a:xfrm>
            <a:off x="320040" y="2770632"/>
            <a:ext cx="8503920" cy="475488"/>
          </a:xfrm>
          <a:prstGeom prst="rect">
            <a:avLst/>
          </a:prstGeom>
          <a:solidFill>
            <a:srgbClr val="F1F5F9"/>
          </a:solidFill>
          <a:ln w="12700">
            <a:solidFill>
              <a:srgbClr val="E2E8F0"/>
            </a:solidFill>
            <a:prstDash val="solid"/>
          </a:ln>
        </p:spPr>
      </p:sp>
      <p:sp>
        <p:nvSpPr>
          <p:cNvPr id="23" name="Text 21"/>
          <p:cNvSpPr/>
          <p:nvPr/>
        </p:nvSpPr>
        <p:spPr>
          <a:xfrm>
            <a:off x="411480" y="2843784"/>
            <a:ext cx="1078992" cy="292608"/>
          </a:xfrm>
          <a:prstGeom prst="rect">
            <a:avLst/>
          </a:prstGeom>
          <a:noFill/>
          <a:ln/>
        </p:spPr>
        <p:txBody>
          <a:bodyPr wrap="square" lIns="0" tIns="0" rIns="0" bIns="0" rtlCol="0" anchor="ctr"/>
          <a:lstStyle/>
          <a:p>
            <a:pPr indent="0" marL="0">
              <a:buNone/>
            </a:pPr>
            <a:r>
              <a:rPr lang="en-US" sz="1150" b="1" dirty="0">
                <a:solidFill>
                  <a:srgbClr val="059669"/>
                </a:solidFill>
                <a:latin typeface="Courier New" pitchFamily="34" charset="0"/>
                <a:ea typeface="Courier New" pitchFamily="34" charset="-122"/>
                <a:cs typeface="Courier New" pitchFamily="34" charset="-120"/>
              </a:rPr>
              <a:t>RUN</a:t>
            </a:r>
            <a:endParaRPr lang="en-US" sz="1150" dirty="0"/>
          </a:p>
        </p:txBody>
      </p:sp>
      <p:sp>
        <p:nvSpPr>
          <p:cNvPr id="24" name="Text 22"/>
          <p:cNvSpPr/>
          <p:nvPr/>
        </p:nvSpPr>
        <p:spPr>
          <a:xfrm>
            <a:off x="1572768" y="2843784"/>
            <a:ext cx="3493008" cy="292608"/>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Execute a command during the build (e.g. install packages)</a:t>
            </a:r>
            <a:endParaRPr lang="en-US" sz="1000" dirty="0"/>
          </a:p>
        </p:txBody>
      </p:sp>
      <p:sp>
        <p:nvSpPr>
          <p:cNvPr id="25" name="Text 23"/>
          <p:cNvSpPr/>
          <p:nvPr/>
        </p:nvSpPr>
        <p:spPr>
          <a:xfrm>
            <a:off x="5166360" y="2843784"/>
            <a:ext cx="3566160" cy="292608"/>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RUN pip install -r requirements.txt</a:t>
            </a:r>
            <a:endParaRPr lang="en-US" sz="900" dirty="0"/>
          </a:p>
        </p:txBody>
      </p:sp>
      <p:sp>
        <p:nvSpPr>
          <p:cNvPr id="26" name="Shape 24"/>
          <p:cNvSpPr/>
          <p:nvPr/>
        </p:nvSpPr>
        <p:spPr>
          <a:xfrm>
            <a:off x="320040" y="3273552"/>
            <a:ext cx="8503920" cy="475488"/>
          </a:xfrm>
          <a:prstGeom prst="rect">
            <a:avLst/>
          </a:prstGeom>
          <a:solidFill>
            <a:srgbClr val="FFFFFF"/>
          </a:solidFill>
          <a:ln w="12700">
            <a:solidFill>
              <a:srgbClr val="E2E8F0"/>
            </a:solidFill>
            <a:prstDash val="solid"/>
          </a:ln>
        </p:spPr>
      </p:sp>
      <p:sp>
        <p:nvSpPr>
          <p:cNvPr id="27" name="Text 25"/>
          <p:cNvSpPr/>
          <p:nvPr/>
        </p:nvSpPr>
        <p:spPr>
          <a:xfrm>
            <a:off x="411480" y="3346704"/>
            <a:ext cx="1078992" cy="292608"/>
          </a:xfrm>
          <a:prstGeom prst="rect">
            <a:avLst/>
          </a:prstGeom>
          <a:noFill/>
          <a:ln/>
        </p:spPr>
        <p:txBody>
          <a:bodyPr wrap="square" lIns="0" tIns="0" rIns="0" bIns="0" rtlCol="0" anchor="ctr"/>
          <a:lstStyle/>
          <a:p>
            <a:pPr indent="0" marL="0">
              <a:buNone/>
            </a:pPr>
            <a:r>
              <a:rPr lang="en-US" sz="1150" b="1" dirty="0">
                <a:solidFill>
                  <a:srgbClr val="7C3AED"/>
                </a:solidFill>
                <a:latin typeface="Courier New" pitchFamily="34" charset="0"/>
                <a:ea typeface="Courier New" pitchFamily="34" charset="-122"/>
                <a:cs typeface="Courier New" pitchFamily="34" charset="-120"/>
              </a:rPr>
              <a:t>ENV</a:t>
            </a:r>
            <a:endParaRPr lang="en-US" sz="1150" dirty="0"/>
          </a:p>
        </p:txBody>
      </p:sp>
      <p:sp>
        <p:nvSpPr>
          <p:cNvPr id="28" name="Text 26"/>
          <p:cNvSpPr/>
          <p:nvPr/>
        </p:nvSpPr>
        <p:spPr>
          <a:xfrm>
            <a:off x="1572768" y="3346704"/>
            <a:ext cx="3493008" cy="292608"/>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Set an environment variable inside the image</a:t>
            </a:r>
            <a:endParaRPr lang="en-US" sz="1000" dirty="0"/>
          </a:p>
        </p:txBody>
      </p:sp>
      <p:sp>
        <p:nvSpPr>
          <p:cNvPr id="29" name="Text 27"/>
          <p:cNvSpPr/>
          <p:nvPr/>
        </p:nvSpPr>
        <p:spPr>
          <a:xfrm>
            <a:off x="5166360" y="3346704"/>
            <a:ext cx="3566160" cy="292608"/>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ENV PORT=8080</a:t>
            </a:r>
            <a:endParaRPr lang="en-US" sz="900" dirty="0"/>
          </a:p>
        </p:txBody>
      </p:sp>
      <p:sp>
        <p:nvSpPr>
          <p:cNvPr id="30" name="Shape 28"/>
          <p:cNvSpPr/>
          <p:nvPr/>
        </p:nvSpPr>
        <p:spPr>
          <a:xfrm>
            <a:off x="320040" y="3776472"/>
            <a:ext cx="8503920" cy="475488"/>
          </a:xfrm>
          <a:prstGeom prst="rect">
            <a:avLst/>
          </a:prstGeom>
          <a:solidFill>
            <a:srgbClr val="F1F5F9"/>
          </a:solidFill>
          <a:ln w="12700">
            <a:solidFill>
              <a:srgbClr val="E2E8F0"/>
            </a:solidFill>
            <a:prstDash val="solid"/>
          </a:ln>
        </p:spPr>
      </p:sp>
      <p:sp>
        <p:nvSpPr>
          <p:cNvPr id="31" name="Text 29"/>
          <p:cNvSpPr/>
          <p:nvPr/>
        </p:nvSpPr>
        <p:spPr>
          <a:xfrm>
            <a:off x="411480" y="3849624"/>
            <a:ext cx="1078992" cy="292608"/>
          </a:xfrm>
          <a:prstGeom prst="rect">
            <a:avLst/>
          </a:prstGeom>
          <a:noFill/>
          <a:ln/>
        </p:spPr>
        <p:txBody>
          <a:bodyPr wrap="square" lIns="0" tIns="0" rIns="0" bIns="0" rtlCol="0" anchor="ctr"/>
          <a:lstStyle/>
          <a:p>
            <a:pPr indent="0" marL="0">
              <a:buNone/>
            </a:pPr>
            <a:r>
              <a:rPr lang="en-US" sz="1150" b="1" dirty="0">
                <a:solidFill>
                  <a:srgbClr val="D97706"/>
                </a:solidFill>
                <a:latin typeface="Courier New" pitchFamily="34" charset="0"/>
                <a:ea typeface="Courier New" pitchFamily="34" charset="-122"/>
                <a:cs typeface="Courier New" pitchFamily="34" charset="-120"/>
              </a:rPr>
              <a:t>EXPOSE</a:t>
            </a:r>
            <a:endParaRPr lang="en-US" sz="1150" dirty="0"/>
          </a:p>
        </p:txBody>
      </p:sp>
      <p:sp>
        <p:nvSpPr>
          <p:cNvPr id="32" name="Text 30"/>
          <p:cNvSpPr/>
          <p:nvPr/>
        </p:nvSpPr>
        <p:spPr>
          <a:xfrm>
            <a:off x="1572768" y="3849624"/>
            <a:ext cx="3493008" cy="292608"/>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Document which port the container listens on</a:t>
            </a:r>
            <a:endParaRPr lang="en-US" sz="1000" dirty="0"/>
          </a:p>
        </p:txBody>
      </p:sp>
      <p:sp>
        <p:nvSpPr>
          <p:cNvPr id="33" name="Text 31"/>
          <p:cNvSpPr/>
          <p:nvPr/>
        </p:nvSpPr>
        <p:spPr>
          <a:xfrm>
            <a:off x="5166360" y="3849624"/>
            <a:ext cx="3566160" cy="292608"/>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EXPOSE 8080</a:t>
            </a:r>
            <a:endParaRPr lang="en-US" sz="900" dirty="0"/>
          </a:p>
        </p:txBody>
      </p:sp>
      <p:sp>
        <p:nvSpPr>
          <p:cNvPr id="34" name="Shape 32"/>
          <p:cNvSpPr/>
          <p:nvPr/>
        </p:nvSpPr>
        <p:spPr>
          <a:xfrm>
            <a:off x="320040" y="4279392"/>
            <a:ext cx="8503920" cy="475488"/>
          </a:xfrm>
          <a:prstGeom prst="rect">
            <a:avLst/>
          </a:prstGeom>
          <a:solidFill>
            <a:srgbClr val="FFFFFF"/>
          </a:solidFill>
          <a:ln w="12700">
            <a:solidFill>
              <a:srgbClr val="E2E8F0"/>
            </a:solidFill>
            <a:prstDash val="solid"/>
          </a:ln>
        </p:spPr>
      </p:sp>
      <p:sp>
        <p:nvSpPr>
          <p:cNvPr id="35" name="Text 33"/>
          <p:cNvSpPr/>
          <p:nvPr/>
        </p:nvSpPr>
        <p:spPr>
          <a:xfrm>
            <a:off x="411480" y="4352544"/>
            <a:ext cx="1078992" cy="292608"/>
          </a:xfrm>
          <a:prstGeom prst="rect">
            <a:avLst/>
          </a:prstGeom>
          <a:noFill/>
          <a:ln/>
        </p:spPr>
        <p:txBody>
          <a:bodyPr wrap="square" lIns="0" tIns="0" rIns="0" bIns="0" rtlCol="0" anchor="ctr"/>
          <a:lstStyle/>
          <a:p>
            <a:pPr indent="0" marL="0">
              <a:buNone/>
            </a:pPr>
            <a:r>
              <a:rPr lang="en-US" sz="1150" b="1" dirty="0">
                <a:solidFill>
                  <a:srgbClr val="DC2626"/>
                </a:solidFill>
                <a:latin typeface="Courier New" pitchFamily="34" charset="0"/>
                <a:ea typeface="Courier New" pitchFamily="34" charset="-122"/>
                <a:cs typeface="Courier New" pitchFamily="34" charset="-120"/>
              </a:rPr>
              <a:t>CMD</a:t>
            </a:r>
            <a:endParaRPr lang="en-US" sz="1150" dirty="0"/>
          </a:p>
        </p:txBody>
      </p:sp>
      <p:sp>
        <p:nvSpPr>
          <p:cNvPr id="36" name="Text 34"/>
          <p:cNvSpPr/>
          <p:nvPr/>
        </p:nvSpPr>
        <p:spPr>
          <a:xfrm>
            <a:off x="1572768" y="4352544"/>
            <a:ext cx="3493008" cy="292608"/>
          </a:xfrm>
          <a:prstGeom prst="rect">
            <a:avLst/>
          </a:prstGeom>
          <a:noFill/>
          <a:ln/>
        </p:spPr>
        <p:txBody>
          <a:bodyPr wrap="square" lIns="0" tIns="0" rIns="0" bIns="0" rtlCol="0" anchor="ctr"/>
          <a:lstStyle/>
          <a:p>
            <a:pPr indent="0" marL="0">
              <a:buNone/>
            </a:pPr>
            <a:r>
              <a:rPr lang="en-US" sz="1000" dirty="0">
                <a:solidFill>
                  <a:srgbClr val="0F172A"/>
                </a:solidFill>
                <a:latin typeface="Arial" pitchFamily="34" charset="0"/>
                <a:ea typeface="Arial" pitchFamily="34" charset="-122"/>
                <a:cs typeface="Arial" pitchFamily="34" charset="-120"/>
              </a:rPr>
              <a:t>Default command to run when the container starts</a:t>
            </a:r>
            <a:endParaRPr lang="en-US" sz="1000" dirty="0"/>
          </a:p>
        </p:txBody>
      </p:sp>
      <p:sp>
        <p:nvSpPr>
          <p:cNvPr id="37" name="Text 35"/>
          <p:cNvSpPr/>
          <p:nvPr/>
        </p:nvSpPr>
        <p:spPr>
          <a:xfrm>
            <a:off x="5166360" y="4352544"/>
            <a:ext cx="3566160" cy="292608"/>
          </a:xfrm>
          <a:prstGeom prst="rect">
            <a:avLst/>
          </a:prstGeom>
          <a:noFill/>
          <a:ln/>
        </p:spPr>
        <p:txBody>
          <a:bodyPr wrap="square" lIns="0" tIns="0" rIns="0" bIns="0" rtlCol="0" anchor="ctr"/>
          <a:lstStyle/>
          <a:p>
            <a:pPr indent="0" marL="0">
              <a:buNone/>
            </a:pPr>
            <a:r>
              <a:rPr lang="en-US" sz="900" dirty="0">
                <a:solidFill>
                  <a:srgbClr val="475569"/>
                </a:solidFill>
                <a:latin typeface="Courier New" pitchFamily="34" charset="0"/>
                <a:ea typeface="Courier New" pitchFamily="34" charset="-122"/>
                <a:cs typeface="Courier New" pitchFamily="34" charset="-120"/>
              </a:rPr>
              <a:t>CMD ["python", "app.py"]</a:t>
            </a:r>
            <a:endParaRPr lang="en-US" sz="900" dirty="0"/>
          </a:p>
        </p:txBody>
      </p:sp>
      <p:sp>
        <p:nvSpPr>
          <p:cNvPr id="38" name="Shape 36"/>
          <p:cNvSpPr/>
          <p:nvPr/>
        </p:nvSpPr>
        <p:spPr>
          <a:xfrm>
            <a:off x="320040" y="4754880"/>
            <a:ext cx="8503920" cy="347472"/>
          </a:xfrm>
          <a:prstGeom prst="roundRect">
            <a:avLst>
              <a:gd name="adj" fmla="val 26316"/>
            </a:avLst>
          </a:prstGeom>
          <a:solidFill>
            <a:srgbClr val="FEF3C7"/>
          </a:solidFill>
          <a:ln w="12700">
            <a:solidFill>
              <a:srgbClr val="FCD34D"/>
            </a:solidFill>
            <a:prstDash val="solid"/>
          </a:ln>
          <a:effectLst>
            <a:outerShdw sx="100000" sy="100000" kx="0" ky="0" algn="bl" rotWithShape="0" blurRad="101600" dist="38100" dir="2700000">
              <a:srgbClr val="000000">
                <a:alpha val="12000"/>
              </a:srgbClr>
            </a:outerShdw>
          </a:effectLst>
        </p:spPr>
      </p:sp>
      <p:sp>
        <p:nvSpPr>
          <p:cNvPr id="39" name="Text 37"/>
          <p:cNvSpPr/>
          <p:nvPr/>
        </p:nvSpPr>
        <p:spPr>
          <a:xfrm>
            <a:off x="475488" y="4791456"/>
            <a:ext cx="8229600" cy="274320"/>
          </a:xfrm>
          <a:prstGeom prst="rect">
            <a:avLst/>
          </a:prstGeom>
          <a:noFill/>
          <a:ln/>
        </p:spPr>
        <p:txBody>
          <a:bodyPr wrap="square" lIns="0" tIns="0" rIns="0" bIns="0" rtlCol="0" anchor="ctr"/>
          <a:lstStyle/>
          <a:p>
            <a:pPr indent="0" marL="0">
              <a:buNone/>
            </a:pPr>
            <a:r>
              <a:rPr lang="en-US" sz="1000" b="1" dirty="0">
                <a:solidFill>
                  <a:srgbClr val="D97706"/>
                </a:solidFill>
                <a:latin typeface="Arial" pitchFamily="34" charset="0"/>
                <a:ea typeface="Arial" pitchFamily="34" charset="-122"/>
                <a:cs typeface="Arial" pitchFamily="34" charset="-120"/>
              </a:rPr>
              <a:t>⭐  Rule: Instructions that change rarely (FROM, RUN install) go near the top. Code that changes often (COPY your app) goes near the bottom — maximises layer caching.</a:t>
            </a:r>
            <a:endParaRPr lang="en-US" sz="1000" dirty="0"/>
          </a:p>
        </p:txBody>
      </p:sp>
      <p:sp>
        <p:nvSpPr>
          <p:cNvPr id="40" name="Shape 38"/>
          <p:cNvSpPr/>
          <p:nvPr/>
        </p:nvSpPr>
        <p:spPr>
          <a:xfrm>
            <a:off x="0" y="4846320"/>
            <a:ext cx="9144000" cy="297180"/>
          </a:xfrm>
          <a:prstGeom prst="rect">
            <a:avLst/>
          </a:prstGeom>
          <a:solidFill>
            <a:srgbClr val="0F172A"/>
          </a:solidFill>
          <a:ln w="12700">
            <a:solidFill>
              <a:srgbClr val="0F172A"/>
            </a:solidFill>
            <a:prstDash val="solid"/>
          </a:ln>
        </p:spPr>
      </p:sp>
      <p:sp>
        <p:nvSpPr>
          <p:cNvPr id="41" name="Text 3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05: Dockerfile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YOUR FIRST DOCKERFILE</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05  •  Dockerfile</a:t>
            </a:r>
            <a:endParaRPr lang="en-US" sz="950" dirty="0"/>
          </a:p>
        </p:txBody>
      </p:sp>
      <p:sp>
        <p:nvSpPr>
          <p:cNvPr id="6" name="Shape 4"/>
          <p:cNvSpPr/>
          <p:nvPr/>
        </p:nvSpPr>
        <p:spPr>
          <a:xfrm>
            <a:off x="320040" y="868680"/>
            <a:ext cx="5074920" cy="4005072"/>
          </a:xfrm>
          <a:prstGeom prst="roundRect">
            <a:avLst>
              <a:gd name="adj" fmla="val 2283"/>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41832"/>
            <a:ext cx="4764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Dockerfile</a:t>
            </a:r>
            <a:endParaRPr lang="en-US" sz="900" dirty="0"/>
          </a:p>
        </p:txBody>
      </p:sp>
      <p:sp>
        <p:nvSpPr>
          <p:cNvPr id="8" name="Text 6"/>
          <p:cNvSpPr/>
          <p:nvPr/>
        </p:nvSpPr>
        <p:spPr>
          <a:xfrm>
            <a:off x="475488" y="1179576"/>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FROM python:3.11-slim</a:t>
            </a:r>
            <a:endParaRPr lang="en-US" sz="950" dirty="0"/>
          </a:p>
        </p:txBody>
      </p:sp>
      <p:sp>
        <p:nvSpPr>
          <p:cNvPr id="9" name="Text 7"/>
          <p:cNvSpPr/>
          <p:nvPr/>
        </p:nvSpPr>
        <p:spPr>
          <a:xfrm>
            <a:off x="475488" y="1572768"/>
            <a:ext cx="4764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WORKDIR /app</a:t>
            </a:r>
            <a:endParaRPr lang="en-US" sz="950" dirty="0"/>
          </a:p>
        </p:txBody>
      </p:sp>
      <p:sp>
        <p:nvSpPr>
          <p:cNvPr id="10" name="Text 8"/>
          <p:cNvSpPr/>
          <p:nvPr/>
        </p:nvSpPr>
        <p:spPr>
          <a:xfrm>
            <a:off x="475488" y="1965960"/>
            <a:ext cx="4764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COPY requirements.txt .</a:t>
            </a:r>
            <a:endParaRPr lang="en-US" sz="950" dirty="0"/>
          </a:p>
        </p:txBody>
      </p:sp>
      <p:sp>
        <p:nvSpPr>
          <p:cNvPr id="11" name="Text 9"/>
          <p:cNvSpPr/>
          <p:nvPr/>
        </p:nvSpPr>
        <p:spPr>
          <a:xfrm>
            <a:off x="475488" y="2162556"/>
            <a:ext cx="4764024" cy="201168"/>
          </a:xfrm>
          <a:prstGeom prst="rect">
            <a:avLst/>
          </a:prstGeom>
          <a:noFill/>
          <a:ln/>
        </p:spPr>
        <p:txBody>
          <a:bodyPr wrap="square" lIns="0" tIns="0" rIns="0" bIns="0" rtlCol="0" anchor="ctr"/>
          <a:lstStyle/>
          <a:p>
            <a:pPr indent="0" marL="0">
              <a:buNone/>
            </a:pPr>
            <a:r>
              <a:rPr lang="en-US" sz="950" dirty="0">
                <a:solidFill>
                  <a:srgbClr val="C084FC"/>
                </a:solidFill>
                <a:latin typeface="Courier New" pitchFamily="34" charset="0"/>
                <a:ea typeface="Courier New" pitchFamily="34" charset="-122"/>
                <a:cs typeface="Courier New" pitchFamily="34" charset="-120"/>
              </a:rPr>
              <a:t>RUN pip install -r requirements.txt</a:t>
            </a:r>
            <a:endParaRPr lang="en-US" sz="950" dirty="0"/>
          </a:p>
        </p:txBody>
      </p:sp>
      <p:sp>
        <p:nvSpPr>
          <p:cNvPr id="12" name="Text 10"/>
          <p:cNvSpPr/>
          <p:nvPr/>
        </p:nvSpPr>
        <p:spPr>
          <a:xfrm>
            <a:off x="475488" y="2555748"/>
            <a:ext cx="4764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COPY . .</a:t>
            </a:r>
            <a:endParaRPr lang="en-US" sz="950" dirty="0"/>
          </a:p>
        </p:txBody>
      </p:sp>
      <p:sp>
        <p:nvSpPr>
          <p:cNvPr id="13" name="Text 11"/>
          <p:cNvSpPr/>
          <p:nvPr/>
        </p:nvSpPr>
        <p:spPr>
          <a:xfrm>
            <a:off x="475488" y="2948940"/>
            <a:ext cx="4764024" cy="201168"/>
          </a:xfrm>
          <a:prstGeom prst="rect">
            <a:avLst/>
          </a:prstGeom>
          <a:noFill/>
          <a:ln/>
        </p:spPr>
        <p:txBody>
          <a:bodyPr wrap="square" lIns="0" tIns="0" rIns="0" bIns="0" rtlCol="0" anchor="ctr"/>
          <a:lstStyle/>
          <a:p>
            <a:pPr indent="0" marL="0">
              <a:buNone/>
            </a:pPr>
            <a:r>
              <a:rPr lang="en-US" sz="950" dirty="0">
                <a:solidFill>
                  <a:srgbClr val="A78BFA"/>
                </a:solidFill>
                <a:latin typeface="Courier New" pitchFamily="34" charset="0"/>
                <a:ea typeface="Courier New" pitchFamily="34" charset="-122"/>
                <a:cs typeface="Courier New" pitchFamily="34" charset="-120"/>
              </a:rPr>
              <a:t>ENV PORT=8080</a:t>
            </a:r>
            <a:endParaRPr lang="en-US" sz="950" dirty="0"/>
          </a:p>
        </p:txBody>
      </p:sp>
      <p:sp>
        <p:nvSpPr>
          <p:cNvPr id="14" name="Text 12"/>
          <p:cNvSpPr/>
          <p:nvPr/>
        </p:nvSpPr>
        <p:spPr>
          <a:xfrm>
            <a:off x="475488" y="3145536"/>
            <a:ext cx="4764024" cy="201168"/>
          </a:xfrm>
          <a:prstGeom prst="rect">
            <a:avLst/>
          </a:prstGeom>
          <a:noFill/>
          <a:ln/>
        </p:spPr>
        <p:txBody>
          <a:bodyPr wrap="square" lIns="0" tIns="0" rIns="0" bIns="0" rtlCol="0" anchor="ctr"/>
          <a:lstStyle/>
          <a:p>
            <a:pPr indent="0" marL="0">
              <a:buNone/>
            </a:pPr>
            <a:r>
              <a:rPr lang="en-US" sz="950" dirty="0">
                <a:solidFill>
                  <a:srgbClr val="F9A8D4"/>
                </a:solidFill>
                <a:latin typeface="Courier New" pitchFamily="34" charset="0"/>
                <a:ea typeface="Courier New" pitchFamily="34" charset="-122"/>
                <a:cs typeface="Courier New" pitchFamily="34" charset="-120"/>
              </a:rPr>
              <a:t>EXPOSE 8080</a:t>
            </a:r>
            <a:endParaRPr lang="en-US" sz="950" dirty="0"/>
          </a:p>
        </p:txBody>
      </p:sp>
      <p:sp>
        <p:nvSpPr>
          <p:cNvPr id="15" name="Text 13"/>
          <p:cNvSpPr/>
          <p:nvPr/>
        </p:nvSpPr>
        <p:spPr>
          <a:xfrm>
            <a:off x="475488" y="3538728"/>
            <a:ext cx="4764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CMD ["python", "app.py"]</a:t>
            </a:r>
            <a:endParaRPr lang="en-US" sz="950" dirty="0"/>
          </a:p>
        </p:txBody>
      </p:sp>
      <p:sp>
        <p:nvSpPr>
          <p:cNvPr id="16" name="Shape 14"/>
          <p:cNvSpPr/>
          <p:nvPr/>
        </p:nvSpPr>
        <p:spPr>
          <a:xfrm>
            <a:off x="5596128" y="868680"/>
            <a:ext cx="292608" cy="292608"/>
          </a:xfrm>
          <a:prstGeom prst="ellipse">
            <a:avLst/>
          </a:prstGeom>
          <a:solidFill>
            <a:srgbClr val="0DB7ED"/>
          </a:solidFill>
          <a:ln w="12700">
            <a:solidFill>
              <a:srgbClr val="0DB7ED"/>
            </a:solidFill>
            <a:prstDash val="solid"/>
          </a:ln>
        </p:spPr>
      </p:sp>
      <p:sp>
        <p:nvSpPr>
          <p:cNvPr id="17" name="Text 15"/>
          <p:cNvSpPr/>
          <p:nvPr/>
        </p:nvSpPr>
        <p:spPr>
          <a:xfrm>
            <a:off x="5596128" y="868680"/>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8" name="Text 16"/>
          <p:cNvSpPr/>
          <p:nvPr/>
        </p:nvSpPr>
        <p:spPr>
          <a:xfrm>
            <a:off x="5961888" y="868680"/>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FROM python:3.11-slim</a:t>
            </a:r>
            <a:endParaRPr lang="en-US" sz="1000" dirty="0"/>
          </a:p>
        </p:txBody>
      </p:sp>
      <p:sp>
        <p:nvSpPr>
          <p:cNvPr id="19" name="Text 17"/>
          <p:cNvSpPr/>
          <p:nvPr/>
        </p:nvSpPr>
        <p:spPr>
          <a:xfrm>
            <a:off x="5961888" y="1106424"/>
            <a:ext cx="2834640" cy="34747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Start with Python 3.11 slim. Already has Python — saves building from scratch.</a:t>
            </a:r>
            <a:endParaRPr lang="en-US" sz="900" dirty="0"/>
          </a:p>
        </p:txBody>
      </p:sp>
      <p:sp>
        <p:nvSpPr>
          <p:cNvPr id="20" name="Shape 18"/>
          <p:cNvSpPr/>
          <p:nvPr/>
        </p:nvSpPr>
        <p:spPr>
          <a:xfrm>
            <a:off x="5596128" y="1481328"/>
            <a:ext cx="292608" cy="292608"/>
          </a:xfrm>
          <a:prstGeom prst="ellipse">
            <a:avLst/>
          </a:prstGeom>
          <a:solidFill>
            <a:srgbClr val="0DB7ED"/>
          </a:solidFill>
          <a:ln w="12700">
            <a:solidFill>
              <a:srgbClr val="0DB7ED"/>
            </a:solidFill>
            <a:prstDash val="solid"/>
          </a:ln>
        </p:spPr>
      </p:sp>
      <p:sp>
        <p:nvSpPr>
          <p:cNvPr id="21" name="Text 19"/>
          <p:cNvSpPr/>
          <p:nvPr/>
        </p:nvSpPr>
        <p:spPr>
          <a:xfrm>
            <a:off x="5596128" y="1481328"/>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2" name="Text 20"/>
          <p:cNvSpPr/>
          <p:nvPr/>
        </p:nvSpPr>
        <p:spPr>
          <a:xfrm>
            <a:off x="5961888" y="1481328"/>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WORKDIR /app</a:t>
            </a:r>
            <a:endParaRPr lang="en-US" sz="1000" dirty="0"/>
          </a:p>
        </p:txBody>
      </p:sp>
      <p:sp>
        <p:nvSpPr>
          <p:cNvPr id="23" name="Text 21"/>
          <p:cNvSpPr/>
          <p:nvPr/>
        </p:nvSpPr>
        <p:spPr>
          <a:xfrm>
            <a:off x="5961888" y="1719072"/>
            <a:ext cx="2834640" cy="34747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All commands run from /app inside the container.</a:t>
            </a:r>
            <a:endParaRPr lang="en-US" sz="900" dirty="0"/>
          </a:p>
        </p:txBody>
      </p:sp>
      <p:sp>
        <p:nvSpPr>
          <p:cNvPr id="24" name="Shape 22"/>
          <p:cNvSpPr/>
          <p:nvPr/>
        </p:nvSpPr>
        <p:spPr>
          <a:xfrm>
            <a:off x="5596128" y="2084832"/>
            <a:ext cx="292608" cy="292608"/>
          </a:xfrm>
          <a:prstGeom prst="ellipse">
            <a:avLst/>
          </a:prstGeom>
          <a:solidFill>
            <a:srgbClr val="0DB7ED"/>
          </a:solidFill>
          <a:ln w="12700">
            <a:solidFill>
              <a:srgbClr val="0DB7ED"/>
            </a:solidFill>
            <a:prstDash val="solid"/>
          </a:ln>
        </p:spPr>
      </p:sp>
      <p:sp>
        <p:nvSpPr>
          <p:cNvPr id="25" name="Text 23"/>
          <p:cNvSpPr/>
          <p:nvPr/>
        </p:nvSpPr>
        <p:spPr>
          <a:xfrm>
            <a:off x="5596128" y="208483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6" name="Text 24"/>
          <p:cNvSpPr/>
          <p:nvPr/>
        </p:nvSpPr>
        <p:spPr>
          <a:xfrm>
            <a:off x="5961888" y="2084832"/>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COPY requirements.txt first</a:t>
            </a:r>
            <a:endParaRPr lang="en-US" sz="1000" dirty="0"/>
          </a:p>
        </p:txBody>
      </p:sp>
      <p:sp>
        <p:nvSpPr>
          <p:cNvPr id="27" name="Text 25"/>
          <p:cNvSpPr/>
          <p:nvPr/>
        </p:nvSpPr>
        <p:spPr>
          <a:xfrm>
            <a:off x="5961888" y="2322576"/>
            <a:ext cx="2834640" cy="34747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Copy only requirements first so pip install is cached separately from your code.</a:t>
            </a:r>
            <a:endParaRPr lang="en-US" sz="900" dirty="0"/>
          </a:p>
        </p:txBody>
      </p:sp>
      <p:sp>
        <p:nvSpPr>
          <p:cNvPr id="28" name="Shape 26"/>
          <p:cNvSpPr/>
          <p:nvPr/>
        </p:nvSpPr>
        <p:spPr>
          <a:xfrm>
            <a:off x="5596128" y="2697480"/>
            <a:ext cx="292608" cy="292608"/>
          </a:xfrm>
          <a:prstGeom prst="ellipse">
            <a:avLst/>
          </a:prstGeom>
          <a:solidFill>
            <a:srgbClr val="0DB7ED"/>
          </a:solidFill>
          <a:ln w="12700">
            <a:solidFill>
              <a:srgbClr val="0DB7ED"/>
            </a:solidFill>
            <a:prstDash val="solid"/>
          </a:ln>
        </p:spPr>
      </p:sp>
      <p:sp>
        <p:nvSpPr>
          <p:cNvPr id="29" name="Text 27"/>
          <p:cNvSpPr/>
          <p:nvPr/>
        </p:nvSpPr>
        <p:spPr>
          <a:xfrm>
            <a:off x="5596128" y="2697480"/>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0" name="Text 28"/>
          <p:cNvSpPr/>
          <p:nvPr/>
        </p:nvSpPr>
        <p:spPr>
          <a:xfrm>
            <a:off x="5961888" y="2697480"/>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RUN pip install</a:t>
            </a:r>
            <a:endParaRPr lang="en-US" sz="1000" dirty="0"/>
          </a:p>
        </p:txBody>
      </p:sp>
      <p:sp>
        <p:nvSpPr>
          <p:cNvPr id="31" name="Text 29"/>
          <p:cNvSpPr/>
          <p:nvPr/>
        </p:nvSpPr>
        <p:spPr>
          <a:xfrm>
            <a:off x="5961888" y="2935224"/>
            <a:ext cx="2834640" cy="34747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Install packages at build time. Cached — only re-runs if requirements.txt changes.</a:t>
            </a:r>
            <a:endParaRPr lang="en-US" sz="900" dirty="0"/>
          </a:p>
        </p:txBody>
      </p:sp>
      <p:sp>
        <p:nvSpPr>
          <p:cNvPr id="32" name="Shape 30"/>
          <p:cNvSpPr/>
          <p:nvPr/>
        </p:nvSpPr>
        <p:spPr>
          <a:xfrm>
            <a:off x="5596128" y="3310128"/>
            <a:ext cx="292608" cy="292608"/>
          </a:xfrm>
          <a:prstGeom prst="ellipse">
            <a:avLst/>
          </a:prstGeom>
          <a:solidFill>
            <a:srgbClr val="0DB7ED"/>
          </a:solidFill>
          <a:ln w="12700">
            <a:solidFill>
              <a:srgbClr val="0DB7ED"/>
            </a:solidFill>
            <a:prstDash val="solid"/>
          </a:ln>
        </p:spPr>
      </p:sp>
      <p:sp>
        <p:nvSpPr>
          <p:cNvPr id="33" name="Text 31"/>
          <p:cNvSpPr/>
          <p:nvPr/>
        </p:nvSpPr>
        <p:spPr>
          <a:xfrm>
            <a:off x="5596128" y="3310128"/>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4" name="Text 32"/>
          <p:cNvSpPr/>
          <p:nvPr/>
        </p:nvSpPr>
        <p:spPr>
          <a:xfrm>
            <a:off x="5961888" y="3310128"/>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COPY . .</a:t>
            </a:r>
            <a:endParaRPr lang="en-US" sz="1000" dirty="0"/>
          </a:p>
        </p:txBody>
      </p:sp>
      <p:sp>
        <p:nvSpPr>
          <p:cNvPr id="35" name="Text 33"/>
          <p:cNvSpPr/>
          <p:nvPr/>
        </p:nvSpPr>
        <p:spPr>
          <a:xfrm>
            <a:off x="5961888" y="3547872"/>
            <a:ext cx="2834640" cy="34747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Copy app code last. Code changes won't invalidate the pip install layer.</a:t>
            </a:r>
            <a:endParaRPr lang="en-US" sz="900" dirty="0"/>
          </a:p>
        </p:txBody>
      </p:sp>
      <p:sp>
        <p:nvSpPr>
          <p:cNvPr id="36" name="Shape 34"/>
          <p:cNvSpPr/>
          <p:nvPr/>
        </p:nvSpPr>
        <p:spPr>
          <a:xfrm>
            <a:off x="5596128" y="3913632"/>
            <a:ext cx="292608" cy="292608"/>
          </a:xfrm>
          <a:prstGeom prst="ellipse">
            <a:avLst/>
          </a:prstGeom>
          <a:solidFill>
            <a:srgbClr val="0DB7ED"/>
          </a:solidFill>
          <a:ln w="12700">
            <a:solidFill>
              <a:srgbClr val="0DB7ED"/>
            </a:solidFill>
            <a:prstDash val="solid"/>
          </a:ln>
        </p:spPr>
      </p:sp>
      <p:sp>
        <p:nvSpPr>
          <p:cNvPr id="37" name="Text 35"/>
          <p:cNvSpPr/>
          <p:nvPr/>
        </p:nvSpPr>
        <p:spPr>
          <a:xfrm>
            <a:off x="5596128" y="3913632"/>
            <a:ext cx="29260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38" name="Text 36"/>
          <p:cNvSpPr/>
          <p:nvPr/>
        </p:nvSpPr>
        <p:spPr>
          <a:xfrm>
            <a:off x="5961888" y="3913632"/>
            <a:ext cx="2834640" cy="228600"/>
          </a:xfrm>
          <a:prstGeom prst="rect">
            <a:avLst/>
          </a:prstGeom>
          <a:noFill/>
          <a:ln/>
        </p:spPr>
        <p:txBody>
          <a:bodyPr wrap="square" lIns="0" tIns="0" rIns="0" bIns="0" rtlCol="0" anchor="ctr"/>
          <a:lstStyle/>
          <a:p>
            <a:pPr indent="0" marL="0">
              <a:buNone/>
            </a:pPr>
            <a:r>
              <a:rPr lang="en-US" sz="1000" b="1" dirty="0">
                <a:solidFill>
                  <a:srgbClr val="0F172A"/>
                </a:solidFill>
                <a:latin typeface="Arial" pitchFamily="34" charset="0"/>
                <a:ea typeface="Arial" pitchFamily="34" charset="-122"/>
                <a:cs typeface="Arial" pitchFamily="34" charset="-120"/>
              </a:rPr>
              <a:t>CMD</a:t>
            </a:r>
            <a:endParaRPr lang="en-US" sz="1000" dirty="0"/>
          </a:p>
        </p:txBody>
      </p:sp>
      <p:sp>
        <p:nvSpPr>
          <p:cNvPr id="39" name="Text 37"/>
          <p:cNvSpPr/>
          <p:nvPr/>
        </p:nvSpPr>
        <p:spPr>
          <a:xfrm>
            <a:off x="5961888" y="4151376"/>
            <a:ext cx="2834640" cy="347472"/>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Default start command. JSON array format is more reliable than shell string.</a:t>
            </a:r>
            <a:endParaRPr lang="en-US" sz="900" dirty="0"/>
          </a:p>
        </p:txBody>
      </p:sp>
      <p:sp>
        <p:nvSpPr>
          <p:cNvPr id="40" name="Shape 38"/>
          <p:cNvSpPr/>
          <p:nvPr/>
        </p:nvSpPr>
        <p:spPr>
          <a:xfrm>
            <a:off x="0" y="4846320"/>
            <a:ext cx="9144000" cy="297180"/>
          </a:xfrm>
          <a:prstGeom prst="rect">
            <a:avLst/>
          </a:prstGeom>
          <a:solidFill>
            <a:srgbClr val="0F172A"/>
          </a:solidFill>
          <a:ln w="12700">
            <a:solidFill>
              <a:srgbClr val="0F172A"/>
            </a:solidFill>
            <a:prstDash val="solid"/>
          </a:ln>
        </p:spPr>
      </p:sp>
      <p:sp>
        <p:nvSpPr>
          <p:cNvPr id="41" name="Text 3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05: Dockerfile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BUILD &amp; RUN YOUR IMAGE</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05  •  Dockerfile</a:t>
            </a:r>
            <a:endParaRPr lang="en-US" sz="950" dirty="0"/>
          </a:p>
        </p:txBody>
      </p:sp>
      <p:sp>
        <p:nvSpPr>
          <p:cNvPr id="6" name="Text 4"/>
          <p:cNvSpPr/>
          <p:nvPr/>
        </p:nvSpPr>
        <p:spPr>
          <a:xfrm>
            <a:off x="320040" y="868680"/>
            <a:ext cx="8503920" cy="384048"/>
          </a:xfrm>
          <a:prstGeom prst="rect">
            <a:avLst/>
          </a:prstGeom>
          <a:noFill/>
          <a:ln/>
        </p:spPr>
        <p:txBody>
          <a:bodyPr wrap="square" lIns="0" tIns="0" rIns="0" bIns="0" rtlCol="0" anchor="ctr"/>
          <a:lstStyle/>
          <a:p>
            <a:pPr indent="0" marL="0">
              <a:buNone/>
            </a:pPr>
            <a:r>
              <a:rPr lang="en-US" sz="1200" dirty="0">
                <a:solidFill>
                  <a:srgbClr val="475569"/>
                </a:solidFill>
                <a:latin typeface="Arial" pitchFamily="34" charset="0"/>
                <a:ea typeface="Arial" pitchFamily="34" charset="-122"/>
                <a:cs typeface="Arial" pitchFamily="34" charset="-120"/>
              </a:rPr>
              <a:t>Once you have a Dockerfile, two commands take you from code to running container:</a:t>
            </a:r>
            <a:endParaRPr lang="en-US" sz="1200" dirty="0"/>
          </a:p>
        </p:txBody>
      </p:sp>
      <p:sp>
        <p:nvSpPr>
          <p:cNvPr id="7" name="Shape 5"/>
          <p:cNvSpPr/>
          <p:nvPr/>
        </p:nvSpPr>
        <p:spPr>
          <a:xfrm>
            <a:off x="320040" y="1325880"/>
            <a:ext cx="8503920" cy="1536192"/>
          </a:xfrm>
          <a:prstGeom prst="roundRect">
            <a:avLst>
              <a:gd name="adj" fmla="val 5952"/>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8" name="Shape 6"/>
          <p:cNvSpPr/>
          <p:nvPr/>
        </p:nvSpPr>
        <p:spPr>
          <a:xfrm>
            <a:off x="475488" y="1444752"/>
            <a:ext cx="502920" cy="502920"/>
          </a:xfrm>
          <a:prstGeom prst="roundRect">
            <a:avLst>
              <a:gd name="adj" fmla="val 12727"/>
            </a:avLst>
          </a:prstGeom>
          <a:solidFill>
            <a:srgbClr val="0DB7ED"/>
          </a:solidFill>
          <a:ln w="12700">
            <a:solidFill>
              <a:srgbClr val="0DB7ED"/>
            </a:solidFill>
            <a:prstDash val="solid"/>
          </a:ln>
        </p:spPr>
      </p:sp>
      <p:sp>
        <p:nvSpPr>
          <p:cNvPr id="9" name="Text 7"/>
          <p:cNvSpPr/>
          <p:nvPr/>
        </p:nvSpPr>
        <p:spPr>
          <a:xfrm>
            <a:off x="475488" y="144475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115568" y="1444752"/>
            <a:ext cx="7315200" cy="320040"/>
          </a:xfrm>
          <a:prstGeom prst="rect">
            <a:avLst/>
          </a:prstGeom>
          <a:noFill/>
          <a:ln/>
        </p:spPr>
        <p:txBody>
          <a:bodyPr wrap="square" lIns="0" tIns="0" rIns="0" bIns="0" rtlCol="0" anchor="ctr"/>
          <a:lstStyle/>
          <a:p>
            <a:pPr indent="0" marL="0">
              <a:buNone/>
            </a:pPr>
            <a:r>
              <a:rPr lang="en-US" sz="1300" b="1" dirty="0">
                <a:solidFill>
                  <a:srgbClr val="0DB7ED"/>
                </a:solidFill>
                <a:latin typeface="Arial" pitchFamily="34" charset="0"/>
                <a:ea typeface="Arial" pitchFamily="34" charset="-122"/>
                <a:cs typeface="Arial" pitchFamily="34" charset="-120"/>
              </a:rPr>
              <a:t>Build the image</a:t>
            </a:r>
            <a:endParaRPr lang="en-US" sz="1300" dirty="0"/>
          </a:p>
        </p:txBody>
      </p:sp>
      <p:sp>
        <p:nvSpPr>
          <p:cNvPr id="11" name="Shape 9"/>
          <p:cNvSpPr/>
          <p:nvPr/>
        </p:nvSpPr>
        <p:spPr>
          <a:xfrm>
            <a:off x="1115568" y="1810512"/>
            <a:ext cx="7589520" cy="502920"/>
          </a:xfrm>
          <a:prstGeom prst="roundRect">
            <a:avLst>
              <a:gd name="adj" fmla="val 18182"/>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1261872" y="1901952"/>
            <a:ext cx="7315200" cy="292608"/>
          </a:xfrm>
          <a:prstGeom prst="rect">
            <a:avLst/>
          </a:prstGeom>
          <a:noFill/>
          <a:ln/>
        </p:spPr>
        <p:txBody>
          <a:bodyPr wrap="square" lIns="0" tIns="0" rIns="0" bIns="0" rtlCol="0" anchor="ctr"/>
          <a:lstStyle/>
          <a:p>
            <a:pPr indent="0" marL="0">
              <a:buNone/>
            </a:pPr>
            <a:r>
              <a:rPr lang="en-US" sz="1200" dirty="0">
                <a:solidFill>
                  <a:srgbClr val="6EE7B7"/>
                </a:solidFill>
                <a:latin typeface="Courier New" pitchFamily="34" charset="0"/>
                <a:ea typeface="Courier New" pitchFamily="34" charset="-122"/>
                <a:cs typeface="Courier New" pitchFamily="34" charset="-120"/>
              </a:rPr>
              <a:t>docker build -t my-python-app:v1.0 .</a:t>
            </a:r>
            <a:endParaRPr lang="en-US" sz="1200" dirty="0"/>
          </a:p>
        </p:txBody>
      </p:sp>
      <p:sp>
        <p:nvSpPr>
          <p:cNvPr id="13" name="Text 11"/>
          <p:cNvSpPr/>
          <p:nvPr/>
        </p:nvSpPr>
        <p:spPr>
          <a:xfrm>
            <a:off x="1115568" y="2359152"/>
            <a:ext cx="7589520" cy="384048"/>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-t  gives the image a name and tag     .  tells Docker to look for Dockerfile in the current directory</a:t>
            </a:r>
            <a:endParaRPr lang="en-US" sz="1000" dirty="0"/>
          </a:p>
        </p:txBody>
      </p:sp>
      <p:sp>
        <p:nvSpPr>
          <p:cNvPr id="14" name="Shape 12"/>
          <p:cNvSpPr/>
          <p:nvPr/>
        </p:nvSpPr>
        <p:spPr>
          <a:xfrm>
            <a:off x="320040" y="2971800"/>
            <a:ext cx="8503920" cy="1536192"/>
          </a:xfrm>
          <a:prstGeom prst="roundRect">
            <a:avLst>
              <a:gd name="adj" fmla="val 5952"/>
            </a:avLst>
          </a:prstGeom>
          <a:solidFill>
            <a:srgbClr val="ECFDF5"/>
          </a:solidFill>
          <a:ln w="12700">
            <a:solidFill>
              <a:srgbClr val="6EE7B7"/>
            </a:solidFill>
            <a:prstDash val="solid"/>
          </a:ln>
          <a:effectLst>
            <a:outerShdw sx="100000" sy="100000" kx="0" ky="0" algn="bl" rotWithShape="0" blurRad="101600" dist="38100" dir="2700000">
              <a:srgbClr val="000000">
                <a:alpha val="12000"/>
              </a:srgbClr>
            </a:outerShdw>
          </a:effectLst>
        </p:spPr>
      </p:sp>
      <p:sp>
        <p:nvSpPr>
          <p:cNvPr id="15" name="Shape 13"/>
          <p:cNvSpPr/>
          <p:nvPr/>
        </p:nvSpPr>
        <p:spPr>
          <a:xfrm>
            <a:off x="475488" y="3090672"/>
            <a:ext cx="502920" cy="502920"/>
          </a:xfrm>
          <a:prstGeom prst="roundRect">
            <a:avLst>
              <a:gd name="adj" fmla="val 12727"/>
            </a:avLst>
          </a:prstGeom>
          <a:solidFill>
            <a:srgbClr val="059669"/>
          </a:solidFill>
          <a:ln w="12700">
            <a:solidFill>
              <a:srgbClr val="059669"/>
            </a:solidFill>
            <a:prstDash val="solid"/>
          </a:ln>
        </p:spPr>
      </p:sp>
      <p:sp>
        <p:nvSpPr>
          <p:cNvPr id="16" name="Text 14"/>
          <p:cNvSpPr/>
          <p:nvPr/>
        </p:nvSpPr>
        <p:spPr>
          <a:xfrm>
            <a:off x="475488" y="309067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7" name="Text 15"/>
          <p:cNvSpPr/>
          <p:nvPr/>
        </p:nvSpPr>
        <p:spPr>
          <a:xfrm>
            <a:off x="1115568" y="3090672"/>
            <a:ext cx="7315200" cy="320040"/>
          </a:xfrm>
          <a:prstGeom prst="rect">
            <a:avLst/>
          </a:prstGeom>
          <a:noFill/>
          <a:ln/>
        </p:spPr>
        <p:txBody>
          <a:bodyPr wrap="square" lIns="0" tIns="0" rIns="0" bIns="0" rtlCol="0" anchor="ctr"/>
          <a:lstStyle/>
          <a:p>
            <a:pPr indent="0" marL="0">
              <a:buNone/>
            </a:pPr>
            <a:r>
              <a:rPr lang="en-US" sz="1300" b="1" dirty="0">
                <a:solidFill>
                  <a:srgbClr val="059669"/>
                </a:solidFill>
                <a:latin typeface="Arial" pitchFamily="34" charset="0"/>
                <a:ea typeface="Arial" pitchFamily="34" charset="-122"/>
                <a:cs typeface="Arial" pitchFamily="34" charset="-120"/>
              </a:rPr>
              <a:t>Run a container from the image</a:t>
            </a:r>
            <a:endParaRPr lang="en-US" sz="1300" dirty="0"/>
          </a:p>
        </p:txBody>
      </p:sp>
      <p:sp>
        <p:nvSpPr>
          <p:cNvPr id="18" name="Shape 16"/>
          <p:cNvSpPr/>
          <p:nvPr/>
        </p:nvSpPr>
        <p:spPr>
          <a:xfrm>
            <a:off x="1115568" y="3456432"/>
            <a:ext cx="7589520" cy="502920"/>
          </a:xfrm>
          <a:prstGeom prst="roundRect">
            <a:avLst>
              <a:gd name="adj" fmla="val 18182"/>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1261872" y="3547872"/>
            <a:ext cx="7315200" cy="292608"/>
          </a:xfrm>
          <a:prstGeom prst="rect">
            <a:avLst/>
          </a:prstGeom>
          <a:noFill/>
          <a:ln/>
        </p:spPr>
        <p:txBody>
          <a:bodyPr wrap="square" lIns="0" tIns="0" rIns="0" bIns="0" rtlCol="0" anchor="ctr"/>
          <a:lstStyle/>
          <a:p>
            <a:pPr indent="0" marL="0">
              <a:buNone/>
            </a:pPr>
            <a:r>
              <a:rPr lang="en-US" sz="1200" dirty="0">
                <a:solidFill>
                  <a:srgbClr val="6EE7B7"/>
                </a:solidFill>
                <a:latin typeface="Courier New" pitchFamily="34" charset="0"/>
                <a:ea typeface="Courier New" pitchFamily="34" charset="-122"/>
                <a:cs typeface="Courier New" pitchFamily="34" charset="-120"/>
              </a:rPr>
              <a:t>docker run -d --name myapp -p 5000:5000 my-python-app:v1.0</a:t>
            </a:r>
            <a:endParaRPr lang="en-US" sz="1200" dirty="0"/>
          </a:p>
        </p:txBody>
      </p:sp>
      <p:sp>
        <p:nvSpPr>
          <p:cNvPr id="20" name="Text 18"/>
          <p:cNvSpPr/>
          <p:nvPr/>
        </p:nvSpPr>
        <p:spPr>
          <a:xfrm>
            <a:off x="1115568" y="4005072"/>
            <a:ext cx="7589520" cy="34747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Your app is now running in a container, accessible at http://localhost:5000</a:t>
            </a:r>
            <a:endParaRPr lang="en-US" sz="1000" dirty="0"/>
          </a:p>
        </p:txBody>
      </p:sp>
      <p:sp>
        <p:nvSpPr>
          <p:cNvPr id="21" name="Shape 19"/>
          <p:cNvSpPr/>
          <p:nvPr/>
        </p:nvSpPr>
        <p:spPr>
          <a:xfrm>
            <a:off x="320040" y="4645152"/>
            <a:ext cx="8503920" cy="365760"/>
          </a:xfrm>
          <a:prstGeom prst="roundRect">
            <a:avLst>
              <a:gd name="adj" fmla="val 25000"/>
            </a:avLst>
          </a:prstGeom>
          <a:solidFill>
            <a:srgbClr val="FEF3C7"/>
          </a:solidFill>
          <a:ln w="12700">
            <a:solidFill>
              <a:srgbClr val="FCD34D"/>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475488" y="4681728"/>
            <a:ext cx="8229600" cy="274320"/>
          </a:xfrm>
          <a:prstGeom prst="rect">
            <a:avLst/>
          </a:prstGeom>
          <a:noFill/>
          <a:ln/>
        </p:spPr>
        <p:txBody>
          <a:bodyPr wrap="square" lIns="0" tIns="0" rIns="0" bIns="0" rtlCol="0" anchor="ctr"/>
          <a:lstStyle/>
          <a:p>
            <a:pPr indent="0" marL="0">
              <a:buNone/>
            </a:pPr>
            <a:r>
              <a:rPr lang="en-US" sz="1000" b="1" dirty="0">
                <a:solidFill>
                  <a:srgbClr val="D97706"/>
                </a:solidFill>
                <a:latin typeface="Arial" pitchFamily="34" charset="0"/>
                <a:ea typeface="Arial" pitchFamily="34" charset="-122"/>
                <a:cs typeface="Arial" pitchFamily="34" charset="-120"/>
              </a:rPr>
              <a:t>⭐  .dockerignore: exclude node_modules, .git, __pycache__ from the build context — keeps images lean and build times fast.</a:t>
            </a:r>
            <a:endParaRPr lang="en-US" sz="1000" dirty="0"/>
          </a:p>
        </p:txBody>
      </p:sp>
      <p:sp>
        <p:nvSpPr>
          <p:cNvPr id="23" name="Shape 21"/>
          <p:cNvSpPr/>
          <p:nvPr/>
        </p:nvSpPr>
        <p:spPr>
          <a:xfrm>
            <a:off x="0" y="4846320"/>
            <a:ext cx="9144000" cy="297180"/>
          </a:xfrm>
          <a:prstGeom prst="rect">
            <a:avLst/>
          </a:prstGeom>
          <a:solidFill>
            <a:srgbClr val="0F172A"/>
          </a:solidFill>
          <a:ln w="12700">
            <a:solidFill>
              <a:srgbClr val="0F172A"/>
            </a:solidFill>
            <a:prstDash val="solid"/>
          </a:ln>
        </p:spPr>
      </p:sp>
      <p:sp>
        <p:nvSpPr>
          <p:cNvPr id="24" name="Text 22"/>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05: Dockerfile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BEST PRACTICES — DOCKERFILE</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05  •  Dockerfile</a:t>
            </a:r>
            <a:endParaRPr lang="en-US" sz="950" dirty="0"/>
          </a:p>
        </p:txBody>
      </p:sp>
      <p:sp>
        <p:nvSpPr>
          <p:cNvPr id="6" name="Shape 4"/>
          <p:cNvSpPr/>
          <p:nvPr/>
        </p:nvSpPr>
        <p:spPr>
          <a:xfrm>
            <a:off x="320040" y="8961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75488" y="1060704"/>
            <a:ext cx="475488" cy="868680"/>
          </a:xfrm>
          <a:prstGeom prst="roundRect">
            <a:avLst>
              <a:gd name="adj" fmla="val 13462"/>
            </a:avLst>
          </a:prstGeom>
          <a:solidFill>
            <a:srgbClr val="0DB7ED"/>
          </a:solidFill>
          <a:ln w="12700">
            <a:solidFill>
              <a:srgbClr val="0DB7ED"/>
            </a:solidFill>
            <a:prstDash val="solid"/>
          </a:ln>
        </p:spPr>
      </p:sp>
      <p:sp>
        <p:nvSpPr>
          <p:cNvPr id="8" name="Text 6"/>
          <p:cNvSpPr/>
          <p:nvPr/>
        </p:nvSpPr>
        <p:spPr>
          <a:xfrm>
            <a:off x="475488" y="10607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9" name="Text 7"/>
          <p:cNvSpPr/>
          <p:nvPr/>
        </p:nvSpPr>
        <p:spPr>
          <a:xfrm>
            <a:off x="1097280" y="1005840"/>
            <a:ext cx="7406640" cy="384048"/>
          </a:xfrm>
          <a:prstGeom prst="rect">
            <a:avLst/>
          </a:prstGeom>
          <a:noFill/>
          <a:ln/>
        </p:spPr>
        <p:txBody>
          <a:bodyPr wrap="square" lIns="0" tIns="0" rIns="0" bIns="0" rtlCol="0" anchor="ctr"/>
          <a:lstStyle/>
          <a:p>
            <a:pPr indent="0" marL="0">
              <a:buNone/>
            </a:pPr>
            <a:r>
              <a:rPr lang="en-US" sz="1300" b="1" dirty="0">
                <a:solidFill>
                  <a:srgbClr val="0DB7ED"/>
                </a:solidFill>
                <a:latin typeface="Arial" pitchFamily="34" charset="0"/>
                <a:ea typeface="Arial" pitchFamily="34" charset="-122"/>
                <a:cs typeface="Arial" pitchFamily="34" charset="-120"/>
              </a:rPr>
              <a:t>💡  Use a specific base image tag — never FROM python:latest</a:t>
            </a:r>
            <a:endParaRPr lang="en-US" sz="1300" dirty="0"/>
          </a:p>
        </p:txBody>
      </p:sp>
      <p:sp>
        <p:nvSpPr>
          <p:cNvPr id="10" name="Text 8"/>
          <p:cNvSpPr/>
          <p:nvPr/>
        </p:nvSpPr>
        <p:spPr>
          <a:xfrm>
            <a:off x="1097280" y="14081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FROM python:latest will use a different version every time you build. Use FROM python:3.11-slim so every build is identical. This is the Dockerfile equivalent of pinning dependency versions.</a:t>
            </a:r>
            <a:endParaRPr lang="en-US" sz="1100" dirty="0"/>
          </a:p>
        </p:txBody>
      </p:sp>
      <p:sp>
        <p:nvSpPr>
          <p:cNvPr id="11" name="Shape 9"/>
          <p:cNvSpPr/>
          <p:nvPr/>
        </p:nvSpPr>
        <p:spPr>
          <a:xfrm>
            <a:off x="320040" y="22677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2" name="Shape 10"/>
          <p:cNvSpPr/>
          <p:nvPr/>
        </p:nvSpPr>
        <p:spPr>
          <a:xfrm>
            <a:off x="475488" y="2432304"/>
            <a:ext cx="475488" cy="868680"/>
          </a:xfrm>
          <a:prstGeom prst="roundRect">
            <a:avLst>
              <a:gd name="adj" fmla="val 13462"/>
            </a:avLst>
          </a:prstGeom>
          <a:solidFill>
            <a:srgbClr val="2563EB"/>
          </a:solidFill>
          <a:ln w="12700">
            <a:solidFill>
              <a:srgbClr val="2563EB"/>
            </a:solidFill>
            <a:prstDash val="solid"/>
          </a:ln>
        </p:spPr>
      </p:sp>
      <p:sp>
        <p:nvSpPr>
          <p:cNvPr id="13" name="Text 11"/>
          <p:cNvSpPr/>
          <p:nvPr/>
        </p:nvSpPr>
        <p:spPr>
          <a:xfrm>
            <a:off x="475488" y="24323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4" name="Text 12"/>
          <p:cNvSpPr/>
          <p:nvPr/>
        </p:nvSpPr>
        <p:spPr>
          <a:xfrm>
            <a:off x="1097280" y="2377440"/>
            <a:ext cx="7406640" cy="384048"/>
          </a:xfrm>
          <a:prstGeom prst="rect">
            <a:avLst/>
          </a:prstGeom>
          <a:noFill/>
          <a:ln/>
        </p:spPr>
        <p:txBody>
          <a:bodyPr wrap="square" lIns="0" tIns="0" rIns="0" bIns="0" rtlCol="0" anchor="ctr"/>
          <a:lstStyle/>
          <a:p>
            <a:pPr indent="0" marL="0">
              <a:buNone/>
            </a:pPr>
            <a:r>
              <a:rPr lang="en-US" sz="1300" b="1" dirty="0">
                <a:solidFill>
                  <a:srgbClr val="2563EB"/>
                </a:solidFill>
                <a:latin typeface="Arial" pitchFamily="34" charset="0"/>
                <a:ea typeface="Arial" pitchFamily="34" charset="-122"/>
                <a:cs typeface="Arial" pitchFamily="34" charset="-120"/>
              </a:rPr>
              <a:t>💡  Order instructions by how often they change</a:t>
            </a:r>
            <a:endParaRPr lang="en-US" sz="1300" dirty="0"/>
          </a:p>
        </p:txBody>
      </p:sp>
      <p:sp>
        <p:nvSpPr>
          <p:cNvPr id="15" name="Text 13"/>
          <p:cNvSpPr/>
          <p:nvPr/>
        </p:nvSpPr>
        <p:spPr>
          <a:xfrm>
            <a:off x="1097280" y="27797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Put rarely-changing instructions (install dependencies) before frequently-changing ones (copy your code). Docker caches each layer — wrong order means slow builds every time code changes.</a:t>
            </a:r>
            <a:endParaRPr lang="en-US" sz="1100" dirty="0"/>
          </a:p>
        </p:txBody>
      </p:sp>
      <p:sp>
        <p:nvSpPr>
          <p:cNvPr id="16" name="Shape 14"/>
          <p:cNvSpPr/>
          <p:nvPr/>
        </p:nvSpPr>
        <p:spPr>
          <a:xfrm>
            <a:off x="320040" y="36393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7" name="Shape 15"/>
          <p:cNvSpPr/>
          <p:nvPr/>
        </p:nvSpPr>
        <p:spPr>
          <a:xfrm>
            <a:off x="475488" y="3803904"/>
            <a:ext cx="475488" cy="868680"/>
          </a:xfrm>
          <a:prstGeom prst="roundRect">
            <a:avLst>
              <a:gd name="adj" fmla="val 13462"/>
            </a:avLst>
          </a:prstGeom>
          <a:solidFill>
            <a:srgbClr val="059669"/>
          </a:solidFill>
          <a:ln w="12700">
            <a:solidFill>
              <a:srgbClr val="059669"/>
            </a:solidFill>
            <a:prstDash val="solid"/>
          </a:ln>
        </p:spPr>
      </p:sp>
      <p:sp>
        <p:nvSpPr>
          <p:cNvPr id="18" name="Text 16"/>
          <p:cNvSpPr/>
          <p:nvPr/>
        </p:nvSpPr>
        <p:spPr>
          <a:xfrm>
            <a:off x="475488" y="38039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9" name="Text 17"/>
          <p:cNvSpPr/>
          <p:nvPr/>
        </p:nvSpPr>
        <p:spPr>
          <a:xfrm>
            <a:off x="1097280" y="3749040"/>
            <a:ext cx="7406640" cy="384048"/>
          </a:xfrm>
          <a:prstGeom prst="rect">
            <a:avLst/>
          </a:prstGeom>
          <a:noFill/>
          <a:ln/>
        </p:spPr>
        <p:txBody>
          <a:bodyPr wrap="square" lIns="0" tIns="0" rIns="0" bIns="0" rtlCol="0" anchor="ctr"/>
          <a:lstStyle/>
          <a:p>
            <a:pPr indent="0" marL="0">
              <a:buNone/>
            </a:pPr>
            <a:r>
              <a:rPr lang="en-US" sz="1300" b="1" dirty="0">
                <a:solidFill>
                  <a:srgbClr val="059669"/>
                </a:solidFill>
                <a:latin typeface="Arial" pitchFamily="34" charset="0"/>
                <a:ea typeface="Arial" pitchFamily="34" charset="-122"/>
                <a:cs typeface="Arial" pitchFamily="34" charset="-120"/>
              </a:rPr>
              <a:t>💡  Use Alpine or slim base images</a:t>
            </a:r>
            <a:endParaRPr lang="en-US" sz="1300" dirty="0"/>
          </a:p>
        </p:txBody>
      </p:sp>
      <p:sp>
        <p:nvSpPr>
          <p:cNvPr id="20" name="Text 18"/>
          <p:cNvSpPr/>
          <p:nvPr/>
        </p:nvSpPr>
        <p:spPr>
          <a:xfrm>
            <a:off x="1097280" y="41513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FROM python:3.11-alpine produces a 50MB image. FROM python:3.11 produces a 917MB image. Smaller = faster pulls, faster deployments, fewer security vulnerabilities.</a:t>
            </a:r>
            <a:endParaRPr lang="en-US" sz="1100" dirty="0"/>
          </a:p>
        </p:txBody>
      </p:sp>
      <p:sp>
        <p:nvSpPr>
          <p:cNvPr id="21" name="Shape 19"/>
          <p:cNvSpPr/>
          <p:nvPr/>
        </p:nvSpPr>
        <p:spPr>
          <a:xfrm>
            <a:off x="0" y="4846320"/>
            <a:ext cx="9144000" cy="297180"/>
          </a:xfrm>
          <a:prstGeom prst="rect">
            <a:avLst/>
          </a:prstGeom>
          <a:solidFill>
            <a:srgbClr val="0F172A"/>
          </a:solidFill>
          <a:ln w="12700">
            <a:solidFill>
              <a:srgbClr val="0F172A"/>
            </a:solidFill>
            <a:prstDash val="solid"/>
          </a:ln>
        </p:spPr>
      </p:sp>
      <p:sp>
        <p:nvSpPr>
          <p:cNvPr id="22" name="Text 20"/>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05: Dockerfile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0DB7ED"/>
          </a:solidFill>
          <a:ln w="12700">
            <a:solidFill>
              <a:srgbClr val="0DB7ED"/>
            </a:solidFill>
            <a:prstDash val="solid"/>
          </a:ln>
        </p:spPr>
      </p:sp>
      <p:sp>
        <p:nvSpPr>
          <p:cNvPr id="3" name="Shape 1"/>
          <p:cNvSpPr/>
          <p:nvPr/>
        </p:nvSpPr>
        <p:spPr>
          <a:xfrm>
            <a:off x="5943600" y="-914400"/>
            <a:ext cx="4572000" cy="4572000"/>
          </a:xfrm>
          <a:prstGeom prst="ellipse">
            <a:avLst/>
          </a:prstGeom>
          <a:solidFill>
            <a:srgbClr val="0DB7ED">
              <a:alpha val="10000"/>
            </a:srgbClr>
          </a:solidFill>
          <a:ln w="12700">
            <a:solidFill>
              <a:srgbClr val="0DB7ED">
                <a:alpha val="20000"/>
              </a:srgbClr>
            </a:solidFill>
            <a:prstDash val="solid"/>
          </a:ln>
        </p:spPr>
      </p:sp>
      <p:sp>
        <p:nvSpPr>
          <p:cNvPr id="4" name="Text 2"/>
          <p:cNvSpPr/>
          <p:nvPr/>
        </p:nvSpPr>
        <p:spPr>
          <a:xfrm>
            <a:off x="640080" y="1463040"/>
            <a:ext cx="7315200" cy="365760"/>
          </a:xfrm>
          <a:prstGeom prst="rect">
            <a:avLst/>
          </a:prstGeom>
          <a:noFill/>
          <a:ln/>
        </p:spPr>
        <p:txBody>
          <a:bodyPr wrap="square" lIns="0" tIns="0" rIns="0" bIns="0" rtlCol="0" anchor="ctr"/>
          <a:lstStyle/>
          <a:p>
            <a:pPr indent="0" marL="0">
              <a:buNone/>
            </a:pPr>
            <a:r>
              <a:rPr lang="en-US" sz="1200" b="1" spc="400" kern="0" dirty="0">
                <a:solidFill>
                  <a:srgbClr val="0DB7ED"/>
                </a:solidFill>
                <a:latin typeface="Arial" pitchFamily="34" charset="0"/>
                <a:ea typeface="Arial" pitchFamily="34" charset="-122"/>
                <a:cs typeface="Arial" pitchFamily="34" charset="-120"/>
              </a:rPr>
              <a:t>SECTION 06</a:t>
            </a:r>
            <a:endParaRPr lang="en-US" sz="1200" dirty="0"/>
          </a:p>
        </p:txBody>
      </p:sp>
      <p:sp>
        <p:nvSpPr>
          <p:cNvPr id="5" name="Text 3"/>
          <p:cNvSpPr/>
          <p:nvPr/>
        </p:nvSpPr>
        <p:spPr>
          <a:xfrm>
            <a:off x="640080" y="1874520"/>
            <a:ext cx="77724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Docker Volumes</a:t>
            </a:r>
            <a:endParaRPr lang="en-US" sz="4600" dirty="0"/>
          </a:p>
        </p:txBody>
      </p:sp>
      <p:sp>
        <p:nvSpPr>
          <p:cNvPr id="6" name="Text 4"/>
          <p:cNvSpPr/>
          <p:nvPr/>
        </p:nvSpPr>
        <p:spPr>
          <a:xfrm>
            <a:off x="640080" y="2926080"/>
            <a:ext cx="6400800" cy="411480"/>
          </a:xfrm>
          <a:prstGeom prst="rect">
            <a:avLst/>
          </a:prstGeom>
          <a:noFill/>
          <a:ln/>
        </p:spPr>
        <p:txBody>
          <a:bodyPr wrap="square" lIns="0" tIns="0" rIns="0" bIns="0" rtlCol="0" anchor="ctr"/>
          <a:lstStyle/>
          <a:p>
            <a:pPr indent="0" marL="0">
              <a:buNone/>
            </a:pPr>
            <a:r>
              <a:rPr lang="en-US" sz="1500" dirty="0">
                <a:solidFill>
                  <a:srgbClr val="94A3B8"/>
                </a:solidFill>
                <a:latin typeface="Arial" pitchFamily="34" charset="0"/>
                <a:ea typeface="Arial" pitchFamily="34" charset="-122"/>
                <a:cs typeface="Arial" pitchFamily="34" charset="-120"/>
              </a:rPr>
              <a:t>Making data persist beyond the container lifecycle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WHY DO WE NEED VOLUMES?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06  •  Volumes</a:t>
            </a:r>
            <a:endParaRPr lang="en-US" sz="950" dirty="0"/>
          </a:p>
        </p:txBody>
      </p:sp>
      <p:sp>
        <p:nvSpPr>
          <p:cNvPr id="6" name="Shape 4"/>
          <p:cNvSpPr/>
          <p:nvPr/>
        </p:nvSpPr>
        <p:spPr>
          <a:xfrm>
            <a:off x="320040" y="868680"/>
            <a:ext cx="8503920" cy="896112"/>
          </a:xfrm>
          <a:prstGeom prst="roundRect">
            <a:avLst>
              <a:gd name="adj" fmla="val 10204"/>
            </a:avLst>
          </a:prstGeom>
          <a:solidFill>
            <a:srgbClr val="FEF2F2"/>
          </a:solidFill>
          <a:ln w="12700">
            <a:solidFill>
              <a:srgbClr val="FECACA"/>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475488" y="932688"/>
            <a:ext cx="8229600" cy="292608"/>
          </a:xfrm>
          <a:prstGeom prst="rect">
            <a:avLst/>
          </a:prstGeom>
          <a:noFill/>
          <a:ln/>
        </p:spPr>
        <p:txBody>
          <a:bodyPr wrap="square" lIns="0" tIns="0" rIns="0" bIns="0" rtlCol="0" anchor="ctr"/>
          <a:lstStyle/>
          <a:p>
            <a:pPr indent="0" marL="0">
              <a:buNone/>
            </a:pPr>
            <a:r>
              <a:rPr lang="en-US" sz="1200" b="1" dirty="0">
                <a:solidFill>
                  <a:srgbClr val="DC2626"/>
                </a:solidFill>
                <a:latin typeface="Arial" pitchFamily="34" charset="0"/>
                <a:ea typeface="Arial" pitchFamily="34" charset="-122"/>
                <a:cs typeface="Arial" pitchFamily="34" charset="-120"/>
              </a:rPr>
              <a:t>⚠️  The Problem</a:t>
            </a:r>
            <a:endParaRPr lang="en-US" sz="1200" dirty="0"/>
          </a:p>
        </p:txBody>
      </p:sp>
      <p:sp>
        <p:nvSpPr>
          <p:cNvPr id="8" name="Text 6"/>
          <p:cNvSpPr/>
          <p:nvPr/>
        </p:nvSpPr>
        <p:spPr>
          <a:xfrm>
            <a:off x="475488" y="1243584"/>
            <a:ext cx="8229600" cy="43891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Containers are ephemeral — when you remove a container, everything inside it is gone. Your database, your uploaded files, your logs — all deleted. You need a way to store data outside the container.</a:t>
            </a:r>
            <a:endParaRPr lang="en-US" sz="1100" dirty="0"/>
          </a:p>
        </p:txBody>
      </p:sp>
      <p:sp>
        <p:nvSpPr>
          <p:cNvPr id="9" name="Text 7"/>
          <p:cNvSpPr/>
          <p:nvPr/>
        </p:nvSpPr>
        <p:spPr>
          <a:xfrm>
            <a:off x="320040" y="1901952"/>
            <a:ext cx="3657600" cy="320040"/>
          </a:xfrm>
          <a:prstGeom prst="rect">
            <a:avLst/>
          </a:prstGeom>
          <a:noFill/>
          <a:ln/>
        </p:spPr>
        <p:txBody>
          <a:bodyPr wrap="square" lIns="0" tIns="0" rIns="0" bIns="0" rtlCol="0" anchor="ctr"/>
          <a:lstStyle/>
          <a:p>
            <a:pPr indent="0" marL="0">
              <a:buNone/>
            </a:pPr>
            <a:r>
              <a:rPr lang="en-US" sz="1200" b="1" dirty="0">
                <a:solidFill>
                  <a:srgbClr val="0F172A"/>
                </a:solidFill>
                <a:latin typeface="Cambria" pitchFamily="34" charset="0"/>
                <a:ea typeface="Cambria" pitchFamily="34" charset="-122"/>
                <a:cs typeface="Cambria" pitchFamily="34" charset="-120"/>
              </a:rPr>
              <a:t>How a Volume Works</a:t>
            </a:r>
            <a:endParaRPr lang="en-US" sz="1200" dirty="0"/>
          </a:p>
        </p:txBody>
      </p:sp>
      <p:sp>
        <p:nvSpPr>
          <p:cNvPr id="10" name="Shape 8"/>
          <p:cNvSpPr/>
          <p:nvPr/>
        </p:nvSpPr>
        <p:spPr>
          <a:xfrm>
            <a:off x="320040" y="2304288"/>
            <a:ext cx="3291840" cy="1965960"/>
          </a:xfrm>
          <a:prstGeom prst="roundRect">
            <a:avLst>
              <a:gd name="adj" fmla="val 4651"/>
            </a:avLst>
          </a:prstGeom>
          <a:solidFill>
            <a:srgbClr val="F1F5F9"/>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75488" y="2395728"/>
            <a:ext cx="2971800" cy="274320"/>
          </a:xfrm>
          <a:prstGeom prst="rect">
            <a:avLst/>
          </a:prstGeom>
          <a:noFill/>
          <a:ln/>
        </p:spPr>
        <p:txBody>
          <a:bodyPr wrap="square" lIns="0" tIns="0" rIns="0" bIns="0" rtlCol="0" anchor="ctr"/>
          <a:lstStyle/>
          <a:p>
            <a:pPr indent="0" marL="0">
              <a:buNone/>
            </a:pPr>
            <a:r>
              <a:rPr lang="en-US" sz="1050" b="1" dirty="0">
                <a:solidFill>
                  <a:srgbClr val="475569"/>
                </a:solidFill>
                <a:latin typeface="Arial" pitchFamily="34" charset="0"/>
                <a:ea typeface="Arial" pitchFamily="34" charset="-122"/>
                <a:cs typeface="Arial" pitchFamily="34" charset="-120"/>
              </a:rPr>
              <a:t>🖥️  Host Machine</a:t>
            </a:r>
            <a:endParaRPr lang="en-US" sz="1050" dirty="0"/>
          </a:p>
        </p:txBody>
      </p:sp>
      <p:sp>
        <p:nvSpPr>
          <p:cNvPr id="12" name="Shape 10"/>
          <p:cNvSpPr/>
          <p:nvPr/>
        </p:nvSpPr>
        <p:spPr>
          <a:xfrm>
            <a:off x="475488" y="2761488"/>
            <a:ext cx="2788920" cy="1170432"/>
          </a:xfrm>
          <a:prstGeom prst="roundRect">
            <a:avLst>
              <a:gd name="adj" fmla="val 7813"/>
            </a:avLst>
          </a:prstGeom>
          <a:solidFill>
            <a:srgbClr val="ECFDF5"/>
          </a:solidFill>
          <a:ln w="12700">
            <a:solidFill>
              <a:srgbClr val="6EE7B7"/>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621792" y="2834640"/>
            <a:ext cx="2487168" cy="274320"/>
          </a:xfrm>
          <a:prstGeom prst="rect">
            <a:avLst/>
          </a:prstGeom>
          <a:noFill/>
          <a:ln/>
        </p:spPr>
        <p:txBody>
          <a:bodyPr wrap="square" lIns="0" tIns="0" rIns="0" bIns="0" rtlCol="0" anchor="ctr"/>
          <a:lstStyle/>
          <a:p>
            <a:pPr indent="0" marL="0">
              <a:buNone/>
            </a:pPr>
            <a:r>
              <a:rPr lang="en-US" sz="1000" b="1" dirty="0">
                <a:solidFill>
                  <a:srgbClr val="059669"/>
                </a:solidFill>
                <a:latin typeface="Arial" pitchFamily="34" charset="0"/>
                <a:ea typeface="Arial" pitchFamily="34" charset="-122"/>
                <a:cs typeface="Arial" pitchFamily="34" charset="-120"/>
              </a:rPr>
              <a:t>📁  Docker Volume</a:t>
            </a:r>
            <a:endParaRPr lang="en-US" sz="1000" dirty="0"/>
          </a:p>
        </p:txBody>
      </p:sp>
      <p:sp>
        <p:nvSpPr>
          <p:cNvPr id="14" name="Text 12"/>
          <p:cNvSpPr/>
          <p:nvPr/>
        </p:nvSpPr>
        <p:spPr>
          <a:xfrm>
            <a:off x="621792" y="3127248"/>
            <a:ext cx="2487168" cy="256032"/>
          </a:xfrm>
          <a:prstGeom prst="rect">
            <a:avLst/>
          </a:prstGeom>
          <a:noFill/>
          <a:ln/>
        </p:spPr>
        <p:txBody>
          <a:bodyPr wrap="square" lIns="0" tIns="0" rIns="0" bIns="0" rtlCol="0" anchor="ctr"/>
          <a:lstStyle/>
          <a:p>
            <a:pPr indent="0" marL="0">
              <a:buNone/>
            </a:pPr>
            <a:r>
              <a:rPr lang="en-US" sz="850" dirty="0">
                <a:solidFill>
                  <a:srgbClr val="94A3B8"/>
                </a:solidFill>
                <a:latin typeface="Courier New" pitchFamily="34" charset="0"/>
                <a:ea typeface="Courier New" pitchFamily="34" charset="-122"/>
                <a:cs typeface="Courier New" pitchFamily="34" charset="-120"/>
              </a:rPr>
              <a:t>/var/lib/docker/volumes/...</a:t>
            </a:r>
            <a:endParaRPr lang="en-US" sz="850" dirty="0"/>
          </a:p>
        </p:txBody>
      </p:sp>
      <p:sp>
        <p:nvSpPr>
          <p:cNvPr id="15" name="Text 13"/>
          <p:cNvSpPr/>
          <p:nvPr/>
        </p:nvSpPr>
        <p:spPr>
          <a:xfrm>
            <a:off x="621792" y="3401568"/>
            <a:ext cx="2487168" cy="43891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Data persists here</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even after container removed</a:t>
            </a:r>
            <a:endParaRPr lang="en-US" sz="950" dirty="0"/>
          </a:p>
        </p:txBody>
      </p:sp>
      <p:sp>
        <p:nvSpPr>
          <p:cNvPr id="16" name="Text 14"/>
          <p:cNvSpPr/>
          <p:nvPr/>
        </p:nvSpPr>
        <p:spPr>
          <a:xfrm>
            <a:off x="3703320" y="3017520"/>
            <a:ext cx="457200" cy="457200"/>
          </a:xfrm>
          <a:prstGeom prst="rect">
            <a:avLst/>
          </a:prstGeom>
          <a:noFill/>
          <a:ln/>
        </p:spPr>
        <p:txBody>
          <a:bodyPr wrap="square" lIns="0" tIns="0" rIns="0" bIns="0" rtlCol="0" anchor="ctr"/>
          <a:lstStyle/>
          <a:p>
            <a:pPr algn="ctr" indent="0" marL="0">
              <a:buNone/>
            </a:pPr>
            <a:r>
              <a:rPr lang="en-US" sz="2200" dirty="0">
                <a:solidFill>
                  <a:srgbClr val="059669"/>
                </a:solidFill>
              </a:rPr>
              <a:t>↔</a:t>
            </a:r>
            <a:endParaRPr lang="en-US" sz="2200" dirty="0"/>
          </a:p>
        </p:txBody>
      </p:sp>
      <p:sp>
        <p:nvSpPr>
          <p:cNvPr id="17" name="Text 15"/>
          <p:cNvSpPr/>
          <p:nvPr/>
        </p:nvSpPr>
        <p:spPr>
          <a:xfrm>
            <a:off x="3611880" y="3493008"/>
            <a:ext cx="640080" cy="228600"/>
          </a:xfrm>
          <a:prstGeom prst="rect">
            <a:avLst/>
          </a:prstGeom>
          <a:noFill/>
          <a:ln/>
        </p:spPr>
        <p:txBody>
          <a:bodyPr wrap="square" lIns="0" tIns="0" rIns="0" bIns="0" rtlCol="0" anchor="ctr"/>
          <a:lstStyle/>
          <a:p>
            <a:pPr algn="ctr" indent="0" marL="0">
              <a:buNone/>
            </a:pPr>
            <a:r>
              <a:rPr lang="en-US" sz="800" dirty="0">
                <a:solidFill>
                  <a:srgbClr val="94A3B8"/>
                </a:solidFill>
                <a:latin typeface="Arial" pitchFamily="34" charset="0"/>
                <a:ea typeface="Arial" pitchFamily="34" charset="-122"/>
                <a:cs typeface="Arial" pitchFamily="34" charset="-120"/>
              </a:rPr>
              <a:t>mounted</a:t>
            </a:r>
            <a:endParaRPr lang="en-US" sz="800" dirty="0"/>
          </a:p>
        </p:txBody>
      </p:sp>
      <p:sp>
        <p:nvSpPr>
          <p:cNvPr id="18" name="Shape 16"/>
          <p:cNvSpPr/>
          <p:nvPr/>
        </p:nvSpPr>
        <p:spPr>
          <a:xfrm>
            <a:off x="4251960" y="2304288"/>
            <a:ext cx="3291840" cy="1965960"/>
          </a:xfrm>
          <a:prstGeom prst="roundRect">
            <a:avLst>
              <a:gd name="adj" fmla="val 4651"/>
            </a:avLst>
          </a:prstGeom>
          <a:solidFill>
            <a:srgbClr val="E0F7FE"/>
          </a:solidFill>
          <a:ln w="12700">
            <a:solidFill>
              <a:srgbClr val="99D9F0"/>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4407408" y="2395728"/>
            <a:ext cx="2971800" cy="274320"/>
          </a:xfrm>
          <a:prstGeom prst="rect">
            <a:avLst/>
          </a:prstGeom>
          <a:noFill/>
          <a:ln/>
        </p:spPr>
        <p:txBody>
          <a:bodyPr wrap="square" lIns="0" tIns="0" rIns="0" bIns="0" rtlCol="0" anchor="ctr"/>
          <a:lstStyle/>
          <a:p>
            <a:pPr indent="0" marL="0">
              <a:buNone/>
            </a:pPr>
            <a:r>
              <a:rPr lang="en-US" sz="1050" b="1" dirty="0">
                <a:solidFill>
                  <a:srgbClr val="0DB7ED"/>
                </a:solidFill>
                <a:latin typeface="Arial" pitchFamily="34" charset="0"/>
                <a:ea typeface="Arial" pitchFamily="34" charset="-122"/>
                <a:cs typeface="Arial" pitchFamily="34" charset="-120"/>
              </a:rPr>
              <a:t>🐳  Container</a:t>
            </a:r>
            <a:endParaRPr lang="en-US" sz="1050" dirty="0"/>
          </a:p>
        </p:txBody>
      </p:sp>
      <p:sp>
        <p:nvSpPr>
          <p:cNvPr id="20" name="Shape 18"/>
          <p:cNvSpPr/>
          <p:nvPr/>
        </p:nvSpPr>
        <p:spPr>
          <a:xfrm>
            <a:off x="4407408" y="2761488"/>
            <a:ext cx="2788920" cy="1170432"/>
          </a:xfrm>
          <a:prstGeom prst="roundRect">
            <a:avLst>
              <a:gd name="adj" fmla="val 7813"/>
            </a:avLst>
          </a:prstGeom>
          <a:solidFill>
            <a:srgbClr val="FFFFFF"/>
          </a:solidFill>
          <a:ln w="12700">
            <a:solidFill>
              <a:srgbClr val="0DB7ED"/>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4553712" y="2834640"/>
            <a:ext cx="2487168" cy="274320"/>
          </a:xfrm>
          <a:prstGeom prst="rect">
            <a:avLst/>
          </a:prstGeom>
          <a:noFill/>
          <a:ln/>
        </p:spPr>
        <p:txBody>
          <a:bodyPr wrap="square" lIns="0" tIns="0" rIns="0" bIns="0" rtlCol="0" anchor="ctr"/>
          <a:lstStyle/>
          <a:p>
            <a:pPr indent="0" marL="0">
              <a:buNone/>
            </a:pPr>
            <a:r>
              <a:rPr lang="en-US" sz="1000" b="1" dirty="0">
                <a:solidFill>
                  <a:srgbClr val="0DB7ED"/>
                </a:solidFill>
                <a:latin typeface="Arial" pitchFamily="34" charset="0"/>
                <a:ea typeface="Arial" pitchFamily="34" charset="-122"/>
                <a:cs typeface="Arial" pitchFamily="34" charset="-120"/>
              </a:rPr>
              <a:t>📁  /data</a:t>
            </a:r>
            <a:endParaRPr lang="en-US" sz="1000" dirty="0"/>
          </a:p>
        </p:txBody>
      </p:sp>
      <p:sp>
        <p:nvSpPr>
          <p:cNvPr id="22" name="Text 20"/>
          <p:cNvSpPr/>
          <p:nvPr/>
        </p:nvSpPr>
        <p:spPr>
          <a:xfrm>
            <a:off x="4553712" y="3127248"/>
            <a:ext cx="2487168" cy="25603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App writes data here</a:t>
            </a:r>
            <a:endParaRPr lang="en-US" sz="950" dirty="0"/>
          </a:p>
        </p:txBody>
      </p:sp>
      <p:sp>
        <p:nvSpPr>
          <p:cNvPr id="23" name="Text 21"/>
          <p:cNvSpPr/>
          <p:nvPr/>
        </p:nvSpPr>
        <p:spPr>
          <a:xfrm>
            <a:off x="4553712" y="3401568"/>
            <a:ext cx="2487168" cy="438912"/>
          </a:xfrm>
          <a:prstGeom prst="rect">
            <a:avLst/>
          </a:prstGeom>
          <a:noFill/>
          <a:ln/>
        </p:spPr>
        <p:txBody>
          <a:bodyPr wrap="square" lIns="0" tIns="0" rIns="0" bIns="0" rtlCol="0" anchor="ctr"/>
          <a:lstStyle/>
          <a:p>
            <a:pPr indent="0" marL="0">
              <a:buNone/>
            </a:pPr>
            <a:r>
              <a:rPr lang="en-US" sz="950" dirty="0">
                <a:solidFill>
                  <a:srgbClr val="475569"/>
                </a:solidFill>
                <a:latin typeface="Arial" pitchFamily="34" charset="0"/>
                <a:ea typeface="Arial" pitchFamily="34" charset="-122"/>
                <a:cs typeface="Arial" pitchFamily="34" charset="-120"/>
              </a:rPr>
              <a:t>Container removed →</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volume stays safe</a:t>
            </a:r>
            <a:endParaRPr lang="en-US" sz="950" dirty="0"/>
          </a:p>
        </p:txBody>
      </p:sp>
      <p:sp>
        <p:nvSpPr>
          <p:cNvPr id="24" name="Text 22"/>
          <p:cNvSpPr/>
          <p:nvPr/>
        </p:nvSpPr>
        <p:spPr>
          <a:xfrm>
            <a:off x="320040" y="4407408"/>
            <a:ext cx="411480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  Database files — PostgreSQL, MySQL, MongoDB data</a:t>
            </a:r>
            <a:endParaRPr lang="en-US" sz="1000" dirty="0"/>
          </a:p>
        </p:txBody>
      </p:sp>
      <p:sp>
        <p:nvSpPr>
          <p:cNvPr id="25" name="Text 23"/>
          <p:cNvSpPr/>
          <p:nvPr/>
        </p:nvSpPr>
        <p:spPr>
          <a:xfrm>
            <a:off x="4709160" y="4407408"/>
            <a:ext cx="411480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  User uploads — Images, documents, media files</a:t>
            </a:r>
            <a:endParaRPr lang="en-US" sz="1000" dirty="0"/>
          </a:p>
        </p:txBody>
      </p:sp>
      <p:sp>
        <p:nvSpPr>
          <p:cNvPr id="26" name="Text 24"/>
          <p:cNvSpPr/>
          <p:nvPr/>
        </p:nvSpPr>
        <p:spPr>
          <a:xfrm>
            <a:off x="320040" y="4727448"/>
            <a:ext cx="411480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  Application logs — Logs that must survive restarts</a:t>
            </a:r>
            <a:endParaRPr lang="en-US" sz="1000" dirty="0"/>
          </a:p>
        </p:txBody>
      </p:sp>
      <p:sp>
        <p:nvSpPr>
          <p:cNvPr id="27" name="Text 25"/>
          <p:cNvSpPr/>
          <p:nvPr/>
        </p:nvSpPr>
        <p:spPr>
          <a:xfrm>
            <a:off x="4709160" y="4727448"/>
            <a:ext cx="411480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  Config files — Inject config without rebuilding</a:t>
            </a:r>
            <a:endParaRPr lang="en-US" sz="1000" dirty="0"/>
          </a:p>
        </p:txBody>
      </p:sp>
      <p:sp>
        <p:nvSpPr>
          <p:cNvPr id="28" name="Shape 26"/>
          <p:cNvSpPr/>
          <p:nvPr/>
        </p:nvSpPr>
        <p:spPr>
          <a:xfrm>
            <a:off x="0" y="4846320"/>
            <a:ext cx="9144000" cy="297180"/>
          </a:xfrm>
          <a:prstGeom prst="rect">
            <a:avLst/>
          </a:prstGeom>
          <a:solidFill>
            <a:srgbClr val="0F172A"/>
          </a:solidFill>
          <a:ln w="12700">
            <a:solidFill>
              <a:srgbClr val="0F172A"/>
            </a:solidFill>
            <a:prstDash val="solid"/>
          </a:ln>
        </p:spPr>
      </p:sp>
      <p:sp>
        <p:nvSpPr>
          <p:cNvPr id="29" name="Text 27"/>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06: Volumes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VOLUME TYPES &amp; COMMANDS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06  •  Volumes</a:t>
            </a:r>
            <a:endParaRPr lang="en-US" sz="950" dirty="0"/>
          </a:p>
        </p:txBody>
      </p:sp>
      <p:sp>
        <p:nvSpPr>
          <p:cNvPr id="6" name="Shape 4"/>
          <p:cNvSpPr/>
          <p:nvPr/>
        </p:nvSpPr>
        <p:spPr>
          <a:xfrm>
            <a:off x="320040" y="868680"/>
            <a:ext cx="8503920" cy="1207008"/>
          </a:xfrm>
          <a:prstGeom prst="roundRect">
            <a:avLst>
              <a:gd name="adj" fmla="val 7576"/>
            </a:avLst>
          </a:prstGeom>
          <a:solidFill>
            <a:srgbClr val="ECFDF5"/>
          </a:solidFill>
          <a:ln w="12700">
            <a:solidFill>
              <a:srgbClr val="6EE7B7"/>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75488" y="960120"/>
            <a:ext cx="1389888" cy="320040"/>
          </a:xfrm>
          <a:prstGeom prst="roundRect">
            <a:avLst>
              <a:gd name="adj" fmla="val 17143"/>
            </a:avLst>
          </a:prstGeom>
          <a:solidFill>
            <a:srgbClr val="059669"/>
          </a:solidFill>
          <a:ln w="12700">
            <a:solidFill>
              <a:srgbClr val="059669"/>
            </a:solidFill>
            <a:prstDash val="solid"/>
          </a:ln>
        </p:spPr>
      </p:sp>
      <p:sp>
        <p:nvSpPr>
          <p:cNvPr id="8" name="Text 6"/>
          <p:cNvSpPr/>
          <p:nvPr/>
        </p:nvSpPr>
        <p:spPr>
          <a:xfrm>
            <a:off x="475488" y="960120"/>
            <a:ext cx="1389888"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Recommended</a:t>
            </a:r>
            <a:endParaRPr lang="en-US" sz="1000" dirty="0"/>
          </a:p>
        </p:txBody>
      </p:sp>
      <p:sp>
        <p:nvSpPr>
          <p:cNvPr id="9" name="Text 7"/>
          <p:cNvSpPr/>
          <p:nvPr/>
        </p:nvSpPr>
        <p:spPr>
          <a:xfrm>
            <a:off x="1993392" y="960120"/>
            <a:ext cx="6675120" cy="320040"/>
          </a:xfrm>
          <a:prstGeom prst="rect">
            <a:avLst/>
          </a:prstGeom>
          <a:noFill/>
          <a:ln/>
        </p:spPr>
        <p:txBody>
          <a:bodyPr wrap="square" lIns="0" tIns="0" rIns="0" bIns="0" rtlCol="0" anchor="ctr"/>
          <a:lstStyle/>
          <a:p>
            <a:pPr indent="0" marL="0">
              <a:buNone/>
            </a:pPr>
            <a:r>
              <a:rPr lang="en-US" sz="1300" b="1" dirty="0">
                <a:solidFill>
                  <a:srgbClr val="059669"/>
                </a:solidFill>
                <a:latin typeface="Cambria" pitchFamily="34" charset="0"/>
                <a:ea typeface="Cambria" pitchFamily="34" charset="-122"/>
                <a:cs typeface="Cambria" pitchFamily="34" charset="-120"/>
              </a:rPr>
              <a:t>Named Volume</a:t>
            </a:r>
            <a:endParaRPr lang="en-US" sz="1300" dirty="0"/>
          </a:p>
        </p:txBody>
      </p:sp>
      <p:sp>
        <p:nvSpPr>
          <p:cNvPr id="10" name="Text 8"/>
          <p:cNvSpPr/>
          <p:nvPr/>
        </p:nvSpPr>
        <p:spPr>
          <a:xfrm>
            <a:off x="475488" y="1344168"/>
            <a:ext cx="5120640" cy="34747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Docker manages the storage location. Easiest to use and most portable.</a:t>
            </a:r>
            <a:endParaRPr lang="en-US" sz="1050" dirty="0"/>
          </a:p>
        </p:txBody>
      </p:sp>
      <p:sp>
        <p:nvSpPr>
          <p:cNvPr id="11" name="Shape 9"/>
          <p:cNvSpPr/>
          <p:nvPr/>
        </p:nvSpPr>
        <p:spPr>
          <a:xfrm>
            <a:off x="5687568" y="1252728"/>
            <a:ext cx="2999232" cy="658368"/>
          </a:xfrm>
          <a:prstGeom prst="roundRect">
            <a:avLst>
              <a:gd name="adj" fmla="val 13889"/>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5806440" y="1344168"/>
            <a:ext cx="2761488" cy="475488"/>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docker run -v mydata:/app/data nginx</a:t>
            </a:r>
            <a:endParaRPr lang="en-US" sz="850" dirty="0"/>
          </a:p>
        </p:txBody>
      </p:sp>
      <p:sp>
        <p:nvSpPr>
          <p:cNvPr id="13" name="Shape 11"/>
          <p:cNvSpPr/>
          <p:nvPr/>
        </p:nvSpPr>
        <p:spPr>
          <a:xfrm>
            <a:off x="320040" y="2194560"/>
            <a:ext cx="8503920" cy="1207008"/>
          </a:xfrm>
          <a:prstGeom prst="roundRect">
            <a:avLst>
              <a:gd name="adj" fmla="val 7576"/>
            </a:avLst>
          </a:prstGeom>
          <a:solidFill>
            <a:srgbClr val="EFF6FF"/>
          </a:solidFill>
          <a:ln w="12700">
            <a:solidFill>
              <a:srgbClr val="BFDBFE"/>
            </a:solidFill>
            <a:prstDash val="solid"/>
          </a:ln>
          <a:effectLst>
            <a:outerShdw sx="100000" sy="100000" kx="0" ky="0" algn="bl" rotWithShape="0" blurRad="101600" dist="38100" dir="2700000">
              <a:srgbClr val="000000">
                <a:alpha val="12000"/>
              </a:srgbClr>
            </a:outerShdw>
          </a:effectLst>
        </p:spPr>
      </p:sp>
      <p:sp>
        <p:nvSpPr>
          <p:cNvPr id="14" name="Shape 12"/>
          <p:cNvSpPr/>
          <p:nvPr/>
        </p:nvSpPr>
        <p:spPr>
          <a:xfrm>
            <a:off x="475488" y="2286000"/>
            <a:ext cx="1389888" cy="320040"/>
          </a:xfrm>
          <a:prstGeom prst="roundRect">
            <a:avLst>
              <a:gd name="adj" fmla="val 17143"/>
            </a:avLst>
          </a:prstGeom>
          <a:solidFill>
            <a:srgbClr val="2563EB"/>
          </a:solidFill>
          <a:ln w="12700">
            <a:solidFill>
              <a:srgbClr val="2563EB"/>
            </a:solidFill>
            <a:prstDash val="solid"/>
          </a:ln>
        </p:spPr>
      </p:sp>
      <p:sp>
        <p:nvSpPr>
          <p:cNvPr id="15" name="Text 13"/>
          <p:cNvSpPr/>
          <p:nvPr/>
        </p:nvSpPr>
        <p:spPr>
          <a:xfrm>
            <a:off x="475488" y="2286000"/>
            <a:ext cx="1389888"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Development</a:t>
            </a:r>
            <a:endParaRPr lang="en-US" sz="1000" dirty="0"/>
          </a:p>
        </p:txBody>
      </p:sp>
      <p:sp>
        <p:nvSpPr>
          <p:cNvPr id="16" name="Text 14"/>
          <p:cNvSpPr/>
          <p:nvPr/>
        </p:nvSpPr>
        <p:spPr>
          <a:xfrm>
            <a:off x="1993392" y="2286000"/>
            <a:ext cx="6675120" cy="320040"/>
          </a:xfrm>
          <a:prstGeom prst="rect">
            <a:avLst/>
          </a:prstGeom>
          <a:noFill/>
          <a:ln/>
        </p:spPr>
        <p:txBody>
          <a:bodyPr wrap="square" lIns="0" tIns="0" rIns="0" bIns="0" rtlCol="0" anchor="ctr"/>
          <a:lstStyle/>
          <a:p>
            <a:pPr indent="0" marL="0">
              <a:buNone/>
            </a:pPr>
            <a:r>
              <a:rPr lang="en-US" sz="1300" b="1" dirty="0">
                <a:solidFill>
                  <a:srgbClr val="2563EB"/>
                </a:solidFill>
                <a:latin typeface="Cambria" pitchFamily="34" charset="0"/>
                <a:ea typeface="Cambria" pitchFamily="34" charset="-122"/>
                <a:cs typeface="Cambria" pitchFamily="34" charset="-120"/>
              </a:rPr>
              <a:t>Bind Mount</a:t>
            </a:r>
            <a:endParaRPr lang="en-US" sz="1300" dirty="0"/>
          </a:p>
        </p:txBody>
      </p:sp>
      <p:sp>
        <p:nvSpPr>
          <p:cNvPr id="17" name="Text 15"/>
          <p:cNvSpPr/>
          <p:nvPr/>
        </p:nvSpPr>
        <p:spPr>
          <a:xfrm>
            <a:off x="475488" y="2670048"/>
            <a:ext cx="5120640" cy="34747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Map a specific folder on your machine into the container. Great for local dev — code changes reflect instantly without rebuilding.</a:t>
            </a:r>
            <a:endParaRPr lang="en-US" sz="1050" dirty="0"/>
          </a:p>
        </p:txBody>
      </p:sp>
      <p:sp>
        <p:nvSpPr>
          <p:cNvPr id="18" name="Shape 16"/>
          <p:cNvSpPr/>
          <p:nvPr/>
        </p:nvSpPr>
        <p:spPr>
          <a:xfrm>
            <a:off x="5687568" y="2578608"/>
            <a:ext cx="2999232" cy="658368"/>
          </a:xfrm>
          <a:prstGeom prst="roundRect">
            <a:avLst>
              <a:gd name="adj" fmla="val 13889"/>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5806440" y="2670048"/>
            <a:ext cx="2761488" cy="475488"/>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docker run -v /home/user/app:/app nginx</a:t>
            </a:r>
            <a:endParaRPr lang="en-US" sz="850" dirty="0"/>
          </a:p>
        </p:txBody>
      </p:sp>
      <p:sp>
        <p:nvSpPr>
          <p:cNvPr id="20" name="Shape 18"/>
          <p:cNvSpPr/>
          <p:nvPr/>
        </p:nvSpPr>
        <p:spPr>
          <a:xfrm>
            <a:off x="320040" y="3520440"/>
            <a:ext cx="8503920" cy="1207008"/>
          </a:xfrm>
          <a:prstGeom prst="roundRect">
            <a:avLst>
              <a:gd name="adj" fmla="val 7576"/>
            </a:avLst>
          </a:prstGeom>
          <a:solidFill>
            <a:srgbClr val="FEF3C7"/>
          </a:solidFill>
          <a:ln w="12700">
            <a:solidFill>
              <a:srgbClr val="FCD34D"/>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475488" y="3611880"/>
            <a:ext cx="1389888" cy="320040"/>
          </a:xfrm>
          <a:prstGeom prst="roundRect">
            <a:avLst>
              <a:gd name="adj" fmla="val 17143"/>
            </a:avLst>
          </a:prstGeom>
          <a:solidFill>
            <a:srgbClr val="D97706"/>
          </a:solidFill>
          <a:ln w="12700">
            <a:solidFill>
              <a:srgbClr val="D97706"/>
            </a:solidFill>
            <a:prstDash val="solid"/>
          </a:ln>
        </p:spPr>
      </p:sp>
      <p:sp>
        <p:nvSpPr>
          <p:cNvPr id="22" name="Text 20"/>
          <p:cNvSpPr/>
          <p:nvPr/>
        </p:nvSpPr>
        <p:spPr>
          <a:xfrm>
            <a:off x="475488" y="3611880"/>
            <a:ext cx="1389888"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Temporary</a:t>
            </a:r>
            <a:endParaRPr lang="en-US" sz="1000" dirty="0"/>
          </a:p>
        </p:txBody>
      </p:sp>
      <p:sp>
        <p:nvSpPr>
          <p:cNvPr id="23" name="Text 21"/>
          <p:cNvSpPr/>
          <p:nvPr/>
        </p:nvSpPr>
        <p:spPr>
          <a:xfrm>
            <a:off x="1993392" y="3611880"/>
            <a:ext cx="6675120" cy="320040"/>
          </a:xfrm>
          <a:prstGeom prst="rect">
            <a:avLst/>
          </a:prstGeom>
          <a:noFill/>
          <a:ln/>
        </p:spPr>
        <p:txBody>
          <a:bodyPr wrap="square" lIns="0" tIns="0" rIns="0" bIns="0" rtlCol="0" anchor="ctr"/>
          <a:lstStyle/>
          <a:p>
            <a:pPr indent="0" marL="0">
              <a:buNone/>
            </a:pPr>
            <a:r>
              <a:rPr lang="en-US" sz="1300" b="1" dirty="0">
                <a:solidFill>
                  <a:srgbClr val="D97706"/>
                </a:solidFill>
                <a:latin typeface="Cambria" pitchFamily="34" charset="0"/>
                <a:ea typeface="Cambria" pitchFamily="34" charset="-122"/>
                <a:cs typeface="Cambria" pitchFamily="34" charset="-120"/>
              </a:rPr>
              <a:t>tmpfs Mount</a:t>
            </a:r>
            <a:endParaRPr lang="en-US" sz="1300" dirty="0"/>
          </a:p>
        </p:txBody>
      </p:sp>
      <p:sp>
        <p:nvSpPr>
          <p:cNvPr id="24" name="Text 22"/>
          <p:cNvSpPr/>
          <p:nvPr/>
        </p:nvSpPr>
        <p:spPr>
          <a:xfrm>
            <a:off x="475488" y="3995928"/>
            <a:ext cx="5120640" cy="347472"/>
          </a:xfrm>
          <a:prstGeom prst="rect">
            <a:avLst/>
          </a:prstGeom>
          <a:noFill/>
          <a:ln/>
        </p:spPr>
        <p:txBody>
          <a:bodyPr wrap="square" lIns="0" tIns="0" rIns="0" bIns="0" rtlCol="0" anchor="ctr"/>
          <a:lstStyle/>
          <a:p>
            <a:pPr indent="0" marL="0">
              <a:buNone/>
            </a:pPr>
            <a:r>
              <a:rPr lang="en-US" sz="1050" dirty="0">
                <a:solidFill>
                  <a:srgbClr val="475569"/>
                </a:solidFill>
                <a:latin typeface="Arial" pitchFamily="34" charset="0"/>
                <a:ea typeface="Arial" pitchFamily="34" charset="-122"/>
                <a:cs typeface="Arial" pitchFamily="34" charset="-120"/>
              </a:rPr>
              <a:t>Stored in memory only. Fast but lost on container stop. Use for sensitive data like tokens that must not be written to disk.</a:t>
            </a:r>
            <a:endParaRPr lang="en-US" sz="1050" dirty="0"/>
          </a:p>
        </p:txBody>
      </p:sp>
      <p:sp>
        <p:nvSpPr>
          <p:cNvPr id="25" name="Shape 23"/>
          <p:cNvSpPr/>
          <p:nvPr/>
        </p:nvSpPr>
        <p:spPr>
          <a:xfrm>
            <a:off x="5687568" y="3904488"/>
            <a:ext cx="2999232" cy="658368"/>
          </a:xfrm>
          <a:prstGeom prst="roundRect">
            <a:avLst>
              <a:gd name="adj" fmla="val 13889"/>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26" name="Text 24"/>
          <p:cNvSpPr/>
          <p:nvPr/>
        </p:nvSpPr>
        <p:spPr>
          <a:xfrm>
            <a:off x="5806440" y="3995928"/>
            <a:ext cx="2761488" cy="475488"/>
          </a:xfrm>
          <a:prstGeom prst="rect">
            <a:avLst/>
          </a:prstGeom>
          <a:noFill/>
          <a:ln/>
        </p:spPr>
        <p:txBody>
          <a:bodyPr wrap="square" lIns="0" tIns="0" rIns="0" bIns="0" rtlCol="0" anchor="ctr"/>
          <a:lstStyle/>
          <a:p>
            <a:pPr indent="0" marL="0">
              <a:buNone/>
            </a:pPr>
            <a:r>
              <a:rPr lang="en-US" sz="850" dirty="0">
                <a:solidFill>
                  <a:srgbClr val="6EE7B7"/>
                </a:solidFill>
                <a:latin typeface="Courier New" pitchFamily="34" charset="0"/>
                <a:ea typeface="Courier New" pitchFamily="34" charset="-122"/>
                <a:cs typeface="Courier New" pitchFamily="34" charset="-120"/>
              </a:rPr>
              <a:t>docker run --tmpfs /tmp nginx</a:t>
            </a:r>
            <a:endParaRPr lang="en-US" sz="850" dirty="0"/>
          </a:p>
        </p:txBody>
      </p:sp>
      <p:sp>
        <p:nvSpPr>
          <p:cNvPr id="27" name="Shape 25"/>
          <p:cNvSpPr/>
          <p:nvPr/>
        </p:nvSpPr>
        <p:spPr>
          <a:xfrm>
            <a:off x="0" y="4846320"/>
            <a:ext cx="9144000" cy="297180"/>
          </a:xfrm>
          <a:prstGeom prst="rect">
            <a:avLst/>
          </a:prstGeom>
          <a:solidFill>
            <a:srgbClr val="0F172A"/>
          </a:solidFill>
          <a:ln w="12700">
            <a:solidFill>
              <a:srgbClr val="0F172A"/>
            </a:solidFill>
            <a:prstDash val="solid"/>
          </a:ln>
        </p:spPr>
      </p:sp>
      <p:sp>
        <p:nvSpPr>
          <p:cNvPr id="28" name="Text 26"/>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06: Volumes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VOLUME COMMANDS &amp; BEST PRACTICES</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Section 06  •  Volumes</a:t>
            </a:r>
            <a:endParaRPr lang="en-US" sz="950" dirty="0"/>
          </a:p>
        </p:txBody>
      </p:sp>
      <p:sp>
        <p:nvSpPr>
          <p:cNvPr id="6" name="Shape 4"/>
          <p:cNvSpPr/>
          <p:nvPr/>
        </p:nvSpPr>
        <p:spPr>
          <a:xfrm>
            <a:off x="320040" y="868680"/>
            <a:ext cx="8503920" cy="329184"/>
          </a:xfrm>
          <a:prstGeom prst="rect">
            <a:avLst/>
          </a:prstGeom>
          <a:solidFill>
            <a:srgbClr val="0F172A"/>
          </a:solidFill>
          <a:ln w="12700">
            <a:solidFill>
              <a:srgbClr val="0F172A"/>
            </a:solidFill>
            <a:prstDash val="solid"/>
          </a:ln>
        </p:spPr>
      </p:sp>
      <p:sp>
        <p:nvSpPr>
          <p:cNvPr id="7" name="Text 5"/>
          <p:cNvSpPr/>
          <p:nvPr/>
        </p:nvSpPr>
        <p:spPr>
          <a:xfrm>
            <a:off x="411480" y="896112"/>
            <a:ext cx="4572000"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Command</a:t>
            </a:r>
            <a:endParaRPr lang="en-US" sz="1050" dirty="0"/>
          </a:p>
        </p:txBody>
      </p:sp>
      <p:sp>
        <p:nvSpPr>
          <p:cNvPr id="8" name="Text 6"/>
          <p:cNvSpPr/>
          <p:nvPr/>
        </p:nvSpPr>
        <p:spPr>
          <a:xfrm>
            <a:off x="5029200" y="896112"/>
            <a:ext cx="3749040" cy="256032"/>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What it Does</a:t>
            </a:r>
            <a:endParaRPr lang="en-US" sz="1050" dirty="0"/>
          </a:p>
        </p:txBody>
      </p:sp>
      <p:sp>
        <p:nvSpPr>
          <p:cNvPr id="9" name="Shape 7"/>
          <p:cNvSpPr/>
          <p:nvPr/>
        </p:nvSpPr>
        <p:spPr>
          <a:xfrm>
            <a:off x="320040" y="1243584"/>
            <a:ext cx="8503920" cy="347472"/>
          </a:xfrm>
          <a:prstGeom prst="rect">
            <a:avLst/>
          </a:prstGeom>
          <a:solidFill>
            <a:srgbClr val="FFFFFF"/>
          </a:solidFill>
          <a:ln w="12700">
            <a:solidFill>
              <a:srgbClr val="E2E8F0"/>
            </a:solidFill>
            <a:prstDash val="solid"/>
          </a:ln>
        </p:spPr>
      </p:sp>
      <p:sp>
        <p:nvSpPr>
          <p:cNvPr id="10" name="Text 8"/>
          <p:cNvSpPr/>
          <p:nvPr/>
        </p:nvSpPr>
        <p:spPr>
          <a:xfrm>
            <a:off x="411480" y="1289304"/>
            <a:ext cx="457200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volume create mydata</a:t>
            </a:r>
            <a:endParaRPr lang="en-US" sz="950" dirty="0"/>
          </a:p>
        </p:txBody>
      </p:sp>
      <p:sp>
        <p:nvSpPr>
          <p:cNvPr id="11" name="Text 9"/>
          <p:cNvSpPr/>
          <p:nvPr/>
        </p:nvSpPr>
        <p:spPr>
          <a:xfrm>
            <a:off x="5029200" y="1289304"/>
            <a:ext cx="374904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Create a named volume</a:t>
            </a:r>
            <a:endParaRPr lang="en-US" sz="1000" dirty="0"/>
          </a:p>
        </p:txBody>
      </p:sp>
      <p:sp>
        <p:nvSpPr>
          <p:cNvPr id="12" name="Shape 10"/>
          <p:cNvSpPr/>
          <p:nvPr/>
        </p:nvSpPr>
        <p:spPr>
          <a:xfrm>
            <a:off x="320040" y="1627632"/>
            <a:ext cx="8503920" cy="347472"/>
          </a:xfrm>
          <a:prstGeom prst="rect">
            <a:avLst/>
          </a:prstGeom>
          <a:solidFill>
            <a:srgbClr val="F1F5F9"/>
          </a:solidFill>
          <a:ln w="12700">
            <a:solidFill>
              <a:srgbClr val="E2E8F0"/>
            </a:solidFill>
            <a:prstDash val="solid"/>
          </a:ln>
        </p:spPr>
      </p:sp>
      <p:sp>
        <p:nvSpPr>
          <p:cNvPr id="13" name="Text 11"/>
          <p:cNvSpPr/>
          <p:nvPr/>
        </p:nvSpPr>
        <p:spPr>
          <a:xfrm>
            <a:off x="411480" y="1673352"/>
            <a:ext cx="457200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volume ls</a:t>
            </a:r>
            <a:endParaRPr lang="en-US" sz="950" dirty="0"/>
          </a:p>
        </p:txBody>
      </p:sp>
      <p:sp>
        <p:nvSpPr>
          <p:cNvPr id="14" name="Text 12"/>
          <p:cNvSpPr/>
          <p:nvPr/>
        </p:nvSpPr>
        <p:spPr>
          <a:xfrm>
            <a:off x="5029200" y="1673352"/>
            <a:ext cx="374904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List all volumes</a:t>
            </a:r>
            <a:endParaRPr lang="en-US" sz="1000" dirty="0"/>
          </a:p>
        </p:txBody>
      </p:sp>
      <p:sp>
        <p:nvSpPr>
          <p:cNvPr id="15" name="Shape 13"/>
          <p:cNvSpPr/>
          <p:nvPr/>
        </p:nvSpPr>
        <p:spPr>
          <a:xfrm>
            <a:off x="320040" y="2011680"/>
            <a:ext cx="8503920" cy="347472"/>
          </a:xfrm>
          <a:prstGeom prst="rect">
            <a:avLst/>
          </a:prstGeom>
          <a:solidFill>
            <a:srgbClr val="FFFFFF"/>
          </a:solidFill>
          <a:ln w="12700">
            <a:solidFill>
              <a:srgbClr val="E2E8F0"/>
            </a:solidFill>
            <a:prstDash val="solid"/>
          </a:ln>
        </p:spPr>
      </p:sp>
      <p:sp>
        <p:nvSpPr>
          <p:cNvPr id="16" name="Text 14"/>
          <p:cNvSpPr/>
          <p:nvPr/>
        </p:nvSpPr>
        <p:spPr>
          <a:xfrm>
            <a:off x="411480" y="2057400"/>
            <a:ext cx="457200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volume inspect mydata</a:t>
            </a:r>
            <a:endParaRPr lang="en-US" sz="950" dirty="0"/>
          </a:p>
        </p:txBody>
      </p:sp>
      <p:sp>
        <p:nvSpPr>
          <p:cNvPr id="17" name="Text 15"/>
          <p:cNvSpPr/>
          <p:nvPr/>
        </p:nvSpPr>
        <p:spPr>
          <a:xfrm>
            <a:off x="5029200" y="2057400"/>
            <a:ext cx="374904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View volume details and host path</a:t>
            </a:r>
            <a:endParaRPr lang="en-US" sz="1000" dirty="0"/>
          </a:p>
        </p:txBody>
      </p:sp>
      <p:sp>
        <p:nvSpPr>
          <p:cNvPr id="18" name="Shape 16"/>
          <p:cNvSpPr/>
          <p:nvPr/>
        </p:nvSpPr>
        <p:spPr>
          <a:xfrm>
            <a:off x="320040" y="2395728"/>
            <a:ext cx="8503920" cy="347472"/>
          </a:xfrm>
          <a:prstGeom prst="rect">
            <a:avLst/>
          </a:prstGeom>
          <a:solidFill>
            <a:srgbClr val="F1F5F9"/>
          </a:solidFill>
          <a:ln w="12700">
            <a:solidFill>
              <a:srgbClr val="E2E8F0"/>
            </a:solidFill>
            <a:prstDash val="solid"/>
          </a:ln>
        </p:spPr>
      </p:sp>
      <p:sp>
        <p:nvSpPr>
          <p:cNvPr id="19" name="Text 17"/>
          <p:cNvSpPr/>
          <p:nvPr/>
        </p:nvSpPr>
        <p:spPr>
          <a:xfrm>
            <a:off x="411480" y="2441448"/>
            <a:ext cx="457200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volume rm mydata</a:t>
            </a:r>
            <a:endParaRPr lang="en-US" sz="950" dirty="0"/>
          </a:p>
        </p:txBody>
      </p:sp>
      <p:sp>
        <p:nvSpPr>
          <p:cNvPr id="20" name="Text 18"/>
          <p:cNvSpPr/>
          <p:nvPr/>
        </p:nvSpPr>
        <p:spPr>
          <a:xfrm>
            <a:off x="5029200" y="2441448"/>
            <a:ext cx="374904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Remove a volume (must be unused)</a:t>
            </a:r>
            <a:endParaRPr lang="en-US" sz="1000" dirty="0"/>
          </a:p>
        </p:txBody>
      </p:sp>
      <p:sp>
        <p:nvSpPr>
          <p:cNvPr id="21" name="Shape 19"/>
          <p:cNvSpPr/>
          <p:nvPr/>
        </p:nvSpPr>
        <p:spPr>
          <a:xfrm>
            <a:off x="320040" y="2779776"/>
            <a:ext cx="8503920" cy="347472"/>
          </a:xfrm>
          <a:prstGeom prst="rect">
            <a:avLst/>
          </a:prstGeom>
          <a:solidFill>
            <a:srgbClr val="FFFFFF"/>
          </a:solidFill>
          <a:ln w="12700">
            <a:solidFill>
              <a:srgbClr val="E2E8F0"/>
            </a:solidFill>
            <a:prstDash val="solid"/>
          </a:ln>
        </p:spPr>
      </p:sp>
      <p:sp>
        <p:nvSpPr>
          <p:cNvPr id="22" name="Text 20"/>
          <p:cNvSpPr/>
          <p:nvPr/>
        </p:nvSpPr>
        <p:spPr>
          <a:xfrm>
            <a:off x="411480" y="2825496"/>
            <a:ext cx="457200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volume prune</a:t>
            </a:r>
            <a:endParaRPr lang="en-US" sz="950" dirty="0"/>
          </a:p>
        </p:txBody>
      </p:sp>
      <p:sp>
        <p:nvSpPr>
          <p:cNvPr id="23" name="Text 21"/>
          <p:cNvSpPr/>
          <p:nvPr/>
        </p:nvSpPr>
        <p:spPr>
          <a:xfrm>
            <a:off x="5029200" y="2825496"/>
            <a:ext cx="374904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Remove all unused volumes</a:t>
            </a:r>
            <a:endParaRPr lang="en-US" sz="1000" dirty="0"/>
          </a:p>
        </p:txBody>
      </p:sp>
      <p:sp>
        <p:nvSpPr>
          <p:cNvPr id="24" name="Shape 22"/>
          <p:cNvSpPr/>
          <p:nvPr/>
        </p:nvSpPr>
        <p:spPr>
          <a:xfrm>
            <a:off x="320040" y="3163824"/>
            <a:ext cx="8503920" cy="347472"/>
          </a:xfrm>
          <a:prstGeom prst="rect">
            <a:avLst/>
          </a:prstGeom>
          <a:solidFill>
            <a:srgbClr val="F1F5F9"/>
          </a:solidFill>
          <a:ln w="12700">
            <a:solidFill>
              <a:srgbClr val="E2E8F0"/>
            </a:solidFill>
            <a:prstDash val="solid"/>
          </a:ln>
        </p:spPr>
      </p:sp>
      <p:sp>
        <p:nvSpPr>
          <p:cNvPr id="25" name="Text 23"/>
          <p:cNvSpPr/>
          <p:nvPr/>
        </p:nvSpPr>
        <p:spPr>
          <a:xfrm>
            <a:off x="411480" y="3209544"/>
            <a:ext cx="457200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run -v mydata:/app/data myapp</a:t>
            </a:r>
            <a:endParaRPr lang="en-US" sz="950" dirty="0"/>
          </a:p>
        </p:txBody>
      </p:sp>
      <p:sp>
        <p:nvSpPr>
          <p:cNvPr id="26" name="Text 24"/>
          <p:cNvSpPr/>
          <p:nvPr/>
        </p:nvSpPr>
        <p:spPr>
          <a:xfrm>
            <a:off x="5029200" y="3209544"/>
            <a:ext cx="374904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Mount named volume into container</a:t>
            </a:r>
            <a:endParaRPr lang="en-US" sz="1000" dirty="0"/>
          </a:p>
        </p:txBody>
      </p:sp>
      <p:sp>
        <p:nvSpPr>
          <p:cNvPr id="27" name="Shape 25"/>
          <p:cNvSpPr/>
          <p:nvPr/>
        </p:nvSpPr>
        <p:spPr>
          <a:xfrm>
            <a:off x="320040" y="3547872"/>
            <a:ext cx="8503920" cy="347472"/>
          </a:xfrm>
          <a:prstGeom prst="rect">
            <a:avLst/>
          </a:prstGeom>
          <a:solidFill>
            <a:srgbClr val="FFFFFF"/>
          </a:solidFill>
          <a:ln w="12700">
            <a:solidFill>
              <a:srgbClr val="E2E8F0"/>
            </a:solidFill>
            <a:prstDash val="solid"/>
          </a:ln>
        </p:spPr>
      </p:sp>
      <p:sp>
        <p:nvSpPr>
          <p:cNvPr id="28" name="Text 26"/>
          <p:cNvSpPr/>
          <p:nvPr/>
        </p:nvSpPr>
        <p:spPr>
          <a:xfrm>
            <a:off x="411480" y="3593592"/>
            <a:ext cx="4572000" cy="256032"/>
          </a:xfrm>
          <a:prstGeom prst="rect">
            <a:avLst/>
          </a:prstGeom>
          <a:noFill/>
          <a:ln/>
        </p:spPr>
        <p:txBody>
          <a:bodyPr wrap="square" lIns="0" tIns="0" rIns="0" bIns="0" rtlCol="0" anchor="ctr"/>
          <a:lstStyle/>
          <a:p>
            <a:pPr indent="0" marL="0">
              <a:buNone/>
            </a:pPr>
            <a:r>
              <a:rPr lang="en-US" sz="950" dirty="0">
                <a:solidFill>
                  <a:srgbClr val="059669"/>
                </a:solidFill>
                <a:latin typeface="Courier New" pitchFamily="34" charset="0"/>
                <a:ea typeface="Courier New" pitchFamily="34" charset="-122"/>
                <a:cs typeface="Courier New" pitchFamily="34" charset="-120"/>
              </a:rPr>
              <a:t>docker run -v $(pwd):/app myapp</a:t>
            </a:r>
            <a:endParaRPr lang="en-US" sz="950" dirty="0"/>
          </a:p>
        </p:txBody>
      </p:sp>
      <p:sp>
        <p:nvSpPr>
          <p:cNvPr id="29" name="Text 27"/>
          <p:cNvSpPr/>
          <p:nvPr/>
        </p:nvSpPr>
        <p:spPr>
          <a:xfrm>
            <a:off x="5029200" y="3593592"/>
            <a:ext cx="3749040" cy="256032"/>
          </a:xfrm>
          <a:prstGeom prst="rect">
            <a:avLst/>
          </a:prstGeom>
          <a:noFill/>
          <a:ln/>
        </p:spPr>
        <p:txBody>
          <a:bodyPr wrap="square" lIns="0" tIns="0" rIns="0" bIns="0" rtlCol="0" anchor="ctr"/>
          <a:lstStyle/>
          <a:p>
            <a:pPr indent="0" marL="0">
              <a:buNone/>
            </a:pPr>
            <a:r>
              <a:rPr lang="en-US" sz="1000" dirty="0">
                <a:solidFill>
                  <a:srgbClr val="475569"/>
                </a:solidFill>
                <a:latin typeface="Arial" pitchFamily="34" charset="0"/>
                <a:ea typeface="Arial" pitchFamily="34" charset="-122"/>
                <a:cs typeface="Arial" pitchFamily="34" charset="-120"/>
              </a:rPr>
              <a:t>Bind mount current directory (dev)</a:t>
            </a:r>
            <a:endParaRPr lang="en-US" sz="1000" dirty="0"/>
          </a:p>
        </p:txBody>
      </p:sp>
      <p:sp>
        <p:nvSpPr>
          <p:cNvPr id="30" name="Shape 28"/>
          <p:cNvSpPr/>
          <p:nvPr/>
        </p:nvSpPr>
        <p:spPr>
          <a:xfrm>
            <a:off x="320040" y="8961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1" name="Shape 29"/>
          <p:cNvSpPr/>
          <p:nvPr/>
        </p:nvSpPr>
        <p:spPr>
          <a:xfrm>
            <a:off x="475488" y="1060704"/>
            <a:ext cx="475488" cy="868680"/>
          </a:xfrm>
          <a:prstGeom prst="roundRect">
            <a:avLst>
              <a:gd name="adj" fmla="val 13462"/>
            </a:avLst>
          </a:prstGeom>
          <a:solidFill>
            <a:srgbClr val="059669"/>
          </a:solidFill>
          <a:ln w="12700">
            <a:solidFill>
              <a:srgbClr val="059669"/>
            </a:solidFill>
            <a:prstDash val="solid"/>
          </a:ln>
        </p:spPr>
      </p:sp>
      <p:sp>
        <p:nvSpPr>
          <p:cNvPr id="32" name="Text 30"/>
          <p:cNvSpPr/>
          <p:nvPr/>
        </p:nvSpPr>
        <p:spPr>
          <a:xfrm>
            <a:off x="475488" y="10607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33" name="Text 31"/>
          <p:cNvSpPr/>
          <p:nvPr/>
        </p:nvSpPr>
        <p:spPr>
          <a:xfrm>
            <a:off x="1097280" y="1005840"/>
            <a:ext cx="7406640" cy="384048"/>
          </a:xfrm>
          <a:prstGeom prst="rect">
            <a:avLst/>
          </a:prstGeom>
          <a:noFill/>
          <a:ln/>
        </p:spPr>
        <p:txBody>
          <a:bodyPr wrap="square" lIns="0" tIns="0" rIns="0" bIns="0" rtlCol="0" anchor="ctr"/>
          <a:lstStyle/>
          <a:p>
            <a:pPr indent="0" marL="0">
              <a:buNone/>
            </a:pPr>
            <a:r>
              <a:rPr lang="en-US" sz="1300" b="1" dirty="0">
                <a:solidFill>
                  <a:srgbClr val="059669"/>
                </a:solidFill>
                <a:latin typeface="Arial" pitchFamily="34" charset="0"/>
                <a:ea typeface="Arial" pitchFamily="34" charset="-122"/>
                <a:cs typeface="Arial" pitchFamily="34" charset="-120"/>
              </a:rPr>
              <a:t>💡  Use named volumes — not bind mounts — in production</a:t>
            </a:r>
            <a:endParaRPr lang="en-US" sz="1300" dirty="0"/>
          </a:p>
        </p:txBody>
      </p:sp>
      <p:sp>
        <p:nvSpPr>
          <p:cNvPr id="34" name="Text 32"/>
          <p:cNvSpPr/>
          <p:nvPr/>
        </p:nvSpPr>
        <p:spPr>
          <a:xfrm>
            <a:off x="1097280" y="14081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Bind mounts depend on the host path existing and having the right permissions. Named volumes are managed by Docker, portable and work correctly in any environment.</a:t>
            </a:r>
            <a:endParaRPr lang="en-US" sz="1100" dirty="0"/>
          </a:p>
        </p:txBody>
      </p:sp>
      <p:sp>
        <p:nvSpPr>
          <p:cNvPr id="35" name="Shape 33"/>
          <p:cNvSpPr/>
          <p:nvPr/>
        </p:nvSpPr>
        <p:spPr>
          <a:xfrm>
            <a:off x="320040" y="2267712"/>
            <a:ext cx="8503920" cy="1234440"/>
          </a:xfrm>
          <a:prstGeom prst="roundRect">
            <a:avLst>
              <a:gd name="adj" fmla="val 7407"/>
            </a:avLst>
          </a:prstGeom>
          <a:solidFill>
            <a:srgbClr val="F8FAFC"/>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6" name="Shape 34"/>
          <p:cNvSpPr/>
          <p:nvPr/>
        </p:nvSpPr>
        <p:spPr>
          <a:xfrm>
            <a:off x="475488" y="2432304"/>
            <a:ext cx="475488" cy="868680"/>
          </a:xfrm>
          <a:prstGeom prst="roundRect">
            <a:avLst>
              <a:gd name="adj" fmla="val 13462"/>
            </a:avLst>
          </a:prstGeom>
          <a:solidFill>
            <a:srgbClr val="DC2626"/>
          </a:solidFill>
          <a:ln w="12700">
            <a:solidFill>
              <a:srgbClr val="DC2626"/>
            </a:solidFill>
            <a:prstDash val="solid"/>
          </a:ln>
        </p:spPr>
      </p:sp>
      <p:sp>
        <p:nvSpPr>
          <p:cNvPr id="37" name="Text 35"/>
          <p:cNvSpPr/>
          <p:nvPr/>
        </p:nvSpPr>
        <p:spPr>
          <a:xfrm>
            <a:off x="475488" y="2432304"/>
            <a:ext cx="475488" cy="8686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38" name="Text 36"/>
          <p:cNvSpPr/>
          <p:nvPr/>
        </p:nvSpPr>
        <p:spPr>
          <a:xfrm>
            <a:off x="1097280" y="2377440"/>
            <a:ext cx="7406640" cy="384048"/>
          </a:xfrm>
          <a:prstGeom prst="rect">
            <a:avLst/>
          </a:prstGeom>
          <a:noFill/>
          <a:ln/>
        </p:spPr>
        <p:txBody>
          <a:bodyPr wrap="square" lIns="0" tIns="0" rIns="0" bIns="0" rtlCol="0" anchor="ctr"/>
          <a:lstStyle/>
          <a:p>
            <a:pPr indent="0" marL="0">
              <a:buNone/>
            </a:pPr>
            <a:r>
              <a:rPr lang="en-US" sz="1300" b="1" dirty="0">
                <a:solidFill>
                  <a:srgbClr val="DC2626"/>
                </a:solidFill>
                <a:latin typeface="Arial" pitchFamily="34" charset="0"/>
                <a:ea typeface="Arial" pitchFamily="34" charset="-122"/>
                <a:cs typeface="Arial" pitchFamily="34" charset="-120"/>
              </a:rPr>
              <a:t>💡  Never store persistent data inside the container itself</a:t>
            </a:r>
            <a:endParaRPr lang="en-US" sz="1300" dirty="0"/>
          </a:p>
        </p:txBody>
      </p:sp>
      <p:sp>
        <p:nvSpPr>
          <p:cNvPr id="39" name="Text 37"/>
          <p:cNvSpPr/>
          <p:nvPr/>
        </p:nvSpPr>
        <p:spPr>
          <a:xfrm>
            <a:off x="1097280" y="2779776"/>
            <a:ext cx="7406640" cy="621792"/>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When you docker rm a container, all data inside it is gone permanently. Always mount a volume for databases, uploads, logs and any other data that matters.</a:t>
            </a:r>
            <a:endParaRPr lang="en-US" sz="1100" dirty="0"/>
          </a:p>
        </p:txBody>
      </p:sp>
      <p:sp>
        <p:nvSpPr>
          <p:cNvPr id="40" name="Shape 38"/>
          <p:cNvSpPr/>
          <p:nvPr/>
        </p:nvSpPr>
        <p:spPr>
          <a:xfrm>
            <a:off x="0" y="4846320"/>
            <a:ext cx="9144000" cy="297180"/>
          </a:xfrm>
          <a:prstGeom prst="rect">
            <a:avLst/>
          </a:prstGeom>
          <a:solidFill>
            <a:srgbClr val="0F172A"/>
          </a:solidFill>
          <a:ln w="12700">
            <a:solidFill>
              <a:srgbClr val="0F172A"/>
            </a:solidFill>
            <a:prstDash val="solid"/>
          </a:ln>
        </p:spPr>
      </p:sp>
      <p:sp>
        <p:nvSpPr>
          <p:cNvPr id="41" name="Text 39"/>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Section 06: Volumes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059669"/>
          </a:solidFill>
          <a:ln w="12700">
            <a:solidFill>
              <a:srgbClr val="059669"/>
            </a:solidFill>
            <a:prstDash val="solid"/>
          </a:ln>
        </p:spPr>
      </p:sp>
      <p:sp>
        <p:nvSpPr>
          <p:cNvPr id="3" name="Shape 1"/>
          <p:cNvSpPr/>
          <p:nvPr/>
        </p:nvSpPr>
        <p:spPr>
          <a:xfrm>
            <a:off x="6400800" y="-731520"/>
            <a:ext cx="3840480" cy="3840480"/>
          </a:xfrm>
          <a:prstGeom prst="ellipse">
            <a:avLst/>
          </a:prstGeom>
          <a:solidFill>
            <a:srgbClr val="059669">
              <a:alpha val="8000"/>
            </a:srgbClr>
          </a:solidFill>
          <a:ln w="12700">
            <a:solidFill>
              <a:srgbClr val="059669">
                <a:alpha val="15000"/>
              </a:srgbClr>
            </a:solidFill>
            <a:prstDash val="solid"/>
          </a:ln>
        </p:spPr>
      </p:sp>
      <p:sp>
        <p:nvSpPr>
          <p:cNvPr id="4" name="Text 2"/>
          <p:cNvSpPr/>
          <p:nvPr/>
        </p:nvSpPr>
        <p:spPr>
          <a:xfrm>
            <a:off x="594360" y="365760"/>
            <a:ext cx="4572000" cy="438912"/>
          </a:xfrm>
          <a:prstGeom prst="rect">
            <a:avLst/>
          </a:prstGeom>
          <a:noFill/>
          <a:ln/>
        </p:spPr>
        <p:txBody>
          <a:bodyPr wrap="square" lIns="0" tIns="0" rIns="0" bIns="0" rtlCol="0" anchor="ctr"/>
          <a:lstStyle/>
          <a:p>
            <a:pPr indent="0" marL="0">
              <a:buNone/>
            </a:pPr>
            <a:r>
              <a:rPr lang="en-US" sz="1300" b="1" spc="200" kern="0" dirty="0">
                <a:solidFill>
                  <a:srgbClr val="059669"/>
                </a:solidFill>
                <a:latin typeface="Arial" pitchFamily="34" charset="0"/>
                <a:ea typeface="Arial" pitchFamily="34" charset="-122"/>
                <a:cs typeface="Arial" pitchFamily="34" charset="-120"/>
              </a:rPr>
              <a:t>🔬  LAB 2</a:t>
            </a:r>
            <a:endParaRPr lang="en-US" sz="1300" dirty="0"/>
          </a:p>
        </p:txBody>
      </p:sp>
      <p:sp>
        <p:nvSpPr>
          <p:cNvPr id="5" name="Text 3"/>
          <p:cNvSpPr/>
          <p:nvPr/>
        </p:nvSpPr>
        <p:spPr>
          <a:xfrm>
            <a:off x="594360" y="804672"/>
            <a:ext cx="8229600"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Dockerfile &amp; Volumes</a:t>
            </a:r>
            <a:endParaRPr lang="en-US" sz="3200" dirty="0"/>
          </a:p>
        </p:txBody>
      </p:sp>
      <p:sp>
        <p:nvSpPr>
          <p:cNvPr id="6" name="Shape 4"/>
          <p:cNvSpPr/>
          <p:nvPr/>
        </p:nvSpPr>
        <p:spPr>
          <a:xfrm>
            <a:off x="594360" y="1664208"/>
            <a:ext cx="4114800" cy="27432"/>
          </a:xfrm>
          <a:prstGeom prst="rect">
            <a:avLst/>
          </a:prstGeom>
          <a:solidFill>
            <a:srgbClr val="059669"/>
          </a:solidFill>
          <a:ln w="12700">
            <a:solidFill>
              <a:srgbClr val="059669"/>
            </a:solidFill>
            <a:prstDash val="solid"/>
          </a:ln>
        </p:spPr>
      </p:sp>
      <p:sp>
        <p:nvSpPr>
          <p:cNvPr id="7" name="Shape 5"/>
          <p:cNvSpPr/>
          <p:nvPr/>
        </p:nvSpPr>
        <p:spPr>
          <a:xfrm>
            <a:off x="594360" y="1874520"/>
            <a:ext cx="292608" cy="292608"/>
          </a:xfrm>
          <a:prstGeom prst="ellipse">
            <a:avLst/>
          </a:prstGeom>
          <a:solidFill>
            <a:srgbClr val="059669"/>
          </a:solidFill>
          <a:ln w="12700">
            <a:solidFill>
              <a:srgbClr val="059669"/>
            </a:solidFill>
            <a:prstDash val="solid"/>
          </a:ln>
        </p:spPr>
      </p:sp>
      <p:sp>
        <p:nvSpPr>
          <p:cNvPr id="8" name="Text 6"/>
          <p:cNvSpPr/>
          <p:nvPr/>
        </p:nvSpPr>
        <p:spPr>
          <a:xfrm>
            <a:off x="594360" y="18745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9" name="Text 7"/>
          <p:cNvSpPr/>
          <p:nvPr/>
        </p:nvSpPr>
        <p:spPr>
          <a:xfrm>
            <a:off x="1005840" y="1874520"/>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Create a simple Python Flask app with a requirements.txt</a:t>
            </a:r>
            <a:endParaRPr lang="en-US" sz="1200" dirty="0"/>
          </a:p>
        </p:txBody>
      </p:sp>
      <p:sp>
        <p:nvSpPr>
          <p:cNvPr id="10" name="Shape 8"/>
          <p:cNvSpPr/>
          <p:nvPr/>
        </p:nvSpPr>
        <p:spPr>
          <a:xfrm>
            <a:off x="594360" y="2350008"/>
            <a:ext cx="292608" cy="292608"/>
          </a:xfrm>
          <a:prstGeom prst="ellipse">
            <a:avLst/>
          </a:prstGeom>
          <a:solidFill>
            <a:srgbClr val="059669"/>
          </a:solidFill>
          <a:ln w="12700">
            <a:solidFill>
              <a:srgbClr val="059669"/>
            </a:solidFill>
            <a:prstDash val="solid"/>
          </a:ln>
        </p:spPr>
      </p:sp>
      <p:sp>
        <p:nvSpPr>
          <p:cNvPr id="11" name="Text 9"/>
          <p:cNvSpPr/>
          <p:nvPr/>
        </p:nvSpPr>
        <p:spPr>
          <a:xfrm>
            <a:off x="594360" y="23500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2" name="Text 10"/>
          <p:cNvSpPr/>
          <p:nvPr/>
        </p:nvSpPr>
        <p:spPr>
          <a:xfrm>
            <a:off x="1005840" y="2350008"/>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Write a Dockerfile — FROM, WORKDIR, COPY, RUN, EXPOSE, CMD</a:t>
            </a:r>
            <a:endParaRPr lang="en-US" sz="1200" dirty="0"/>
          </a:p>
        </p:txBody>
      </p:sp>
      <p:sp>
        <p:nvSpPr>
          <p:cNvPr id="13" name="Shape 11"/>
          <p:cNvSpPr/>
          <p:nvPr/>
        </p:nvSpPr>
        <p:spPr>
          <a:xfrm>
            <a:off x="594360" y="2825496"/>
            <a:ext cx="292608" cy="292608"/>
          </a:xfrm>
          <a:prstGeom prst="ellipse">
            <a:avLst/>
          </a:prstGeom>
          <a:solidFill>
            <a:srgbClr val="059669"/>
          </a:solidFill>
          <a:ln w="12700">
            <a:solidFill>
              <a:srgbClr val="059669"/>
            </a:solidFill>
            <a:prstDash val="solid"/>
          </a:ln>
        </p:spPr>
      </p:sp>
      <p:sp>
        <p:nvSpPr>
          <p:cNvPr id="14" name="Text 12"/>
          <p:cNvSpPr/>
          <p:nvPr/>
        </p:nvSpPr>
        <p:spPr>
          <a:xfrm>
            <a:off x="594360" y="28254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Text 13"/>
          <p:cNvSpPr/>
          <p:nvPr/>
        </p:nvSpPr>
        <p:spPr>
          <a:xfrm>
            <a:off x="1005840" y="2825496"/>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Build the image: docker build -t my-flask-app:v1.0 .</a:t>
            </a:r>
            <a:endParaRPr lang="en-US" sz="1200" dirty="0"/>
          </a:p>
        </p:txBody>
      </p:sp>
      <p:sp>
        <p:nvSpPr>
          <p:cNvPr id="16" name="Shape 14"/>
          <p:cNvSpPr/>
          <p:nvPr/>
        </p:nvSpPr>
        <p:spPr>
          <a:xfrm>
            <a:off x="594360" y="3300984"/>
            <a:ext cx="292608" cy="292608"/>
          </a:xfrm>
          <a:prstGeom prst="ellipse">
            <a:avLst/>
          </a:prstGeom>
          <a:solidFill>
            <a:srgbClr val="059669"/>
          </a:solidFill>
          <a:ln w="12700">
            <a:solidFill>
              <a:srgbClr val="059669"/>
            </a:solidFill>
            <a:prstDash val="solid"/>
          </a:ln>
        </p:spPr>
      </p:sp>
      <p:sp>
        <p:nvSpPr>
          <p:cNvPr id="17" name="Text 15"/>
          <p:cNvSpPr/>
          <p:nvPr/>
        </p:nvSpPr>
        <p:spPr>
          <a:xfrm>
            <a:off x="594360" y="330098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8" name="Text 16"/>
          <p:cNvSpPr/>
          <p:nvPr/>
        </p:nvSpPr>
        <p:spPr>
          <a:xfrm>
            <a:off x="1005840" y="3300984"/>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Run it: docker run -d --name flask -p 5000:5000 my-flask-app:v1.0</a:t>
            </a:r>
            <a:endParaRPr lang="en-US" sz="1200" dirty="0"/>
          </a:p>
        </p:txBody>
      </p:sp>
      <p:sp>
        <p:nvSpPr>
          <p:cNvPr id="19" name="Shape 17"/>
          <p:cNvSpPr/>
          <p:nvPr/>
        </p:nvSpPr>
        <p:spPr>
          <a:xfrm>
            <a:off x="594360" y="3776472"/>
            <a:ext cx="292608" cy="292608"/>
          </a:xfrm>
          <a:prstGeom prst="ellipse">
            <a:avLst/>
          </a:prstGeom>
          <a:solidFill>
            <a:srgbClr val="059669"/>
          </a:solidFill>
          <a:ln w="12700">
            <a:solidFill>
              <a:srgbClr val="059669"/>
            </a:solidFill>
            <a:prstDash val="solid"/>
          </a:ln>
        </p:spPr>
      </p:sp>
      <p:sp>
        <p:nvSpPr>
          <p:cNvPr id="20" name="Text 18"/>
          <p:cNvSpPr/>
          <p:nvPr/>
        </p:nvSpPr>
        <p:spPr>
          <a:xfrm>
            <a:off x="594360" y="37764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1" name="Text 19"/>
          <p:cNvSpPr/>
          <p:nvPr/>
        </p:nvSpPr>
        <p:spPr>
          <a:xfrm>
            <a:off x="1005840" y="3776472"/>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Visit http://localhost:5000 — confirm your app is running</a:t>
            </a:r>
            <a:endParaRPr lang="en-US" sz="1200" dirty="0"/>
          </a:p>
        </p:txBody>
      </p:sp>
      <p:sp>
        <p:nvSpPr>
          <p:cNvPr id="22" name="Shape 20"/>
          <p:cNvSpPr/>
          <p:nvPr/>
        </p:nvSpPr>
        <p:spPr>
          <a:xfrm>
            <a:off x="594360" y="4251960"/>
            <a:ext cx="292608" cy="292608"/>
          </a:xfrm>
          <a:prstGeom prst="ellipse">
            <a:avLst/>
          </a:prstGeom>
          <a:solidFill>
            <a:srgbClr val="059669"/>
          </a:solidFill>
          <a:ln w="12700">
            <a:solidFill>
              <a:srgbClr val="059669"/>
            </a:solidFill>
            <a:prstDash val="solid"/>
          </a:ln>
        </p:spPr>
      </p:sp>
      <p:sp>
        <p:nvSpPr>
          <p:cNvPr id="23" name="Text 21"/>
          <p:cNvSpPr/>
          <p:nvPr/>
        </p:nvSpPr>
        <p:spPr>
          <a:xfrm>
            <a:off x="594360" y="42519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24" name="Text 22"/>
          <p:cNvSpPr/>
          <p:nvPr/>
        </p:nvSpPr>
        <p:spPr>
          <a:xfrm>
            <a:off x="1005840" y="4251960"/>
            <a:ext cx="7498080" cy="347472"/>
          </a:xfrm>
          <a:prstGeom prst="rect">
            <a:avLst/>
          </a:prstGeom>
          <a:noFill/>
          <a:ln/>
        </p:spPr>
        <p:txBody>
          <a:bodyPr wrap="square" lIns="0" tIns="0" rIns="0" bIns="0" rtlCol="0" anchor="ctr"/>
          <a:lstStyle/>
          <a:p>
            <a:pPr indent="0" marL="0">
              <a:buNone/>
            </a:pPr>
            <a:r>
              <a:rPr lang="en-US" sz="1200" dirty="0">
                <a:solidFill>
                  <a:srgbClr val="F1F5F9"/>
                </a:solidFill>
                <a:latin typeface="Arial" pitchFamily="34" charset="0"/>
                <a:ea typeface="Arial" pitchFamily="34" charset="-122"/>
                <a:cs typeface="Arial" pitchFamily="34" charset="-120"/>
              </a:rPr>
              <a:t>Create a named volume and mount it: docker run -v mydata:/app/data ...</a:t>
            </a:r>
            <a:endParaRPr lang="en-US" sz="1200" dirty="0"/>
          </a:p>
        </p:txBody>
      </p:sp>
      <p:sp>
        <p:nvSpPr>
          <p:cNvPr id="25" name="Shape 23"/>
          <p:cNvSpPr/>
          <p:nvPr/>
        </p:nvSpPr>
        <p:spPr>
          <a:xfrm>
            <a:off x="594360" y="4617720"/>
            <a:ext cx="4389120" cy="384048"/>
          </a:xfrm>
          <a:prstGeom prst="roundRect">
            <a:avLst>
              <a:gd name="adj" fmla="val 16667"/>
            </a:avLst>
          </a:prstGeom>
          <a:solidFill>
            <a:srgbClr val="059669">
              <a:alpha val="20000"/>
            </a:srgbClr>
          </a:solidFill>
          <a:ln w="12700">
            <a:solidFill>
              <a:srgbClr val="059669">
                <a:alpha val="40000"/>
              </a:srgbClr>
            </a:solidFill>
            <a:prstDash val="solid"/>
          </a:ln>
        </p:spPr>
      </p:sp>
      <p:sp>
        <p:nvSpPr>
          <p:cNvPr id="26" name="Text 24"/>
          <p:cNvSpPr/>
          <p:nvPr/>
        </p:nvSpPr>
        <p:spPr>
          <a:xfrm>
            <a:off x="594360" y="4626864"/>
            <a:ext cx="438912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Arial" pitchFamily="34" charset="0"/>
                <a:ea typeface="Arial" pitchFamily="34" charset="-122"/>
                <a:cs typeface="Arial" pitchFamily="34" charset="-120"/>
              </a:rPr>
              <a:t>⏱  Duration: 14:30 – 16:00  •  Day 1 Afternoon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7C2D12"/>
          </a:solidFill>
          <a:ln w="12700">
            <a:solidFill>
              <a:srgbClr val="7C2D12"/>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LAB 2 — ANSWERS &amp; COMMON ERRORS</a:t>
            </a:r>
            <a:endParaRPr lang="en-US" sz="2000" dirty="0"/>
          </a:p>
        </p:txBody>
      </p:sp>
      <p:sp>
        <p:nvSpPr>
          <p:cNvPr id="4" name="Shape 2"/>
          <p:cNvSpPr/>
          <p:nvPr/>
        </p:nvSpPr>
        <p:spPr>
          <a:xfrm>
            <a:off x="7178040" y="109728"/>
            <a:ext cx="1600200" cy="475488"/>
          </a:xfrm>
          <a:prstGeom prst="roundRect">
            <a:avLst>
              <a:gd name="adj" fmla="val 11538"/>
            </a:avLst>
          </a:prstGeom>
          <a:solidFill>
            <a:srgbClr val="EF4444"/>
          </a:solidFill>
          <a:ln w="12700">
            <a:solidFill>
              <a:srgbClr val="EF4444"/>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Trainer Only</a:t>
            </a:r>
            <a:endParaRPr lang="en-US" sz="950" dirty="0"/>
          </a:p>
        </p:txBody>
      </p:sp>
      <p:sp>
        <p:nvSpPr>
          <p:cNvPr id="6" name="Shape 4"/>
          <p:cNvSpPr/>
          <p:nvPr/>
        </p:nvSpPr>
        <p:spPr>
          <a:xfrm>
            <a:off x="320040" y="804672"/>
            <a:ext cx="2011680" cy="292608"/>
          </a:xfrm>
          <a:prstGeom prst="roundRect">
            <a:avLst>
              <a:gd name="adj" fmla="val 18750"/>
            </a:avLst>
          </a:prstGeom>
          <a:solidFill>
            <a:srgbClr val="EF4444"/>
          </a:solidFill>
          <a:ln w="12700">
            <a:solidFill>
              <a:srgbClr val="EF4444"/>
            </a:solidFill>
            <a:prstDash val="solid"/>
          </a:ln>
        </p:spPr>
      </p:sp>
      <p:sp>
        <p:nvSpPr>
          <p:cNvPr id="7" name="Text 5"/>
          <p:cNvSpPr/>
          <p:nvPr/>
        </p:nvSpPr>
        <p:spPr>
          <a:xfrm>
            <a:off x="320040" y="804672"/>
            <a:ext cx="20116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  TRAINER ONLY</a:t>
            </a:r>
            <a:endParaRPr lang="en-US" sz="900" dirty="0"/>
          </a:p>
        </p:txBody>
      </p:sp>
      <p:sp>
        <p:nvSpPr>
          <p:cNvPr id="8" name="Shape 6"/>
          <p:cNvSpPr/>
          <p:nvPr/>
        </p:nvSpPr>
        <p:spPr>
          <a:xfrm>
            <a:off x="320040" y="1170432"/>
            <a:ext cx="8503920" cy="384048"/>
          </a:xfrm>
          <a:prstGeom prst="roundRect">
            <a:avLst>
              <a:gd name="adj" fmla="val 23810"/>
            </a:avLst>
          </a:prstGeom>
          <a:solidFill>
            <a:srgbClr val="FFF7ED"/>
          </a:solidFill>
          <a:ln w="12700">
            <a:solidFill>
              <a:srgbClr val="FED7AA"/>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75488" y="1207008"/>
            <a:ext cx="8229600" cy="292608"/>
          </a:xfrm>
          <a:prstGeom prst="rect">
            <a:avLst/>
          </a:prstGeom>
          <a:noFill/>
          <a:ln/>
        </p:spPr>
        <p:txBody>
          <a:bodyPr wrap="square" lIns="0" tIns="0" rIns="0" bIns="0" rtlCol="0" anchor="ctr"/>
          <a:lstStyle/>
          <a:p>
            <a:pPr indent="0" marL="0">
              <a:buNone/>
            </a:pPr>
            <a:r>
              <a:rPr lang="en-US" sz="1050" b="1" dirty="0">
                <a:solidFill>
                  <a:srgbClr val="C2410C"/>
                </a:solidFill>
                <a:latin typeface="Arial" pitchFamily="34" charset="0"/>
                <a:ea typeface="Arial" pitchFamily="34" charset="-122"/>
                <a:cs typeface="Arial" pitchFamily="34" charset="-120"/>
              </a:rPr>
              <a:t>🔒  Do not show to students. Share answers verbally on request only.</a:t>
            </a:r>
            <a:endParaRPr lang="en-US" sz="1050" dirty="0"/>
          </a:p>
        </p:txBody>
      </p:sp>
      <p:sp>
        <p:nvSpPr>
          <p:cNvPr id="10" name="Shape 8"/>
          <p:cNvSpPr/>
          <p:nvPr/>
        </p:nvSpPr>
        <p:spPr>
          <a:xfrm>
            <a:off x="320040" y="1664208"/>
            <a:ext cx="8503920" cy="1353312"/>
          </a:xfrm>
          <a:prstGeom prst="roundRect">
            <a:avLst>
              <a:gd name="adj" fmla="val 6757"/>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75488" y="1737360"/>
            <a:ext cx="8193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Correct Dockerfile</a:t>
            </a:r>
            <a:endParaRPr lang="en-US" sz="900" dirty="0"/>
          </a:p>
        </p:txBody>
      </p:sp>
      <p:sp>
        <p:nvSpPr>
          <p:cNvPr id="12" name="Text 10"/>
          <p:cNvSpPr/>
          <p:nvPr/>
        </p:nvSpPr>
        <p:spPr>
          <a:xfrm>
            <a:off x="475488" y="1975104"/>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FROM python:3.11-slim</a:t>
            </a:r>
            <a:endParaRPr lang="en-US" sz="950" dirty="0"/>
          </a:p>
        </p:txBody>
      </p:sp>
      <p:sp>
        <p:nvSpPr>
          <p:cNvPr id="13" name="Text 11"/>
          <p:cNvSpPr/>
          <p:nvPr/>
        </p:nvSpPr>
        <p:spPr>
          <a:xfrm>
            <a:off x="475488" y="2171700"/>
            <a:ext cx="8193024" cy="201168"/>
          </a:xfrm>
          <a:prstGeom prst="rect">
            <a:avLst/>
          </a:prstGeom>
          <a:noFill/>
          <a:ln/>
        </p:spPr>
        <p:txBody>
          <a:bodyPr wrap="square" lIns="0" tIns="0" rIns="0" bIns="0" rtlCol="0" anchor="ctr"/>
          <a:lstStyle/>
          <a:p>
            <a:pPr indent="0" marL="0">
              <a:buNone/>
            </a:pPr>
            <a:r>
              <a:rPr lang="en-US" sz="950" dirty="0">
                <a:solidFill>
                  <a:srgbClr val="93C5FD"/>
                </a:solidFill>
                <a:latin typeface="Courier New" pitchFamily="34" charset="0"/>
                <a:ea typeface="Courier New" pitchFamily="34" charset="-122"/>
                <a:cs typeface="Courier New" pitchFamily="34" charset="-120"/>
              </a:rPr>
              <a:t>WORKDIR /app</a:t>
            </a:r>
            <a:endParaRPr lang="en-US" sz="950" dirty="0"/>
          </a:p>
        </p:txBody>
      </p:sp>
      <p:sp>
        <p:nvSpPr>
          <p:cNvPr id="14" name="Text 12"/>
          <p:cNvSpPr/>
          <p:nvPr/>
        </p:nvSpPr>
        <p:spPr>
          <a:xfrm>
            <a:off x="475488" y="2368296"/>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COPY requirements.txt .</a:t>
            </a:r>
            <a:endParaRPr lang="en-US" sz="950" dirty="0"/>
          </a:p>
        </p:txBody>
      </p:sp>
      <p:sp>
        <p:nvSpPr>
          <p:cNvPr id="15" name="Text 13"/>
          <p:cNvSpPr/>
          <p:nvPr/>
        </p:nvSpPr>
        <p:spPr>
          <a:xfrm>
            <a:off x="475488" y="2564892"/>
            <a:ext cx="8193024" cy="201168"/>
          </a:xfrm>
          <a:prstGeom prst="rect">
            <a:avLst/>
          </a:prstGeom>
          <a:noFill/>
          <a:ln/>
        </p:spPr>
        <p:txBody>
          <a:bodyPr wrap="square" lIns="0" tIns="0" rIns="0" bIns="0" rtlCol="0" anchor="ctr"/>
          <a:lstStyle/>
          <a:p>
            <a:pPr indent="0" marL="0">
              <a:buNone/>
            </a:pPr>
            <a:r>
              <a:rPr lang="en-US" sz="950" dirty="0">
                <a:solidFill>
                  <a:srgbClr val="C084FC"/>
                </a:solidFill>
                <a:latin typeface="Courier New" pitchFamily="34" charset="0"/>
                <a:ea typeface="Courier New" pitchFamily="34" charset="-122"/>
                <a:cs typeface="Courier New" pitchFamily="34" charset="-120"/>
              </a:rPr>
              <a:t>RUN pip install -r requirements.txt</a:t>
            </a:r>
            <a:endParaRPr lang="en-US" sz="950" dirty="0"/>
          </a:p>
        </p:txBody>
      </p:sp>
      <p:sp>
        <p:nvSpPr>
          <p:cNvPr id="16" name="Text 14"/>
          <p:cNvSpPr/>
          <p:nvPr/>
        </p:nvSpPr>
        <p:spPr>
          <a:xfrm>
            <a:off x="475488" y="2761488"/>
            <a:ext cx="8193024" cy="201168"/>
          </a:xfrm>
          <a:prstGeom prst="rect">
            <a:avLst/>
          </a:prstGeom>
          <a:noFill/>
          <a:ln/>
        </p:spPr>
        <p:txBody>
          <a:bodyPr wrap="square" lIns="0" tIns="0" rIns="0" bIns="0" rtlCol="0" anchor="ctr"/>
          <a:lstStyle/>
          <a:p>
            <a:pPr indent="0" marL="0">
              <a:buNone/>
            </a:pPr>
            <a:r>
              <a:rPr lang="en-US" sz="950" dirty="0">
                <a:solidFill>
                  <a:srgbClr val="FDE68A"/>
                </a:solidFill>
                <a:latin typeface="Courier New" pitchFamily="34" charset="0"/>
                <a:ea typeface="Courier New" pitchFamily="34" charset="-122"/>
                <a:cs typeface="Courier New" pitchFamily="34" charset="-120"/>
              </a:rPr>
              <a:t>COPY . .</a:t>
            </a:r>
            <a:endParaRPr lang="en-US" sz="950" dirty="0"/>
          </a:p>
        </p:txBody>
      </p:sp>
      <p:sp>
        <p:nvSpPr>
          <p:cNvPr id="17" name="Text 15"/>
          <p:cNvSpPr/>
          <p:nvPr/>
        </p:nvSpPr>
        <p:spPr>
          <a:xfrm>
            <a:off x="475488" y="2958084"/>
            <a:ext cx="8193024" cy="201168"/>
          </a:xfrm>
          <a:prstGeom prst="rect">
            <a:avLst/>
          </a:prstGeom>
          <a:noFill/>
          <a:ln/>
        </p:spPr>
        <p:txBody>
          <a:bodyPr wrap="square" lIns="0" tIns="0" rIns="0" bIns="0" rtlCol="0" anchor="ctr"/>
          <a:lstStyle/>
          <a:p>
            <a:pPr indent="0" marL="0">
              <a:buNone/>
            </a:pPr>
            <a:r>
              <a:rPr lang="en-US" sz="950" dirty="0">
                <a:solidFill>
                  <a:srgbClr val="F9A8D4"/>
                </a:solidFill>
                <a:latin typeface="Courier New" pitchFamily="34" charset="0"/>
                <a:ea typeface="Courier New" pitchFamily="34" charset="-122"/>
                <a:cs typeface="Courier New" pitchFamily="34" charset="-120"/>
              </a:rPr>
              <a:t>EXPOSE 5000</a:t>
            </a:r>
            <a:endParaRPr lang="en-US" sz="950" dirty="0"/>
          </a:p>
        </p:txBody>
      </p:sp>
      <p:sp>
        <p:nvSpPr>
          <p:cNvPr id="18" name="Text 16"/>
          <p:cNvSpPr/>
          <p:nvPr/>
        </p:nvSpPr>
        <p:spPr>
          <a:xfrm>
            <a:off x="475488" y="3154680"/>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CMD ["python", "app.py"]</a:t>
            </a:r>
            <a:endParaRPr lang="en-US" sz="950" dirty="0"/>
          </a:p>
        </p:txBody>
      </p:sp>
      <p:sp>
        <p:nvSpPr>
          <p:cNvPr id="19" name="Shape 17"/>
          <p:cNvSpPr/>
          <p:nvPr/>
        </p:nvSpPr>
        <p:spPr>
          <a:xfrm>
            <a:off x="320040" y="3090672"/>
            <a:ext cx="8503920" cy="804672"/>
          </a:xfrm>
          <a:prstGeom prst="roundRect">
            <a:avLst>
              <a:gd name="adj" fmla="val 11364"/>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475488" y="3163824"/>
            <a:ext cx="8193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Build and run commands</a:t>
            </a:r>
            <a:endParaRPr lang="en-US" sz="900" dirty="0"/>
          </a:p>
        </p:txBody>
      </p:sp>
      <p:sp>
        <p:nvSpPr>
          <p:cNvPr id="21" name="Text 19"/>
          <p:cNvSpPr/>
          <p:nvPr/>
        </p:nvSpPr>
        <p:spPr>
          <a:xfrm>
            <a:off x="475488" y="3401568"/>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build -t my-flask-app:v1.0 .</a:t>
            </a:r>
            <a:endParaRPr lang="en-US" sz="950" dirty="0"/>
          </a:p>
        </p:txBody>
      </p:sp>
      <p:sp>
        <p:nvSpPr>
          <p:cNvPr id="22" name="Text 20"/>
          <p:cNvSpPr/>
          <p:nvPr/>
        </p:nvSpPr>
        <p:spPr>
          <a:xfrm>
            <a:off x="475488" y="3598164"/>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run -d --name flask -p 5000:5000 my-flask-app:v1.0</a:t>
            </a:r>
            <a:endParaRPr lang="en-US" sz="950" dirty="0"/>
          </a:p>
        </p:txBody>
      </p:sp>
      <p:sp>
        <p:nvSpPr>
          <p:cNvPr id="23" name="Text 21"/>
          <p:cNvSpPr/>
          <p:nvPr/>
        </p:nvSpPr>
        <p:spPr>
          <a:xfrm>
            <a:off x="475488" y="3794760"/>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run -d --name flask2 -v mydata:/app/data -p 5000:5000 my-flask-app:v1.0</a:t>
            </a:r>
            <a:endParaRPr lang="en-US" sz="950" dirty="0"/>
          </a:p>
        </p:txBody>
      </p:sp>
      <p:sp>
        <p:nvSpPr>
          <p:cNvPr id="24" name="Shape 22"/>
          <p:cNvSpPr/>
          <p:nvPr/>
        </p:nvSpPr>
        <p:spPr>
          <a:xfrm>
            <a:off x="320040" y="3977640"/>
            <a:ext cx="8503920" cy="658368"/>
          </a:xfrm>
          <a:prstGeom prst="roundRect">
            <a:avLst>
              <a:gd name="adj" fmla="val 13889"/>
            </a:avLst>
          </a:prstGeom>
          <a:solidFill>
            <a:srgbClr val="0F172A"/>
          </a:solidFill>
          <a:ln w="12700">
            <a:solidFill>
              <a:srgbClr val="334155"/>
            </a:solidFill>
            <a:prstDash val="solid"/>
          </a:ln>
          <a:effectLst>
            <a:outerShdw sx="100000" sy="100000" kx="0" ky="0" algn="bl" rotWithShape="0" blurRad="101600" dist="38100" dir="2700000">
              <a:srgbClr val="000000">
                <a:alpha val="12000"/>
              </a:srgbClr>
            </a:outerShdw>
          </a:effectLst>
        </p:spPr>
      </p:sp>
      <p:sp>
        <p:nvSpPr>
          <p:cNvPr id="25" name="Text 23"/>
          <p:cNvSpPr/>
          <p:nvPr/>
        </p:nvSpPr>
        <p:spPr>
          <a:xfrm>
            <a:off x="475488" y="4050792"/>
            <a:ext cx="8193024" cy="201168"/>
          </a:xfrm>
          <a:prstGeom prst="rect">
            <a:avLst/>
          </a:prstGeom>
          <a:noFill/>
          <a:ln/>
        </p:spPr>
        <p:txBody>
          <a:bodyPr wrap="square" lIns="0" tIns="0" rIns="0" bIns="0" rtlCol="0" anchor="ctr"/>
          <a:lstStyle/>
          <a:p>
            <a:pPr indent="0" marL="0">
              <a:buNone/>
            </a:pPr>
            <a:r>
              <a:rPr lang="en-US" sz="900" dirty="0">
                <a:solidFill>
                  <a:srgbClr val="64748B"/>
                </a:solidFill>
                <a:latin typeface="Courier New" pitchFamily="34" charset="0"/>
                <a:ea typeface="Courier New" pitchFamily="34" charset="-122"/>
                <a:cs typeface="Courier New" pitchFamily="34" charset="-120"/>
              </a:rPr>
              <a:t># Verify volume persists</a:t>
            </a:r>
            <a:endParaRPr lang="en-US" sz="900" dirty="0"/>
          </a:p>
        </p:txBody>
      </p:sp>
      <p:sp>
        <p:nvSpPr>
          <p:cNvPr id="26" name="Text 24"/>
          <p:cNvSpPr/>
          <p:nvPr/>
        </p:nvSpPr>
        <p:spPr>
          <a:xfrm>
            <a:off x="475488" y="4288536"/>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exec flask2 sh -c 'echo test &gt; /app/data/file.txt'</a:t>
            </a:r>
            <a:endParaRPr lang="en-US" sz="950" dirty="0"/>
          </a:p>
        </p:txBody>
      </p:sp>
      <p:sp>
        <p:nvSpPr>
          <p:cNvPr id="27" name="Text 25"/>
          <p:cNvSpPr/>
          <p:nvPr/>
        </p:nvSpPr>
        <p:spPr>
          <a:xfrm>
            <a:off x="475488" y="4485132"/>
            <a:ext cx="8193024" cy="201168"/>
          </a:xfrm>
          <a:prstGeom prst="rect">
            <a:avLst/>
          </a:prstGeom>
          <a:noFill/>
          <a:ln/>
        </p:spPr>
        <p:txBody>
          <a:bodyPr wrap="square" lIns="0" tIns="0" rIns="0" bIns="0" rtlCol="0" anchor="ctr"/>
          <a:lstStyle/>
          <a:p>
            <a:pPr indent="0" marL="0">
              <a:buNone/>
            </a:pPr>
            <a:r>
              <a:rPr lang="en-US" sz="950" dirty="0">
                <a:solidFill>
                  <a:srgbClr val="FCA5A5"/>
                </a:solidFill>
                <a:latin typeface="Courier New" pitchFamily="34" charset="0"/>
                <a:ea typeface="Courier New" pitchFamily="34" charset="-122"/>
                <a:cs typeface="Courier New" pitchFamily="34" charset="-120"/>
              </a:rPr>
              <a:t>docker rm -f flask2</a:t>
            </a:r>
            <a:endParaRPr lang="en-US" sz="950" dirty="0"/>
          </a:p>
        </p:txBody>
      </p:sp>
      <p:sp>
        <p:nvSpPr>
          <p:cNvPr id="28" name="Text 26"/>
          <p:cNvSpPr/>
          <p:nvPr/>
        </p:nvSpPr>
        <p:spPr>
          <a:xfrm>
            <a:off x="475488" y="4681728"/>
            <a:ext cx="8193024" cy="201168"/>
          </a:xfrm>
          <a:prstGeom prst="rect">
            <a:avLst/>
          </a:prstGeom>
          <a:noFill/>
          <a:ln/>
        </p:spPr>
        <p:txBody>
          <a:bodyPr wrap="square" lIns="0" tIns="0" rIns="0" bIns="0" rtlCol="0" anchor="ctr"/>
          <a:lstStyle/>
          <a:p>
            <a:pPr indent="0" marL="0">
              <a:buNone/>
            </a:pPr>
            <a:r>
              <a:rPr lang="en-US" sz="950" dirty="0">
                <a:solidFill>
                  <a:srgbClr val="6EE7B7"/>
                </a:solidFill>
                <a:latin typeface="Courier New" pitchFamily="34" charset="0"/>
                <a:ea typeface="Courier New" pitchFamily="34" charset="-122"/>
                <a:cs typeface="Courier New" pitchFamily="34" charset="-120"/>
              </a:rPr>
              <a:t>docker run --rm -v mydata:/app/data ubuntu cat /app/data/file.txt  # shows 'test'</a:t>
            </a:r>
            <a:endParaRPr lang="en-US" sz="950" dirty="0"/>
          </a:p>
        </p:txBody>
      </p:sp>
      <p:sp>
        <p:nvSpPr>
          <p:cNvPr id="29" name="Shape 27"/>
          <p:cNvSpPr/>
          <p:nvPr/>
        </p:nvSpPr>
        <p:spPr>
          <a:xfrm>
            <a:off x="320040" y="4709160"/>
            <a:ext cx="8503920" cy="365760"/>
          </a:xfrm>
          <a:prstGeom prst="roundRect">
            <a:avLst>
              <a:gd name="adj" fmla="val 25000"/>
            </a:avLst>
          </a:prstGeom>
          <a:solidFill>
            <a:srgbClr val="FFF7ED"/>
          </a:solidFill>
          <a:ln w="12700">
            <a:solidFill>
              <a:srgbClr val="FED7AA"/>
            </a:solidFill>
            <a:prstDash val="solid"/>
          </a:ln>
          <a:effectLst>
            <a:outerShdw sx="100000" sy="100000" kx="0" ky="0" algn="bl" rotWithShape="0" blurRad="101600" dist="38100" dir="2700000">
              <a:srgbClr val="000000">
                <a:alpha val="12000"/>
              </a:srgbClr>
            </a:outerShdw>
          </a:effectLst>
        </p:spPr>
      </p:sp>
      <p:sp>
        <p:nvSpPr>
          <p:cNvPr id="30" name="Text 28"/>
          <p:cNvSpPr/>
          <p:nvPr/>
        </p:nvSpPr>
        <p:spPr>
          <a:xfrm>
            <a:off x="457200" y="4800600"/>
            <a:ext cx="8229600" cy="274320"/>
          </a:xfrm>
          <a:prstGeom prst="rect">
            <a:avLst/>
          </a:prstGeom>
          <a:noFill/>
          <a:ln/>
        </p:spPr>
        <p:txBody>
          <a:bodyPr wrap="square" lIns="0" tIns="0" rIns="0" bIns="0" rtlCol="0" anchor="ctr"/>
          <a:lstStyle/>
          <a:p>
            <a:pPr indent="0" marL="0">
              <a:buNone/>
            </a:pPr>
            <a:r>
              <a:rPr lang="en-US" sz="1000" b="1" dirty="0">
                <a:solidFill>
                  <a:srgbClr val="C2410C"/>
                </a:solidFill>
                <a:latin typeface="Arial" pitchFamily="34" charset="0"/>
                <a:ea typeface="Arial" pitchFamily="34" charset="-122"/>
                <a:cs typeface="Arial" pitchFamily="34" charset="-120"/>
              </a:rPr>
              <a:t>🎓  TRAINER NOTE</a:t>
            </a:r>
            <a:endParaRPr lang="en-US" sz="1000" dirty="0"/>
          </a:p>
        </p:txBody>
      </p:sp>
      <p:sp>
        <p:nvSpPr>
          <p:cNvPr id="31" name="Text 29"/>
          <p:cNvSpPr/>
          <p:nvPr/>
        </p:nvSpPr>
        <p:spPr>
          <a:xfrm>
            <a:off x="457200" y="5093208"/>
            <a:ext cx="8229600" cy="-137160"/>
          </a:xfrm>
          <a:prstGeom prst="rect">
            <a:avLst/>
          </a:prstGeom>
          <a:noFill/>
          <a:ln/>
        </p:spPr>
        <p:txBody>
          <a:bodyPr wrap="square" lIns="0" tIns="0" rIns="0" bIns="0" rtlCol="0" anchor="ctr"/>
          <a:lstStyle/>
          <a:p>
            <a:pPr indent="0" marL="0">
              <a:buNone/>
            </a:pPr>
            <a:r>
              <a:rPr lang="en-US" sz="1000" dirty="0">
                <a:solidFill>
                  <a:srgbClr val="1C1917"/>
                </a:solidFill>
                <a:latin typeface="Arial" pitchFamily="34" charset="0"/>
                <a:ea typeface="Arial" pitchFamily="34" charset="-122"/>
                <a:cs typeface="Arial" pitchFamily="34" charset="-120"/>
              </a:rPr>
              <a:t>Most common error: Flask listens on 127.0.0.1 instead of 0.0.0.0 — change app.run(host='0.0.0.0'). Second most common: COPY order wrong, pip install re-runs every build.</a:t>
            </a:r>
            <a:endParaRPr lang="en-US" sz="1000" dirty="0"/>
          </a:p>
        </p:txBody>
      </p:sp>
      <p:sp>
        <p:nvSpPr>
          <p:cNvPr id="32" name="Shape 30"/>
          <p:cNvSpPr/>
          <p:nvPr/>
        </p:nvSpPr>
        <p:spPr>
          <a:xfrm>
            <a:off x="0" y="4846320"/>
            <a:ext cx="9144000" cy="297180"/>
          </a:xfrm>
          <a:prstGeom prst="rect">
            <a:avLst/>
          </a:prstGeom>
          <a:solidFill>
            <a:srgbClr val="7C2D12"/>
          </a:solidFill>
          <a:ln w="12700">
            <a:solidFill>
              <a:srgbClr val="7C2D12"/>
            </a:solidFill>
            <a:prstDash val="solid"/>
          </a:ln>
        </p:spPr>
      </p:sp>
      <p:sp>
        <p:nvSpPr>
          <p:cNvPr id="33" name="Text 31"/>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Lab 2 Answers — CONFIDENTIAL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F172A"/>
          </a:solidFill>
          <a:ln w="12700">
            <a:solidFill>
              <a:srgbClr val="0F172A"/>
            </a:solidFill>
            <a:prstDash val="solid"/>
          </a:ln>
        </p:spPr>
      </p:sp>
      <p:sp>
        <p:nvSpPr>
          <p:cNvPr id="3" name="Text 1"/>
          <p:cNvSpPr/>
          <p:nvPr/>
        </p:nvSpPr>
        <p:spPr>
          <a:xfrm>
            <a:off x="411480" y="73152"/>
            <a:ext cx="68580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WHAT YOU HAVE LEARNED TODAY</a:t>
            </a:r>
            <a:endParaRPr lang="en-US" sz="2000" dirty="0"/>
          </a:p>
        </p:txBody>
      </p:sp>
      <p:sp>
        <p:nvSpPr>
          <p:cNvPr id="4" name="Shape 2"/>
          <p:cNvSpPr/>
          <p:nvPr/>
        </p:nvSpPr>
        <p:spPr>
          <a:xfrm>
            <a:off x="7178040" y="109728"/>
            <a:ext cx="1600200" cy="475488"/>
          </a:xfrm>
          <a:prstGeom prst="roundRect">
            <a:avLst>
              <a:gd name="adj" fmla="val 11538"/>
            </a:avLst>
          </a:prstGeom>
          <a:solidFill>
            <a:srgbClr val="0DB7ED"/>
          </a:solidFill>
          <a:ln w="12700">
            <a:solidFill>
              <a:srgbClr val="0DB7ED"/>
            </a:solidFill>
            <a:prstDash val="solid"/>
          </a:ln>
        </p:spPr>
      </p:sp>
      <p:sp>
        <p:nvSpPr>
          <p:cNvPr id="5" name="Text 3"/>
          <p:cNvSpPr/>
          <p:nvPr/>
        </p:nvSpPr>
        <p:spPr>
          <a:xfrm>
            <a:off x="7178040" y="109728"/>
            <a:ext cx="1600200" cy="475488"/>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Course Summary</a:t>
            </a:r>
            <a:endParaRPr lang="en-US" sz="950" dirty="0"/>
          </a:p>
        </p:txBody>
      </p:sp>
      <p:sp>
        <p:nvSpPr>
          <p:cNvPr id="6" name="Shape 4"/>
          <p:cNvSpPr/>
          <p:nvPr/>
        </p:nvSpPr>
        <p:spPr>
          <a:xfrm>
            <a:off x="320040" y="868680"/>
            <a:ext cx="2697480" cy="1901952"/>
          </a:xfrm>
          <a:prstGeom prst="roundRect">
            <a:avLst>
              <a:gd name="adj" fmla="val 4808"/>
            </a:avLst>
          </a:prstGeom>
          <a:solidFill>
            <a:srgbClr val="E0F7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7" name="Shape 5"/>
          <p:cNvSpPr/>
          <p:nvPr/>
        </p:nvSpPr>
        <p:spPr>
          <a:xfrm>
            <a:off x="429768" y="960120"/>
            <a:ext cx="411480" cy="411480"/>
          </a:xfrm>
          <a:prstGeom prst="roundRect">
            <a:avLst>
              <a:gd name="adj" fmla="val 13333"/>
            </a:avLst>
          </a:prstGeom>
          <a:solidFill>
            <a:srgbClr val="0DB7ED"/>
          </a:solidFill>
          <a:ln w="12700">
            <a:solidFill>
              <a:srgbClr val="0DB7ED"/>
            </a:solidFill>
            <a:prstDash val="solid"/>
          </a:ln>
        </p:spPr>
      </p:sp>
      <p:sp>
        <p:nvSpPr>
          <p:cNvPr id="8" name="Text 6"/>
          <p:cNvSpPr/>
          <p:nvPr/>
        </p:nvSpPr>
        <p:spPr>
          <a:xfrm>
            <a:off x="429768" y="960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01</a:t>
            </a:r>
            <a:endParaRPr lang="en-US" sz="1200" dirty="0"/>
          </a:p>
        </p:txBody>
      </p:sp>
      <p:sp>
        <p:nvSpPr>
          <p:cNvPr id="9" name="Text 7"/>
          <p:cNvSpPr/>
          <p:nvPr/>
        </p:nvSpPr>
        <p:spPr>
          <a:xfrm>
            <a:off x="914400" y="978408"/>
            <a:ext cx="1993392" cy="365760"/>
          </a:xfrm>
          <a:prstGeom prst="rect">
            <a:avLst/>
          </a:prstGeom>
          <a:noFill/>
          <a:ln/>
        </p:spPr>
        <p:txBody>
          <a:bodyPr wrap="square" lIns="0" tIns="0" rIns="0" bIns="0" rtlCol="0" anchor="ctr"/>
          <a:lstStyle/>
          <a:p>
            <a:pPr indent="0" marL="0">
              <a:buNone/>
            </a:pPr>
            <a:r>
              <a:rPr lang="en-US" sz="1100" b="1" dirty="0">
                <a:solidFill>
                  <a:srgbClr val="0DB7ED"/>
                </a:solidFill>
                <a:latin typeface="Cambria" pitchFamily="34" charset="0"/>
                <a:ea typeface="Cambria" pitchFamily="34" charset="-122"/>
                <a:cs typeface="Cambria" pitchFamily="34" charset="-120"/>
              </a:rPr>
              <a:t>What is Docker?</a:t>
            </a:r>
            <a:endParaRPr lang="en-US" sz="1100" dirty="0"/>
          </a:p>
        </p:txBody>
      </p:sp>
      <p:sp>
        <p:nvSpPr>
          <p:cNvPr id="10" name="Text 8"/>
          <p:cNvSpPr/>
          <p:nvPr/>
        </p:nvSpPr>
        <p:spPr>
          <a:xfrm>
            <a:off x="429768" y="1435608"/>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The works-on-my-machine problem</a:t>
            </a:r>
            <a:endParaRPr lang="en-US" sz="950" dirty="0"/>
          </a:p>
        </p:txBody>
      </p:sp>
      <p:sp>
        <p:nvSpPr>
          <p:cNvPr id="11" name="Text 9"/>
          <p:cNvSpPr/>
          <p:nvPr/>
        </p:nvSpPr>
        <p:spPr>
          <a:xfrm>
            <a:off x="429768" y="1819656"/>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Containers vs Virtual Machines</a:t>
            </a:r>
            <a:endParaRPr lang="en-US" sz="950" dirty="0"/>
          </a:p>
        </p:txBody>
      </p:sp>
      <p:sp>
        <p:nvSpPr>
          <p:cNvPr id="12" name="Text 10"/>
          <p:cNvSpPr/>
          <p:nvPr/>
        </p:nvSpPr>
        <p:spPr>
          <a:xfrm>
            <a:off x="429768" y="2203704"/>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Docker's four benefits</a:t>
            </a:r>
            <a:endParaRPr lang="en-US" sz="950" dirty="0"/>
          </a:p>
        </p:txBody>
      </p:sp>
      <p:sp>
        <p:nvSpPr>
          <p:cNvPr id="13" name="Shape 11"/>
          <p:cNvSpPr/>
          <p:nvPr/>
        </p:nvSpPr>
        <p:spPr>
          <a:xfrm>
            <a:off x="3172968" y="868680"/>
            <a:ext cx="2697480" cy="1901952"/>
          </a:xfrm>
          <a:prstGeom prst="roundRect">
            <a:avLst>
              <a:gd name="adj" fmla="val 4808"/>
            </a:avLst>
          </a:prstGeom>
          <a:solidFill>
            <a:srgbClr val="EFF6FF"/>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14" name="Shape 12"/>
          <p:cNvSpPr/>
          <p:nvPr/>
        </p:nvSpPr>
        <p:spPr>
          <a:xfrm>
            <a:off x="3282696" y="960120"/>
            <a:ext cx="411480" cy="411480"/>
          </a:xfrm>
          <a:prstGeom prst="roundRect">
            <a:avLst>
              <a:gd name="adj" fmla="val 13333"/>
            </a:avLst>
          </a:prstGeom>
          <a:solidFill>
            <a:srgbClr val="2563EB"/>
          </a:solidFill>
          <a:ln w="12700">
            <a:solidFill>
              <a:srgbClr val="2563EB"/>
            </a:solidFill>
            <a:prstDash val="solid"/>
          </a:ln>
        </p:spPr>
      </p:sp>
      <p:sp>
        <p:nvSpPr>
          <p:cNvPr id="15" name="Text 13"/>
          <p:cNvSpPr/>
          <p:nvPr/>
        </p:nvSpPr>
        <p:spPr>
          <a:xfrm>
            <a:off x="3282696" y="960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02</a:t>
            </a:r>
            <a:endParaRPr lang="en-US" sz="1200" dirty="0"/>
          </a:p>
        </p:txBody>
      </p:sp>
      <p:sp>
        <p:nvSpPr>
          <p:cNvPr id="16" name="Text 14"/>
          <p:cNvSpPr/>
          <p:nvPr/>
        </p:nvSpPr>
        <p:spPr>
          <a:xfrm>
            <a:off x="3767328" y="978408"/>
            <a:ext cx="1993392" cy="36576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Docker Architecture</a:t>
            </a:r>
            <a:endParaRPr lang="en-US" sz="1100" dirty="0"/>
          </a:p>
        </p:txBody>
      </p:sp>
      <p:sp>
        <p:nvSpPr>
          <p:cNvPr id="17" name="Text 15"/>
          <p:cNvSpPr/>
          <p:nvPr/>
        </p:nvSpPr>
        <p:spPr>
          <a:xfrm>
            <a:off x="3282696" y="1435608"/>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Client, Daemon, Registry</a:t>
            </a:r>
            <a:endParaRPr lang="en-US" sz="950" dirty="0"/>
          </a:p>
        </p:txBody>
      </p:sp>
      <p:sp>
        <p:nvSpPr>
          <p:cNvPr id="18" name="Text 16"/>
          <p:cNvSpPr/>
          <p:nvPr/>
        </p:nvSpPr>
        <p:spPr>
          <a:xfrm>
            <a:off x="3282696" y="1819656"/>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Images, Containers, Volumes</a:t>
            </a:r>
            <a:endParaRPr lang="en-US" sz="950" dirty="0"/>
          </a:p>
        </p:txBody>
      </p:sp>
      <p:sp>
        <p:nvSpPr>
          <p:cNvPr id="19" name="Text 17"/>
          <p:cNvSpPr/>
          <p:nvPr/>
        </p:nvSpPr>
        <p:spPr>
          <a:xfrm>
            <a:off x="3282696" y="2203704"/>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How docker commands flow</a:t>
            </a:r>
            <a:endParaRPr lang="en-US" sz="950" dirty="0"/>
          </a:p>
        </p:txBody>
      </p:sp>
      <p:sp>
        <p:nvSpPr>
          <p:cNvPr id="20" name="Shape 18"/>
          <p:cNvSpPr/>
          <p:nvPr/>
        </p:nvSpPr>
        <p:spPr>
          <a:xfrm>
            <a:off x="6025896" y="868680"/>
            <a:ext cx="2697480" cy="1901952"/>
          </a:xfrm>
          <a:prstGeom prst="roundRect">
            <a:avLst>
              <a:gd name="adj" fmla="val 4808"/>
            </a:avLst>
          </a:prstGeom>
          <a:solidFill>
            <a:srgbClr val="CCFBF1"/>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1" name="Shape 19"/>
          <p:cNvSpPr/>
          <p:nvPr/>
        </p:nvSpPr>
        <p:spPr>
          <a:xfrm>
            <a:off x="6135624" y="960120"/>
            <a:ext cx="411480" cy="411480"/>
          </a:xfrm>
          <a:prstGeom prst="roundRect">
            <a:avLst>
              <a:gd name="adj" fmla="val 13333"/>
            </a:avLst>
          </a:prstGeom>
          <a:solidFill>
            <a:srgbClr val="0D9488"/>
          </a:solidFill>
          <a:ln w="12700">
            <a:solidFill>
              <a:srgbClr val="0D9488"/>
            </a:solidFill>
            <a:prstDash val="solid"/>
          </a:ln>
        </p:spPr>
      </p:sp>
      <p:sp>
        <p:nvSpPr>
          <p:cNvPr id="22" name="Text 20"/>
          <p:cNvSpPr/>
          <p:nvPr/>
        </p:nvSpPr>
        <p:spPr>
          <a:xfrm>
            <a:off x="6135624" y="9601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03</a:t>
            </a:r>
            <a:endParaRPr lang="en-US" sz="1200" dirty="0"/>
          </a:p>
        </p:txBody>
      </p:sp>
      <p:sp>
        <p:nvSpPr>
          <p:cNvPr id="23" name="Text 21"/>
          <p:cNvSpPr/>
          <p:nvPr/>
        </p:nvSpPr>
        <p:spPr>
          <a:xfrm>
            <a:off x="6620256" y="978408"/>
            <a:ext cx="1993392" cy="365760"/>
          </a:xfrm>
          <a:prstGeom prst="rect">
            <a:avLst/>
          </a:prstGeom>
          <a:noFill/>
          <a:ln/>
        </p:spPr>
        <p:txBody>
          <a:bodyPr wrap="square" lIns="0" tIns="0" rIns="0" bIns="0" rtlCol="0" anchor="ctr"/>
          <a:lstStyle/>
          <a:p>
            <a:pPr indent="0" marL="0">
              <a:buNone/>
            </a:pPr>
            <a:r>
              <a:rPr lang="en-US" sz="1100" b="1" dirty="0">
                <a:solidFill>
                  <a:srgbClr val="0D9488"/>
                </a:solidFill>
                <a:latin typeface="Cambria" pitchFamily="34" charset="0"/>
                <a:ea typeface="Cambria" pitchFamily="34" charset="-122"/>
                <a:cs typeface="Cambria" pitchFamily="34" charset="-120"/>
              </a:rPr>
              <a:t>Docker Images</a:t>
            </a:r>
            <a:endParaRPr lang="en-US" sz="1100" dirty="0"/>
          </a:p>
        </p:txBody>
      </p:sp>
      <p:sp>
        <p:nvSpPr>
          <p:cNvPr id="24" name="Text 22"/>
          <p:cNvSpPr/>
          <p:nvPr/>
        </p:nvSpPr>
        <p:spPr>
          <a:xfrm>
            <a:off x="6135624" y="1435608"/>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Layers and caching</a:t>
            </a:r>
            <a:endParaRPr lang="en-US" sz="950" dirty="0"/>
          </a:p>
        </p:txBody>
      </p:sp>
      <p:sp>
        <p:nvSpPr>
          <p:cNvPr id="25" name="Text 23"/>
          <p:cNvSpPr/>
          <p:nvPr/>
        </p:nvSpPr>
        <p:spPr>
          <a:xfrm>
            <a:off x="6135624" y="1819656"/>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pull, inspect, tag, rmi</a:t>
            </a:r>
            <a:endParaRPr lang="en-US" sz="950" dirty="0"/>
          </a:p>
        </p:txBody>
      </p:sp>
      <p:sp>
        <p:nvSpPr>
          <p:cNvPr id="26" name="Text 24"/>
          <p:cNvSpPr/>
          <p:nvPr/>
        </p:nvSpPr>
        <p:spPr>
          <a:xfrm>
            <a:off x="6135624" y="2203704"/>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Alpine vs Slim vs Full</a:t>
            </a:r>
            <a:endParaRPr lang="en-US" sz="950" dirty="0"/>
          </a:p>
        </p:txBody>
      </p:sp>
      <p:sp>
        <p:nvSpPr>
          <p:cNvPr id="27" name="Shape 25"/>
          <p:cNvSpPr/>
          <p:nvPr/>
        </p:nvSpPr>
        <p:spPr>
          <a:xfrm>
            <a:off x="320040" y="2880360"/>
            <a:ext cx="2697480" cy="1901952"/>
          </a:xfrm>
          <a:prstGeom prst="roundRect">
            <a:avLst>
              <a:gd name="adj" fmla="val 4808"/>
            </a:avLst>
          </a:prstGeom>
          <a:solidFill>
            <a:srgbClr val="D1FAE5"/>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28" name="Shape 26"/>
          <p:cNvSpPr/>
          <p:nvPr/>
        </p:nvSpPr>
        <p:spPr>
          <a:xfrm>
            <a:off x="429768" y="2971800"/>
            <a:ext cx="411480" cy="411480"/>
          </a:xfrm>
          <a:prstGeom prst="roundRect">
            <a:avLst>
              <a:gd name="adj" fmla="val 13333"/>
            </a:avLst>
          </a:prstGeom>
          <a:solidFill>
            <a:srgbClr val="059669"/>
          </a:solidFill>
          <a:ln w="12700">
            <a:solidFill>
              <a:srgbClr val="059669"/>
            </a:solidFill>
            <a:prstDash val="solid"/>
          </a:ln>
        </p:spPr>
      </p:sp>
      <p:sp>
        <p:nvSpPr>
          <p:cNvPr id="29" name="Text 27"/>
          <p:cNvSpPr/>
          <p:nvPr/>
        </p:nvSpPr>
        <p:spPr>
          <a:xfrm>
            <a:off x="429768" y="29718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04</a:t>
            </a:r>
            <a:endParaRPr lang="en-US" sz="1200" dirty="0"/>
          </a:p>
        </p:txBody>
      </p:sp>
      <p:sp>
        <p:nvSpPr>
          <p:cNvPr id="30" name="Text 28"/>
          <p:cNvSpPr/>
          <p:nvPr/>
        </p:nvSpPr>
        <p:spPr>
          <a:xfrm>
            <a:off x="914400" y="2990088"/>
            <a:ext cx="1993392" cy="365760"/>
          </a:xfrm>
          <a:prstGeom prst="rect">
            <a:avLst/>
          </a:prstGeom>
          <a:noFill/>
          <a:ln/>
        </p:spPr>
        <p:txBody>
          <a:bodyPr wrap="square" lIns="0" tIns="0" rIns="0" bIns="0" rtlCol="0" anchor="ctr"/>
          <a:lstStyle/>
          <a:p>
            <a:pPr indent="0" marL="0">
              <a:buNone/>
            </a:pPr>
            <a:r>
              <a:rPr lang="en-US" sz="1100" b="1" dirty="0">
                <a:solidFill>
                  <a:srgbClr val="059669"/>
                </a:solidFill>
                <a:latin typeface="Cambria" pitchFamily="34" charset="0"/>
                <a:ea typeface="Cambria" pitchFamily="34" charset="-122"/>
                <a:cs typeface="Cambria" pitchFamily="34" charset="-120"/>
              </a:rPr>
              <a:t>Docker Containers</a:t>
            </a:r>
            <a:endParaRPr lang="en-US" sz="1100" dirty="0"/>
          </a:p>
        </p:txBody>
      </p:sp>
      <p:sp>
        <p:nvSpPr>
          <p:cNvPr id="31" name="Text 29"/>
          <p:cNvSpPr/>
          <p:nvPr/>
        </p:nvSpPr>
        <p:spPr>
          <a:xfrm>
            <a:off x="429768" y="3447288"/>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docker run with key flags</a:t>
            </a:r>
            <a:endParaRPr lang="en-US" sz="950" dirty="0"/>
          </a:p>
        </p:txBody>
      </p:sp>
      <p:sp>
        <p:nvSpPr>
          <p:cNvPr id="32" name="Text 30"/>
          <p:cNvSpPr/>
          <p:nvPr/>
        </p:nvSpPr>
        <p:spPr>
          <a:xfrm>
            <a:off x="429768" y="3831336"/>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Managing and debugging</a:t>
            </a:r>
            <a:endParaRPr lang="en-US" sz="950" dirty="0"/>
          </a:p>
        </p:txBody>
      </p:sp>
      <p:sp>
        <p:nvSpPr>
          <p:cNvPr id="33" name="Text 31"/>
          <p:cNvSpPr/>
          <p:nvPr/>
        </p:nvSpPr>
        <p:spPr>
          <a:xfrm>
            <a:off x="429768" y="4215384"/>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Port mapping</a:t>
            </a:r>
            <a:endParaRPr lang="en-US" sz="950" dirty="0"/>
          </a:p>
        </p:txBody>
      </p:sp>
      <p:sp>
        <p:nvSpPr>
          <p:cNvPr id="34" name="Shape 32"/>
          <p:cNvSpPr/>
          <p:nvPr/>
        </p:nvSpPr>
        <p:spPr>
          <a:xfrm>
            <a:off x="3172968" y="2880360"/>
            <a:ext cx="2697480" cy="1901952"/>
          </a:xfrm>
          <a:prstGeom prst="roundRect">
            <a:avLst>
              <a:gd name="adj" fmla="val 4808"/>
            </a:avLst>
          </a:prstGeom>
          <a:solidFill>
            <a:srgbClr val="EDE9FE"/>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35" name="Shape 33"/>
          <p:cNvSpPr/>
          <p:nvPr/>
        </p:nvSpPr>
        <p:spPr>
          <a:xfrm>
            <a:off x="3282696" y="2971800"/>
            <a:ext cx="411480" cy="411480"/>
          </a:xfrm>
          <a:prstGeom prst="roundRect">
            <a:avLst>
              <a:gd name="adj" fmla="val 13333"/>
            </a:avLst>
          </a:prstGeom>
          <a:solidFill>
            <a:srgbClr val="7C3AED"/>
          </a:solidFill>
          <a:ln w="12700">
            <a:solidFill>
              <a:srgbClr val="7C3AED"/>
            </a:solidFill>
            <a:prstDash val="solid"/>
          </a:ln>
        </p:spPr>
      </p:sp>
      <p:sp>
        <p:nvSpPr>
          <p:cNvPr id="36" name="Text 34"/>
          <p:cNvSpPr/>
          <p:nvPr/>
        </p:nvSpPr>
        <p:spPr>
          <a:xfrm>
            <a:off x="3282696" y="29718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05</a:t>
            </a:r>
            <a:endParaRPr lang="en-US" sz="1200" dirty="0"/>
          </a:p>
        </p:txBody>
      </p:sp>
      <p:sp>
        <p:nvSpPr>
          <p:cNvPr id="37" name="Text 35"/>
          <p:cNvSpPr/>
          <p:nvPr/>
        </p:nvSpPr>
        <p:spPr>
          <a:xfrm>
            <a:off x="3767328" y="2990088"/>
            <a:ext cx="1993392" cy="36576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Dockerfile</a:t>
            </a:r>
            <a:endParaRPr lang="en-US" sz="1100" dirty="0"/>
          </a:p>
        </p:txBody>
      </p:sp>
      <p:sp>
        <p:nvSpPr>
          <p:cNvPr id="38" name="Text 36"/>
          <p:cNvSpPr/>
          <p:nvPr/>
        </p:nvSpPr>
        <p:spPr>
          <a:xfrm>
            <a:off x="3282696" y="3447288"/>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FROM, WORKDIR, COPY, RUN, CMD</a:t>
            </a:r>
            <a:endParaRPr lang="en-US" sz="950" dirty="0"/>
          </a:p>
        </p:txBody>
      </p:sp>
      <p:sp>
        <p:nvSpPr>
          <p:cNvPr id="39" name="Text 37"/>
          <p:cNvSpPr/>
          <p:nvPr/>
        </p:nvSpPr>
        <p:spPr>
          <a:xfrm>
            <a:off x="3282696" y="3831336"/>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docker build</a:t>
            </a:r>
            <a:endParaRPr lang="en-US" sz="950" dirty="0"/>
          </a:p>
        </p:txBody>
      </p:sp>
      <p:sp>
        <p:nvSpPr>
          <p:cNvPr id="40" name="Text 38"/>
          <p:cNvSpPr/>
          <p:nvPr/>
        </p:nvSpPr>
        <p:spPr>
          <a:xfrm>
            <a:off x="3282696" y="4215384"/>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Layer caching order</a:t>
            </a:r>
            <a:endParaRPr lang="en-US" sz="950" dirty="0"/>
          </a:p>
        </p:txBody>
      </p:sp>
      <p:sp>
        <p:nvSpPr>
          <p:cNvPr id="41" name="Shape 39"/>
          <p:cNvSpPr/>
          <p:nvPr/>
        </p:nvSpPr>
        <p:spPr>
          <a:xfrm>
            <a:off x="6025896" y="2880360"/>
            <a:ext cx="2697480" cy="1901952"/>
          </a:xfrm>
          <a:prstGeom prst="roundRect">
            <a:avLst>
              <a:gd name="adj" fmla="val 4808"/>
            </a:avLst>
          </a:prstGeom>
          <a:solidFill>
            <a:srgbClr val="FEF3C7"/>
          </a:solidFill>
          <a:ln w="12700">
            <a:solidFill>
              <a:srgbClr val="E2E8F0"/>
            </a:solidFill>
            <a:prstDash val="solid"/>
          </a:ln>
          <a:effectLst>
            <a:outerShdw sx="100000" sy="100000" kx="0" ky="0" algn="bl" rotWithShape="0" blurRad="101600" dist="38100" dir="2700000">
              <a:srgbClr val="000000">
                <a:alpha val="12000"/>
              </a:srgbClr>
            </a:outerShdw>
          </a:effectLst>
        </p:spPr>
      </p:sp>
      <p:sp>
        <p:nvSpPr>
          <p:cNvPr id="42" name="Shape 40"/>
          <p:cNvSpPr/>
          <p:nvPr/>
        </p:nvSpPr>
        <p:spPr>
          <a:xfrm>
            <a:off x="6135624" y="2971800"/>
            <a:ext cx="411480" cy="411480"/>
          </a:xfrm>
          <a:prstGeom prst="roundRect">
            <a:avLst>
              <a:gd name="adj" fmla="val 13333"/>
            </a:avLst>
          </a:prstGeom>
          <a:solidFill>
            <a:srgbClr val="D97706"/>
          </a:solidFill>
          <a:ln w="12700">
            <a:solidFill>
              <a:srgbClr val="D97706"/>
            </a:solidFill>
            <a:prstDash val="solid"/>
          </a:ln>
        </p:spPr>
      </p:sp>
      <p:sp>
        <p:nvSpPr>
          <p:cNvPr id="43" name="Text 41"/>
          <p:cNvSpPr/>
          <p:nvPr/>
        </p:nvSpPr>
        <p:spPr>
          <a:xfrm>
            <a:off x="6135624" y="29718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06</a:t>
            </a:r>
            <a:endParaRPr lang="en-US" sz="1200" dirty="0"/>
          </a:p>
        </p:txBody>
      </p:sp>
      <p:sp>
        <p:nvSpPr>
          <p:cNvPr id="44" name="Text 42"/>
          <p:cNvSpPr/>
          <p:nvPr/>
        </p:nvSpPr>
        <p:spPr>
          <a:xfrm>
            <a:off x="6620256" y="2990088"/>
            <a:ext cx="1993392" cy="365760"/>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Volumes</a:t>
            </a:r>
            <a:endParaRPr lang="en-US" sz="1100" dirty="0"/>
          </a:p>
        </p:txBody>
      </p:sp>
      <p:sp>
        <p:nvSpPr>
          <p:cNvPr id="45" name="Text 43"/>
          <p:cNvSpPr/>
          <p:nvPr/>
        </p:nvSpPr>
        <p:spPr>
          <a:xfrm>
            <a:off x="6135624" y="3447288"/>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Named volumes vs bind mounts</a:t>
            </a:r>
            <a:endParaRPr lang="en-US" sz="950" dirty="0"/>
          </a:p>
        </p:txBody>
      </p:sp>
      <p:sp>
        <p:nvSpPr>
          <p:cNvPr id="46" name="Text 44"/>
          <p:cNvSpPr/>
          <p:nvPr/>
        </p:nvSpPr>
        <p:spPr>
          <a:xfrm>
            <a:off x="6135624" y="3831336"/>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Data persists container removal</a:t>
            </a:r>
            <a:endParaRPr lang="en-US" sz="950" dirty="0"/>
          </a:p>
        </p:txBody>
      </p:sp>
      <p:sp>
        <p:nvSpPr>
          <p:cNvPr id="47" name="Text 45"/>
          <p:cNvSpPr/>
          <p:nvPr/>
        </p:nvSpPr>
        <p:spPr>
          <a:xfrm>
            <a:off x="6135624" y="4215384"/>
            <a:ext cx="2487168" cy="347472"/>
          </a:xfrm>
          <a:prstGeom prst="rect">
            <a:avLst/>
          </a:prstGeom>
          <a:noFill/>
          <a:ln/>
        </p:spPr>
        <p:txBody>
          <a:bodyPr wrap="square" lIns="0" tIns="0" rIns="0" bIns="0" rtlCol="0" anchor="ctr"/>
          <a:lstStyle/>
          <a:p>
            <a:pPr indent="0" marL="0">
              <a:buNone/>
            </a:pPr>
            <a:r>
              <a:rPr lang="en-US" sz="950" dirty="0">
                <a:solidFill>
                  <a:srgbClr val="0F172A"/>
                </a:solidFill>
                <a:latin typeface="Arial" pitchFamily="34" charset="0"/>
                <a:ea typeface="Arial" pitchFamily="34" charset="-122"/>
                <a:cs typeface="Arial" pitchFamily="34" charset="-120"/>
              </a:rPr>
              <a:t>→  docker volume commands</a:t>
            </a:r>
            <a:endParaRPr lang="en-US" sz="950" dirty="0"/>
          </a:p>
        </p:txBody>
      </p:sp>
      <p:sp>
        <p:nvSpPr>
          <p:cNvPr id="48" name="Shape 46"/>
          <p:cNvSpPr/>
          <p:nvPr/>
        </p:nvSpPr>
        <p:spPr>
          <a:xfrm>
            <a:off x="0" y="4846320"/>
            <a:ext cx="9144000" cy="297180"/>
          </a:xfrm>
          <a:prstGeom prst="rect">
            <a:avLst/>
          </a:prstGeom>
          <a:solidFill>
            <a:srgbClr val="0F172A"/>
          </a:solidFill>
          <a:ln w="12700">
            <a:solidFill>
              <a:srgbClr val="0F172A"/>
            </a:solidFill>
            <a:prstDash val="solid"/>
          </a:ln>
        </p:spPr>
      </p:sp>
      <p:sp>
        <p:nvSpPr>
          <p:cNvPr id="49" name="Text 47"/>
          <p:cNvSpPr/>
          <p:nvPr/>
        </p:nvSpPr>
        <p:spPr>
          <a:xfrm>
            <a:off x="365760" y="4864608"/>
            <a:ext cx="8412480" cy="256032"/>
          </a:xfrm>
          <a:prstGeom prst="rect">
            <a:avLst/>
          </a:prstGeom>
          <a:noFill/>
          <a:ln/>
        </p:spPr>
        <p:txBody>
          <a:bodyPr wrap="square" lIns="0" tIns="0" rIns="0" bIns="0" rtlCol="0" anchor="ctr"/>
          <a:lstStyle/>
          <a:p>
            <a:pPr algn="ctr" indent="0" marL="0">
              <a:buNone/>
            </a:pPr>
            <a:r>
              <a:rPr lang="en-US" sz="900" dirty="0">
                <a:solidFill>
                  <a:srgbClr val="94A3B8"/>
                </a:solidFill>
                <a:latin typeface="Arial" pitchFamily="34" charset="0"/>
                <a:ea typeface="Arial" pitchFamily="34" charset="-122"/>
                <a:cs typeface="Arial" pitchFamily="34" charset="-120"/>
              </a:rPr>
              <a:t>Trainer Guide  —  Course Complete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7C2D12"/>
        </a:solidFill>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EF4444"/>
          </a:solidFill>
          <a:ln w="12700">
            <a:solidFill>
              <a:srgbClr val="EF4444"/>
            </a:solidFill>
            <a:prstDash val="solid"/>
          </a:ln>
        </p:spPr>
      </p:sp>
      <p:sp>
        <p:nvSpPr>
          <p:cNvPr id="3" name="Shape 1"/>
          <p:cNvSpPr/>
          <p:nvPr/>
        </p:nvSpPr>
        <p:spPr>
          <a:xfrm>
            <a:off x="6217920" y="-914400"/>
            <a:ext cx="4389120" cy="4389120"/>
          </a:xfrm>
          <a:prstGeom prst="ellipse">
            <a:avLst/>
          </a:prstGeom>
          <a:solidFill>
            <a:srgbClr val="EF4444">
              <a:alpha val="10000"/>
            </a:srgbClr>
          </a:solidFill>
          <a:ln w="12700">
            <a:solidFill>
              <a:srgbClr val="EF4444">
                <a:alpha val="18000"/>
              </a:srgbClr>
            </a:solidFill>
            <a:prstDash val="solid"/>
          </a:ln>
        </p:spPr>
      </p:sp>
      <p:sp>
        <p:nvSpPr>
          <p:cNvPr id="4" name="Text 2"/>
          <p:cNvSpPr/>
          <p:nvPr/>
        </p:nvSpPr>
        <p:spPr>
          <a:xfrm>
            <a:off x="594360" y="914400"/>
            <a:ext cx="73152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Training Complete.</a:t>
            </a:r>
            <a:endParaRPr lang="en-US" sz="4800" dirty="0"/>
          </a:p>
        </p:txBody>
      </p:sp>
      <p:sp>
        <p:nvSpPr>
          <p:cNvPr id="5" name="Shape 3"/>
          <p:cNvSpPr/>
          <p:nvPr/>
        </p:nvSpPr>
        <p:spPr>
          <a:xfrm>
            <a:off x="594360" y="1920240"/>
            <a:ext cx="4114800" cy="27432"/>
          </a:xfrm>
          <a:prstGeom prst="rect">
            <a:avLst/>
          </a:prstGeom>
          <a:solidFill>
            <a:srgbClr val="EF4444"/>
          </a:solidFill>
          <a:ln w="12700">
            <a:solidFill>
              <a:srgbClr val="EF4444"/>
            </a:solidFill>
            <a:prstDash val="solid"/>
          </a:ln>
        </p:spPr>
      </p:sp>
      <p:sp>
        <p:nvSpPr>
          <p:cNvPr id="6" name="Text 4"/>
          <p:cNvSpPr/>
          <p:nvPr/>
        </p:nvSpPr>
        <p:spPr>
          <a:xfrm>
            <a:off x="594360" y="2084832"/>
            <a:ext cx="7315200" cy="384048"/>
          </a:xfrm>
          <a:prstGeom prst="rect">
            <a:avLst/>
          </a:prstGeom>
          <a:noFill/>
          <a:ln/>
        </p:spPr>
        <p:txBody>
          <a:bodyPr wrap="square" lIns="0" tIns="0" rIns="0" bIns="0" rtlCol="0" anchor="ctr"/>
          <a:lstStyle/>
          <a:p>
            <a:pPr indent="0" marL="0">
              <a:buNone/>
            </a:pPr>
            <a:r>
              <a:rPr lang="en-US" sz="1400" dirty="0">
                <a:solidFill>
                  <a:srgbClr val="FCA5A5"/>
                </a:solidFill>
                <a:latin typeface="Arial" pitchFamily="34" charset="0"/>
                <a:ea typeface="Arial" pitchFamily="34" charset="-122"/>
                <a:cs typeface="Arial" pitchFamily="34" charset="-120"/>
              </a:rPr>
              <a:t>Trainer notes, lab answers and error guides are in this deck.</a:t>
            </a:r>
            <a:endParaRPr lang="en-US" sz="1400" dirty="0"/>
          </a:p>
        </p:txBody>
      </p:sp>
      <p:sp>
        <p:nvSpPr>
          <p:cNvPr id="7" name="Text 5"/>
          <p:cNvSpPr/>
          <p:nvPr/>
        </p:nvSpPr>
        <p:spPr>
          <a:xfrm>
            <a:off x="594360" y="2542032"/>
            <a:ext cx="6858000" cy="384048"/>
          </a:xfrm>
          <a:prstGeom prst="rect">
            <a:avLst/>
          </a:prstGeom>
          <a:noFill/>
          <a:ln/>
        </p:spPr>
        <p:txBody>
          <a:bodyPr wrap="square" lIns="0" tIns="0" rIns="0" bIns="0" rtlCol="0" anchor="ctr"/>
          <a:lstStyle/>
          <a:p>
            <a:pPr indent="0" marL="0">
              <a:buNone/>
            </a:pPr>
            <a:r>
              <a:rPr lang="en-US" sz="1300" dirty="0">
                <a:solidFill>
                  <a:srgbClr val="FCA5A5"/>
                </a:solidFill>
                <a:latin typeface="Arial" pitchFamily="34" charset="0"/>
                <a:ea typeface="Arial" pitchFamily="34" charset="-122"/>
                <a:cs typeface="Arial" pitchFamily="34" charset="-120"/>
              </a:rPr>
              <a:t>Share Docker_Student.pptx with students — not this file.</a:t>
            </a:r>
            <a:endParaRPr lang="en-US" sz="1300" dirty="0"/>
          </a:p>
        </p:txBody>
      </p:sp>
      <p:sp>
        <p:nvSpPr>
          <p:cNvPr id="8" name="Text 6"/>
          <p:cNvSpPr/>
          <p:nvPr/>
        </p:nvSpPr>
        <p:spPr>
          <a:xfrm>
            <a:off x="594360" y="3108960"/>
            <a:ext cx="8046720" cy="475488"/>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Post-training:  </a:t>
            </a:r>
            <a:pPr indent="0" marL="0">
              <a:buNone/>
            </a:pPr>
            <a:r>
              <a:rPr lang="en-US" sz="1100" dirty="0">
                <a:solidFill>
                  <a:srgbClr val="FCA5A5"/>
                </a:solidFill>
                <a:latin typeface="Arial" pitchFamily="34" charset="0"/>
                <a:ea typeface="Arial" pitchFamily="34" charset="-122"/>
                <a:cs typeface="Arial" pitchFamily="34" charset="-120"/>
              </a:rPr>
              <a:t>Collect materials  •  Share take-home lab guide  •  Send Kubernetes Day 2 info  •  Complete trainer feedback</a:t>
            </a:r>
            <a:endParaRPr lang="en-US" sz="1100" dirty="0"/>
          </a:p>
        </p:txBody>
      </p:sp>
      <p:sp>
        <p:nvSpPr>
          <p:cNvPr id="9" name="Shape 7"/>
          <p:cNvSpPr/>
          <p:nvPr/>
        </p:nvSpPr>
        <p:spPr>
          <a:xfrm>
            <a:off x="594360" y="3767328"/>
            <a:ext cx="3474720" cy="530352"/>
          </a:xfrm>
          <a:prstGeom prst="roundRect">
            <a:avLst>
              <a:gd name="adj" fmla="val 13793"/>
            </a:avLst>
          </a:prstGeom>
          <a:solidFill>
            <a:srgbClr val="EF4444"/>
          </a:solidFill>
          <a:ln w="12700">
            <a:solidFill>
              <a:srgbClr val="EF4444"/>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594360" y="3767328"/>
            <a:ext cx="3474720"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CONFIDENTIAL — Do Not Distribute</a:t>
            </a:r>
            <a:endParaRPr lang="en-US" sz="1300" dirty="0"/>
          </a:p>
        </p:txBody>
      </p:sp>
      <p:sp>
        <p:nvSpPr>
          <p:cNvPr id="11" name="Shape 9"/>
          <p:cNvSpPr/>
          <p:nvPr/>
        </p:nvSpPr>
        <p:spPr>
          <a:xfrm>
            <a:off x="0" y="4754880"/>
            <a:ext cx="9144000" cy="388620"/>
          </a:xfrm>
          <a:prstGeom prst="rect">
            <a:avLst/>
          </a:prstGeom>
          <a:solidFill>
            <a:srgbClr val="450A0A"/>
          </a:solidFill>
          <a:ln w="12700">
            <a:solidFill>
              <a:srgbClr val="450A0A"/>
            </a:solidFill>
            <a:prstDash val="solid"/>
          </a:ln>
        </p:spPr>
      </p:sp>
      <p:sp>
        <p:nvSpPr>
          <p:cNvPr id="12" name="Text 10"/>
          <p:cNvSpPr/>
          <p:nvPr/>
        </p:nvSpPr>
        <p:spPr>
          <a:xfrm>
            <a:off x="457200" y="4773168"/>
            <a:ext cx="8229600" cy="320040"/>
          </a:xfrm>
          <a:prstGeom prst="rect">
            <a:avLst/>
          </a:prstGeom>
          <a:noFill/>
          <a:ln/>
        </p:spPr>
        <p:txBody>
          <a:bodyPr wrap="square" lIns="0" tIns="0" rIns="0" bIns="0" rtlCol="0" anchor="ctr"/>
          <a:lstStyle/>
          <a:p>
            <a:pPr algn="ctr" indent="0" marL="0">
              <a:buNone/>
            </a:pPr>
            <a:r>
              <a:rPr lang="en-US" sz="1000" dirty="0">
                <a:solidFill>
                  <a:srgbClr val="FCA5A5"/>
                </a:solidFill>
                <a:latin typeface="Arial" pitchFamily="34" charset="0"/>
                <a:ea typeface="Arial" pitchFamily="34" charset="-122"/>
                <a:cs typeface="Arial" pitchFamily="34" charset="-120"/>
              </a:rPr>
              <a:t>TRAINER GUIDE — PART 3 OF 3  —  CONFIDENTIAL  —  Not for Distribution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Training - Trainer Guide Part 3</dc:title>
  <dc:subject>PptxGenJS Presentation</dc:subject>
  <dc:creator>PptxGenJS</dc:creator>
  <cp:lastModifiedBy>PptxGenJS</cp:lastModifiedBy>
  <cp:revision>1</cp:revision>
  <dcterms:created xsi:type="dcterms:W3CDTF">2026-07-01T12:10:21Z</dcterms:created>
  <dcterms:modified xsi:type="dcterms:W3CDTF">2026-07-01T12:10:21Z</dcterms:modified>
</cp:coreProperties>
</file>