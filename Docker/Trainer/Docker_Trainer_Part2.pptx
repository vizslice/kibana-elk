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10:22 (after break)
Say: 'Welcome back. Now we go practical — images are what everything else is built on. In the next 35 minutes you will understand images well enough to use them confidently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10:22 – 10:34  (12 min)
Key concept: layers build from bottom to top. The base OS is always the foundation. Each instruction in a Dockerfile adds a layer on top.
Live demo here: show students docker pull python:3.11-slim in terminal. They will see multiple layers downloading with progress bars — point them out: 'Each of those lines is a layer being pulled from Docker Hub.'
Common question: 'If I change one line of my app code, does everything re-download?' Answer: No — only the layer that changed and any layers above it. Layers below are cached. This is why layer order in Dockerfile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10:34 – 10:46  (12 min)
LIVE DEMO — run these commands in order while students watch:
1. docker pull nginx:alpine   (show layers downloading)
2. docker images   (show the image in the list)
3. docker history nginx:alpine   (show the layers)
4. docker tag nginx:alpine my-nginx:v1.0   (show same IMAGE ID)
5. docker images | grep my-nginx   (same ID, different name)
Key point to make when tagging: 'Notice the IMAGE ID is identical. docker tag does not copy the image — it just creates a new pointer. No extra disk space used.'
Common mistake during lab: students try to rmi an image that is still referenced by a container. Tell them: stop and remove the container first, then remove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10:46 – 10:58  (12 min)
Size comparison is the most memorable thing on this slide. Say: 'Python full = 917 MB. Alpine = 49 MB. That is 95% smaller. If you are pulling this image 100 times a day in a CI/CD pipeline, that adds up to significant time and bandwidth savings.'
Alpine trade-off to mention: Alpine uses musl libc instead of glibc. Most Python packages work fine. A small number with C extensions may need extra work. For a junior group, tell them: start with Alpine, fall back to slim if something breaks.
Best practice on :latest — give a real scenario: 'You deploy to production with nginx:latest. Three weeks later Docker Hub updates latest to nginx 1.26. Your next deployment pulls a different version from your test environment. Subtle breaking changes. Specific tags prevent this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10:58
Say: 'Images are the blueprint. Now we look at what actually runs — the container. This is where Docker becomes real — by end of this section you will be running live containers from your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10:58 – 11:10  (12 min)
Class → Object analogy is the most effective for developers. Say: 'A Docker image is like a class definition in code. A container is an instance of that class. You can create as many instances as you want from the same definition.'
Lifecycle states — walk through the five states quickly. Students only need to know Created, Running, Exited and Removed for today. Paused is rare in practice.
Ephemeral is the key concept that leads to Volumes. Plant the seed: 'Containers lose all their data when removed. We'll solve that in Section 06 with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11:10 – 11:30  (20 min)
LIVE DEMO — run these in terminal while students watch:
1. docker run -d --name webserver -p 8080:80 nginx:alpine
   → open localhost:8080 in browser. Students see nginx running.
2. docker run -it --rm ubuntu:22.04 bash
   → explore the shell. run 'ls', 'cat /etc/os-release', 'exit'
   → show the container is gone after exit (--rm flag)
3. docker run -d -e MYSQL_ROOT_PASSWORD=mypassword mysql:8.0
   → show -e flag for secrets
Key talking point on -d vs -it: '-d is for long-running services. -it is for exploring or running one-off commands. You will use both in the lab.'
Common confusion: students type docker run nginx and the terminal hangs. Explain: without -d, Docker runs in the foreground and you see all the logs. Ctrl+C to stop. Use -d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11:30 – 11:45  (15 min)
This is a reference slide — don't read every command. Walk through each group in 3 minutes, then let students use it as a cheat sheet during the lab.
Most useful commands to highlight:
- docker logs -f: 'This is your first debugging tool. When something goes wrong inside a container, logs tells you why.'
- docker exec -it web bash: 'This opens a live shell inside a running container. Powerful for debugging — you can explore the filesystem, run commands, check environment variables.'
- docker ps -a: 'Always run this if you can't find your container — it shows stopped containers too.'
LUNCH: 12:00 – 13:00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11:45 – 11:55  (10 min)
Port mapping is the concept students struggle with most. Draw it on the whiteboard: left side = your machine, right side = container. The left number is the door on your machine. The right number is the door inside the container.
Analogy: 'Think of it like a hotel. Port 8080 on your machine is the hotel reception. Port 80 inside the container is the room. The -p flag is the hotel directory that routes you to the right room.'
Common error: students type -p 80:80 and get 'port is already in use' because something else on their machine is using port 80. Solution: change the host port to 8080 or 8081.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11:55 – 12:00  (5 min)
Quick close before lunch. Don't lecture on these — just call them out and say why they matter.
BP 02 — data loss: this is the one juniors learn the hard way. Tell a quick story: 'A developer runs a MySQL container for a week, builds up test data, then does docker rm to clean up. All the data is gone. We fix this in Section 06 with Volumes.'
BP 03 — restart: ask 'What happens if the server restarts at 3am and your containers don't come back up automatically?' They get it immediately.
LUNCH: 12:00 – 13:00
During lunch: ensure Docker Desktop is still running on all machines for the afternoon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TRAINER GUIDE
TIMING: 13:00 – 14:30
Walk the room for the first 15 minutes — don't stand at the front. Students need hands-on time and they will get stuck in different places.
Task 1 expected output:
docker images
nginx   latest   xxx   141MB
nginx   alpine   xxx    41MB
Task 3 — students sometimes get 'port already allocated'. Fix: docker rm -f webserver then retry, or change port to -p 8081:80
Task 4 — if browser shows 'connection refused': confirm container is running with docker ps. If not listed, run docker ps -a to see if it exited — then docker logs webserver to see the error.
Task 5 — docker logs -f hangs. Tell students: Ctrl+C to exit the follow mode.
Task 6 — once inside the shell (sh), let students explore: ls /usr/share/nginx/html, cat /etc/nginx/nginx.conf. Then type exit to leave. Then:
docker stop webserver
docker rm webserver
BREAK: 14:30 – 14:40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handy during the lab. Port already allocated is by far the most frequent error in Lab 1.
If a student's container exits immediately: docker logs webserver will show the error. Most common cause: missing environment variable (e.g. MYSQL needs MYSQL_ROOT_PASSWORD).
If docker exec -it webserver bash fails: nginx:alpine uses sh not bash (Alpine has no bash by default). Use docker exec -it webserver sh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End of Lab 1 debrief — approx 14:45
Say: 'You can now pull images and run containers. In the next block we learn to build our OWN images using a Dockerfile — and then we solve the data problem with Volumes.'
Two sentences per topic. No detail. This is a signpost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03</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Docker Images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Pulling, inspecting, tagging and understanding layers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DOCKER IMAGE?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Docker Images</a:t>
            </a:r>
            <a:endParaRPr lang="en-US" sz="950" dirty="0"/>
          </a:p>
        </p:txBody>
      </p:sp>
      <p:sp>
        <p:nvSpPr>
          <p:cNvPr id="6" name="Shape 4"/>
          <p:cNvSpPr/>
          <p:nvPr/>
        </p:nvSpPr>
        <p:spPr>
          <a:xfrm>
            <a:off x="320040" y="868680"/>
            <a:ext cx="8503920" cy="822960"/>
          </a:xfrm>
          <a:prstGeom prst="roundRect">
            <a:avLst>
              <a:gd name="adj" fmla="val 11111"/>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731520"/>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A Docker image is a read-only template containing everything needed to run an application — code, runtime, libraries, config — packaged into layers.</a:t>
            </a:r>
            <a:endParaRPr lang="en-US" sz="1350" dirty="0"/>
          </a:p>
        </p:txBody>
      </p:sp>
      <p:sp>
        <p:nvSpPr>
          <p:cNvPr id="8" name="Text 6"/>
          <p:cNvSpPr/>
          <p:nvPr/>
        </p:nvSpPr>
        <p:spPr>
          <a:xfrm>
            <a:off x="320040" y="1847088"/>
            <a:ext cx="4572000" cy="32004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How Images Are Built — Layers</a:t>
            </a:r>
            <a:endParaRPr lang="en-US" sz="1200" dirty="0"/>
          </a:p>
        </p:txBody>
      </p:sp>
      <p:sp>
        <p:nvSpPr>
          <p:cNvPr id="9" name="Shape 7"/>
          <p:cNvSpPr/>
          <p:nvPr/>
        </p:nvSpPr>
        <p:spPr>
          <a:xfrm>
            <a:off x="320040" y="2240280"/>
            <a:ext cx="4892040" cy="475488"/>
          </a:xfrm>
          <a:prstGeom prst="roundRect">
            <a:avLst>
              <a:gd name="adj" fmla="val 1923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0" name="Shape 8"/>
          <p:cNvSpPr/>
          <p:nvPr/>
        </p:nvSpPr>
        <p:spPr>
          <a:xfrm>
            <a:off x="438912" y="2295144"/>
            <a:ext cx="347472" cy="347472"/>
          </a:xfrm>
          <a:prstGeom prst="roundRect">
            <a:avLst>
              <a:gd name="adj" fmla="val 13158"/>
            </a:avLst>
          </a:prstGeom>
          <a:solidFill>
            <a:srgbClr val="2563EB"/>
          </a:solidFill>
          <a:ln w="12700">
            <a:solidFill>
              <a:srgbClr val="2563EB"/>
            </a:solidFill>
            <a:prstDash val="solid"/>
          </a:ln>
        </p:spPr>
      </p:sp>
      <p:sp>
        <p:nvSpPr>
          <p:cNvPr id="11" name="Text 9"/>
          <p:cNvSpPr/>
          <p:nvPr/>
        </p:nvSpPr>
        <p:spPr>
          <a:xfrm>
            <a:off x="438912" y="2295144"/>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L4</a:t>
            </a:r>
            <a:endParaRPr lang="en-US" sz="900" dirty="0"/>
          </a:p>
        </p:txBody>
      </p:sp>
      <p:sp>
        <p:nvSpPr>
          <p:cNvPr id="12" name="Text 10"/>
          <p:cNvSpPr/>
          <p:nvPr/>
        </p:nvSpPr>
        <p:spPr>
          <a:xfrm>
            <a:off x="896112" y="2331720"/>
            <a:ext cx="4206240" cy="292608"/>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Your App Code</a:t>
            </a:r>
            <a:endParaRPr lang="en-US" sz="1100" dirty="0"/>
          </a:p>
        </p:txBody>
      </p:sp>
      <p:sp>
        <p:nvSpPr>
          <p:cNvPr id="13" name="Shape 11"/>
          <p:cNvSpPr/>
          <p:nvPr/>
        </p:nvSpPr>
        <p:spPr>
          <a:xfrm>
            <a:off x="320040" y="2807208"/>
            <a:ext cx="4892040" cy="475488"/>
          </a:xfrm>
          <a:prstGeom prst="roundRect">
            <a:avLst>
              <a:gd name="adj" fmla="val 1923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438912" y="2862072"/>
            <a:ext cx="347472" cy="347472"/>
          </a:xfrm>
          <a:prstGeom prst="roundRect">
            <a:avLst>
              <a:gd name="adj" fmla="val 13158"/>
            </a:avLst>
          </a:prstGeom>
          <a:solidFill>
            <a:srgbClr val="0D9488"/>
          </a:solidFill>
          <a:ln w="12700">
            <a:solidFill>
              <a:srgbClr val="0D9488"/>
            </a:solidFill>
            <a:prstDash val="solid"/>
          </a:ln>
        </p:spPr>
      </p:sp>
      <p:sp>
        <p:nvSpPr>
          <p:cNvPr id="15" name="Text 13"/>
          <p:cNvSpPr/>
          <p:nvPr/>
        </p:nvSpPr>
        <p:spPr>
          <a:xfrm>
            <a:off x="438912" y="2862072"/>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L3</a:t>
            </a:r>
            <a:endParaRPr lang="en-US" sz="900" dirty="0"/>
          </a:p>
        </p:txBody>
      </p:sp>
      <p:sp>
        <p:nvSpPr>
          <p:cNvPr id="16" name="Text 14"/>
          <p:cNvSpPr/>
          <p:nvPr/>
        </p:nvSpPr>
        <p:spPr>
          <a:xfrm>
            <a:off x="896112" y="2898648"/>
            <a:ext cx="4206240" cy="292608"/>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Python 3.11</a:t>
            </a:r>
            <a:endParaRPr lang="en-US" sz="1100" dirty="0"/>
          </a:p>
        </p:txBody>
      </p:sp>
      <p:sp>
        <p:nvSpPr>
          <p:cNvPr id="17" name="Shape 15"/>
          <p:cNvSpPr/>
          <p:nvPr/>
        </p:nvSpPr>
        <p:spPr>
          <a:xfrm>
            <a:off x="320040" y="3374136"/>
            <a:ext cx="4892040" cy="475488"/>
          </a:xfrm>
          <a:prstGeom prst="roundRect">
            <a:avLst>
              <a:gd name="adj" fmla="val 1923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8" name="Shape 16"/>
          <p:cNvSpPr/>
          <p:nvPr/>
        </p:nvSpPr>
        <p:spPr>
          <a:xfrm>
            <a:off x="438912" y="3429000"/>
            <a:ext cx="347472" cy="347472"/>
          </a:xfrm>
          <a:prstGeom prst="roundRect">
            <a:avLst>
              <a:gd name="adj" fmla="val 13158"/>
            </a:avLst>
          </a:prstGeom>
          <a:solidFill>
            <a:srgbClr val="059669"/>
          </a:solidFill>
          <a:ln w="12700">
            <a:solidFill>
              <a:srgbClr val="059669"/>
            </a:solidFill>
            <a:prstDash val="solid"/>
          </a:ln>
        </p:spPr>
      </p:sp>
      <p:sp>
        <p:nvSpPr>
          <p:cNvPr id="19" name="Text 17"/>
          <p:cNvSpPr/>
          <p:nvPr/>
        </p:nvSpPr>
        <p:spPr>
          <a:xfrm>
            <a:off x="438912" y="3429000"/>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L2</a:t>
            </a:r>
            <a:endParaRPr lang="en-US" sz="900" dirty="0"/>
          </a:p>
        </p:txBody>
      </p:sp>
      <p:sp>
        <p:nvSpPr>
          <p:cNvPr id="20" name="Text 18"/>
          <p:cNvSpPr/>
          <p:nvPr/>
        </p:nvSpPr>
        <p:spPr>
          <a:xfrm>
            <a:off x="896112" y="3465576"/>
            <a:ext cx="4206240" cy="292608"/>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pip packages (requirements.txt)</a:t>
            </a:r>
            <a:endParaRPr lang="en-US" sz="1100" dirty="0"/>
          </a:p>
        </p:txBody>
      </p:sp>
      <p:sp>
        <p:nvSpPr>
          <p:cNvPr id="21" name="Shape 19"/>
          <p:cNvSpPr/>
          <p:nvPr/>
        </p:nvSpPr>
        <p:spPr>
          <a:xfrm>
            <a:off x="320040" y="3941064"/>
            <a:ext cx="4892040" cy="475488"/>
          </a:xfrm>
          <a:prstGeom prst="roundRect">
            <a:avLst>
              <a:gd name="adj" fmla="val 1923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2" name="Shape 20"/>
          <p:cNvSpPr/>
          <p:nvPr/>
        </p:nvSpPr>
        <p:spPr>
          <a:xfrm>
            <a:off x="438912" y="3995928"/>
            <a:ext cx="347472" cy="347472"/>
          </a:xfrm>
          <a:prstGeom prst="roundRect">
            <a:avLst>
              <a:gd name="adj" fmla="val 13158"/>
            </a:avLst>
          </a:prstGeom>
          <a:solidFill>
            <a:srgbClr val="475569"/>
          </a:solidFill>
          <a:ln w="12700">
            <a:solidFill>
              <a:srgbClr val="475569"/>
            </a:solidFill>
            <a:prstDash val="solid"/>
          </a:ln>
        </p:spPr>
      </p:sp>
      <p:sp>
        <p:nvSpPr>
          <p:cNvPr id="23" name="Text 21"/>
          <p:cNvSpPr/>
          <p:nvPr/>
        </p:nvSpPr>
        <p:spPr>
          <a:xfrm>
            <a:off x="438912" y="3995928"/>
            <a:ext cx="34747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L1</a:t>
            </a:r>
            <a:endParaRPr lang="en-US" sz="900" dirty="0"/>
          </a:p>
        </p:txBody>
      </p:sp>
      <p:sp>
        <p:nvSpPr>
          <p:cNvPr id="24" name="Text 22"/>
          <p:cNvSpPr/>
          <p:nvPr/>
        </p:nvSpPr>
        <p:spPr>
          <a:xfrm>
            <a:off x="896112" y="4032504"/>
            <a:ext cx="4206240" cy="292608"/>
          </a:xfrm>
          <a:prstGeom prst="rect">
            <a:avLst/>
          </a:prstGeom>
          <a:noFill/>
          <a:ln/>
        </p:spPr>
        <p:txBody>
          <a:bodyPr wrap="square" lIns="0" tIns="0" rIns="0" bIns="0" rtlCol="0" anchor="ctr"/>
          <a:lstStyle/>
          <a:p>
            <a:pPr indent="0" marL="0">
              <a:buNone/>
            </a:pPr>
            <a:r>
              <a:rPr lang="en-US" sz="1100" dirty="0">
                <a:solidFill>
                  <a:srgbClr val="0F172A"/>
                </a:solidFill>
                <a:latin typeface="Arial" pitchFamily="34" charset="0"/>
                <a:ea typeface="Arial" pitchFamily="34" charset="-122"/>
                <a:cs typeface="Arial" pitchFamily="34" charset="-120"/>
              </a:rPr>
              <a:t>Base OS (e.g. Ubuntu / Alpine)</a:t>
            </a:r>
            <a:endParaRPr lang="en-US" sz="1100" dirty="0"/>
          </a:p>
        </p:txBody>
      </p:sp>
      <p:sp>
        <p:nvSpPr>
          <p:cNvPr id="25" name="Shape 23"/>
          <p:cNvSpPr/>
          <p:nvPr/>
        </p:nvSpPr>
        <p:spPr>
          <a:xfrm>
            <a:off x="5394960" y="1828800"/>
            <a:ext cx="342900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5532120" y="1901952"/>
            <a:ext cx="3154680" cy="292608"/>
          </a:xfrm>
          <a:prstGeom prst="rect">
            <a:avLst/>
          </a:prstGeom>
          <a:noFill/>
          <a:ln/>
        </p:spPr>
        <p:txBody>
          <a:bodyPr wrap="square" lIns="0" tIns="0" rIns="0" bIns="0" rtlCol="0" anchor="ctr"/>
          <a:lstStyle/>
          <a:p>
            <a:pPr indent="0" marL="0">
              <a:buNone/>
            </a:pPr>
            <a:r>
              <a:rPr lang="en-US" sz="1200" b="1" dirty="0">
                <a:solidFill>
                  <a:srgbClr val="0DB7ED"/>
                </a:solidFill>
                <a:latin typeface="Arial" pitchFamily="34" charset="0"/>
                <a:ea typeface="Arial" pitchFamily="34" charset="-122"/>
                <a:cs typeface="Arial" pitchFamily="34" charset="-120"/>
              </a:rPr>
              <a:t>📖  Read-Only</a:t>
            </a:r>
            <a:endParaRPr lang="en-US" sz="1200" dirty="0"/>
          </a:p>
        </p:txBody>
      </p:sp>
      <p:sp>
        <p:nvSpPr>
          <p:cNvPr id="27" name="Text 25"/>
          <p:cNvSpPr/>
          <p:nvPr/>
        </p:nvSpPr>
        <p:spPr>
          <a:xfrm>
            <a:off x="5532120" y="2231136"/>
            <a:ext cx="3154680" cy="4389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Images never change once built. Containers run from them.</a:t>
            </a:r>
            <a:endParaRPr lang="en-US" sz="1000" dirty="0"/>
          </a:p>
        </p:txBody>
      </p:sp>
      <p:sp>
        <p:nvSpPr>
          <p:cNvPr id="28" name="Shape 26"/>
          <p:cNvSpPr/>
          <p:nvPr/>
        </p:nvSpPr>
        <p:spPr>
          <a:xfrm>
            <a:off x="5394960" y="2852928"/>
            <a:ext cx="342900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Text 27"/>
          <p:cNvSpPr/>
          <p:nvPr/>
        </p:nvSpPr>
        <p:spPr>
          <a:xfrm>
            <a:off x="5532120" y="2926080"/>
            <a:ext cx="3154680" cy="292608"/>
          </a:xfrm>
          <a:prstGeom prst="rect">
            <a:avLst/>
          </a:prstGeom>
          <a:noFill/>
          <a:ln/>
        </p:spPr>
        <p:txBody>
          <a:bodyPr wrap="square" lIns="0" tIns="0" rIns="0" bIns="0" rtlCol="0" anchor="ctr"/>
          <a:lstStyle/>
          <a:p>
            <a:pPr indent="0" marL="0">
              <a:buNone/>
            </a:pPr>
            <a:r>
              <a:rPr lang="en-US" sz="1200" b="1" dirty="0">
                <a:solidFill>
                  <a:srgbClr val="0DB7ED"/>
                </a:solidFill>
                <a:latin typeface="Arial" pitchFamily="34" charset="0"/>
                <a:ea typeface="Arial" pitchFamily="34" charset="-122"/>
                <a:cs typeface="Arial" pitchFamily="34" charset="-120"/>
              </a:rPr>
              <a:t>♻️  Layers Are Shared</a:t>
            </a:r>
            <a:endParaRPr lang="en-US" sz="1200" dirty="0"/>
          </a:p>
        </p:txBody>
      </p:sp>
      <p:sp>
        <p:nvSpPr>
          <p:cNvPr id="30" name="Text 28"/>
          <p:cNvSpPr/>
          <p:nvPr/>
        </p:nvSpPr>
        <p:spPr>
          <a:xfrm>
            <a:off x="5532120" y="3255264"/>
            <a:ext cx="3154680" cy="4389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Two images using the same base OS share those layers — saving disk.</a:t>
            </a:r>
            <a:endParaRPr lang="en-US" sz="1000" dirty="0"/>
          </a:p>
        </p:txBody>
      </p:sp>
      <p:sp>
        <p:nvSpPr>
          <p:cNvPr id="31" name="Shape 29"/>
          <p:cNvSpPr/>
          <p:nvPr/>
        </p:nvSpPr>
        <p:spPr>
          <a:xfrm>
            <a:off x="5394960" y="3877056"/>
            <a:ext cx="3429000" cy="914400"/>
          </a:xfrm>
          <a:prstGeom prst="roundRect">
            <a:avLst>
              <a:gd name="adj" fmla="val 1000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2" name="Text 30"/>
          <p:cNvSpPr/>
          <p:nvPr/>
        </p:nvSpPr>
        <p:spPr>
          <a:xfrm>
            <a:off x="5532120" y="3950208"/>
            <a:ext cx="3154680" cy="292608"/>
          </a:xfrm>
          <a:prstGeom prst="rect">
            <a:avLst/>
          </a:prstGeom>
          <a:noFill/>
          <a:ln/>
        </p:spPr>
        <p:txBody>
          <a:bodyPr wrap="square" lIns="0" tIns="0" rIns="0" bIns="0" rtlCol="0" anchor="ctr"/>
          <a:lstStyle/>
          <a:p>
            <a:pPr indent="0" marL="0">
              <a:buNone/>
            </a:pPr>
            <a:r>
              <a:rPr lang="en-US" sz="1200" b="1" dirty="0">
                <a:solidFill>
                  <a:srgbClr val="0DB7ED"/>
                </a:solidFill>
                <a:latin typeface="Arial" pitchFamily="34" charset="0"/>
                <a:ea typeface="Arial" pitchFamily="34" charset="-122"/>
                <a:cs typeface="Arial" pitchFamily="34" charset="-120"/>
              </a:rPr>
              <a:t>🏷️  Tagged</a:t>
            </a:r>
            <a:endParaRPr lang="en-US" sz="1200" dirty="0"/>
          </a:p>
        </p:txBody>
      </p:sp>
      <p:sp>
        <p:nvSpPr>
          <p:cNvPr id="33" name="Text 31"/>
          <p:cNvSpPr/>
          <p:nvPr/>
        </p:nvSpPr>
        <p:spPr>
          <a:xfrm>
            <a:off x="5532120" y="4279392"/>
            <a:ext cx="3154680" cy="43891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Images have names and tags:</a:t>
            </a:r>
            <a:endParaRPr lang="en-US" sz="1000" dirty="0"/>
          </a:p>
          <a:p>
            <a:pPr indent="0" marL="0">
              <a:buNone/>
            </a:pPr>
            <a:r>
              <a:rPr lang="en-US" sz="1000" dirty="0">
                <a:solidFill>
                  <a:srgbClr val="475569"/>
                </a:solidFill>
                <a:latin typeface="Arial" pitchFamily="34" charset="0"/>
                <a:ea typeface="Arial" pitchFamily="34" charset="-122"/>
                <a:cs typeface="Arial" pitchFamily="34" charset="-120"/>
              </a:rPr>
              <a:t>nginx:latest  •  python:3.11-alpine</a:t>
            </a:r>
            <a:endParaRPr lang="en-US" sz="1000" dirty="0"/>
          </a:p>
        </p:txBody>
      </p:sp>
      <p:sp>
        <p:nvSpPr>
          <p:cNvPr id="34" name="Shape 32"/>
          <p:cNvSpPr/>
          <p:nvPr/>
        </p:nvSpPr>
        <p:spPr>
          <a:xfrm>
            <a:off x="0" y="4846320"/>
            <a:ext cx="9144000" cy="297180"/>
          </a:xfrm>
          <a:prstGeom prst="rect">
            <a:avLst/>
          </a:prstGeom>
          <a:solidFill>
            <a:srgbClr val="0F172A"/>
          </a:solidFill>
          <a:ln w="12700">
            <a:solidFill>
              <a:srgbClr val="0F172A"/>
            </a:solidFill>
            <a:prstDash val="solid"/>
          </a:ln>
        </p:spPr>
      </p:sp>
      <p:sp>
        <p:nvSpPr>
          <p:cNvPr id="35" name="Text 3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Docker Images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IMAGE NAMING &amp; KEY COMMANDS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Docker Images</a:t>
            </a:r>
            <a:endParaRPr lang="en-US" sz="950" dirty="0"/>
          </a:p>
        </p:txBody>
      </p:sp>
      <p:sp>
        <p:nvSpPr>
          <p:cNvPr id="6" name="Text 4"/>
          <p:cNvSpPr/>
          <p:nvPr/>
        </p:nvSpPr>
        <p:spPr>
          <a:xfrm>
            <a:off x="320040" y="868680"/>
            <a:ext cx="4572000" cy="3200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Image Naming Convention</a:t>
            </a:r>
            <a:endParaRPr lang="en-US" sz="1300" dirty="0"/>
          </a:p>
        </p:txBody>
      </p:sp>
      <p:sp>
        <p:nvSpPr>
          <p:cNvPr id="7" name="Shape 5"/>
          <p:cNvSpPr/>
          <p:nvPr/>
        </p:nvSpPr>
        <p:spPr>
          <a:xfrm>
            <a:off x="320040" y="1261872"/>
            <a:ext cx="8503920" cy="749808"/>
          </a:xfrm>
          <a:prstGeom prst="roundRect">
            <a:avLst>
              <a:gd name="adj" fmla="val 12195"/>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475488" y="1353312"/>
            <a:ext cx="8229600" cy="320040"/>
          </a:xfrm>
          <a:prstGeom prst="rect">
            <a:avLst/>
          </a:prstGeom>
          <a:noFill/>
          <a:ln/>
        </p:spPr>
        <p:txBody>
          <a:bodyPr wrap="square" lIns="0" tIns="0" rIns="0" bIns="0" rtlCol="0" anchor="ctr"/>
          <a:lstStyle/>
          <a:p>
            <a:pPr indent="0" marL="0">
              <a:buNone/>
            </a:pPr>
            <a:r>
              <a:rPr lang="en-US" sz="1400" dirty="0">
                <a:solidFill>
                  <a:srgbClr val="6EE7B7"/>
                </a:solidFill>
                <a:latin typeface="Courier New" pitchFamily="34" charset="0"/>
                <a:ea typeface="Courier New" pitchFamily="34" charset="-122"/>
                <a:cs typeface="Courier New" pitchFamily="34" charset="-120"/>
              </a:rPr>
              <a:t>[registry/][namespace/]repository[:tag]</a:t>
            </a:r>
            <a:endParaRPr lang="en-US" sz="1400" dirty="0"/>
          </a:p>
        </p:txBody>
      </p:sp>
      <p:sp>
        <p:nvSpPr>
          <p:cNvPr id="9" name="Text 7"/>
          <p:cNvSpPr/>
          <p:nvPr/>
        </p:nvSpPr>
        <p:spPr>
          <a:xfrm>
            <a:off x="475488" y="1682496"/>
            <a:ext cx="8229600" cy="256032"/>
          </a:xfrm>
          <a:prstGeom prst="rect">
            <a:avLst/>
          </a:prstGeom>
          <a:noFill/>
          <a:ln/>
        </p:spPr>
        <p:txBody>
          <a:bodyPr wrap="square" lIns="0" tIns="0" rIns="0" bIns="0"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e.g.    nginx:alpine    •    python:3.11-slim    •    ubuntu:22.04    •    myregistry.com/myteam/myapp:v1.0</a:t>
            </a:r>
            <a:endParaRPr lang="en-US" sz="1000" dirty="0"/>
          </a:p>
        </p:txBody>
      </p:sp>
      <p:sp>
        <p:nvSpPr>
          <p:cNvPr id="10" name="Text 8"/>
          <p:cNvSpPr/>
          <p:nvPr/>
        </p:nvSpPr>
        <p:spPr>
          <a:xfrm>
            <a:off x="320040" y="2148840"/>
            <a:ext cx="4572000" cy="3200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Essential Image Commands</a:t>
            </a:r>
            <a:endParaRPr lang="en-US" sz="1300" dirty="0"/>
          </a:p>
        </p:txBody>
      </p:sp>
      <p:sp>
        <p:nvSpPr>
          <p:cNvPr id="11" name="Shape 9"/>
          <p:cNvSpPr/>
          <p:nvPr/>
        </p:nvSpPr>
        <p:spPr>
          <a:xfrm>
            <a:off x="320040" y="2542032"/>
            <a:ext cx="8503920" cy="310896"/>
          </a:xfrm>
          <a:prstGeom prst="rect">
            <a:avLst/>
          </a:prstGeom>
          <a:solidFill>
            <a:srgbClr val="FFFFFF"/>
          </a:solidFill>
          <a:ln w="12700">
            <a:solidFill>
              <a:srgbClr val="E2E8F0"/>
            </a:solidFill>
            <a:prstDash val="solid"/>
          </a:ln>
        </p:spPr>
      </p:sp>
      <p:sp>
        <p:nvSpPr>
          <p:cNvPr id="12" name="Text 10"/>
          <p:cNvSpPr/>
          <p:nvPr/>
        </p:nvSpPr>
        <p:spPr>
          <a:xfrm>
            <a:off x="438912" y="2578608"/>
            <a:ext cx="4389120" cy="237744"/>
          </a:xfrm>
          <a:prstGeom prst="rect">
            <a:avLst/>
          </a:prstGeom>
          <a:noFill/>
          <a:ln/>
        </p:spPr>
        <p:txBody>
          <a:bodyPr wrap="square" lIns="0" tIns="0" rIns="0" bIns="0" rtlCol="0" anchor="ctr"/>
          <a:lstStyle/>
          <a:p>
            <a:pPr indent="0" marL="0">
              <a:buNone/>
            </a:pPr>
            <a:r>
              <a:rPr lang="en-US" sz="950" dirty="0">
                <a:solidFill>
                  <a:srgbClr val="0DB7ED"/>
                </a:solidFill>
                <a:latin typeface="Courier New" pitchFamily="34" charset="0"/>
                <a:ea typeface="Courier New" pitchFamily="34" charset="-122"/>
                <a:cs typeface="Courier New" pitchFamily="34" charset="-120"/>
              </a:rPr>
              <a:t>docker pull nginx:alpine</a:t>
            </a:r>
            <a:endParaRPr lang="en-US" sz="950" dirty="0"/>
          </a:p>
        </p:txBody>
      </p:sp>
      <p:sp>
        <p:nvSpPr>
          <p:cNvPr id="13" name="Text 11"/>
          <p:cNvSpPr/>
          <p:nvPr/>
        </p:nvSpPr>
        <p:spPr>
          <a:xfrm>
            <a:off x="4937760" y="257860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Download image from Docker Hub</a:t>
            </a:r>
            <a:endParaRPr lang="en-US" sz="1000" dirty="0"/>
          </a:p>
        </p:txBody>
      </p:sp>
      <p:sp>
        <p:nvSpPr>
          <p:cNvPr id="14" name="Shape 12"/>
          <p:cNvSpPr/>
          <p:nvPr/>
        </p:nvSpPr>
        <p:spPr>
          <a:xfrm>
            <a:off x="320040" y="2862072"/>
            <a:ext cx="8503920" cy="310896"/>
          </a:xfrm>
          <a:prstGeom prst="rect">
            <a:avLst/>
          </a:prstGeom>
          <a:solidFill>
            <a:srgbClr val="F1F5F9"/>
          </a:solidFill>
          <a:ln w="12700">
            <a:solidFill>
              <a:srgbClr val="E2E8F0"/>
            </a:solidFill>
            <a:prstDash val="solid"/>
          </a:ln>
        </p:spPr>
      </p:sp>
      <p:sp>
        <p:nvSpPr>
          <p:cNvPr id="15" name="Text 13"/>
          <p:cNvSpPr/>
          <p:nvPr/>
        </p:nvSpPr>
        <p:spPr>
          <a:xfrm>
            <a:off x="438912" y="2898648"/>
            <a:ext cx="4389120" cy="237744"/>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images</a:t>
            </a:r>
            <a:endParaRPr lang="en-US" sz="950" dirty="0"/>
          </a:p>
        </p:txBody>
      </p:sp>
      <p:sp>
        <p:nvSpPr>
          <p:cNvPr id="16" name="Text 14"/>
          <p:cNvSpPr/>
          <p:nvPr/>
        </p:nvSpPr>
        <p:spPr>
          <a:xfrm>
            <a:off x="4937760" y="289864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List all images stored locally</a:t>
            </a:r>
            <a:endParaRPr lang="en-US" sz="1000" dirty="0"/>
          </a:p>
        </p:txBody>
      </p:sp>
      <p:sp>
        <p:nvSpPr>
          <p:cNvPr id="17" name="Shape 15"/>
          <p:cNvSpPr/>
          <p:nvPr/>
        </p:nvSpPr>
        <p:spPr>
          <a:xfrm>
            <a:off x="320040" y="3182112"/>
            <a:ext cx="8503920" cy="310896"/>
          </a:xfrm>
          <a:prstGeom prst="rect">
            <a:avLst/>
          </a:prstGeom>
          <a:solidFill>
            <a:srgbClr val="FFFFFF"/>
          </a:solidFill>
          <a:ln w="12700">
            <a:solidFill>
              <a:srgbClr val="E2E8F0"/>
            </a:solidFill>
            <a:prstDash val="solid"/>
          </a:ln>
        </p:spPr>
      </p:sp>
      <p:sp>
        <p:nvSpPr>
          <p:cNvPr id="18" name="Text 16"/>
          <p:cNvSpPr/>
          <p:nvPr/>
        </p:nvSpPr>
        <p:spPr>
          <a:xfrm>
            <a:off x="438912" y="3218688"/>
            <a:ext cx="4389120" cy="237744"/>
          </a:xfrm>
          <a:prstGeom prst="rect">
            <a:avLst/>
          </a:prstGeom>
          <a:noFill/>
          <a:ln/>
        </p:spPr>
        <p:txBody>
          <a:bodyPr wrap="square" lIns="0" tIns="0" rIns="0" bIns="0" rtlCol="0" anchor="ctr"/>
          <a:lstStyle/>
          <a:p>
            <a:pPr indent="0" marL="0">
              <a:buNone/>
            </a:pPr>
            <a:r>
              <a:rPr lang="en-US" sz="950" dirty="0">
                <a:solidFill>
                  <a:srgbClr val="0D9488"/>
                </a:solidFill>
                <a:latin typeface="Courier New" pitchFamily="34" charset="0"/>
                <a:ea typeface="Courier New" pitchFamily="34" charset="-122"/>
                <a:cs typeface="Courier New" pitchFamily="34" charset="-120"/>
              </a:rPr>
              <a:t>docker inspect nginx:alpine</a:t>
            </a:r>
            <a:endParaRPr lang="en-US" sz="950" dirty="0"/>
          </a:p>
        </p:txBody>
      </p:sp>
      <p:sp>
        <p:nvSpPr>
          <p:cNvPr id="19" name="Text 17"/>
          <p:cNvSpPr/>
          <p:nvPr/>
        </p:nvSpPr>
        <p:spPr>
          <a:xfrm>
            <a:off x="4937760" y="321868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Show full image metadata as JSON</a:t>
            </a:r>
            <a:endParaRPr lang="en-US" sz="1000" dirty="0"/>
          </a:p>
        </p:txBody>
      </p:sp>
      <p:sp>
        <p:nvSpPr>
          <p:cNvPr id="20" name="Shape 18"/>
          <p:cNvSpPr/>
          <p:nvPr/>
        </p:nvSpPr>
        <p:spPr>
          <a:xfrm>
            <a:off x="320040" y="3502152"/>
            <a:ext cx="8503920" cy="310896"/>
          </a:xfrm>
          <a:prstGeom prst="rect">
            <a:avLst/>
          </a:prstGeom>
          <a:solidFill>
            <a:srgbClr val="F1F5F9"/>
          </a:solidFill>
          <a:ln w="12700">
            <a:solidFill>
              <a:srgbClr val="E2E8F0"/>
            </a:solidFill>
            <a:prstDash val="solid"/>
          </a:ln>
        </p:spPr>
      </p:sp>
      <p:sp>
        <p:nvSpPr>
          <p:cNvPr id="21" name="Text 19"/>
          <p:cNvSpPr/>
          <p:nvPr/>
        </p:nvSpPr>
        <p:spPr>
          <a:xfrm>
            <a:off x="438912" y="3538728"/>
            <a:ext cx="4389120" cy="237744"/>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history nginx:alpine</a:t>
            </a:r>
            <a:endParaRPr lang="en-US" sz="950" dirty="0"/>
          </a:p>
        </p:txBody>
      </p:sp>
      <p:sp>
        <p:nvSpPr>
          <p:cNvPr id="22" name="Text 20"/>
          <p:cNvSpPr/>
          <p:nvPr/>
        </p:nvSpPr>
        <p:spPr>
          <a:xfrm>
            <a:off x="4937760" y="353872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Show the layers that make up an image</a:t>
            </a:r>
            <a:endParaRPr lang="en-US" sz="1000" dirty="0"/>
          </a:p>
        </p:txBody>
      </p:sp>
      <p:sp>
        <p:nvSpPr>
          <p:cNvPr id="23" name="Shape 21"/>
          <p:cNvSpPr/>
          <p:nvPr/>
        </p:nvSpPr>
        <p:spPr>
          <a:xfrm>
            <a:off x="320040" y="3822192"/>
            <a:ext cx="8503920" cy="310896"/>
          </a:xfrm>
          <a:prstGeom prst="rect">
            <a:avLst/>
          </a:prstGeom>
          <a:solidFill>
            <a:srgbClr val="FFFFFF"/>
          </a:solidFill>
          <a:ln w="12700">
            <a:solidFill>
              <a:srgbClr val="E2E8F0"/>
            </a:solidFill>
            <a:prstDash val="solid"/>
          </a:ln>
        </p:spPr>
      </p:sp>
      <p:sp>
        <p:nvSpPr>
          <p:cNvPr id="24" name="Text 22"/>
          <p:cNvSpPr/>
          <p:nvPr/>
        </p:nvSpPr>
        <p:spPr>
          <a:xfrm>
            <a:off x="438912" y="3858768"/>
            <a:ext cx="4389120" cy="237744"/>
          </a:xfrm>
          <a:prstGeom prst="rect">
            <a:avLst/>
          </a:prstGeom>
          <a:noFill/>
          <a:ln/>
        </p:spPr>
        <p:txBody>
          <a:bodyPr wrap="square" lIns="0" tIns="0" rIns="0" bIns="0" rtlCol="0" anchor="ctr"/>
          <a:lstStyle/>
          <a:p>
            <a:pPr indent="0" marL="0">
              <a:buNone/>
            </a:pPr>
            <a:r>
              <a:rPr lang="en-US" sz="950" dirty="0">
                <a:solidFill>
                  <a:srgbClr val="7C3AED"/>
                </a:solidFill>
                <a:latin typeface="Courier New" pitchFamily="34" charset="0"/>
                <a:ea typeface="Courier New" pitchFamily="34" charset="-122"/>
                <a:cs typeface="Courier New" pitchFamily="34" charset="-120"/>
              </a:rPr>
              <a:t>docker tag nginx:alpine my-nginx:v1.0</a:t>
            </a:r>
            <a:endParaRPr lang="en-US" sz="950" dirty="0"/>
          </a:p>
        </p:txBody>
      </p:sp>
      <p:sp>
        <p:nvSpPr>
          <p:cNvPr id="25" name="Text 23"/>
          <p:cNvSpPr/>
          <p:nvPr/>
        </p:nvSpPr>
        <p:spPr>
          <a:xfrm>
            <a:off x="4937760" y="385876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Create a new tag pointing to the same image</a:t>
            </a:r>
            <a:endParaRPr lang="en-US" sz="1000" dirty="0"/>
          </a:p>
        </p:txBody>
      </p:sp>
      <p:sp>
        <p:nvSpPr>
          <p:cNvPr id="26" name="Shape 24"/>
          <p:cNvSpPr/>
          <p:nvPr/>
        </p:nvSpPr>
        <p:spPr>
          <a:xfrm>
            <a:off x="320040" y="4142232"/>
            <a:ext cx="8503920" cy="310896"/>
          </a:xfrm>
          <a:prstGeom prst="rect">
            <a:avLst/>
          </a:prstGeom>
          <a:solidFill>
            <a:srgbClr val="F1F5F9"/>
          </a:solidFill>
          <a:ln w="12700">
            <a:solidFill>
              <a:srgbClr val="E2E8F0"/>
            </a:solidFill>
            <a:prstDash val="solid"/>
          </a:ln>
        </p:spPr>
      </p:sp>
      <p:sp>
        <p:nvSpPr>
          <p:cNvPr id="27" name="Text 25"/>
          <p:cNvSpPr/>
          <p:nvPr/>
        </p:nvSpPr>
        <p:spPr>
          <a:xfrm>
            <a:off x="438912" y="4178808"/>
            <a:ext cx="4389120" cy="237744"/>
          </a:xfrm>
          <a:prstGeom prst="rect">
            <a:avLst/>
          </a:prstGeom>
          <a:noFill/>
          <a:ln/>
        </p:spPr>
        <p:txBody>
          <a:bodyPr wrap="square" lIns="0" tIns="0" rIns="0" bIns="0" rtlCol="0" anchor="ctr"/>
          <a:lstStyle/>
          <a:p>
            <a:pPr indent="0" marL="0">
              <a:buNone/>
            </a:pPr>
            <a:r>
              <a:rPr lang="en-US" sz="950" dirty="0">
                <a:solidFill>
                  <a:srgbClr val="DC2626"/>
                </a:solidFill>
                <a:latin typeface="Courier New" pitchFamily="34" charset="0"/>
                <a:ea typeface="Courier New" pitchFamily="34" charset="-122"/>
                <a:cs typeface="Courier New" pitchFamily="34" charset="-120"/>
              </a:rPr>
              <a:t>docker rmi nginx:alpine</a:t>
            </a:r>
            <a:endParaRPr lang="en-US" sz="950" dirty="0"/>
          </a:p>
        </p:txBody>
      </p:sp>
      <p:sp>
        <p:nvSpPr>
          <p:cNvPr id="28" name="Text 26"/>
          <p:cNvSpPr/>
          <p:nvPr/>
        </p:nvSpPr>
        <p:spPr>
          <a:xfrm>
            <a:off x="4937760" y="417880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Remove an image from local storage</a:t>
            </a:r>
            <a:endParaRPr lang="en-US" sz="1000" dirty="0"/>
          </a:p>
        </p:txBody>
      </p:sp>
      <p:sp>
        <p:nvSpPr>
          <p:cNvPr id="29" name="Shape 27"/>
          <p:cNvSpPr/>
          <p:nvPr/>
        </p:nvSpPr>
        <p:spPr>
          <a:xfrm>
            <a:off x="320040" y="4462272"/>
            <a:ext cx="8503920" cy="310896"/>
          </a:xfrm>
          <a:prstGeom prst="rect">
            <a:avLst/>
          </a:prstGeom>
          <a:solidFill>
            <a:srgbClr val="FFFFFF"/>
          </a:solidFill>
          <a:ln w="12700">
            <a:solidFill>
              <a:srgbClr val="E2E8F0"/>
            </a:solidFill>
            <a:prstDash val="solid"/>
          </a:ln>
        </p:spPr>
      </p:sp>
      <p:sp>
        <p:nvSpPr>
          <p:cNvPr id="30" name="Text 28"/>
          <p:cNvSpPr/>
          <p:nvPr/>
        </p:nvSpPr>
        <p:spPr>
          <a:xfrm>
            <a:off x="438912" y="4498848"/>
            <a:ext cx="4389120" cy="237744"/>
          </a:xfrm>
          <a:prstGeom prst="rect">
            <a:avLst/>
          </a:prstGeom>
          <a:noFill/>
          <a:ln/>
        </p:spPr>
        <p:txBody>
          <a:bodyPr wrap="square" lIns="0" tIns="0" rIns="0" bIns="0" rtlCol="0" anchor="ctr"/>
          <a:lstStyle/>
          <a:p>
            <a:pPr indent="0" marL="0">
              <a:buNone/>
            </a:pPr>
            <a:r>
              <a:rPr lang="en-US" sz="950" dirty="0">
                <a:solidFill>
                  <a:srgbClr val="D97706"/>
                </a:solidFill>
                <a:latin typeface="Courier New" pitchFamily="34" charset="0"/>
                <a:ea typeface="Courier New" pitchFamily="34" charset="-122"/>
                <a:cs typeface="Courier New" pitchFamily="34" charset="-120"/>
              </a:rPr>
              <a:t>docker image prune</a:t>
            </a:r>
            <a:endParaRPr lang="en-US" sz="950" dirty="0"/>
          </a:p>
        </p:txBody>
      </p:sp>
      <p:sp>
        <p:nvSpPr>
          <p:cNvPr id="31" name="Text 29"/>
          <p:cNvSpPr/>
          <p:nvPr/>
        </p:nvSpPr>
        <p:spPr>
          <a:xfrm>
            <a:off x="4937760" y="4498848"/>
            <a:ext cx="37490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Remove all unused / dangling images</a:t>
            </a:r>
            <a:endParaRPr lang="en-US" sz="1000" dirty="0"/>
          </a:p>
        </p:txBody>
      </p:sp>
      <p:sp>
        <p:nvSpPr>
          <p:cNvPr id="32" name="Shape 30"/>
          <p:cNvSpPr/>
          <p:nvPr/>
        </p:nvSpPr>
        <p:spPr>
          <a:xfrm>
            <a:off x="0" y="4846320"/>
            <a:ext cx="9144000" cy="297180"/>
          </a:xfrm>
          <a:prstGeom prst="rect">
            <a:avLst/>
          </a:prstGeom>
          <a:solidFill>
            <a:srgbClr val="0F172A"/>
          </a:solidFill>
          <a:ln w="12700">
            <a:solidFill>
              <a:srgbClr val="0F172A"/>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Docker Images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IMAGE VARIANTS &amp; BEST PRACTICES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03  •  Docker Images</a:t>
            </a:r>
            <a:endParaRPr lang="en-US" sz="950" dirty="0"/>
          </a:p>
        </p:txBody>
      </p:sp>
      <p:sp>
        <p:nvSpPr>
          <p:cNvPr id="6" name="Text 4"/>
          <p:cNvSpPr/>
          <p:nvPr/>
        </p:nvSpPr>
        <p:spPr>
          <a:xfrm>
            <a:off x="320040" y="868680"/>
            <a:ext cx="5486400" cy="3200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Choosing the Right Image Variant</a:t>
            </a:r>
            <a:endParaRPr lang="en-US" sz="1300" dirty="0"/>
          </a:p>
        </p:txBody>
      </p:sp>
      <p:sp>
        <p:nvSpPr>
          <p:cNvPr id="7" name="Shape 5"/>
          <p:cNvSpPr/>
          <p:nvPr/>
        </p:nvSpPr>
        <p:spPr>
          <a:xfrm>
            <a:off x="320040" y="1261872"/>
            <a:ext cx="8503920" cy="347472"/>
          </a:xfrm>
          <a:prstGeom prst="rect">
            <a:avLst/>
          </a:prstGeom>
          <a:solidFill>
            <a:srgbClr val="0F172A"/>
          </a:solidFill>
          <a:ln w="12700">
            <a:solidFill>
              <a:srgbClr val="0F172A"/>
            </a:solidFill>
            <a:prstDash val="solid"/>
          </a:ln>
        </p:spPr>
      </p:sp>
      <p:sp>
        <p:nvSpPr>
          <p:cNvPr id="8" name="Text 6"/>
          <p:cNvSpPr/>
          <p:nvPr/>
        </p:nvSpPr>
        <p:spPr>
          <a:xfrm>
            <a:off x="411480" y="1280160"/>
            <a:ext cx="1234440" cy="29260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Variant</a:t>
            </a:r>
            <a:endParaRPr lang="en-US" sz="1050" dirty="0"/>
          </a:p>
        </p:txBody>
      </p:sp>
      <p:sp>
        <p:nvSpPr>
          <p:cNvPr id="9" name="Text 7"/>
          <p:cNvSpPr/>
          <p:nvPr/>
        </p:nvSpPr>
        <p:spPr>
          <a:xfrm>
            <a:off x="1691640" y="1280160"/>
            <a:ext cx="1234440" cy="29260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Example</a:t>
            </a:r>
            <a:endParaRPr lang="en-US" sz="1050" dirty="0"/>
          </a:p>
        </p:txBody>
      </p:sp>
      <p:sp>
        <p:nvSpPr>
          <p:cNvPr id="10" name="Text 8"/>
          <p:cNvSpPr/>
          <p:nvPr/>
        </p:nvSpPr>
        <p:spPr>
          <a:xfrm>
            <a:off x="3611880" y="1280160"/>
            <a:ext cx="1234440" cy="29260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Size</a:t>
            </a:r>
            <a:endParaRPr lang="en-US" sz="1050" dirty="0"/>
          </a:p>
        </p:txBody>
      </p:sp>
      <p:sp>
        <p:nvSpPr>
          <p:cNvPr id="11" name="Text 9"/>
          <p:cNvSpPr/>
          <p:nvPr/>
        </p:nvSpPr>
        <p:spPr>
          <a:xfrm>
            <a:off x="4892040" y="1280160"/>
            <a:ext cx="1234440" cy="29260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Pros</a:t>
            </a:r>
            <a:endParaRPr lang="en-US" sz="1050" dirty="0"/>
          </a:p>
        </p:txBody>
      </p:sp>
      <p:sp>
        <p:nvSpPr>
          <p:cNvPr id="12" name="Text 10"/>
          <p:cNvSpPr/>
          <p:nvPr/>
        </p:nvSpPr>
        <p:spPr>
          <a:xfrm>
            <a:off x="6656832" y="1280160"/>
            <a:ext cx="1234440" cy="29260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Cons</a:t>
            </a:r>
            <a:endParaRPr lang="en-US" sz="1050" dirty="0"/>
          </a:p>
        </p:txBody>
      </p:sp>
      <p:sp>
        <p:nvSpPr>
          <p:cNvPr id="13" name="Shape 11"/>
          <p:cNvSpPr/>
          <p:nvPr/>
        </p:nvSpPr>
        <p:spPr>
          <a:xfrm>
            <a:off x="320040" y="1664208"/>
            <a:ext cx="8503920" cy="512064"/>
          </a:xfrm>
          <a:prstGeom prst="rect">
            <a:avLst/>
          </a:prstGeom>
          <a:solidFill>
            <a:srgbClr val="FFFFFF"/>
          </a:solidFill>
          <a:ln w="12700">
            <a:solidFill>
              <a:srgbClr val="E2E8F0"/>
            </a:solidFill>
            <a:prstDash val="solid"/>
          </a:ln>
        </p:spPr>
      </p:sp>
      <p:sp>
        <p:nvSpPr>
          <p:cNvPr id="14" name="Shape 12"/>
          <p:cNvSpPr/>
          <p:nvPr/>
        </p:nvSpPr>
        <p:spPr>
          <a:xfrm>
            <a:off x="411480" y="1755648"/>
            <a:ext cx="1170432" cy="329184"/>
          </a:xfrm>
          <a:prstGeom prst="roundRect">
            <a:avLst>
              <a:gd name="adj" fmla="val 16667"/>
            </a:avLst>
          </a:prstGeom>
          <a:solidFill>
            <a:srgbClr val="DC2626"/>
          </a:solidFill>
          <a:ln w="12700">
            <a:solidFill>
              <a:srgbClr val="DC2626"/>
            </a:solidFill>
            <a:prstDash val="solid"/>
          </a:ln>
        </p:spPr>
      </p:sp>
      <p:sp>
        <p:nvSpPr>
          <p:cNvPr id="15" name="Text 13"/>
          <p:cNvSpPr/>
          <p:nvPr/>
        </p:nvSpPr>
        <p:spPr>
          <a:xfrm>
            <a:off x="411480" y="1755648"/>
            <a:ext cx="117043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Full</a:t>
            </a:r>
            <a:endParaRPr lang="en-US" sz="1050" dirty="0"/>
          </a:p>
        </p:txBody>
      </p:sp>
      <p:sp>
        <p:nvSpPr>
          <p:cNvPr id="16" name="Text 14"/>
          <p:cNvSpPr/>
          <p:nvPr/>
        </p:nvSpPr>
        <p:spPr>
          <a:xfrm>
            <a:off x="1691640" y="1773936"/>
            <a:ext cx="1828800" cy="29260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python:3.11</a:t>
            </a:r>
            <a:endParaRPr lang="en-US" sz="950" dirty="0"/>
          </a:p>
        </p:txBody>
      </p:sp>
      <p:sp>
        <p:nvSpPr>
          <p:cNvPr id="17" name="Text 15"/>
          <p:cNvSpPr/>
          <p:nvPr/>
        </p:nvSpPr>
        <p:spPr>
          <a:xfrm>
            <a:off x="3611880" y="1773936"/>
            <a:ext cx="1188720" cy="292608"/>
          </a:xfrm>
          <a:prstGeom prst="rect">
            <a:avLst/>
          </a:prstGeom>
          <a:noFill/>
          <a:ln/>
        </p:spPr>
        <p:txBody>
          <a:bodyPr wrap="square" lIns="0" tIns="0" rIns="0" bIns="0" rtlCol="0" anchor="ctr"/>
          <a:lstStyle/>
          <a:p>
            <a:pPr indent="0" marL="0">
              <a:buNone/>
            </a:pPr>
            <a:r>
              <a:rPr lang="en-US" sz="1050" b="1" dirty="0">
                <a:solidFill>
                  <a:srgbClr val="DC2626"/>
                </a:solidFill>
                <a:latin typeface="Arial" pitchFamily="34" charset="0"/>
                <a:ea typeface="Arial" pitchFamily="34" charset="-122"/>
                <a:cs typeface="Arial" pitchFamily="34" charset="-120"/>
              </a:rPr>
              <a:t>917 MB</a:t>
            </a:r>
            <a:endParaRPr lang="en-US" sz="1050" dirty="0"/>
          </a:p>
        </p:txBody>
      </p:sp>
      <p:sp>
        <p:nvSpPr>
          <p:cNvPr id="18" name="Text 16"/>
          <p:cNvSpPr/>
          <p:nvPr/>
        </p:nvSpPr>
        <p:spPr>
          <a:xfrm>
            <a:off x="4892040" y="1773936"/>
            <a:ext cx="1664208"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Everything included</a:t>
            </a:r>
            <a:endParaRPr lang="en-US" sz="1000" dirty="0"/>
          </a:p>
        </p:txBody>
      </p:sp>
      <p:sp>
        <p:nvSpPr>
          <p:cNvPr id="19" name="Text 17"/>
          <p:cNvSpPr/>
          <p:nvPr/>
        </p:nvSpPr>
        <p:spPr>
          <a:xfrm>
            <a:off x="6656832" y="1773936"/>
            <a:ext cx="2011680"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Very large</a:t>
            </a:r>
            <a:endParaRPr lang="en-US" sz="1000" dirty="0"/>
          </a:p>
        </p:txBody>
      </p:sp>
      <p:sp>
        <p:nvSpPr>
          <p:cNvPr id="20" name="Shape 18"/>
          <p:cNvSpPr/>
          <p:nvPr/>
        </p:nvSpPr>
        <p:spPr>
          <a:xfrm>
            <a:off x="320040" y="2231136"/>
            <a:ext cx="8503920" cy="512064"/>
          </a:xfrm>
          <a:prstGeom prst="rect">
            <a:avLst/>
          </a:prstGeom>
          <a:solidFill>
            <a:srgbClr val="F1F5F9"/>
          </a:solidFill>
          <a:ln w="12700">
            <a:solidFill>
              <a:srgbClr val="E2E8F0"/>
            </a:solidFill>
            <a:prstDash val="solid"/>
          </a:ln>
        </p:spPr>
      </p:sp>
      <p:sp>
        <p:nvSpPr>
          <p:cNvPr id="21" name="Shape 19"/>
          <p:cNvSpPr/>
          <p:nvPr/>
        </p:nvSpPr>
        <p:spPr>
          <a:xfrm>
            <a:off x="411480" y="2322576"/>
            <a:ext cx="1170432" cy="329184"/>
          </a:xfrm>
          <a:prstGeom prst="roundRect">
            <a:avLst>
              <a:gd name="adj" fmla="val 16667"/>
            </a:avLst>
          </a:prstGeom>
          <a:solidFill>
            <a:srgbClr val="D97706"/>
          </a:solidFill>
          <a:ln w="12700">
            <a:solidFill>
              <a:srgbClr val="D97706"/>
            </a:solidFill>
            <a:prstDash val="solid"/>
          </a:ln>
        </p:spPr>
      </p:sp>
      <p:sp>
        <p:nvSpPr>
          <p:cNvPr id="22" name="Text 20"/>
          <p:cNvSpPr/>
          <p:nvPr/>
        </p:nvSpPr>
        <p:spPr>
          <a:xfrm>
            <a:off x="411480" y="2322576"/>
            <a:ext cx="117043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Slim</a:t>
            </a:r>
            <a:endParaRPr lang="en-US" sz="1050" dirty="0"/>
          </a:p>
        </p:txBody>
      </p:sp>
      <p:sp>
        <p:nvSpPr>
          <p:cNvPr id="23" name="Text 21"/>
          <p:cNvSpPr/>
          <p:nvPr/>
        </p:nvSpPr>
        <p:spPr>
          <a:xfrm>
            <a:off x="1691640" y="2340864"/>
            <a:ext cx="1828800" cy="29260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python:3.11-slim</a:t>
            </a:r>
            <a:endParaRPr lang="en-US" sz="950" dirty="0"/>
          </a:p>
        </p:txBody>
      </p:sp>
      <p:sp>
        <p:nvSpPr>
          <p:cNvPr id="24" name="Text 22"/>
          <p:cNvSpPr/>
          <p:nvPr/>
        </p:nvSpPr>
        <p:spPr>
          <a:xfrm>
            <a:off x="3611880" y="2340864"/>
            <a:ext cx="1188720" cy="292608"/>
          </a:xfrm>
          <a:prstGeom prst="rect">
            <a:avLst/>
          </a:prstGeom>
          <a:noFill/>
          <a:ln/>
        </p:spPr>
        <p:txBody>
          <a:bodyPr wrap="square" lIns="0" tIns="0" rIns="0" bIns="0" rtlCol="0" anchor="ctr"/>
          <a:lstStyle/>
          <a:p>
            <a:pPr indent="0" marL="0">
              <a:buNone/>
            </a:pPr>
            <a:r>
              <a:rPr lang="en-US" sz="1050" b="1" dirty="0">
                <a:solidFill>
                  <a:srgbClr val="D97706"/>
                </a:solidFill>
                <a:latin typeface="Arial" pitchFamily="34" charset="0"/>
                <a:ea typeface="Arial" pitchFamily="34" charset="-122"/>
                <a:cs typeface="Arial" pitchFamily="34" charset="-120"/>
              </a:rPr>
              <a:t>125 MB</a:t>
            </a:r>
            <a:endParaRPr lang="en-US" sz="1050" dirty="0"/>
          </a:p>
        </p:txBody>
      </p:sp>
      <p:sp>
        <p:nvSpPr>
          <p:cNvPr id="25" name="Text 23"/>
          <p:cNvSpPr/>
          <p:nvPr/>
        </p:nvSpPr>
        <p:spPr>
          <a:xfrm>
            <a:off x="4892040" y="2340864"/>
            <a:ext cx="1664208"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Smaller, Debian-based</a:t>
            </a:r>
            <a:endParaRPr lang="en-US" sz="1000" dirty="0"/>
          </a:p>
        </p:txBody>
      </p:sp>
      <p:sp>
        <p:nvSpPr>
          <p:cNvPr id="26" name="Text 24"/>
          <p:cNvSpPr/>
          <p:nvPr/>
        </p:nvSpPr>
        <p:spPr>
          <a:xfrm>
            <a:off x="6656832" y="2340864"/>
            <a:ext cx="2011680"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Missing some tools</a:t>
            </a:r>
            <a:endParaRPr lang="en-US" sz="1000" dirty="0"/>
          </a:p>
        </p:txBody>
      </p:sp>
      <p:sp>
        <p:nvSpPr>
          <p:cNvPr id="27" name="Shape 25"/>
          <p:cNvSpPr/>
          <p:nvPr/>
        </p:nvSpPr>
        <p:spPr>
          <a:xfrm>
            <a:off x="320040" y="2798064"/>
            <a:ext cx="8503920" cy="512064"/>
          </a:xfrm>
          <a:prstGeom prst="rect">
            <a:avLst/>
          </a:prstGeom>
          <a:solidFill>
            <a:srgbClr val="FFFFFF"/>
          </a:solidFill>
          <a:ln w="12700">
            <a:solidFill>
              <a:srgbClr val="E2E8F0"/>
            </a:solidFill>
            <a:prstDash val="solid"/>
          </a:ln>
        </p:spPr>
      </p:sp>
      <p:sp>
        <p:nvSpPr>
          <p:cNvPr id="28" name="Shape 26"/>
          <p:cNvSpPr/>
          <p:nvPr/>
        </p:nvSpPr>
        <p:spPr>
          <a:xfrm>
            <a:off x="411480" y="2889504"/>
            <a:ext cx="1170432" cy="329184"/>
          </a:xfrm>
          <a:prstGeom prst="roundRect">
            <a:avLst>
              <a:gd name="adj" fmla="val 16667"/>
            </a:avLst>
          </a:prstGeom>
          <a:solidFill>
            <a:srgbClr val="059669"/>
          </a:solidFill>
          <a:ln w="12700">
            <a:solidFill>
              <a:srgbClr val="059669"/>
            </a:solidFill>
            <a:prstDash val="solid"/>
          </a:ln>
        </p:spPr>
      </p:sp>
      <p:sp>
        <p:nvSpPr>
          <p:cNvPr id="29" name="Text 27"/>
          <p:cNvSpPr/>
          <p:nvPr/>
        </p:nvSpPr>
        <p:spPr>
          <a:xfrm>
            <a:off x="411480" y="2889504"/>
            <a:ext cx="1170432"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Alpine</a:t>
            </a:r>
            <a:endParaRPr lang="en-US" sz="1050" dirty="0"/>
          </a:p>
        </p:txBody>
      </p:sp>
      <p:sp>
        <p:nvSpPr>
          <p:cNvPr id="30" name="Text 28"/>
          <p:cNvSpPr/>
          <p:nvPr/>
        </p:nvSpPr>
        <p:spPr>
          <a:xfrm>
            <a:off x="1691640" y="2907792"/>
            <a:ext cx="1828800" cy="29260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python:3.11-alpine</a:t>
            </a:r>
            <a:endParaRPr lang="en-US" sz="950" dirty="0"/>
          </a:p>
        </p:txBody>
      </p:sp>
      <p:sp>
        <p:nvSpPr>
          <p:cNvPr id="31" name="Text 29"/>
          <p:cNvSpPr/>
          <p:nvPr/>
        </p:nvSpPr>
        <p:spPr>
          <a:xfrm>
            <a:off x="3611880" y="2907792"/>
            <a:ext cx="1188720" cy="292608"/>
          </a:xfrm>
          <a:prstGeom prst="rect">
            <a:avLst/>
          </a:prstGeom>
          <a:noFill/>
          <a:ln/>
        </p:spPr>
        <p:txBody>
          <a:bodyPr wrap="square" lIns="0" tIns="0" rIns="0" bIns="0" rtlCol="0" anchor="ctr"/>
          <a:lstStyle/>
          <a:p>
            <a:pPr indent="0" marL="0">
              <a:buNone/>
            </a:pPr>
            <a:r>
              <a:rPr lang="en-US" sz="1050" b="1" dirty="0">
                <a:solidFill>
                  <a:srgbClr val="059669"/>
                </a:solidFill>
                <a:latin typeface="Arial" pitchFamily="34" charset="0"/>
                <a:ea typeface="Arial" pitchFamily="34" charset="-122"/>
                <a:cs typeface="Arial" pitchFamily="34" charset="-120"/>
              </a:rPr>
              <a:t>49 MB</a:t>
            </a:r>
            <a:endParaRPr lang="en-US" sz="1050" dirty="0"/>
          </a:p>
        </p:txBody>
      </p:sp>
      <p:sp>
        <p:nvSpPr>
          <p:cNvPr id="32" name="Text 30"/>
          <p:cNvSpPr/>
          <p:nvPr/>
        </p:nvSpPr>
        <p:spPr>
          <a:xfrm>
            <a:off x="4892040" y="2907792"/>
            <a:ext cx="1664208"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Smallest, fast to pull</a:t>
            </a:r>
            <a:endParaRPr lang="en-US" sz="1000" dirty="0"/>
          </a:p>
        </p:txBody>
      </p:sp>
      <p:sp>
        <p:nvSpPr>
          <p:cNvPr id="33" name="Text 31"/>
          <p:cNvSpPr/>
          <p:nvPr/>
        </p:nvSpPr>
        <p:spPr>
          <a:xfrm>
            <a:off x="6656832" y="2907792"/>
            <a:ext cx="2011680" cy="29260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Minor compatibility trade-offs</a:t>
            </a:r>
            <a:endParaRPr lang="en-US" sz="1000" dirty="0"/>
          </a:p>
        </p:txBody>
      </p:sp>
      <p:sp>
        <p:nvSpPr>
          <p:cNvPr id="34" name="Shape 32"/>
          <p:cNvSpPr/>
          <p:nvPr/>
        </p:nvSpPr>
        <p:spPr>
          <a:xfrm>
            <a:off x="320040" y="3310128"/>
            <a:ext cx="850392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5" name="Shape 33"/>
          <p:cNvSpPr/>
          <p:nvPr/>
        </p:nvSpPr>
        <p:spPr>
          <a:xfrm>
            <a:off x="475488" y="3438144"/>
            <a:ext cx="384048" cy="384048"/>
          </a:xfrm>
          <a:prstGeom prst="roundRect">
            <a:avLst>
              <a:gd name="adj" fmla="val 14286"/>
            </a:avLst>
          </a:prstGeom>
          <a:solidFill>
            <a:srgbClr val="0DB7ED"/>
          </a:solidFill>
          <a:ln w="12700">
            <a:solidFill>
              <a:srgbClr val="0DB7ED"/>
            </a:solidFill>
            <a:prstDash val="solid"/>
          </a:ln>
        </p:spPr>
      </p:sp>
      <p:sp>
        <p:nvSpPr>
          <p:cNvPr id="36" name="Text 34"/>
          <p:cNvSpPr/>
          <p:nvPr/>
        </p:nvSpPr>
        <p:spPr>
          <a:xfrm>
            <a:off x="475488" y="34381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37" name="Text 35"/>
          <p:cNvSpPr/>
          <p:nvPr/>
        </p:nvSpPr>
        <p:spPr>
          <a:xfrm>
            <a:off x="1005840" y="3383280"/>
            <a:ext cx="7406640" cy="274320"/>
          </a:xfrm>
          <a:prstGeom prst="rect">
            <a:avLst/>
          </a:prstGeom>
          <a:noFill/>
          <a:ln/>
        </p:spPr>
        <p:txBody>
          <a:bodyPr wrap="square" lIns="0" tIns="0" rIns="0" bIns="0" rtlCol="0" anchor="ctr"/>
          <a:lstStyle/>
          <a:p>
            <a:pPr indent="0" marL="0">
              <a:buNone/>
            </a:pPr>
            <a:r>
              <a:rPr lang="en-US" sz="1200" b="1" dirty="0">
                <a:solidFill>
                  <a:srgbClr val="0DB7ED"/>
                </a:solidFill>
                <a:latin typeface="Arial" pitchFamily="34" charset="0"/>
                <a:ea typeface="Arial" pitchFamily="34" charset="-122"/>
                <a:cs typeface="Arial" pitchFamily="34" charset="-120"/>
              </a:rPr>
              <a:t>💡  Never use :latest in production</a:t>
            </a:r>
            <a:endParaRPr lang="en-US" sz="1200" dirty="0"/>
          </a:p>
        </p:txBody>
      </p:sp>
      <p:sp>
        <p:nvSpPr>
          <p:cNvPr id="38" name="Text 36"/>
          <p:cNvSpPr/>
          <p:nvPr/>
        </p:nvSpPr>
        <p:spPr>
          <a:xfrm>
            <a:off x="1005840" y="3675888"/>
            <a:ext cx="74066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The latest tag is overwritten whenever a new version is released. Use a specific version tag like nginx:1.25 so your deployments are reproducible and predictable.</a:t>
            </a:r>
            <a:endParaRPr lang="en-US" sz="1000" dirty="0"/>
          </a:p>
        </p:txBody>
      </p:sp>
      <p:sp>
        <p:nvSpPr>
          <p:cNvPr id="39" name="Shape 37"/>
          <p:cNvSpPr/>
          <p:nvPr/>
        </p:nvSpPr>
        <p:spPr>
          <a:xfrm>
            <a:off x="320040" y="4059936"/>
            <a:ext cx="850392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0" name="Shape 38"/>
          <p:cNvSpPr/>
          <p:nvPr/>
        </p:nvSpPr>
        <p:spPr>
          <a:xfrm>
            <a:off x="475488" y="4187952"/>
            <a:ext cx="384048" cy="384048"/>
          </a:xfrm>
          <a:prstGeom prst="roundRect">
            <a:avLst>
              <a:gd name="adj" fmla="val 14286"/>
            </a:avLst>
          </a:prstGeom>
          <a:solidFill>
            <a:srgbClr val="059669"/>
          </a:solidFill>
          <a:ln w="12700">
            <a:solidFill>
              <a:srgbClr val="059669"/>
            </a:solidFill>
            <a:prstDash val="solid"/>
          </a:ln>
        </p:spPr>
      </p:sp>
      <p:sp>
        <p:nvSpPr>
          <p:cNvPr id="41" name="Text 39"/>
          <p:cNvSpPr/>
          <p:nvPr/>
        </p:nvSpPr>
        <p:spPr>
          <a:xfrm>
            <a:off x="475488" y="41879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42" name="Text 40"/>
          <p:cNvSpPr/>
          <p:nvPr/>
        </p:nvSpPr>
        <p:spPr>
          <a:xfrm>
            <a:off x="1005840" y="4133088"/>
            <a:ext cx="7406640" cy="274320"/>
          </a:xfrm>
          <a:prstGeom prst="rect">
            <a:avLst/>
          </a:prstGeom>
          <a:noFill/>
          <a:ln/>
        </p:spPr>
        <p:txBody>
          <a:bodyPr wrap="square" lIns="0" tIns="0" rIns="0" bIns="0" rtlCol="0" anchor="ctr"/>
          <a:lstStyle/>
          <a:p>
            <a:pPr indent="0" marL="0">
              <a:buNone/>
            </a:pPr>
            <a:r>
              <a:rPr lang="en-US" sz="1200" b="1" dirty="0">
                <a:solidFill>
                  <a:srgbClr val="059669"/>
                </a:solidFill>
                <a:latin typeface="Arial" pitchFamily="34" charset="0"/>
                <a:ea typeface="Arial" pitchFamily="34" charset="-122"/>
                <a:cs typeface="Arial" pitchFamily="34" charset="-120"/>
              </a:rPr>
              <a:t>💡  Choose Alpine variants for smaller images</a:t>
            </a:r>
            <a:endParaRPr lang="en-US" sz="1200" dirty="0"/>
          </a:p>
        </p:txBody>
      </p:sp>
      <p:sp>
        <p:nvSpPr>
          <p:cNvPr id="43" name="Text 41"/>
          <p:cNvSpPr/>
          <p:nvPr/>
        </p:nvSpPr>
        <p:spPr>
          <a:xfrm>
            <a:off x="1005840" y="4425696"/>
            <a:ext cx="740664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Alpine images are 70-95% smaller than full images. Smaller images pull faster, deploy faster and have fewer security vulnerabilities to patch.</a:t>
            </a:r>
            <a:endParaRPr lang="en-US" sz="1000" dirty="0"/>
          </a:p>
        </p:txBody>
      </p:sp>
      <p:sp>
        <p:nvSpPr>
          <p:cNvPr id="44" name="Shape 42"/>
          <p:cNvSpPr/>
          <p:nvPr/>
        </p:nvSpPr>
        <p:spPr>
          <a:xfrm>
            <a:off x="0" y="4846320"/>
            <a:ext cx="9144000" cy="297180"/>
          </a:xfrm>
          <a:prstGeom prst="rect">
            <a:avLst/>
          </a:prstGeom>
          <a:solidFill>
            <a:srgbClr val="0F172A"/>
          </a:solidFill>
          <a:ln w="12700">
            <a:solidFill>
              <a:srgbClr val="0F172A"/>
            </a:solidFill>
            <a:prstDash val="solid"/>
          </a:ln>
        </p:spPr>
      </p:sp>
      <p:sp>
        <p:nvSpPr>
          <p:cNvPr id="45" name="Text 4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03: Docker Images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04</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Docker Containers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Running, managing and cleaning up containers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CONTAINER?</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Docker Containers</a:t>
            </a:r>
            <a:endParaRPr lang="en-US" sz="950" dirty="0"/>
          </a:p>
        </p:txBody>
      </p:sp>
      <p:sp>
        <p:nvSpPr>
          <p:cNvPr id="6" name="Shape 4"/>
          <p:cNvSpPr/>
          <p:nvPr/>
        </p:nvSpPr>
        <p:spPr>
          <a:xfrm>
            <a:off x="320040" y="868680"/>
            <a:ext cx="8503920" cy="804672"/>
          </a:xfrm>
          <a:prstGeom prst="roundRect">
            <a:avLst>
              <a:gd name="adj" fmla="val 11364"/>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71323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A container is a running instance of a Docker image. One image can produce many containers. Each container is isolated — its own filesystem, network and process space.</a:t>
            </a:r>
            <a:endParaRPr lang="en-US" sz="1350" dirty="0"/>
          </a:p>
        </p:txBody>
      </p:sp>
      <p:sp>
        <p:nvSpPr>
          <p:cNvPr id="8" name="Text 6"/>
          <p:cNvSpPr/>
          <p:nvPr/>
        </p:nvSpPr>
        <p:spPr>
          <a:xfrm>
            <a:off x="320040" y="1810512"/>
            <a:ext cx="8503920" cy="347472"/>
          </a:xfrm>
          <a:prstGeom prst="rect">
            <a:avLst/>
          </a:prstGeom>
          <a:noFill/>
          <a:ln/>
        </p:spPr>
        <p:txBody>
          <a:bodyPr wrap="square" lIns="0" tIns="0" rIns="0" bIns="0" rtlCol="0" anchor="ctr"/>
          <a:lstStyle/>
          <a:p>
            <a:pPr algn="ctr" indent="0" marL="0">
              <a:buNone/>
            </a:pPr>
            <a:r>
              <a:rPr lang="en-US" sz="1300" dirty="0">
                <a:solidFill>
                  <a:srgbClr val="0DB7ED"/>
                </a:solidFill>
                <a:latin typeface="Cambria" pitchFamily="34" charset="0"/>
                <a:ea typeface="Cambria" pitchFamily="34" charset="-122"/>
                <a:cs typeface="Cambria" pitchFamily="34" charset="-120"/>
              </a:rPr>
              <a:t>Image  →  Container  is like  Class  →  Object</a:t>
            </a:r>
            <a:endParaRPr lang="en-US" sz="1300" dirty="0"/>
          </a:p>
        </p:txBody>
      </p:sp>
      <p:sp>
        <p:nvSpPr>
          <p:cNvPr id="9" name="Text 7"/>
          <p:cNvSpPr/>
          <p:nvPr/>
        </p:nvSpPr>
        <p:spPr>
          <a:xfrm>
            <a:off x="320040" y="2267712"/>
            <a:ext cx="3657600" cy="32004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Container Lifecycle</a:t>
            </a:r>
            <a:endParaRPr lang="en-US" sz="1200" dirty="0"/>
          </a:p>
        </p:txBody>
      </p:sp>
      <p:sp>
        <p:nvSpPr>
          <p:cNvPr id="10" name="Shape 8"/>
          <p:cNvSpPr/>
          <p:nvPr/>
        </p:nvSpPr>
        <p:spPr>
          <a:xfrm>
            <a:off x="320040" y="2670048"/>
            <a:ext cx="1572768" cy="475488"/>
          </a:xfrm>
          <a:prstGeom prst="roundRect">
            <a:avLst>
              <a:gd name="adj" fmla="val 15385"/>
            </a:avLst>
          </a:prstGeom>
          <a:solidFill>
            <a:srgbClr val="475569"/>
          </a:solidFill>
          <a:ln w="12700">
            <a:solidFill>
              <a:srgbClr val="475569"/>
            </a:solidFill>
            <a:prstDash val="solid"/>
          </a:ln>
        </p:spPr>
      </p:sp>
      <p:sp>
        <p:nvSpPr>
          <p:cNvPr id="11" name="Text 9"/>
          <p:cNvSpPr/>
          <p:nvPr/>
        </p:nvSpPr>
        <p:spPr>
          <a:xfrm>
            <a:off x="320040" y="2670048"/>
            <a:ext cx="157276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Created</a:t>
            </a:r>
            <a:endParaRPr lang="en-US" sz="1150" dirty="0"/>
          </a:p>
        </p:txBody>
      </p:sp>
      <p:sp>
        <p:nvSpPr>
          <p:cNvPr id="12" name="Text 10"/>
          <p:cNvSpPr/>
          <p:nvPr/>
        </p:nvSpPr>
        <p:spPr>
          <a:xfrm>
            <a:off x="320040" y="3182112"/>
            <a:ext cx="1572768" cy="320040"/>
          </a:xfrm>
          <a:prstGeom prst="rect">
            <a:avLst/>
          </a:prstGeom>
          <a:noFill/>
          <a:ln/>
        </p:spPr>
        <p:txBody>
          <a:bodyPr wrap="square" lIns="0" tIns="0" rIns="0" bIns="0" rtlCol="0" anchor="ctr"/>
          <a:lstStyle/>
          <a:p>
            <a:pPr algn="ctr" indent="0" marL="0">
              <a:buNone/>
            </a:pPr>
            <a:r>
              <a:rPr lang="en-US" sz="850" dirty="0">
                <a:solidFill>
                  <a:srgbClr val="94A3B8"/>
                </a:solidFill>
                <a:latin typeface="Courier New" pitchFamily="34" charset="0"/>
                <a:ea typeface="Courier New" pitchFamily="34" charset="-122"/>
                <a:cs typeface="Courier New" pitchFamily="34" charset="-120"/>
              </a:rPr>
              <a:t>docker create</a:t>
            </a:r>
            <a:endParaRPr lang="en-US" sz="850" dirty="0"/>
          </a:p>
        </p:txBody>
      </p:sp>
      <p:sp>
        <p:nvSpPr>
          <p:cNvPr id="13" name="Text 11"/>
          <p:cNvSpPr/>
          <p:nvPr/>
        </p:nvSpPr>
        <p:spPr>
          <a:xfrm>
            <a:off x="1911096" y="2779776"/>
            <a:ext cx="146304" cy="256032"/>
          </a:xfrm>
          <a:prstGeom prst="rect">
            <a:avLst/>
          </a:prstGeom>
          <a:noFill/>
          <a:ln/>
        </p:spPr>
        <p:txBody>
          <a:bodyPr wrap="square" lIns="0" tIns="0" rIns="0" bIns="0" rtlCol="0" anchor="ctr"/>
          <a:lstStyle/>
          <a:p>
            <a:pPr algn="ctr" indent="0" marL="0">
              <a:buNone/>
            </a:pPr>
            <a:r>
              <a:rPr lang="en-US" sz="1400" dirty="0">
                <a:solidFill>
                  <a:srgbClr val="94A3B8"/>
                </a:solidFill>
              </a:rPr>
              <a:t>→</a:t>
            </a:r>
            <a:endParaRPr lang="en-US" sz="1400" dirty="0"/>
          </a:p>
        </p:txBody>
      </p:sp>
      <p:sp>
        <p:nvSpPr>
          <p:cNvPr id="14" name="Shape 12"/>
          <p:cNvSpPr/>
          <p:nvPr/>
        </p:nvSpPr>
        <p:spPr>
          <a:xfrm>
            <a:off x="2039112" y="2670048"/>
            <a:ext cx="1572768" cy="475488"/>
          </a:xfrm>
          <a:prstGeom prst="roundRect">
            <a:avLst>
              <a:gd name="adj" fmla="val 15385"/>
            </a:avLst>
          </a:prstGeom>
          <a:solidFill>
            <a:srgbClr val="059669"/>
          </a:solidFill>
          <a:ln w="12700">
            <a:solidFill>
              <a:srgbClr val="059669"/>
            </a:solidFill>
            <a:prstDash val="solid"/>
          </a:ln>
        </p:spPr>
      </p:sp>
      <p:sp>
        <p:nvSpPr>
          <p:cNvPr id="15" name="Text 13"/>
          <p:cNvSpPr/>
          <p:nvPr/>
        </p:nvSpPr>
        <p:spPr>
          <a:xfrm>
            <a:off x="2039112" y="2670048"/>
            <a:ext cx="157276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Running</a:t>
            </a:r>
            <a:endParaRPr lang="en-US" sz="1150" dirty="0"/>
          </a:p>
        </p:txBody>
      </p:sp>
      <p:sp>
        <p:nvSpPr>
          <p:cNvPr id="16" name="Text 14"/>
          <p:cNvSpPr/>
          <p:nvPr/>
        </p:nvSpPr>
        <p:spPr>
          <a:xfrm>
            <a:off x="2039112" y="3182112"/>
            <a:ext cx="1572768" cy="320040"/>
          </a:xfrm>
          <a:prstGeom prst="rect">
            <a:avLst/>
          </a:prstGeom>
          <a:noFill/>
          <a:ln/>
        </p:spPr>
        <p:txBody>
          <a:bodyPr wrap="square" lIns="0" tIns="0" rIns="0" bIns="0" rtlCol="0" anchor="ctr"/>
          <a:lstStyle/>
          <a:p>
            <a:pPr algn="ctr" indent="0" marL="0">
              <a:buNone/>
            </a:pPr>
            <a:r>
              <a:rPr lang="en-US" sz="850" dirty="0">
                <a:solidFill>
                  <a:srgbClr val="94A3B8"/>
                </a:solidFill>
                <a:latin typeface="Courier New" pitchFamily="34" charset="0"/>
                <a:ea typeface="Courier New" pitchFamily="34" charset="-122"/>
                <a:cs typeface="Courier New" pitchFamily="34" charset="-120"/>
              </a:rPr>
              <a:t>docker start / run</a:t>
            </a:r>
            <a:endParaRPr lang="en-US" sz="850" dirty="0"/>
          </a:p>
        </p:txBody>
      </p:sp>
      <p:sp>
        <p:nvSpPr>
          <p:cNvPr id="17" name="Text 15"/>
          <p:cNvSpPr/>
          <p:nvPr/>
        </p:nvSpPr>
        <p:spPr>
          <a:xfrm>
            <a:off x="3630168" y="2779776"/>
            <a:ext cx="146304" cy="256032"/>
          </a:xfrm>
          <a:prstGeom prst="rect">
            <a:avLst/>
          </a:prstGeom>
          <a:noFill/>
          <a:ln/>
        </p:spPr>
        <p:txBody>
          <a:bodyPr wrap="square" lIns="0" tIns="0" rIns="0" bIns="0" rtlCol="0" anchor="ctr"/>
          <a:lstStyle/>
          <a:p>
            <a:pPr algn="ctr" indent="0" marL="0">
              <a:buNone/>
            </a:pPr>
            <a:r>
              <a:rPr lang="en-US" sz="1400" dirty="0">
                <a:solidFill>
                  <a:srgbClr val="94A3B8"/>
                </a:solidFill>
              </a:rPr>
              <a:t>→</a:t>
            </a:r>
            <a:endParaRPr lang="en-US" sz="1400" dirty="0"/>
          </a:p>
        </p:txBody>
      </p:sp>
      <p:sp>
        <p:nvSpPr>
          <p:cNvPr id="18" name="Shape 16"/>
          <p:cNvSpPr/>
          <p:nvPr/>
        </p:nvSpPr>
        <p:spPr>
          <a:xfrm>
            <a:off x="3758184" y="2670048"/>
            <a:ext cx="1572768" cy="475488"/>
          </a:xfrm>
          <a:prstGeom prst="roundRect">
            <a:avLst>
              <a:gd name="adj" fmla="val 15385"/>
            </a:avLst>
          </a:prstGeom>
          <a:solidFill>
            <a:srgbClr val="D97706"/>
          </a:solidFill>
          <a:ln w="12700">
            <a:solidFill>
              <a:srgbClr val="D97706"/>
            </a:solidFill>
            <a:prstDash val="solid"/>
          </a:ln>
        </p:spPr>
      </p:sp>
      <p:sp>
        <p:nvSpPr>
          <p:cNvPr id="19" name="Text 17"/>
          <p:cNvSpPr/>
          <p:nvPr/>
        </p:nvSpPr>
        <p:spPr>
          <a:xfrm>
            <a:off x="3758184" y="2670048"/>
            <a:ext cx="157276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Paused</a:t>
            </a:r>
            <a:endParaRPr lang="en-US" sz="1150" dirty="0"/>
          </a:p>
        </p:txBody>
      </p:sp>
      <p:sp>
        <p:nvSpPr>
          <p:cNvPr id="20" name="Text 18"/>
          <p:cNvSpPr/>
          <p:nvPr/>
        </p:nvSpPr>
        <p:spPr>
          <a:xfrm>
            <a:off x="3758184" y="3182112"/>
            <a:ext cx="1572768" cy="320040"/>
          </a:xfrm>
          <a:prstGeom prst="rect">
            <a:avLst/>
          </a:prstGeom>
          <a:noFill/>
          <a:ln/>
        </p:spPr>
        <p:txBody>
          <a:bodyPr wrap="square" lIns="0" tIns="0" rIns="0" bIns="0" rtlCol="0" anchor="ctr"/>
          <a:lstStyle/>
          <a:p>
            <a:pPr algn="ctr" indent="0" marL="0">
              <a:buNone/>
            </a:pPr>
            <a:r>
              <a:rPr lang="en-US" sz="850" dirty="0">
                <a:solidFill>
                  <a:srgbClr val="94A3B8"/>
                </a:solidFill>
                <a:latin typeface="Courier New" pitchFamily="34" charset="0"/>
                <a:ea typeface="Courier New" pitchFamily="34" charset="-122"/>
                <a:cs typeface="Courier New" pitchFamily="34" charset="-120"/>
              </a:rPr>
              <a:t>docker pause</a:t>
            </a:r>
            <a:endParaRPr lang="en-US" sz="850" dirty="0"/>
          </a:p>
        </p:txBody>
      </p:sp>
      <p:sp>
        <p:nvSpPr>
          <p:cNvPr id="21" name="Text 19"/>
          <p:cNvSpPr/>
          <p:nvPr/>
        </p:nvSpPr>
        <p:spPr>
          <a:xfrm>
            <a:off x="5349240" y="2779776"/>
            <a:ext cx="146304" cy="256032"/>
          </a:xfrm>
          <a:prstGeom prst="rect">
            <a:avLst/>
          </a:prstGeom>
          <a:noFill/>
          <a:ln/>
        </p:spPr>
        <p:txBody>
          <a:bodyPr wrap="square" lIns="0" tIns="0" rIns="0" bIns="0" rtlCol="0" anchor="ctr"/>
          <a:lstStyle/>
          <a:p>
            <a:pPr algn="ctr" indent="0" marL="0">
              <a:buNone/>
            </a:pPr>
            <a:r>
              <a:rPr lang="en-US" sz="1400" dirty="0">
                <a:solidFill>
                  <a:srgbClr val="94A3B8"/>
                </a:solidFill>
              </a:rPr>
              <a:t>→</a:t>
            </a:r>
            <a:endParaRPr lang="en-US" sz="1400" dirty="0"/>
          </a:p>
        </p:txBody>
      </p:sp>
      <p:sp>
        <p:nvSpPr>
          <p:cNvPr id="22" name="Shape 20"/>
          <p:cNvSpPr/>
          <p:nvPr/>
        </p:nvSpPr>
        <p:spPr>
          <a:xfrm>
            <a:off x="5477256" y="2670048"/>
            <a:ext cx="1572768" cy="475488"/>
          </a:xfrm>
          <a:prstGeom prst="roundRect">
            <a:avLst>
              <a:gd name="adj" fmla="val 15385"/>
            </a:avLst>
          </a:prstGeom>
          <a:solidFill>
            <a:srgbClr val="DC2626"/>
          </a:solidFill>
          <a:ln w="12700">
            <a:solidFill>
              <a:srgbClr val="DC2626"/>
            </a:solidFill>
            <a:prstDash val="solid"/>
          </a:ln>
        </p:spPr>
      </p:sp>
      <p:sp>
        <p:nvSpPr>
          <p:cNvPr id="23" name="Text 21"/>
          <p:cNvSpPr/>
          <p:nvPr/>
        </p:nvSpPr>
        <p:spPr>
          <a:xfrm>
            <a:off x="5477256" y="2670048"/>
            <a:ext cx="157276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Exited</a:t>
            </a:r>
            <a:endParaRPr lang="en-US" sz="1150" dirty="0"/>
          </a:p>
        </p:txBody>
      </p:sp>
      <p:sp>
        <p:nvSpPr>
          <p:cNvPr id="24" name="Text 22"/>
          <p:cNvSpPr/>
          <p:nvPr/>
        </p:nvSpPr>
        <p:spPr>
          <a:xfrm>
            <a:off x="5477256" y="3182112"/>
            <a:ext cx="1572768" cy="320040"/>
          </a:xfrm>
          <a:prstGeom prst="rect">
            <a:avLst/>
          </a:prstGeom>
          <a:noFill/>
          <a:ln/>
        </p:spPr>
        <p:txBody>
          <a:bodyPr wrap="square" lIns="0" tIns="0" rIns="0" bIns="0" rtlCol="0" anchor="ctr"/>
          <a:lstStyle/>
          <a:p>
            <a:pPr algn="ctr" indent="0" marL="0">
              <a:buNone/>
            </a:pPr>
            <a:r>
              <a:rPr lang="en-US" sz="850" dirty="0">
                <a:solidFill>
                  <a:srgbClr val="94A3B8"/>
                </a:solidFill>
                <a:latin typeface="Courier New" pitchFamily="34" charset="0"/>
                <a:ea typeface="Courier New" pitchFamily="34" charset="-122"/>
                <a:cs typeface="Courier New" pitchFamily="34" charset="-120"/>
              </a:rPr>
              <a:t>docker stop</a:t>
            </a:r>
            <a:endParaRPr lang="en-US" sz="850" dirty="0"/>
          </a:p>
        </p:txBody>
      </p:sp>
      <p:sp>
        <p:nvSpPr>
          <p:cNvPr id="25" name="Text 23"/>
          <p:cNvSpPr/>
          <p:nvPr/>
        </p:nvSpPr>
        <p:spPr>
          <a:xfrm>
            <a:off x="7068312" y="2779776"/>
            <a:ext cx="146304" cy="256032"/>
          </a:xfrm>
          <a:prstGeom prst="rect">
            <a:avLst/>
          </a:prstGeom>
          <a:noFill/>
          <a:ln/>
        </p:spPr>
        <p:txBody>
          <a:bodyPr wrap="square" lIns="0" tIns="0" rIns="0" bIns="0" rtlCol="0" anchor="ctr"/>
          <a:lstStyle/>
          <a:p>
            <a:pPr algn="ctr" indent="0" marL="0">
              <a:buNone/>
            </a:pPr>
            <a:r>
              <a:rPr lang="en-US" sz="1400" dirty="0">
                <a:solidFill>
                  <a:srgbClr val="94A3B8"/>
                </a:solidFill>
              </a:rPr>
              <a:t>→</a:t>
            </a:r>
            <a:endParaRPr lang="en-US" sz="1400" dirty="0"/>
          </a:p>
        </p:txBody>
      </p:sp>
      <p:sp>
        <p:nvSpPr>
          <p:cNvPr id="26" name="Shape 24"/>
          <p:cNvSpPr/>
          <p:nvPr/>
        </p:nvSpPr>
        <p:spPr>
          <a:xfrm>
            <a:off x="7196328" y="2670048"/>
            <a:ext cx="1572768" cy="475488"/>
          </a:xfrm>
          <a:prstGeom prst="roundRect">
            <a:avLst>
              <a:gd name="adj" fmla="val 15385"/>
            </a:avLst>
          </a:prstGeom>
          <a:solidFill>
            <a:srgbClr val="1E293B"/>
          </a:solidFill>
          <a:ln w="12700">
            <a:solidFill>
              <a:srgbClr val="1E293B"/>
            </a:solidFill>
            <a:prstDash val="solid"/>
          </a:ln>
        </p:spPr>
      </p:sp>
      <p:sp>
        <p:nvSpPr>
          <p:cNvPr id="27" name="Text 25"/>
          <p:cNvSpPr/>
          <p:nvPr/>
        </p:nvSpPr>
        <p:spPr>
          <a:xfrm>
            <a:off x="7196328" y="2670048"/>
            <a:ext cx="1572768" cy="47548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Removed</a:t>
            </a:r>
            <a:endParaRPr lang="en-US" sz="1150" dirty="0"/>
          </a:p>
        </p:txBody>
      </p:sp>
      <p:sp>
        <p:nvSpPr>
          <p:cNvPr id="28" name="Text 26"/>
          <p:cNvSpPr/>
          <p:nvPr/>
        </p:nvSpPr>
        <p:spPr>
          <a:xfrm>
            <a:off x="7196328" y="3182112"/>
            <a:ext cx="1572768" cy="320040"/>
          </a:xfrm>
          <a:prstGeom prst="rect">
            <a:avLst/>
          </a:prstGeom>
          <a:noFill/>
          <a:ln/>
        </p:spPr>
        <p:txBody>
          <a:bodyPr wrap="square" lIns="0" tIns="0" rIns="0" bIns="0" rtlCol="0" anchor="ctr"/>
          <a:lstStyle/>
          <a:p>
            <a:pPr algn="ctr" indent="0" marL="0">
              <a:buNone/>
            </a:pPr>
            <a:r>
              <a:rPr lang="en-US" sz="850" dirty="0">
                <a:solidFill>
                  <a:srgbClr val="94A3B8"/>
                </a:solidFill>
                <a:latin typeface="Courier New" pitchFamily="34" charset="0"/>
                <a:ea typeface="Courier New" pitchFamily="34" charset="-122"/>
                <a:cs typeface="Courier New" pitchFamily="34" charset="-120"/>
              </a:rPr>
              <a:t>docker rm</a:t>
            </a:r>
            <a:endParaRPr lang="en-US" sz="850" dirty="0"/>
          </a:p>
        </p:txBody>
      </p:sp>
      <p:sp>
        <p:nvSpPr>
          <p:cNvPr id="29" name="Shape 27"/>
          <p:cNvSpPr/>
          <p:nvPr/>
        </p:nvSpPr>
        <p:spPr>
          <a:xfrm>
            <a:off x="320040" y="3611880"/>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57200" y="3666744"/>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Isolated</a:t>
            </a:r>
            <a:endParaRPr lang="en-US" sz="1150" dirty="0"/>
          </a:p>
        </p:txBody>
      </p:sp>
      <p:sp>
        <p:nvSpPr>
          <p:cNvPr id="31" name="Text 29"/>
          <p:cNvSpPr/>
          <p:nvPr/>
        </p:nvSpPr>
        <p:spPr>
          <a:xfrm>
            <a:off x="457200" y="3941064"/>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Own filesystem, network and process space. Cannot see other containers.</a:t>
            </a:r>
            <a:endParaRPr lang="en-US" sz="950" dirty="0"/>
          </a:p>
        </p:txBody>
      </p:sp>
      <p:sp>
        <p:nvSpPr>
          <p:cNvPr id="32" name="Shape 30"/>
          <p:cNvSpPr/>
          <p:nvPr/>
        </p:nvSpPr>
        <p:spPr>
          <a:xfrm>
            <a:off x="4709160" y="3611880"/>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3" name="Text 31"/>
          <p:cNvSpPr/>
          <p:nvPr/>
        </p:nvSpPr>
        <p:spPr>
          <a:xfrm>
            <a:off x="4846320" y="3666744"/>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Ephemeral</a:t>
            </a:r>
            <a:endParaRPr lang="en-US" sz="1150" dirty="0"/>
          </a:p>
        </p:txBody>
      </p:sp>
      <p:sp>
        <p:nvSpPr>
          <p:cNvPr id="34" name="Text 32"/>
          <p:cNvSpPr/>
          <p:nvPr/>
        </p:nvSpPr>
        <p:spPr>
          <a:xfrm>
            <a:off x="4846320" y="3941064"/>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Data inside is lost when removed. Use volumes for persistence.</a:t>
            </a:r>
            <a:endParaRPr lang="en-US" sz="950" dirty="0"/>
          </a:p>
        </p:txBody>
      </p:sp>
      <p:sp>
        <p:nvSpPr>
          <p:cNvPr id="35" name="Shape 33"/>
          <p:cNvSpPr/>
          <p:nvPr/>
        </p:nvSpPr>
        <p:spPr>
          <a:xfrm>
            <a:off x="320040" y="42702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6" name="Text 34"/>
          <p:cNvSpPr/>
          <p:nvPr/>
        </p:nvSpPr>
        <p:spPr>
          <a:xfrm>
            <a:off x="457200" y="432511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Fast</a:t>
            </a:r>
            <a:endParaRPr lang="en-US" sz="1150" dirty="0"/>
          </a:p>
        </p:txBody>
      </p:sp>
      <p:sp>
        <p:nvSpPr>
          <p:cNvPr id="37" name="Text 35"/>
          <p:cNvSpPr/>
          <p:nvPr/>
        </p:nvSpPr>
        <p:spPr>
          <a:xfrm>
            <a:off x="457200" y="4599432"/>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Start in seconds. Run dozens simultaneously.</a:t>
            </a:r>
            <a:endParaRPr lang="en-US" sz="950" dirty="0"/>
          </a:p>
        </p:txBody>
      </p:sp>
      <p:sp>
        <p:nvSpPr>
          <p:cNvPr id="38" name="Shape 36"/>
          <p:cNvSpPr/>
          <p:nvPr/>
        </p:nvSpPr>
        <p:spPr>
          <a:xfrm>
            <a:off x="4709160" y="4270248"/>
            <a:ext cx="4114800" cy="566928"/>
          </a:xfrm>
          <a:prstGeom prst="roundRect">
            <a:avLst>
              <a:gd name="adj" fmla="val 1612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9" name="Text 37"/>
          <p:cNvSpPr/>
          <p:nvPr/>
        </p:nvSpPr>
        <p:spPr>
          <a:xfrm>
            <a:off x="4846320" y="432511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One Process</a:t>
            </a:r>
            <a:endParaRPr lang="en-US" sz="1150" dirty="0"/>
          </a:p>
        </p:txBody>
      </p:sp>
      <p:sp>
        <p:nvSpPr>
          <p:cNvPr id="40" name="Text 38"/>
          <p:cNvSpPr/>
          <p:nvPr/>
        </p:nvSpPr>
        <p:spPr>
          <a:xfrm>
            <a:off x="4846320" y="4599432"/>
            <a:ext cx="3840480" cy="20116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Best practice: one main process per container.</a:t>
            </a:r>
            <a:endParaRPr lang="en-US" sz="950" dirty="0"/>
          </a:p>
        </p:txBody>
      </p:sp>
      <p:sp>
        <p:nvSpPr>
          <p:cNvPr id="41" name="Shape 39"/>
          <p:cNvSpPr/>
          <p:nvPr/>
        </p:nvSpPr>
        <p:spPr>
          <a:xfrm>
            <a:off x="0" y="4846320"/>
            <a:ext cx="9144000" cy="297180"/>
          </a:xfrm>
          <a:prstGeom prst="rect">
            <a:avLst/>
          </a:prstGeom>
          <a:solidFill>
            <a:srgbClr val="0F172A"/>
          </a:solidFill>
          <a:ln w="12700">
            <a:solidFill>
              <a:srgbClr val="0F172A"/>
            </a:solidFill>
            <a:prstDash val="solid"/>
          </a:ln>
        </p:spPr>
      </p:sp>
      <p:sp>
        <p:nvSpPr>
          <p:cNvPr id="42" name="Text 4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Docker Containers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DOCKER RUN — THE MOST IMPORTANT COMMAND</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Docker Containers</a:t>
            </a:r>
            <a:endParaRPr lang="en-US" sz="950" dirty="0"/>
          </a:p>
        </p:txBody>
      </p:sp>
      <p:sp>
        <p:nvSpPr>
          <p:cNvPr id="6" name="Shape 4"/>
          <p:cNvSpPr/>
          <p:nvPr/>
        </p:nvSpPr>
        <p:spPr>
          <a:xfrm>
            <a:off x="320040" y="868680"/>
            <a:ext cx="8503920" cy="530352"/>
          </a:xfrm>
          <a:prstGeom prst="roundRect">
            <a:avLst>
              <a:gd name="adj" fmla="val 17241"/>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60120"/>
            <a:ext cx="8229600" cy="347472"/>
          </a:xfrm>
          <a:prstGeom prst="rect">
            <a:avLst/>
          </a:prstGeom>
          <a:noFill/>
          <a:ln/>
        </p:spPr>
        <p:txBody>
          <a:bodyPr wrap="square" lIns="0" tIns="0" rIns="0" bIns="0" rtlCol="0" anchor="ctr"/>
          <a:lstStyle/>
          <a:p>
            <a:pPr indent="0" marL="0">
              <a:buNone/>
            </a:pPr>
            <a:r>
              <a:rPr lang="en-US" sz="1400" dirty="0">
                <a:solidFill>
                  <a:srgbClr val="6EE7B7"/>
                </a:solidFill>
                <a:latin typeface="Courier New" pitchFamily="34" charset="0"/>
                <a:ea typeface="Courier New" pitchFamily="34" charset="-122"/>
                <a:cs typeface="Courier New" pitchFamily="34" charset="-120"/>
              </a:rPr>
              <a:t>docker run [OPTIONS] IMAGE [COMMAND]</a:t>
            </a:r>
            <a:endParaRPr lang="en-US" sz="1400" dirty="0"/>
          </a:p>
        </p:txBody>
      </p:sp>
      <p:sp>
        <p:nvSpPr>
          <p:cNvPr id="8" name="Shape 6"/>
          <p:cNvSpPr/>
          <p:nvPr/>
        </p:nvSpPr>
        <p:spPr>
          <a:xfrm>
            <a:off x="320040" y="1481328"/>
            <a:ext cx="8503920" cy="329184"/>
          </a:xfrm>
          <a:prstGeom prst="rect">
            <a:avLst/>
          </a:prstGeom>
          <a:solidFill>
            <a:srgbClr val="0F172A"/>
          </a:solidFill>
          <a:ln w="12700">
            <a:solidFill>
              <a:srgbClr val="0F172A"/>
            </a:solidFill>
            <a:prstDash val="solid"/>
          </a:ln>
        </p:spPr>
      </p:sp>
      <p:sp>
        <p:nvSpPr>
          <p:cNvPr id="9" name="Text 7"/>
          <p:cNvSpPr/>
          <p:nvPr/>
        </p:nvSpPr>
        <p:spPr>
          <a:xfrm>
            <a:off x="411480" y="1508760"/>
            <a:ext cx="91440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Flag</a:t>
            </a:r>
            <a:endParaRPr lang="en-US" sz="1050" dirty="0"/>
          </a:p>
        </p:txBody>
      </p:sp>
      <p:sp>
        <p:nvSpPr>
          <p:cNvPr id="10" name="Text 8"/>
          <p:cNvSpPr/>
          <p:nvPr/>
        </p:nvSpPr>
        <p:spPr>
          <a:xfrm>
            <a:off x="1417320" y="1508760"/>
            <a:ext cx="379476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What it Does</a:t>
            </a:r>
            <a:endParaRPr lang="en-US" sz="1050" dirty="0"/>
          </a:p>
        </p:txBody>
      </p:sp>
      <p:sp>
        <p:nvSpPr>
          <p:cNvPr id="11" name="Text 9"/>
          <p:cNvSpPr/>
          <p:nvPr/>
        </p:nvSpPr>
        <p:spPr>
          <a:xfrm>
            <a:off x="5303520" y="1508760"/>
            <a:ext cx="347472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Example</a:t>
            </a:r>
            <a:endParaRPr lang="en-US" sz="1050" dirty="0"/>
          </a:p>
        </p:txBody>
      </p:sp>
      <p:sp>
        <p:nvSpPr>
          <p:cNvPr id="12" name="Shape 10"/>
          <p:cNvSpPr/>
          <p:nvPr/>
        </p:nvSpPr>
        <p:spPr>
          <a:xfrm>
            <a:off x="320040" y="1865376"/>
            <a:ext cx="8503920" cy="384048"/>
          </a:xfrm>
          <a:prstGeom prst="rect">
            <a:avLst/>
          </a:prstGeom>
          <a:solidFill>
            <a:srgbClr val="FFFFFF"/>
          </a:solidFill>
          <a:ln w="12700">
            <a:solidFill>
              <a:srgbClr val="E2E8F0"/>
            </a:solidFill>
            <a:prstDash val="solid"/>
          </a:ln>
        </p:spPr>
      </p:sp>
      <p:sp>
        <p:nvSpPr>
          <p:cNvPr id="13" name="Text 11"/>
          <p:cNvSpPr/>
          <p:nvPr/>
        </p:nvSpPr>
        <p:spPr>
          <a:xfrm>
            <a:off x="411480" y="1920240"/>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-d</a:t>
            </a:r>
            <a:endParaRPr lang="en-US" sz="1100" dirty="0"/>
          </a:p>
        </p:txBody>
      </p:sp>
      <p:sp>
        <p:nvSpPr>
          <p:cNvPr id="14" name="Text 12"/>
          <p:cNvSpPr/>
          <p:nvPr/>
        </p:nvSpPr>
        <p:spPr>
          <a:xfrm>
            <a:off x="1417320" y="1920240"/>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Detached — runs in background</a:t>
            </a:r>
            <a:endParaRPr lang="en-US" sz="1000" dirty="0"/>
          </a:p>
        </p:txBody>
      </p:sp>
      <p:sp>
        <p:nvSpPr>
          <p:cNvPr id="15" name="Text 13"/>
          <p:cNvSpPr/>
          <p:nvPr/>
        </p:nvSpPr>
        <p:spPr>
          <a:xfrm>
            <a:off x="5303520" y="1920240"/>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-d nginx</a:t>
            </a:r>
            <a:endParaRPr lang="en-US" sz="900" dirty="0"/>
          </a:p>
        </p:txBody>
      </p:sp>
      <p:sp>
        <p:nvSpPr>
          <p:cNvPr id="16" name="Shape 14"/>
          <p:cNvSpPr/>
          <p:nvPr/>
        </p:nvSpPr>
        <p:spPr>
          <a:xfrm>
            <a:off x="320040" y="2258568"/>
            <a:ext cx="8503920" cy="384048"/>
          </a:xfrm>
          <a:prstGeom prst="rect">
            <a:avLst/>
          </a:prstGeom>
          <a:solidFill>
            <a:srgbClr val="F1F5F9"/>
          </a:solidFill>
          <a:ln w="12700">
            <a:solidFill>
              <a:srgbClr val="E2E8F0"/>
            </a:solidFill>
            <a:prstDash val="solid"/>
          </a:ln>
        </p:spPr>
      </p:sp>
      <p:sp>
        <p:nvSpPr>
          <p:cNvPr id="17" name="Text 15"/>
          <p:cNvSpPr/>
          <p:nvPr/>
        </p:nvSpPr>
        <p:spPr>
          <a:xfrm>
            <a:off x="411480" y="2313432"/>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-it</a:t>
            </a:r>
            <a:endParaRPr lang="en-US" sz="1100" dirty="0"/>
          </a:p>
        </p:txBody>
      </p:sp>
      <p:sp>
        <p:nvSpPr>
          <p:cNvPr id="18" name="Text 16"/>
          <p:cNvSpPr/>
          <p:nvPr/>
        </p:nvSpPr>
        <p:spPr>
          <a:xfrm>
            <a:off x="1417320" y="2313432"/>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Interactive + terminal — attach to shell</a:t>
            </a:r>
            <a:endParaRPr lang="en-US" sz="1000" dirty="0"/>
          </a:p>
        </p:txBody>
      </p:sp>
      <p:sp>
        <p:nvSpPr>
          <p:cNvPr id="19" name="Text 17"/>
          <p:cNvSpPr/>
          <p:nvPr/>
        </p:nvSpPr>
        <p:spPr>
          <a:xfrm>
            <a:off x="5303520" y="2313432"/>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-it ubuntu bash</a:t>
            </a:r>
            <a:endParaRPr lang="en-US" sz="900" dirty="0"/>
          </a:p>
        </p:txBody>
      </p:sp>
      <p:sp>
        <p:nvSpPr>
          <p:cNvPr id="20" name="Shape 18"/>
          <p:cNvSpPr/>
          <p:nvPr/>
        </p:nvSpPr>
        <p:spPr>
          <a:xfrm>
            <a:off x="320040" y="2651760"/>
            <a:ext cx="8503920" cy="384048"/>
          </a:xfrm>
          <a:prstGeom prst="rect">
            <a:avLst/>
          </a:prstGeom>
          <a:solidFill>
            <a:srgbClr val="FFFFFF"/>
          </a:solidFill>
          <a:ln w="12700">
            <a:solidFill>
              <a:srgbClr val="E2E8F0"/>
            </a:solidFill>
            <a:prstDash val="solid"/>
          </a:ln>
        </p:spPr>
      </p:sp>
      <p:sp>
        <p:nvSpPr>
          <p:cNvPr id="21" name="Text 19"/>
          <p:cNvSpPr/>
          <p:nvPr/>
        </p:nvSpPr>
        <p:spPr>
          <a:xfrm>
            <a:off x="411480" y="2706624"/>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--name</a:t>
            </a:r>
            <a:endParaRPr lang="en-US" sz="1100" dirty="0"/>
          </a:p>
        </p:txBody>
      </p:sp>
      <p:sp>
        <p:nvSpPr>
          <p:cNvPr id="22" name="Text 20"/>
          <p:cNvSpPr/>
          <p:nvPr/>
        </p:nvSpPr>
        <p:spPr>
          <a:xfrm>
            <a:off x="1417320" y="2706624"/>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Give the container a name</a:t>
            </a:r>
            <a:endParaRPr lang="en-US" sz="1000" dirty="0"/>
          </a:p>
        </p:txBody>
      </p:sp>
      <p:sp>
        <p:nvSpPr>
          <p:cNvPr id="23" name="Text 21"/>
          <p:cNvSpPr/>
          <p:nvPr/>
        </p:nvSpPr>
        <p:spPr>
          <a:xfrm>
            <a:off x="5303520" y="2706624"/>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--name webserver nginx</a:t>
            </a:r>
            <a:endParaRPr lang="en-US" sz="900" dirty="0"/>
          </a:p>
        </p:txBody>
      </p:sp>
      <p:sp>
        <p:nvSpPr>
          <p:cNvPr id="24" name="Shape 22"/>
          <p:cNvSpPr/>
          <p:nvPr/>
        </p:nvSpPr>
        <p:spPr>
          <a:xfrm>
            <a:off x="320040" y="3044952"/>
            <a:ext cx="8503920" cy="384048"/>
          </a:xfrm>
          <a:prstGeom prst="rect">
            <a:avLst/>
          </a:prstGeom>
          <a:solidFill>
            <a:srgbClr val="F1F5F9"/>
          </a:solidFill>
          <a:ln w="12700">
            <a:solidFill>
              <a:srgbClr val="E2E8F0"/>
            </a:solidFill>
            <a:prstDash val="solid"/>
          </a:ln>
        </p:spPr>
      </p:sp>
      <p:sp>
        <p:nvSpPr>
          <p:cNvPr id="25" name="Text 23"/>
          <p:cNvSpPr/>
          <p:nvPr/>
        </p:nvSpPr>
        <p:spPr>
          <a:xfrm>
            <a:off x="411480" y="3099816"/>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-p</a:t>
            </a:r>
            <a:endParaRPr lang="en-US" sz="1100" dirty="0"/>
          </a:p>
        </p:txBody>
      </p:sp>
      <p:sp>
        <p:nvSpPr>
          <p:cNvPr id="26" name="Text 24"/>
          <p:cNvSpPr/>
          <p:nvPr/>
        </p:nvSpPr>
        <p:spPr>
          <a:xfrm>
            <a:off x="1417320" y="3099816"/>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Port mapping  host:container</a:t>
            </a:r>
            <a:endParaRPr lang="en-US" sz="1000" dirty="0"/>
          </a:p>
        </p:txBody>
      </p:sp>
      <p:sp>
        <p:nvSpPr>
          <p:cNvPr id="27" name="Text 25"/>
          <p:cNvSpPr/>
          <p:nvPr/>
        </p:nvSpPr>
        <p:spPr>
          <a:xfrm>
            <a:off x="5303520" y="3099816"/>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-p 8080:80 nginx</a:t>
            </a:r>
            <a:endParaRPr lang="en-US" sz="900" dirty="0"/>
          </a:p>
        </p:txBody>
      </p:sp>
      <p:sp>
        <p:nvSpPr>
          <p:cNvPr id="28" name="Shape 26"/>
          <p:cNvSpPr/>
          <p:nvPr/>
        </p:nvSpPr>
        <p:spPr>
          <a:xfrm>
            <a:off x="320040" y="3438144"/>
            <a:ext cx="8503920" cy="384048"/>
          </a:xfrm>
          <a:prstGeom prst="rect">
            <a:avLst/>
          </a:prstGeom>
          <a:solidFill>
            <a:srgbClr val="FFFFFF"/>
          </a:solidFill>
          <a:ln w="12700">
            <a:solidFill>
              <a:srgbClr val="E2E8F0"/>
            </a:solidFill>
            <a:prstDash val="solid"/>
          </a:ln>
        </p:spPr>
      </p:sp>
      <p:sp>
        <p:nvSpPr>
          <p:cNvPr id="29" name="Text 27"/>
          <p:cNvSpPr/>
          <p:nvPr/>
        </p:nvSpPr>
        <p:spPr>
          <a:xfrm>
            <a:off x="411480" y="3493008"/>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-e</a:t>
            </a:r>
            <a:endParaRPr lang="en-US" sz="1100" dirty="0"/>
          </a:p>
        </p:txBody>
      </p:sp>
      <p:sp>
        <p:nvSpPr>
          <p:cNvPr id="30" name="Text 28"/>
          <p:cNvSpPr/>
          <p:nvPr/>
        </p:nvSpPr>
        <p:spPr>
          <a:xfrm>
            <a:off x="1417320" y="3493008"/>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Set an environment variable</a:t>
            </a:r>
            <a:endParaRPr lang="en-US" sz="1000" dirty="0"/>
          </a:p>
        </p:txBody>
      </p:sp>
      <p:sp>
        <p:nvSpPr>
          <p:cNvPr id="31" name="Text 29"/>
          <p:cNvSpPr/>
          <p:nvPr/>
        </p:nvSpPr>
        <p:spPr>
          <a:xfrm>
            <a:off x="5303520" y="3493008"/>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-e MYSQL_ROOT_PASSWORD=pw mysql</a:t>
            </a:r>
            <a:endParaRPr lang="en-US" sz="900" dirty="0"/>
          </a:p>
        </p:txBody>
      </p:sp>
      <p:sp>
        <p:nvSpPr>
          <p:cNvPr id="32" name="Shape 30"/>
          <p:cNvSpPr/>
          <p:nvPr/>
        </p:nvSpPr>
        <p:spPr>
          <a:xfrm>
            <a:off x="320040" y="3831336"/>
            <a:ext cx="8503920" cy="384048"/>
          </a:xfrm>
          <a:prstGeom prst="rect">
            <a:avLst/>
          </a:prstGeom>
          <a:solidFill>
            <a:srgbClr val="F1F5F9"/>
          </a:solidFill>
          <a:ln w="12700">
            <a:solidFill>
              <a:srgbClr val="E2E8F0"/>
            </a:solidFill>
            <a:prstDash val="solid"/>
          </a:ln>
        </p:spPr>
      </p:sp>
      <p:sp>
        <p:nvSpPr>
          <p:cNvPr id="33" name="Text 31"/>
          <p:cNvSpPr/>
          <p:nvPr/>
        </p:nvSpPr>
        <p:spPr>
          <a:xfrm>
            <a:off x="411480" y="3886200"/>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--rm</a:t>
            </a:r>
            <a:endParaRPr lang="en-US" sz="1100" dirty="0"/>
          </a:p>
        </p:txBody>
      </p:sp>
      <p:sp>
        <p:nvSpPr>
          <p:cNvPr id="34" name="Text 32"/>
          <p:cNvSpPr/>
          <p:nvPr/>
        </p:nvSpPr>
        <p:spPr>
          <a:xfrm>
            <a:off x="1417320" y="3886200"/>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Auto-remove container when it exits</a:t>
            </a:r>
            <a:endParaRPr lang="en-US" sz="1000" dirty="0"/>
          </a:p>
        </p:txBody>
      </p:sp>
      <p:sp>
        <p:nvSpPr>
          <p:cNvPr id="35" name="Text 33"/>
          <p:cNvSpPr/>
          <p:nvPr/>
        </p:nvSpPr>
        <p:spPr>
          <a:xfrm>
            <a:off x="5303520" y="3886200"/>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--rm ubuntu echo hello</a:t>
            </a:r>
            <a:endParaRPr lang="en-US" sz="900" dirty="0"/>
          </a:p>
        </p:txBody>
      </p:sp>
      <p:sp>
        <p:nvSpPr>
          <p:cNvPr id="36" name="Shape 34"/>
          <p:cNvSpPr/>
          <p:nvPr/>
        </p:nvSpPr>
        <p:spPr>
          <a:xfrm>
            <a:off x="320040" y="4224528"/>
            <a:ext cx="8503920" cy="384048"/>
          </a:xfrm>
          <a:prstGeom prst="rect">
            <a:avLst/>
          </a:prstGeom>
          <a:solidFill>
            <a:srgbClr val="FFFFFF"/>
          </a:solidFill>
          <a:ln w="12700">
            <a:solidFill>
              <a:srgbClr val="E2E8F0"/>
            </a:solidFill>
            <a:prstDash val="solid"/>
          </a:ln>
        </p:spPr>
      </p:sp>
      <p:sp>
        <p:nvSpPr>
          <p:cNvPr id="37" name="Text 35"/>
          <p:cNvSpPr/>
          <p:nvPr/>
        </p:nvSpPr>
        <p:spPr>
          <a:xfrm>
            <a:off x="411480" y="4279392"/>
            <a:ext cx="914400" cy="256032"/>
          </a:xfrm>
          <a:prstGeom prst="rect">
            <a:avLst/>
          </a:prstGeom>
          <a:noFill/>
          <a:ln/>
        </p:spPr>
        <p:txBody>
          <a:bodyPr wrap="square" lIns="0" tIns="0" rIns="0" bIns="0" rtlCol="0" anchor="ctr"/>
          <a:lstStyle/>
          <a:p>
            <a:pPr indent="0" marL="0">
              <a:buNone/>
            </a:pPr>
            <a:r>
              <a:rPr lang="en-US" sz="1100" b="1" dirty="0">
                <a:solidFill>
                  <a:srgbClr val="0DB7ED"/>
                </a:solidFill>
                <a:latin typeface="Courier New" pitchFamily="34" charset="0"/>
                <a:ea typeface="Courier New" pitchFamily="34" charset="-122"/>
                <a:cs typeface="Courier New" pitchFamily="34" charset="-120"/>
              </a:rPr>
              <a:t>--restart</a:t>
            </a:r>
            <a:endParaRPr lang="en-US" sz="1100" dirty="0"/>
          </a:p>
        </p:txBody>
      </p:sp>
      <p:sp>
        <p:nvSpPr>
          <p:cNvPr id="38" name="Text 36"/>
          <p:cNvSpPr/>
          <p:nvPr/>
        </p:nvSpPr>
        <p:spPr>
          <a:xfrm>
            <a:off x="1417320" y="4279392"/>
            <a:ext cx="3794760" cy="256032"/>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Restart policy (no / always / on-failure)</a:t>
            </a:r>
            <a:endParaRPr lang="en-US" sz="1000" dirty="0"/>
          </a:p>
        </p:txBody>
      </p:sp>
      <p:sp>
        <p:nvSpPr>
          <p:cNvPr id="39" name="Text 37"/>
          <p:cNvSpPr/>
          <p:nvPr/>
        </p:nvSpPr>
        <p:spPr>
          <a:xfrm>
            <a:off x="5303520" y="4279392"/>
            <a:ext cx="3401568" cy="256032"/>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docker run --restart always nginx</a:t>
            </a:r>
            <a:endParaRPr lang="en-US" sz="9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Docker Containers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MANAGING CONTAINERS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Docker Containers</a:t>
            </a:r>
            <a:endParaRPr lang="en-US" sz="950" dirty="0"/>
          </a:p>
        </p:txBody>
      </p:sp>
      <p:sp>
        <p:nvSpPr>
          <p:cNvPr id="6" name="Shape 4"/>
          <p:cNvSpPr/>
          <p:nvPr/>
        </p:nvSpPr>
        <p:spPr>
          <a:xfrm>
            <a:off x="320040" y="868680"/>
            <a:ext cx="4114800" cy="2651760"/>
          </a:xfrm>
          <a:prstGeom prst="roundRect">
            <a:avLst>
              <a:gd name="adj" fmla="val 3448"/>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29768" y="960120"/>
            <a:ext cx="2011680" cy="329184"/>
          </a:xfrm>
          <a:prstGeom prst="roundRect">
            <a:avLst>
              <a:gd name="adj" fmla="val 16667"/>
            </a:avLst>
          </a:prstGeom>
          <a:solidFill>
            <a:srgbClr val="2563EB"/>
          </a:solidFill>
          <a:ln w="12700">
            <a:solidFill>
              <a:srgbClr val="2563EB"/>
            </a:solidFill>
            <a:prstDash val="solid"/>
          </a:ln>
        </p:spPr>
      </p:sp>
      <p:sp>
        <p:nvSpPr>
          <p:cNvPr id="8" name="Text 6"/>
          <p:cNvSpPr/>
          <p:nvPr/>
        </p:nvSpPr>
        <p:spPr>
          <a:xfrm>
            <a:off x="429768" y="960120"/>
            <a:ext cx="20116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List &amp; Inspect</a:t>
            </a:r>
            <a:endParaRPr lang="en-US" sz="1100" dirty="0"/>
          </a:p>
        </p:txBody>
      </p:sp>
      <p:sp>
        <p:nvSpPr>
          <p:cNvPr id="9" name="Text 7"/>
          <p:cNvSpPr/>
          <p:nvPr/>
        </p:nvSpPr>
        <p:spPr>
          <a:xfrm>
            <a:off x="484632" y="1371600"/>
            <a:ext cx="2377440" cy="256032"/>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ps</a:t>
            </a:r>
            <a:endParaRPr lang="en-US" sz="950" dirty="0"/>
          </a:p>
        </p:txBody>
      </p:sp>
      <p:sp>
        <p:nvSpPr>
          <p:cNvPr id="10" name="Text 8"/>
          <p:cNvSpPr/>
          <p:nvPr/>
        </p:nvSpPr>
        <p:spPr>
          <a:xfrm>
            <a:off x="2953512" y="1371600"/>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List running containers</a:t>
            </a:r>
            <a:endParaRPr lang="en-US" sz="900" dirty="0"/>
          </a:p>
        </p:txBody>
      </p:sp>
      <p:sp>
        <p:nvSpPr>
          <p:cNvPr id="11" name="Text 9"/>
          <p:cNvSpPr/>
          <p:nvPr/>
        </p:nvSpPr>
        <p:spPr>
          <a:xfrm>
            <a:off x="484632" y="1792224"/>
            <a:ext cx="2377440" cy="256032"/>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ps -a</a:t>
            </a:r>
            <a:endParaRPr lang="en-US" sz="950" dirty="0"/>
          </a:p>
        </p:txBody>
      </p:sp>
      <p:sp>
        <p:nvSpPr>
          <p:cNvPr id="12" name="Text 10"/>
          <p:cNvSpPr/>
          <p:nvPr/>
        </p:nvSpPr>
        <p:spPr>
          <a:xfrm>
            <a:off x="2953512" y="1792224"/>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List ALL including stopped</a:t>
            </a:r>
            <a:endParaRPr lang="en-US" sz="900" dirty="0"/>
          </a:p>
        </p:txBody>
      </p:sp>
      <p:sp>
        <p:nvSpPr>
          <p:cNvPr id="13" name="Text 11"/>
          <p:cNvSpPr/>
          <p:nvPr/>
        </p:nvSpPr>
        <p:spPr>
          <a:xfrm>
            <a:off x="484632" y="2212848"/>
            <a:ext cx="2377440" cy="256032"/>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inspect web</a:t>
            </a:r>
            <a:endParaRPr lang="en-US" sz="950" dirty="0"/>
          </a:p>
        </p:txBody>
      </p:sp>
      <p:sp>
        <p:nvSpPr>
          <p:cNvPr id="14" name="Text 12"/>
          <p:cNvSpPr/>
          <p:nvPr/>
        </p:nvSpPr>
        <p:spPr>
          <a:xfrm>
            <a:off x="2953512" y="2212848"/>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Full metadata as JSON</a:t>
            </a:r>
            <a:endParaRPr lang="en-US" sz="900" dirty="0"/>
          </a:p>
        </p:txBody>
      </p:sp>
      <p:sp>
        <p:nvSpPr>
          <p:cNvPr id="15" name="Text 13"/>
          <p:cNvSpPr/>
          <p:nvPr/>
        </p:nvSpPr>
        <p:spPr>
          <a:xfrm>
            <a:off x="484632" y="2633472"/>
            <a:ext cx="2377440" cy="256032"/>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stats web</a:t>
            </a:r>
            <a:endParaRPr lang="en-US" sz="950" dirty="0"/>
          </a:p>
        </p:txBody>
      </p:sp>
      <p:sp>
        <p:nvSpPr>
          <p:cNvPr id="16" name="Text 14"/>
          <p:cNvSpPr/>
          <p:nvPr/>
        </p:nvSpPr>
        <p:spPr>
          <a:xfrm>
            <a:off x="2953512" y="2633472"/>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Live CPU and memory usage</a:t>
            </a:r>
            <a:endParaRPr lang="en-US" sz="900" dirty="0"/>
          </a:p>
        </p:txBody>
      </p:sp>
      <p:sp>
        <p:nvSpPr>
          <p:cNvPr id="17" name="Text 15"/>
          <p:cNvSpPr/>
          <p:nvPr/>
        </p:nvSpPr>
        <p:spPr>
          <a:xfrm>
            <a:off x="484632" y="3054096"/>
            <a:ext cx="2377440" cy="256032"/>
          </a:xfrm>
          <a:prstGeom prst="rect">
            <a:avLst/>
          </a:prstGeom>
          <a:noFill/>
          <a:ln/>
        </p:spPr>
        <p:txBody>
          <a:bodyPr wrap="square" lIns="0" tIns="0" rIns="0" bIns="0" rtlCol="0" anchor="ctr"/>
          <a:lstStyle/>
          <a:p>
            <a:pPr indent="0" marL="0">
              <a:buNone/>
            </a:pPr>
            <a:r>
              <a:rPr lang="en-US" sz="950" dirty="0">
                <a:solidFill>
                  <a:srgbClr val="2563EB"/>
                </a:solidFill>
                <a:latin typeface="Courier New" pitchFamily="34" charset="0"/>
                <a:ea typeface="Courier New" pitchFamily="34" charset="-122"/>
                <a:cs typeface="Courier New" pitchFamily="34" charset="-120"/>
              </a:rPr>
              <a:t>docker top web</a:t>
            </a:r>
            <a:endParaRPr lang="en-US" sz="950" dirty="0"/>
          </a:p>
        </p:txBody>
      </p:sp>
      <p:sp>
        <p:nvSpPr>
          <p:cNvPr id="18" name="Text 16"/>
          <p:cNvSpPr/>
          <p:nvPr/>
        </p:nvSpPr>
        <p:spPr>
          <a:xfrm>
            <a:off x="2953512" y="3054096"/>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Processes inside container</a:t>
            </a:r>
            <a:endParaRPr lang="en-US" sz="900" dirty="0"/>
          </a:p>
        </p:txBody>
      </p:sp>
      <p:sp>
        <p:nvSpPr>
          <p:cNvPr id="19" name="Shape 17"/>
          <p:cNvSpPr/>
          <p:nvPr/>
        </p:nvSpPr>
        <p:spPr>
          <a:xfrm>
            <a:off x="4754880" y="868680"/>
            <a:ext cx="4114800" cy="2651760"/>
          </a:xfrm>
          <a:prstGeom prst="roundRect">
            <a:avLst>
              <a:gd name="adj" fmla="val 3448"/>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0" name="Shape 18"/>
          <p:cNvSpPr/>
          <p:nvPr/>
        </p:nvSpPr>
        <p:spPr>
          <a:xfrm>
            <a:off x="4864608" y="960120"/>
            <a:ext cx="2011680" cy="329184"/>
          </a:xfrm>
          <a:prstGeom prst="roundRect">
            <a:avLst>
              <a:gd name="adj" fmla="val 16667"/>
            </a:avLst>
          </a:prstGeom>
          <a:solidFill>
            <a:srgbClr val="059669"/>
          </a:solidFill>
          <a:ln w="12700">
            <a:solidFill>
              <a:srgbClr val="059669"/>
            </a:solidFill>
            <a:prstDash val="solid"/>
          </a:ln>
        </p:spPr>
      </p:sp>
      <p:sp>
        <p:nvSpPr>
          <p:cNvPr id="21" name="Text 19"/>
          <p:cNvSpPr/>
          <p:nvPr/>
        </p:nvSpPr>
        <p:spPr>
          <a:xfrm>
            <a:off x="4864608" y="960120"/>
            <a:ext cx="20116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Control</a:t>
            </a:r>
            <a:endParaRPr lang="en-US" sz="1100" dirty="0"/>
          </a:p>
        </p:txBody>
      </p:sp>
      <p:sp>
        <p:nvSpPr>
          <p:cNvPr id="22" name="Text 20"/>
          <p:cNvSpPr/>
          <p:nvPr/>
        </p:nvSpPr>
        <p:spPr>
          <a:xfrm>
            <a:off x="4919472" y="1371600"/>
            <a:ext cx="237744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start web</a:t>
            </a:r>
            <a:endParaRPr lang="en-US" sz="950" dirty="0"/>
          </a:p>
        </p:txBody>
      </p:sp>
      <p:sp>
        <p:nvSpPr>
          <p:cNvPr id="23" name="Text 21"/>
          <p:cNvSpPr/>
          <p:nvPr/>
        </p:nvSpPr>
        <p:spPr>
          <a:xfrm>
            <a:off x="7388352" y="1371600"/>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Start a stopped container</a:t>
            </a:r>
            <a:endParaRPr lang="en-US" sz="900" dirty="0"/>
          </a:p>
        </p:txBody>
      </p:sp>
      <p:sp>
        <p:nvSpPr>
          <p:cNvPr id="24" name="Text 22"/>
          <p:cNvSpPr/>
          <p:nvPr/>
        </p:nvSpPr>
        <p:spPr>
          <a:xfrm>
            <a:off x="4919472" y="1792224"/>
            <a:ext cx="237744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stop web</a:t>
            </a:r>
            <a:endParaRPr lang="en-US" sz="950" dirty="0"/>
          </a:p>
        </p:txBody>
      </p:sp>
      <p:sp>
        <p:nvSpPr>
          <p:cNvPr id="25" name="Text 23"/>
          <p:cNvSpPr/>
          <p:nvPr/>
        </p:nvSpPr>
        <p:spPr>
          <a:xfrm>
            <a:off x="7388352" y="1792224"/>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Graceful stop (SIGTERM)</a:t>
            </a:r>
            <a:endParaRPr lang="en-US" sz="900" dirty="0"/>
          </a:p>
        </p:txBody>
      </p:sp>
      <p:sp>
        <p:nvSpPr>
          <p:cNvPr id="26" name="Text 24"/>
          <p:cNvSpPr/>
          <p:nvPr/>
        </p:nvSpPr>
        <p:spPr>
          <a:xfrm>
            <a:off x="4919472" y="2212848"/>
            <a:ext cx="237744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restart web</a:t>
            </a:r>
            <a:endParaRPr lang="en-US" sz="950" dirty="0"/>
          </a:p>
        </p:txBody>
      </p:sp>
      <p:sp>
        <p:nvSpPr>
          <p:cNvPr id="27" name="Text 25"/>
          <p:cNvSpPr/>
          <p:nvPr/>
        </p:nvSpPr>
        <p:spPr>
          <a:xfrm>
            <a:off x="7388352" y="2212848"/>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Stop then start</a:t>
            </a:r>
            <a:endParaRPr lang="en-US" sz="900" dirty="0"/>
          </a:p>
        </p:txBody>
      </p:sp>
      <p:sp>
        <p:nvSpPr>
          <p:cNvPr id="28" name="Text 26"/>
          <p:cNvSpPr/>
          <p:nvPr/>
        </p:nvSpPr>
        <p:spPr>
          <a:xfrm>
            <a:off x="4919472" y="2633472"/>
            <a:ext cx="237744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kill web</a:t>
            </a:r>
            <a:endParaRPr lang="en-US" sz="950" dirty="0"/>
          </a:p>
        </p:txBody>
      </p:sp>
      <p:sp>
        <p:nvSpPr>
          <p:cNvPr id="29" name="Text 27"/>
          <p:cNvSpPr/>
          <p:nvPr/>
        </p:nvSpPr>
        <p:spPr>
          <a:xfrm>
            <a:off x="7388352" y="2633472"/>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Force stop (SIGKILL)</a:t>
            </a:r>
            <a:endParaRPr lang="en-US" sz="900" dirty="0"/>
          </a:p>
        </p:txBody>
      </p:sp>
      <p:sp>
        <p:nvSpPr>
          <p:cNvPr id="30" name="Text 28"/>
          <p:cNvSpPr/>
          <p:nvPr/>
        </p:nvSpPr>
        <p:spPr>
          <a:xfrm>
            <a:off x="4919472" y="3054096"/>
            <a:ext cx="237744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pause web</a:t>
            </a:r>
            <a:endParaRPr lang="en-US" sz="950" dirty="0"/>
          </a:p>
        </p:txBody>
      </p:sp>
      <p:sp>
        <p:nvSpPr>
          <p:cNvPr id="31" name="Text 29"/>
          <p:cNvSpPr/>
          <p:nvPr/>
        </p:nvSpPr>
        <p:spPr>
          <a:xfrm>
            <a:off x="7388352" y="3054096"/>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Freeze container</a:t>
            </a:r>
            <a:endParaRPr lang="en-US" sz="900" dirty="0"/>
          </a:p>
        </p:txBody>
      </p:sp>
      <p:sp>
        <p:nvSpPr>
          <p:cNvPr id="32" name="Shape 30"/>
          <p:cNvSpPr/>
          <p:nvPr/>
        </p:nvSpPr>
        <p:spPr>
          <a:xfrm>
            <a:off x="320040" y="3246120"/>
            <a:ext cx="4114800" cy="1810512"/>
          </a:xfrm>
          <a:prstGeom prst="roundRect">
            <a:avLst>
              <a:gd name="adj" fmla="val 505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3" name="Shape 31"/>
          <p:cNvSpPr/>
          <p:nvPr/>
        </p:nvSpPr>
        <p:spPr>
          <a:xfrm>
            <a:off x="429768" y="3337560"/>
            <a:ext cx="2011680" cy="329184"/>
          </a:xfrm>
          <a:prstGeom prst="roundRect">
            <a:avLst>
              <a:gd name="adj" fmla="val 16667"/>
            </a:avLst>
          </a:prstGeom>
          <a:solidFill>
            <a:srgbClr val="0D9488"/>
          </a:solidFill>
          <a:ln w="12700">
            <a:solidFill>
              <a:srgbClr val="0D9488"/>
            </a:solidFill>
            <a:prstDash val="solid"/>
          </a:ln>
        </p:spPr>
      </p:sp>
      <p:sp>
        <p:nvSpPr>
          <p:cNvPr id="34" name="Text 32"/>
          <p:cNvSpPr/>
          <p:nvPr/>
        </p:nvSpPr>
        <p:spPr>
          <a:xfrm>
            <a:off x="429768" y="3337560"/>
            <a:ext cx="20116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Debug</a:t>
            </a:r>
            <a:endParaRPr lang="en-US" sz="1100" dirty="0"/>
          </a:p>
        </p:txBody>
      </p:sp>
      <p:sp>
        <p:nvSpPr>
          <p:cNvPr id="35" name="Text 33"/>
          <p:cNvSpPr/>
          <p:nvPr/>
        </p:nvSpPr>
        <p:spPr>
          <a:xfrm>
            <a:off x="484632" y="3749040"/>
            <a:ext cx="2377440" cy="256032"/>
          </a:xfrm>
          <a:prstGeom prst="rect">
            <a:avLst/>
          </a:prstGeom>
          <a:noFill/>
          <a:ln/>
        </p:spPr>
        <p:txBody>
          <a:bodyPr wrap="square" lIns="0" tIns="0" rIns="0" bIns="0" rtlCol="0" anchor="ctr"/>
          <a:lstStyle/>
          <a:p>
            <a:pPr indent="0" marL="0">
              <a:buNone/>
            </a:pPr>
            <a:r>
              <a:rPr lang="en-US" sz="950" dirty="0">
                <a:solidFill>
                  <a:srgbClr val="0D9488"/>
                </a:solidFill>
                <a:latin typeface="Courier New" pitchFamily="34" charset="0"/>
                <a:ea typeface="Courier New" pitchFamily="34" charset="-122"/>
                <a:cs typeface="Courier New" pitchFamily="34" charset="-120"/>
              </a:rPr>
              <a:t>docker logs web</a:t>
            </a:r>
            <a:endParaRPr lang="en-US" sz="950" dirty="0"/>
          </a:p>
        </p:txBody>
      </p:sp>
      <p:sp>
        <p:nvSpPr>
          <p:cNvPr id="36" name="Text 34"/>
          <p:cNvSpPr/>
          <p:nvPr/>
        </p:nvSpPr>
        <p:spPr>
          <a:xfrm>
            <a:off x="2953512" y="3749040"/>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View container output</a:t>
            </a:r>
            <a:endParaRPr lang="en-US" sz="900" dirty="0"/>
          </a:p>
        </p:txBody>
      </p:sp>
      <p:sp>
        <p:nvSpPr>
          <p:cNvPr id="37" name="Text 35"/>
          <p:cNvSpPr/>
          <p:nvPr/>
        </p:nvSpPr>
        <p:spPr>
          <a:xfrm>
            <a:off x="484632" y="4169664"/>
            <a:ext cx="2377440" cy="256032"/>
          </a:xfrm>
          <a:prstGeom prst="rect">
            <a:avLst/>
          </a:prstGeom>
          <a:noFill/>
          <a:ln/>
        </p:spPr>
        <p:txBody>
          <a:bodyPr wrap="square" lIns="0" tIns="0" rIns="0" bIns="0" rtlCol="0" anchor="ctr"/>
          <a:lstStyle/>
          <a:p>
            <a:pPr indent="0" marL="0">
              <a:buNone/>
            </a:pPr>
            <a:r>
              <a:rPr lang="en-US" sz="950" dirty="0">
                <a:solidFill>
                  <a:srgbClr val="0D9488"/>
                </a:solidFill>
                <a:latin typeface="Courier New" pitchFamily="34" charset="0"/>
                <a:ea typeface="Courier New" pitchFamily="34" charset="-122"/>
                <a:cs typeface="Courier New" pitchFamily="34" charset="-120"/>
              </a:rPr>
              <a:t>docker logs -f web</a:t>
            </a:r>
            <a:endParaRPr lang="en-US" sz="950" dirty="0"/>
          </a:p>
        </p:txBody>
      </p:sp>
      <p:sp>
        <p:nvSpPr>
          <p:cNvPr id="38" name="Text 36"/>
          <p:cNvSpPr/>
          <p:nvPr/>
        </p:nvSpPr>
        <p:spPr>
          <a:xfrm>
            <a:off x="2953512" y="4169664"/>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Follow logs live</a:t>
            </a:r>
            <a:endParaRPr lang="en-US" sz="900" dirty="0"/>
          </a:p>
        </p:txBody>
      </p:sp>
      <p:sp>
        <p:nvSpPr>
          <p:cNvPr id="39" name="Text 37"/>
          <p:cNvSpPr/>
          <p:nvPr/>
        </p:nvSpPr>
        <p:spPr>
          <a:xfrm>
            <a:off x="484632" y="4590288"/>
            <a:ext cx="2377440" cy="256032"/>
          </a:xfrm>
          <a:prstGeom prst="rect">
            <a:avLst/>
          </a:prstGeom>
          <a:noFill/>
          <a:ln/>
        </p:spPr>
        <p:txBody>
          <a:bodyPr wrap="square" lIns="0" tIns="0" rIns="0" bIns="0" rtlCol="0" anchor="ctr"/>
          <a:lstStyle/>
          <a:p>
            <a:pPr indent="0" marL="0">
              <a:buNone/>
            </a:pPr>
            <a:r>
              <a:rPr lang="en-US" sz="950" dirty="0">
                <a:solidFill>
                  <a:srgbClr val="0D9488"/>
                </a:solidFill>
                <a:latin typeface="Courier New" pitchFamily="34" charset="0"/>
                <a:ea typeface="Courier New" pitchFamily="34" charset="-122"/>
                <a:cs typeface="Courier New" pitchFamily="34" charset="-120"/>
              </a:rPr>
              <a:t>docker exec -it web bash</a:t>
            </a:r>
            <a:endParaRPr lang="en-US" sz="950" dirty="0"/>
          </a:p>
        </p:txBody>
      </p:sp>
      <p:sp>
        <p:nvSpPr>
          <p:cNvPr id="40" name="Text 38"/>
          <p:cNvSpPr/>
          <p:nvPr/>
        </p:nvSpPr>
        <p:spPr>
          <a:xfrm>
            <a:off x="2953512" y="4590288"/>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Shell inside container</a:t>
            </a:r>
            <a:endParaRPr lang="en-US" sz="900" dirty="0"/>
          </a:p>
        </p:txBody>
      </p:sp>
      <p:sp>
        <p:nvSpPr>
          <p:cNvPr id="41" name="Shape 39"/>
          <p:cNvSpPr/>
          <p:nvPr/>
        </p:nvSpPr>
        <p:spPr>
          <a:xfrm>
            <a:off x="4754880" y="3246120"/>
            <a:ext cx="4114800" cy="1810512"/>
          </a:xfrm>
          <a:prstGeom prst="roundRect">
            <a:avLst>
              <a:gd name="adj" fmla="val 5051"/>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2" name="Shape 40"/>
          <p:cNvSpPr/>
          <p:nvPr/>
        </p:nvSpPr>
        <p:spPr>
          <a:xfrm>
            <a:off x="4864608" y="3337560"/>
            <a:ext cx="2011680" cy="329184"/>
          </a:xfrm>
          <a:prstGeom prst="roundRect">
            <a:avLst>
              <a:gd name="adj" fmla="val 16667"/>
            </a:avLst>
          </a:prstGeom>
          <a:solidFill>
            <a:srgbClr val="DC2626"/>
          </a:solidFill>
          <a:ln w="12700">
            <a:solidFill>
              <a:srgbClr val="DC2626"/>
            </a:solidFill>
            <a:prstDash val="solid"/>
          </a:ln>
        </p:spPr>
      </p:sp>
      <p:sp>
        <p:nvSpPr>
          <p:cNvPr id="43" name="Text 41"/>
          <p:cNvSpPr/>
          <p:nvPr/>
        </p:nvSpPr>
        <p:spPr>
          <a:xfrm>
            <a:off x="4864608" y="3337560"/>
            <a:ext cx="201168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Cleanup</a:t>
            </a:r>
            <a:endParaRPr lang="en-US" sz="1100" dirty="0"/>
          </a:p>
        </p:txBody>
      </p:sp>
      <p:sp>
        <p:nvSpPr>
          <p:cNvPr id="44" name="Text 42"/>
          <p:cNvSpPr/>
          <p:nvPr/>
        </p:nvSpPr>
        <p:spPr>
          <a:xfrm>
            <a:off x="4919472" y="3749040"/>
            <a:ext cx="2377440" cy="256032"/>
          </a:xfrm>
          <a:prstGeom prst="rect">
            <a:avLst/>
          </a:prstGeom>
          <a:noFill/>
          <a:ln/>
        </p:spPr>
        <p:txBody>
          <a:bodyPr wrap="square" lIns="0" tIns="0" rIns="0" bIns="0" rtlCol="0" anchor="ctr"/>
          <a:lstStyle/>
          <a:p>
            <a:pPr indent="0" marL="0">
              <a:buNone/>
            </a:pPr>
            <a:r>
              <a:rPr lang="en-US" sz="950" dirty="0">
                <a:solidFill>
                  <a:srgbClr val="DC2626"/>
                </a:solidFill>
                <a:latin typeface="Courier New" pitchFamily="34" charset="0"/>
                <a:ea typeface="Courier New" pitchFamily="34" charset="-122"/>
                <a:cs typeface="Courier New" pitchFamily="34" charset="-120"/>
              </a:rPr>
              <a:t>docker rm web</a:t>
            </a:r>
            <a:endParaRPr lang="en-US" sz="950" dirty="0"/>
          </a:p>
        </p:txBody>
      </p:sp>
      <p:sp>
        <p:nvSpPr>
          <p:cNvPr id="45" name="Text 43"/>
          <p:cNvSpPr/>
          <p:nvPr/>
        </p:nvSpPr>
        <p:spPr>
          <a:xfrm>
            <a:off x="7388352" y="3749040"/>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Remove stopped container</a:t>
            </a:r>
            <a:endParaRPr lang="en-US" sz="900" dirty="0"/>
          </a:p>
        </p:txBody>
      </p:sp>
      <p:sp>
        <p:nvSpPr>
          <p:cNvPr id="46" name="Text 44"/>
          <p:cNvSpPr/>
          <p:nvPr/>
        </p:nvSpPr>
        <p:spPr>
          <a:xfrm>
            <a:off x="4919472" y="4169664"/>
            <a:ext cx="2377440" cy="256032"/>
          </a:xfrm>
          <a:prstGeom prst="rect">
            <a:avLst/>
          </a:prstGeom>
          <a:noFill/>
          <a:ln/>
        </p:spPr>
        <p:txBody>
          <a:bodyPr wrap="square" lIns="0" tIns="0" rIns="0" bIns="0" rtlCol="0" anchor="ctr"/>
          <a:lstStyle/>
          <a:p>
            <a:pPr indent="0" marL="0">
              <a:buNone/>
            </a:pPr>
            <a:r>
              <a:rPr lang="en-US" sz="950" dirty="0">
                <a:solidFill>
                  <a:srgbClr val="DC2626"/>
                </a:solidFill>
                <a:latin typeface="Courier New" pitchFamily="34" charset="0"/>
                <a:ea typeface="Courier New" pitchFamily="34" charset="-122"/>
                <a:cs typeface="Courier New" pitchFamily="34" charset="-120"/>
              </a:rPr>
              <a:t>docker rm -f web</a:t>
            </a:r>
            <a:endParaRPr lang="en-US" sz="950" dirty="0"/>
          </a:p>
        </p:txBody>
      </p:sp>
      <p:sp>
        <p:nvSpPr>
          <p:cNvPr id="47" name="Text 45"/>
          <p:cNvSpPr/>
          <p:nvPr/>
        </p:nvSpPr>
        <p:spPr>
          <a:xfrm>
            <a:off x="7388352" y="4169664"/>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Force remove running</a:t>
            </a:r>
            <a:endParaRPr lang="en-US" sz="900" dirty="0"/>
          </a:p>
        </p:txBody>
      </p:sp>
      <p:sp>
        <p:nvSpPr>
          <p:cNvPr id="48" name="Text 46"/>
          <p:cNvSpPr/>
          <p:nvPr/>
        </p:nvSpPr>
        <p:spPr>
          <a:xfrm>
            <a:off x="4919472" y="4590288"/>
            <a:ext cx="2377440" cy="256032"/>
          </a:xfrm>
          <a:prstGeom prst="rect">
            <a:avLst/>
          </a:prstGeom>
          <a:noFill/>
          <a:ln/>
        </p:spPr>
        <p:txBody>
          <a:bodyPr wrap="square" lIns="0" tIns="0" rIns="0" bIns="0" rtlCol="0" anchor="ctr"/>
          <a:lstStyle/>
          <a:p>
            <a:pPr indent="0" marL="0">
              <a:buNone/>
            </a:pPr>
            <a:r>
              <a:rPr lang="en-US" sz="950" dirty="0">
                <a:solidFill>
                  <a:srgbClr val="DC2626"/>
                </a:solidFill>
                <a:latin typeface="Courier New" pitchFamily="34" charset="0"/>
                <a:ea typeface="Courier New" pitchFamily="34" charset="-122"/>
                <a:cs typeface="Courier New" pitchFamily="34" charset="-120"/>
              </a:rPr>
              <a:t>docker container prune</a:t>
            </a:r>
            <a:endParaRPr lang="en-US" sz="950" dirty="0"/>
          </a:p>
        </p:txBody>
      </p:sp>
      <p:sp>
        <p:nvSpPr>
          <p:cNvPr id="49" name="Text 47"/>
          <p:cNvSpPr/>
          <p:nvPr/>
        </p:nvSpPr>
        <p:spPr>
          <a:xfrm>
            <a:off x="7388352" y="4590288"/>
            <a:ext cx="1371600" cy="25603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Remove all stopped</a:t>
            </a:r>
            <a:endParaRPr lang="en-US" sz="900" dirty="0"/>
          </a:p>
        </p:txBody>
      </p:sp>
      <p:sp>
        <p:nvSpPr>
          <p:cNvPr id="50" name="Shape 48"/>
          <p:cNvSpPr/>
          <p:nvPr/>
        </p:nvSpPr>
        <p:spPr>
          <a:xfrm>
            <a:off x="0" y="4846320"/>
            <a:ext cx="9144000" cy="297180"/>
          </a:xfrm>
          <a:prstGeom prst="rect">
            <a:avLst/>
          </a:prstGeom>
          <a:solidFill>
            <a:srgbClr val="0F172A"/>
          </a:solidFill>
          <a:ln w="12700">
            <a:solidFill>
              <a:srgbClr val="0F172A"/>
            </a:solidFill>
            <a:prstDash val="solid"/>
          </a:ln>
        </p:spPr>
      </p:sp>
      <p:sp>
        <p:nvSpPr>
          <p:cNvPr id="51" name="Text 4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Docker Containers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PORT MAPPING &amp; RESOURCE LIMITS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Docker Containers</a:t>
            </a:r>
            <a:endParaRPr lang="en-US" sz="950" dirty="0"/>
          </a:p>
        </p:txBody>
      </p:sp>
      <p:sp>
        <p:nvSpPr>
          <p:cNvPr id="6" name="Text 4"/>
          <p:cNvSpPr/>
          <p:nvPr/>
        </p:nvSpPr>
        <p:spPr>
          <a:xfrm>
            <a:off x="320040" y="868680"/>
            <a:ext cx="8503920" cy="320040"/>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Port Mapping — -p host:container</a:t>
            </a:r>
            <a:endParaRPr lang="en-US" sz="1300" dirty="0"/>
          </a:p>
        </p:txBody>
      </p:sp>
      <p:sp>
        <p:nvSpPr>
          <p:cNvPr id="7" name="Shape 5"/>
          <p:cNvSpPr/>
          <p:nvPr/>
        </p:nvSpPr>
        <p:spPr>
          <a:xfrm>
            <a:off x="320040" y="1261872"/>
            <a:ext cx="8503920" cy="1389888"/>
          </a:xfrm>
          <a:prstGeom prst="roundRect">
            <a:avLst>
              <a:gd name="adj" fmla="val 6579"/>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502920" y="1389888"/>
            <a:ext cx="2926080" cy="1078992"/>
          </a:xfrm>
          <a:prstGeom prst="roundRect">
            <a:avLst>
              <a:gd name="adj" fmla="val 8475"/>
            </a:avLst>
          </a:prstGeom>
          <a:solidFill>
            <a:srgbClr val="FFFFFF"/>
          </a:solidFill>
          <a:ln w="12700">
            <a:solidFill>
              <a:srgbClr val="0DB7ED"/>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621792" y="1444752"/>
            <a:ext cx="2651760" cy="274320"/>
          </a:xfrm>
          <a:prstGeom prst="rect">
            <a:avLst/>
          </a:prstGeom>
          <a:noFill/>
          <a:ln/>
        </p:spPr>
        <p:txBody>
          <a:bodyPr wrap="square" lIns="0" tIns="0" rIns="0" bIns="0" rtlCol="0" anchor="ctr"/>
          <a:lstStyle/>
          <a:p>
            <a:pPr indent="0" marL="0">
              <a:buNone/>
            </a:pPr>
            <a:r>
              <a:rPr lang="en-US" sz="1000" b="1" dirty="0">
                <a:solidFill>
                  <a:srgbClr val="0DB7ED"/>
                </a:solidFill>
                <a:latin typeface="Arial" pitchFamily="34" charset="0"/>
                <a:ea typeface="Arial" pitchFamily="34" charset="-122"/>
                <a:cs typeface="Arial" pitchFamily="34" charset="-120"/>
              </a:rPr>
              <a:t>🖥️  Your Machine (Host)</a:t>
            </a:r>
            <a:endParaRPr lang="en-US" sz="1000" dirty="0"/>
          </a:p>
        </p:txBody>
      </p:sp>
      <p:sp>
        <p:nvSpPr>
          <p:cNvPr id="10" name="Text 8"/>
          <p:cNvSpPr/>
          <p:nvPr/>
        </p:nvSpPr>
        <p:spPr>
          <a:xfrm>
            <a:off x="621792" y="1755648"/>
            <a:ext cx="2651760" cy="594360"/>
          </a:xfrm>
          <a:prstGeom prst="rect">
            <a:avLst/>
          </a:prstGeom>
          <a:noFill/>
          <a:ln/>
        </p:spPr>
        <p:txBody>
          <a:bodyPr wrap="square" lIns="0" tIns="0" rIns="0" bIns="0" rtlCol="0" anchor="ctr"/>
          <a:lstStyle/>
          <a:p>
            <a:pPr algn="ctr" indent="0" marL="0">
              <a:buNone/>
            </a:pPr>
            <a:r>
              <a:rPr lang="en-US" sz="2200" b="1" dirty="0">
                <a:solidFill>
                  <a:srgbClr val="0F172A"/>
                </a:solidFill>
                <a:latin typeface="Cambria" pitchFamily="34" charset="0"/>
                <a:ea typeface="Cambria" pitchFamily="34" charset="-122"/>
                <a:cs typeface="Cambria" pitchFamily="34" charset="-120"/>
              </a:rPr>
              <a:t>Port 8080</a:t>
            </a:r>
            <a:endParaRPr lang="en-US" sz="2200" dirty="0"/>
          </a:p>
        </p:txBody>
      </p:sp>
      <p:sp>
        <p:nvSpPr>
          <p:cNvPr id="11" name="Text 9"/>
          <p:cNvSpPr/>
          <p:nvPr/>
        </p:nvSpPr>
        <p:spPr>
          <a:xfrm>
            <a:off x="3547872" y="1664208"/>
            <a:ext cx="731520" cy="475488"/>
          </a:xfrm>
          <a:prstGeom prst="rect">
            <a:avLst/>
          </a:prstGeom>
          <a:noFill/>
          <a:ln/>
        </p:spPr>
        <p:txBody>
          <a:bodyPr wrap="square" lIns="0" tIns="0" rIns="0" bIns="0" rtlCol="0" anchor="ctr"/>
          <a:lstStyle/>
          <a:p>
            <a:pPr algn="ctr" indent="0" marL="0">
              <a:buNone/>
            </a:pPr>
            <a:r>
              <a:rPr lang="en-US" sz="2800" dirty="0">
                <a:solidFill>
                  <a:srgbClr val="0DB7ED"/>
                </a:solidFill>
              </a:rPr>
              <a:t>→</a:t>
            </a:r>
            <a:endParaRPr lang="en-US" sz="2800" dirty="0"/>
          </a:p>
        </p:txBody>
      </p:sp>
      <p:sp>
        <p:nvSpPr>
          <p:cNvPr id="12" name="Text 10"/>
          <p:cNvSpPr/>
          <p:nvPr/>
        </p:nvSpPr>
        <p:spPr>
          <a:xfrm>
            <a:off x="3401568" y="2148840"/>
            <a:ext cx="1024128" cy="256032"/>
          </a:xfrm>
          <a:prstGeom prst="rect">
            <a:avLst/>
          </a:prstGeom>
          <a:noFill/>
          <a:ln/>
        </p:spPr>
        <p:txBody>
          <a:bodyPr wrap="square" lIns="0" tIns="0" rIns="0" bIns="0" rtlCol="0" anchor="ctr"/>
          <a:lstStyle/>
          <a:p>
            <a:pPr algn="ctr" indent="0" marL="0">
              <a:buNone/>
            </a:pPr>
            <a:r>
              <a:rPr lang="en-US" sz="850" dirty="0">
                <a:solidFill>
                  <a:srgbClr val="0DB7ED"/>
                </a:solidFill>
                <a:latin typeface="Courier New" pitchFamily="34" charset="0"/>
                <a:ea typeface="Courier New" pitchFamily="34" charset="-122"/>
                <a:cs typeface="Courier New" pitchFamily="34" charset="-120"/>
              </a:rPr>
              <a:t>-p 8080:80</a:t>
            </a:r>
            <a:endParaRPr lang="en-US" sz="850" dirty="0"/>
          </a:p>
        </p:txBody>
      </p:sp>
      <p:sp>
        <p:nvSpPr>
          <p:cNvPr id="13" name="Shape 11"/>
          <p:cNvSpPr/>
          <p:nvPr/>
        </p:nvSpPr>
        <p:spPr>
          <a:xfrm>
            <a:off x="4434840" y="1389888"/>
            <a:ext cx="2926080" cy="1078992"/>
          </a:xfrm>
          <a:prstGeom prst="roundRect">
            <a:avLst>
              <a:gd name="adj" fmla="val 8475"/>
            </a:avLst>
          </a:prstGeom>
          <a:solidFill>
            <a:srgbClr val="FFFFFF"/>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4553712" y="1444752"/>
            <a:ext cx="2651760" cy="274320"/>
          </a:xfrm>
          <a:prstGeom prst="rect">
            <a:avLst/>
          </a:prstGeom>
          <a:noFill/>
          <a:ln/>
        </p:spPr>
        <p:txBody>
          <a:bodyPr wrap="square" lIns="0" tIns="0" rIns="0" bIns="0" rtlCol="0" anchor="ctr"/>
          <a:lstStyle/>
          <a:p>
            <a:pPr indent="0" marL="0">
              <a:buNone/>
            </a:pPr>
            <a:r>
              <a:rPr lang="en-US" sz="1000" b="1" dirty="0">
                <a:solidFill>
                  <a:srgbClr val="059669"/>
                </a:solidFill>
                <a:latin typeface="Arial" pitchFamily="34" charset="0"/>
                <a:ea typeface="Arial" pitchFamily="34" charset="-122"/>
                <a:cs typeface="Arial" pitchFamily="34" charset="-120"/>
              </a:rPr>
              <a:t>🐳  Container</a:t>
            </a:r>
            <a:endParaRPr lang="en-US" sz="1000" dirty="0"/>
          </a:p>
        </p:txBody>
      </p:sp>
      <p:sp>
        <p:nvSpPr>
          <p:cNvPr id="15" name="Text 13"/>
          <p:cNvSpPr/>
          <p:nvPr/>
        </p:nvSpPr>
        <p:spPr>
          <a:xfrm>
            <a:off x="4553712" y="1755648"/>
            <a:ext cx="2651760" cy="594360"/>
          </a:xfrm>
          <a:prstGeom prst="rect">
            <a:avLst/>
          </a:prstGeom>
          <a:noFill/>
          <a:ln/>
        </p:spPr>
        <p:txBody>
          <a:bodyPr wrap="square" lIns="0" tIns="0" rIns="0" bIns="0" rtlCol="0" anchor="ctr"/>
          <a:lstStyle/>
          <a:p>
            <a:pPr algn="ctr" indent="0" marL="0">
              <a:buNone/>
            </a:pPr>
            <a:r>
              <a:rPr lang="en-US" sz="2200" b="1" dirty="0">
                <a:solidFill>
                  <a:srgbClr val="0F172A"/>
                </a:solidFill>
                <a:latin typeface="Cambria" pitchFamily="34" charset="0"/>
                <a:ea typeface="Cambria" pitchFamily="34" charset="-122"/>
                <a:cs typeface="Cambria" pitchFamily="34" charset="-120"/>
              </a:rPr>
              <a:t>Port 80</a:t>
            </a:r>
            <a:endParaRPr lang="en-US" sz="2200" dirty="0"/>
          </a:p>
        </p:txBody>
      </p:sp>
      <p:sp>
        <p:nvSpPr>
          <p:cNvPr id="16" name="Shape 14"/>
          <p:cNvSpPr/>
          <p:nvPr/>
        </p:nvSpPr>
        <p:spPr>
          <a:xfrm>
            <a:off x="320040" y="2788920"/>
            <a:ext cx="4114800" cy="347472"/>
          </a:xfrm>
          <a:prstGeom prst="roundRect">
            <a:avLst>
              <a:gd name="adj" fmla="val 26316"/>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57200" y="2834640"/>
            <a:ext cx="1828800" cy="237744"/>
          </a:xfrm>
          <a:prstGeom prst="rect">
            <a:avLst/>
          </a:prstGeom>
          <a:noFill/>
          <a:ln/>
        </p:spPr>
        <p:txBody>
          <a:bodyPr wrap="square" lIns="0" tIns="0" rIns="0" bIns="0" rtlCol="0" anchor="ctr"/>
          <a:lstStyle/>
          <a:p>
            <a:pPr indent="0" marL="0">
              <a:buNone/>
            </a:pPr>
            <a:r>
              <a:rPr lang="en-US" sz="1000" dirty="0">
                <a:solidFill>
                  <a:srgbClr val="0DB7ED"/>
                </a:solidFill>
                <a:latin typeface="Courier New" pitchFamily="34" charset="0"/>
                <a:ea typeface="Courier New" pitchFamily="34" charset="-122"/>
                <a:cs typeface="Courier New" pitchFamily="34" charset="-120"/>
              </a:rPr>
              <a:t>-p 8080:80</a:t>
            </a:r>
            <a:endParaRPr lang="en-US" sz="1000" dirty="0"/>
          </a:p>
        </p:txBody>
      </p:sp>
      <p:sp>
        <p:nvSpPr>
          <p:cNvPr id="18" name="Text 16"/>
          <p:cNvSpPr/>
          <p:nvPr/>
        </p:nvSpPr>
        <p:spPr>
          <a:xfrm>
            <a:off x="2331720" y="2834640"/>
            <a:ext cx="201168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Map host 8080 to container 80</a:t>
            </a:r>
            <a:endParaRPr lang="en-US" sz="1000" dirty="0"/>
          </a:p>
        </p:txBody>
      </p:sp>
      <p:sp>
        <p:nvSpPr>
          <p:cNvPr id="19" name="Shape 17"/>
          <p:cNvSpPr/>
          <p:nvPr/>
        </p:nvSpPr>
        <p:spPr>
          <a:xfrm>
            <a:off x="4709160" y="2788920"/>
            <a:ext cx="4114800" cy="347472"/>
          </a:xfrm>
          <a:prstGeom prst="roundRect">
            <a:avLst>
              <a:gd name="adj" fmla="val 26316"/>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4846320" y="2834640"/>
            <a:ext cx="1828800" cy="237744"/>
          </a:xfrm>
          <a:prstGeom prst="rect">
            <a:avLst/>
          </a:prstGeom>
          <a:noFill/>
          <a:ln/>
        </p:spPr>
        <p:txBody>
          <a:bodyPr wrap="square" lIns="0" tIns="0" rIns="0" bIns="0" rtlCol="0" anchor="ctr"/>
          <a:lstStyle/>
          <a:p>
            <a:pPr indent="0" marL="0">
              <a:buNone/>
            </a:pPr>
            <a:r>
              <a:rPr lang="en-US" sz="1000" dirty="0">
                <a:solidFill>
                  <a:srgbClr val="0DB7ED"/>
                </a:solidFill>
                <a:latin typeface="Courier New" pitchFamily="34" charset="0"/>
                <a:ea typeface="Courier New" pitchFamily="34" charset="-122"/>
                <a:cs typeface="Courier New" pitchFamily="34" charset="-120"/>
              </a:rPr>
              <a:t>-p 3306:3306</a:t>
            </a:r>
            <a:endParaRPr lang="en-US" sz="1000" dirty="0"/>
          </a:p>
        </p:txBody>
      </p:sp>
      <p:sp>
        <p:nvSpPr>
          <p:cNvPr id="21" name="Text 19"/>
          <p:cNvSpPr/>
          <p:nvPr/>
        </p:nvSpPr>
        <p:spPr>
          <a:xfrm>
            <a:off x="6720840" y="2834640"/>
            <a:ext cx="201168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MySQL — same port both sides</a:t>
            </a:r>
            <a:endParaRPr lang="en-US" sz="1000" dirty="0"/>
          </a:p>
        </p:txBody>
      </p:sp>
      <p:sp>
        <p:nvSpPr>
          <p:cNvPr id="22" name="Shape 20"/>
          <p:cNvSpPr/>
          <p:nvPr/>
        </p:nvSpPr>
        <p:spPr>
          <a:xfrm>
            <a:off x="320040" y="3200400"/>
            <a:ext cx="4114800" cy="347472"/>
          </a:xfrm>
          <a:prstGeom prst="roundRect">
            <a:avLst>
              <a:gd name="adj" fmla="val 26316"/>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3" name="Text 21"/>
          <p:cNvSpPr/>
          <p:nvPr/>
        </p:nvSpPr>
        <p:spPr>
          <a:xfrm>
            <a:off x="457200" y="3246120"/>
            <a:ext cx="1828800" cy="237744"/>
          </a:xfrm>
          <a:prstGeom prst="rect">
            <a:avLst/>
          </a:prstGeom>
          <a:noFill/>
          <a:ln/>
        </p:spPr>
        <p:txBody>
          <a:bodyPr wrap="square" lIns="0" tIns="0" rIns="0" bIns="0" rtlCol="0" anchor="ctr"/>
          <a:lstStyle/>
          <a:p>
            <a:pPr indent="0" marL="0">
              <a:buNone/>
            </a:pPr>
            <a:r>
              <a:rPr lang="en-US" sz="1000" dirty="0">
                <a:solidFill>
                  <a:srgbClr val="0DB7ED"/>
                </a:solidFill>
                <a:latin typeface="Courier New" pitchFamily="34" charset="0"/>
                <a:ea typeface="Courier New" pitchFamily="34" charset="-122"/>
                <a:cs typeface="Courier New" pitchFamily="34" charset="-120"/>
              </a:rPr>
              <a:t>-p 127.0.0.1:8080:80</a:t>
            </a:r>
            <a:endParaRPr lang="en-US" sz="1000" dirty="0"/>
          </a:p>
        </p:txBody>
      </p:sp>
      <p:sp>
        <p:nvSpPr>
          <p:cNvPr id="24" name="Text 22"/>
          <p:cNvSpPr/>
          <p:nvPr/>
        </p:nvSpPr>
        <p:spPr>
          <a:xfrm>
            <a:off x="2331720" y="3246120"/>
            <a:ext cx="201168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Only expose on localhost</a:t>
            </a:r>
            <a:endParaRPr lang="en-US" sz="1000" dirty="0"/>
          </a:p>
        </p:txBody>
      </p:sp>
      <p:sp>
        <p:nvSpPr>
          <p:cNvPr id="25" name="Shape 23"/>
          <p:cNvSpPr/>
          <p:nvPr/>
        </p:nvSpPr>
        <p:spPr>
          <a:xfrm>
            <a:off x="4709160" y="3200400"/>
            <a:ext cx="4114800" cy="347472"/>
          </a:xfrm>
          <a:prstGeom prst="roundRect">
            <a:avLst>
              <a:gd name="adj" fmla="val 26316"/>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4846320" y="3246120"/>
            <a:ext cx="1828800" cy="237744"/>
          </a:xfrm>
          <a:prstGeom prst="rect">
            <a:avLst/>
          </a:prstGeom>
          <a:noFill/>
          <a:ln/>
        </p:spPr>
        <p:txBody>
          <a:bodyPr wrap="square" lIns="0" tIns="0" rIns="0" bIns="0" rtlCol="0" anchor="ctr"/>
          <a:lstStyle/>
          <a:p>
            <a:pPr indent="0" marL="0">
              <a:buNone/>
            </a:pPr>
            <a:r>
              <a:rPr lang="en-US" sz="1000" dirty="0">
                <a:solidFill>
                  <a:srgbClr val="0DB7ED"/>
                </a:solidFill>
                <a:latin typeface="Courier New" pitchFamily="34" charset="0"/>
                <a:ea typeface="Courier New" pitchFamily="34" charset="-122"/>
                <a:cs typeface="Courier New" pitchFamily="34" charset="-120"/>
              </a:rPr>
              <a:t>-P</a:t>
            </a:r>
            <a:endParaRPr lang="en-US" sz="1000" dirty="0"/>
          </a:p>
        </p:txBody>
      </p:sp>
      <p:sp>
        <p:nvSpPr>
          <p:cNvPr id="27" name="Text 25"/>
          <p:cNvSpPr/>
          <p:nvPr/>
        </p:nvSpPr>
        <p:spPr>
          <a:xfrm>
            <a:off x="6720840" y="3246120"/>
            <a:ext cx="2011680" cy="237744"/>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Auto-assign random host ports</a:t>
            </a:r>
            <a:endParaRPr lang="en-US" sz="1000" dirty="0"/>
          </a:p>
        </p:txBody>
      </p:sp>
      <p:sp>
        <p:nvSpPr>
          <p:cNvPr id="28" name="Text 26"/>
          <p:cNvSpPr/>
          <p:nvPr/>
        </p:nvSpPr>
        <p:spPr>
          <a:xfrm>
            <a:off x="320040" y="3675888"/>
            <a:ext cx="8503920" cy="292608"/>
          </a:xfrm>
          <a:prstGeom prst="rect">
            <a:avLst/>
          </a:prstGeom>
          <a:noFill/>
          <a:ln/>
        </p:spPr>
        <p:txBody>
          <a:bodyPr wrap="square" lIns="0" tIns="0" rIns="0" bIns="0" rtlCol="0" anchor="ctr"/>
          <a:lstStyle/>
          <a:p>
            <a:pPr indent="0" marL="0">
              <a:buNone/>
            </a:pPr>
            <a:r>
              <a:rPr lang="en-US" sz="1300" b="1" dirty="0">
                <a:solidFill>
                  <a:srgbClr val="0F172A"/>
                </a:solidFill>
                <a:latin typeface="Cambria" pitchFamily="34" charset="0"/>
                <a:ea typeface="Cambria" pitchFamily="34" charset="-122"/>
                <a:cs typeface="Cambria" pitchFamily="34" charset="-120"/>
              </a:rPr>
              <a:t>Resource Limits</a:t>
            </a:r>
            <a:endParaRPr lang="en-US" sz="1300" dirty="0"/>
          </a:p>
        </p:txBody>
      </p:sp>
      <p:sp>
        <p:nvSpPr>
          <p:cNvPr id="29" name="Shape 27"/>
          <p:cNvSpPr/>
          <p:nvPr/>
        </p:nvSpPr>
        <p:spPr>
          <a:xfrm>
            <a:off x="320040" y="4005072"/>
            <a:ext cx="8503920" cy="713232"/>
          </a:xfrm>
          <a:prstGeom prst="roundRect">
            <a:avLst>
              <a:gd name="adj" fmla="val 12821"/>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75488" y="4096512"/>
            <a:ext cx="8229600" cy="530352"/>
          </a:xfrm>
          <a:prstGeom prst="rect">
            <a:avLst/>
          </a:prstGeom>
          <a:noFill/>
          <a:ln/>
        </p:spPr>
        <p:txBody>
          <a:bodyPr wrap="square" lIns="0" tIns="0" rIns="0" bIns="0" rtlCol="0" anchor="ctr"/>
          <a:lstStyle/>
          <a:p>
            <a:pPr indent="0" marL="0">
              <a:buNone/>
            </a:pPr>
            <a:r>
              <a:rPr lang="en-US" sz="1050" dirty="0">
                <a:solidFill>
                  <a:srgbClr val="6EE7B7"/>
                </a:solidFill>
                <a:latin typeface="Courier New" pitchFamily="34" charset="0"/>
                <a:ea typeface="Courier New" pitchFamily="34" charset="-122"/>
                <a:cs typeface="Courier New" pitchFamily="34" charset="-120"/>
              </a:rPr>
              <a:t>docker run -d  -m 512m  --cpus 1.5  --restart unless-stopped  -p 8080:80  myapp:v1.0</a:t>
            </a:r>
            <a:endParaRPr lang="en-US" sz="1050" dirty="0"/>
          </a:p>
        </p:txBody>
      </p:sp>
      <p:sp>
        <p:nvSpPr>
          <p:cNvPr id="31" name="Shape 29"/>
          <p:cNvSpPr/>
          <p:nvPr/>
        </p:nvSpPr>
        <p:spPr>
          <a:xfrm>
            <a:off x="0" y="4846320"/>
            <a:ext cx="9144000" cy="297180"/>
          </a:xfrm>
          <a:prstGeom prst="rect">
            <a:avLst/>
          </a:prstGeom>
          <a:solidFill>
            <a:srgbClr val="0F172A"/>
          </a:solidFill>
          <a:ln w="12700">
            <a:solidFill>
              <a:srgbClr val="0F172A"/>
            </a:solidFill>
            <a:prstDash val="solid"/>
          </a:ln>
        </p:spPr>
      </p:sp>
      <p:sp>
        <p:nvSpPr>
          <p:cNvPr id="32" name="Text 3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Docker Containers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BEST PRACTICES — CONTAINERS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04  •  Docker Containers</a:t>
            </a:r>
            <a:endParaRPr lang="en-US" sz="950" dirty="0"/>
          </a:p>
        </p:txBody>
      </p:sp>
      <p:sp>
        <p:nvSpPr>
          <p:cNvPr id="6" name="Shape 4"/>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75488" y="1060704"/>
            <a:ext cx="475488" cy="868680"/>
          </a:xfrm>
          <a:prstGeom prst="roundRect">
            <a:avLst>
              <a:gd name="adj" fmla="val 13462"/>
            </a:avLst>
          </a:prstGeom>
          <a:solidFill>
            <a:srgbClr val="0DB7ED"/>
          </a:solidFill>
          <a:ln w="12700">
            <a:solidFill>
              <a:srgbClr val="0DB7ED"/>
            </a:solidFill>
            <a:prstDash val="solid"/>
          </a:ln>
        </p:spPr>
      </p:sp>
      <p:sp>
        <p:nvSpPr>
          <p:cNvPr id="8" name="Text 6"/>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0DB7ED"/>
                </a:solidFill>
                <a:latin typeface="Arial" pitchFamily="34" charset="0"/>
                <a:ea typeface="Arial" pitchFamily="34" charset="-122"/>
                <a:cs typeface="Arial" pitchFamily="34" charset="-120"/>
              </a:rPr>
              <a:t>💡  One process per container</a:t>
            </a:r>
            <a:endParaRPr lang="en-US" sz="1300" dirty="0"/>
          </a:p>
        </p:txBody>
      </p:sp>
      <p:sp>
        <p:nvSpPr>
          <p:cNvPr id="10" name="Text 8"/>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Run one main process per container — e.g. one container for the web server, one for the database. Easier to scale, easier to debug, easier to update independently.</a:t>
            </a:r>
            <a:endParaRPr lang="en-US" sz="1100" dirty="0"/>
          </a:p>
        </p:txBody>
      </p:sp>
      <p:sp>
        <p:nvSpPr>
          <p:cNvPr id="11" name="Shape 9"/>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75488" y="2432304"/>
            <a:ext cx="475488" cy="868680"/>
          </a:xfrm>
          <a:prstGeom prst="roundRect">
            <a:avLst>
              <a:gd name="adj" fmla="val 13462"/>
            </a:avLst>
          </a:prstGeom>
          <a:solidFill>
            <a:srgbClr val="DC2626"/>
          </a:solidFill>
          <a:ln w="12700">
            <a:solidFill>
              <a:srgbClr val="DC2626"/>
            </a:solidFill>
            <a:prstDash val="solid"/>
          </a:ln>
        </p:spPr>
      </p:sp>
      <p:sp>
        <p:nvSpPr>
          <p:cNvPr id="13" name="Text 11"/>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  Never store important data inside a container</a:t>
            </a:r>
            <a:endParaRPr lang="en-US" sz="1300" dirty="0"/>
          </a:p>
        </p:txBody>
      </p:sp>
      <p:sp>
        <p:nvSpPr>
          <p:cNvPr id="15" name="Text 13"/>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Containers are ephemeral — everything inside is lost when the container is removed. Use Docker Volumes for any data that needs to persist.</a:t>
            </a:r>
            <a:endParaRPr lang="en-US" sz="1100" dirty="0"/>
          </a:p>
        </p:txBody>
      </p:sp>
      <p:sp>
        <p:nvSpPr>
          <p:cNvPr id="16" name="Shape 14"/>
          <p:cNvSpPr/>
          <p:nvPr/>
        </p:nvSpPr>
        <p:spPr>
          <a:xfrm>
            <a:off x="320040" y="36393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75488" y="3803904"/>
            <a:ext cx="475488" cy="868680"/>
          </a:xfrm>
          <a:prstGeom prst="roundRect">
            <a:avLst>
              <a:gd name="adj" fmla="val 13462"/>
            </a:avLst>
          </a:prstGeom>
          <a:solidFill>
            <a:srgbClr val="059669"/>
          </a:solidFill>
          <a:ln w="12700">
            <a:solidFill>
              <a:srgbClr val="059669"/>
            </a:solidFill>
            <a:prstDash val="solid"/>
          </a:ln>
        </p:spPr>
      </p:sp>
      <p:sp>
        <p:nvSpPr>
          <p:cNvPr id="18" name="Text 16"/>
          <p:cNvSpPr/>
          <p:nvPr/>
        </p:nvSpPr>
        <p:spPr>
          <a:xfrm>
            <a:off x="475488" y="38039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1097280" y="3749040"/>
            <a:ext cx="7406640" cy="384048"/>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  Always set restart policies in production</a:t>
            </a:r>
            <a:endParaRPr lang="en-US" sz="1300" dirty="0"/>
          </a:p>
        </p:txBody>
      </p:sp>
      <p:sp>
        <p:nvSpPr>
          <p:cNvPr id="20" name="Text 18"/>
          <p:cNvSpPr/>
          <p:nvPr/>
        </p:nvSpPr>
        <p:spPr>
          <a:xfrm>
            <a:off x="1097280" y="41513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Use --restart unless-stopped so containers come back automatically after a server reboot or crash. Without this, a reboot silently kills your services.</a:t>
            </a:r>
            <a:endParaRPr lang="en-US" sz="1100" dirty="0"/>
          </a:p>
        </p:txBody>
      </p:sp>
      <p:sp>
        <p:nvSpPr>
          <p:cNvPr id="21" name="Shape 19"/>
          <p:cNvSpPr/>
          <p:nvPr/>
        </p:nvSpPr>
        <p:spPr>
          <a:xfrm>
            <a:off x="0" y="4846320"/>
            <a:ext cx="9144000" cy="297180"/>
          </a:xfrm>
          <a:prstGeom prst="rect">
            <a:avLst/>
          </a:prstGeom>
          <a:solidFill>
            <a:srgbClr val="0F172A"/>
          </a:solidFill>
          <a:ln w="12700">
            <a:solidFill>
              <a:srgbClr val="0F172A"/>
            </a:solidFill>
            <a:prstDash val="solid"/>
          </a:ln>
        </p:spPr>
      </p:sp>
      <p:sp>
        <p:nvSpPr>
          <p:cNvPr id="22" name="Text 2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04: Docker Containers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0DB7ED"/>
          </a:solidFill>
          <a:ln w="12700">
            <a:solidFill>
              <a:srgbClr val="0DB7ED"/>
            </a:solidFill>
            <a:prstDash val="solid"/>
          </a:ln>
        </p:spPr>
      </p:sp>
      <p:sp>
        <p:nvSpPr>
          <p:cNvPr id="3" name="Shape 1"/>
          <p:cNvSpPr/>
          <p:nvPr/>
        </p:nvSpPr>
        <p:spPr>
          <a:xfrm>
            <a:off x="6400800" y="-731520"/>
            <a:ext cx="3840480" cy="3840480"/>
          </a:xfrm>
          <a:prstGeom prst="ellipse">
            <a:avLst/>
          </a:prstGeom>
          <a:solidFill>
            <a:srgbClr val="0DB7ED">
              <a:alpha val="8000"/>
            </a:srgbClr>
          </a:solidFill>
          <a:ln w="12700">
            <a:solidFill>
              <a:srgbClr val="0DB7ED">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0DB7ED"/>
                </a:solidFill>
                <a:latin typeface="Arial" pitchFamily="34" charset="0"/>
                <a:ea typeface="Arial" pitchFamily="34" charset="-122"/>
                <a:cs typeface="Arial" pitchFamily="34" charset="-120"/>
              </a:rPr>
              <a:t>🔬  LAB 1</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Images &amp; Containers</a:t>
            </a:r>
            <a:endParaRPr lang="en-US" sz="3200" dirty="0"/>
          </a:p>
        </p:txBody>
      </p:sp>
      <p:sp>
        <p:nvSpPr>
          <p:cNvPr id="6" name="Shape 4"/>
          <p:cNvSpPr/>
          <p:nvPr/>
        </p:nvSpPr>
        <p:spPr>
          <a:xfrm>
            <a:off x="594360" y="1664208"/>
            <a:ext cx="4114800" cy="27432"/>
          </a:xfrm>
          <a:prstGeom prst="rect">
            <a:avLst/>
          </a:prstGeom>
          <a:solidFill>
            <a:srgbClr val="0DB7ED"/>
          </a:solidFill>
          <a:ln w="12700">
            <a:solidFill>
              <a:srgbClr val="0DB7ED"/>
            </a:solidFill>
            <a:prstDash val="solid"/>
          </a:ln>
        </p:spPr>
      </p:sp>
      <p:sp>
        <p:nvSpPr>
          <p:cNvPr id="7" name="Shape 5"/>
          <p:cNvSpPr/>
          <p:nvPr/>
        </p:nvSpPr>
        <p:spPr>
          <a:xfrm>
            <a:off x="594360" y="1874520"/>
            <a:ext cx="292608" cy="292608"/>
          </a:xfrm>
          <a:prstGeom prst="ellipse">
            <a:avLst/>
          </a:prstGeom>
          <a:solidFill>
            <a:srgbClr val="0DB7ED"/>
          </a:solidFill>
          <a:ln w="12700">
            <a:solidFill>
              <a:srgbClr val="0DB7ED"/>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Pull nginx:alpine and nginx:latest — compare their sizes</a:t>
            </a:r>
            <a:endParaRPr lang="en-US" sz="1200" dirty="0"/>
          </a:p>
        </p:txBody>
      </p:sp>
      <p:sp>
        <p:nvSpPr>
          <p:cNvPr id="10" name="Shape 8"/>
          <p:cNvSpPr/>
          <p:nvPr/>
        </p:nvSpPr>
        <p:spPr>
          <a:xfrm>
            <a:off x="594360" y="2350008"/>
            <a:ext cx="292608" cy="292608"/>
          </a:xfrm>
          <a:prstGeom prst="ellipse">
            <a:avLst/>
          </a:prstGeom>
          <a:solidFill>
            <a:srgbClr val="0DB7ED"/>
          </a:solidFill>
          <a:ln w="12700">
            <a:solidFill>
              <a:srgbClr val="0DB7ED"/>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Inspect nginx:alpine — find the exposed port and architecture</a:t>
            </a:r>
            <a:endParaRPr lang="en-US" sz="1200" dirty="0"/>
          </a:p>
        </p:txBody>
      </p:sp>
      <p:sp>
        <p:nvSpPr>
          <p:cNvPr id="13" name="Shape 11"/>
          <p:cNvSpPr/>
          <p:nvPr/>
        </p:nvSpPr>
        <p:spPr>
          <a:xfrm>
            <a:off x="594360" y="2825496"/>
            <a:ext cx="292608" cy="292608"/>
          </a:xfrm>
          <a:prstGeom prst="ellipse">
            <a:avLst/>
          </a:prstGeom>
          <a:solidFill>
            <a:srgbClr val="0DB7ED"/>
          </a:solidFill>
          <a:ln w="12700">
            <a:solidFill>
              <a:srgbClr val="0DB7ED"/>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Run: docker run -d --name webserver -p 8080:80 nginx:alpine</a:t>
            </a:r>
            <a:endParaRPr lang="en-US" sz="1200" dirty="0"/>
          </a:p>
        </p:txBody>
      </p:sp>
      <p:sp>
        <p:nvSpPr>
          <p:cNvPr id="16" name="Shape 14"/>
          <p:cNvSpPr/>
          <p:nvPr/>
        </p:nvSpPr>
        <p:spPr>
          <a:xfrm>
            <a:off x="594360" y="3300984"/>
            <a:ext cx="292608" cy="292608"/>
          </a:xfrm>
          <a:prstGeom prst="ellipse">
            <a:avLst/>
          </a:prstGeom>
          <a:solidFill>
            <a:srgbClr val="0DB7ED"/>
          </a:solidFill>
          <a:ln w="12700">
            <a:solidFill>
              <a:srgbClr val="0DB7ED"/>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Visit http://localhost:8080 in a browser — confirm nginx is running</a:t>
            </a:r>
            <a:endParaRPr lang="en-US" sz="1200" dirty="0"/>
          </a:p>
        </p:txBody>
      </p:sp>
      <p:sp>
        <p:nvSpPr>
          <p:cNvPr id="19" name="Shape 17"/>
          <p:cNvSpPr/>
          <p:nvPr/>
        </p:nvSpPr>
        <p:spPr>
          <a:xfrm>
            <a:off x="594360" y="3776472"/>
            <a:ext cx="292608" cy="292608"/>
          </a:xfrm>
          <a:prstGeom prst="ellipse">
            <a:avLst/>
          </a:prstGeom>
          <a:solidFill>
            <a:srgbClr val="0DB7ED"/>
          </a:solidFill>
          <a:ln w="12700">
            <a:solidFill>
              <a:srgbClr val="0DB7ED"/>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View live logs: docker logs -f webserver</a:t>
            </a:r>
            <a:endParaRPr lang="en-US" sz="1200" dirty="0"/>
          </a:p>
        </p:txBody>
      </p:sp>
      <p:sp>
        <p:nvSpPr>
          <p:cNvPr id="22" name="Shape 20"/>
          <p:cNvSpPr/>
          <p:nvPr/>
        </p:nvSpPr>
        <p:spPr>
          <a:xfrm>
            <a:off x="594360" y="4251960"/>
            <a:ext cx="292608" cy="292608"/>
          </a:xfrm>
          <a:prstGeom prst="ellipse">
            <a:avLst/>
          </a:prstGeom>
          <a:solidFill>
            <a:srgbClr val="0DB7ED"/>
          </a:solidFill>
          <a:ln w="12700">
            <a:solidFill>
              <a:srgbClr val="0DB7ED"/>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Open a shell inside, then stop and remove: docker exec -it webserver sh</a:t>
            </a:r>
            <a:endParaRPr lang="en-US" sz="1200" dirty="0"/>
          </a:p>
        </p:txBody>
      </p:sp>
      <p:sp>
        <p:nvSpPr>
          <p:cNvPr id="25" name="Shape 23"/>
          <p:cNvSpPr/>
          <p:nvPr/>
        </p:nvSpPr>
        <p:spPr>
          <a:xfrm>
            <a:off x="594360" y="4617720"/>
            <a:ext cx="4389120" cy="384048"/>
          </a:xfrm>
          <a:prstGeom prst="roundRect">
            <a:avLst>
              <a:gd name="adj" fmla="val 16667"/>
            </a:avLst>
          </a:prstGeom>
          <a:solidFill>
            <a:srgbClr val="0DB7ED">
              <a:alpha val="20000"/>
            </a:srgbClr>
          </a:solidFill>
          <a:ln w="12700">
            <a:solidFill>
              <a:srgbClr val="0DB7ED">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13:00 – 14:30  •  Day 1 Afternoon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LAB 1 — ANSWERS &amp; COMMON ERRORS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1207008"/>
            <a:ext cx="8229600" cy="292608"/>
          </a:xfrm>
          <a:prstGeom prst="rect">
            <a:avLst/>
          </a:prstGeom>
          <a:noFill/>
          <a:ln/>
        </p:spPr>
        <p:txBody>
          <a:bodyPr wrap="square" lIns="0" tIns="0" rIns="0" bIns="0" rtlCol="0" anchor="ctr"/>
          <a:lstStyle/>
          <a:p>
            <a:pPr indent="0" marL="0">
              <a:buNone/>
            </a:pPr>
            <a:r>
              <a:rPr lang="en-US" sz="1050" b="1" dirty="0">
                <a:solidFill>
                  <a:srgbClr val="C2410C"/>
                </a:solidFill>
                <a:latin typeface="Arial" pitchFamily="34" charset="0"/>
                <a:ea typeface="Arial" pitchFamily="34" charset="-122"/>
                <a:cs typeface="Arial" pitchFamily="34" charset="-120"/>
              </a:rPr>
              <a:t>🔒  Do not show to students. Share answers verbally on request only.</a:t>
            </a:r>
            <a:endParaRPr lang="en-US" sz="1050" dirty="0"/>
          </a:p>
        </p:txBody>
      </p:sp>
      <p:sp>
        <p:nvSpPr>
          <p:cNvPr id="10" name="Shape 8"/>
          <p:cNvSpPr/>
          <p:nvPr/>
        </p:nvSpPr>
        <p:spPr>
          <a:xfrm>
            <a:off x="320040" y="1664208"/>
            <a:ext cx="8503920" cy="1207008"/>
          </a:xfrm>
          <a:prstGeom prst="roundRect">
            <a:avLst>
              <a:gd name="adj" fmla="val 7576"/>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75488" y="1719072"/>
            <a:ext cx="8229600" cy="228600"/>
          </a:xfrm>
          <a:prstGeom prst="rect">
            <a:avLst/>
          </a:prstGeom>
          <a:noFill/>
          <a:ln/>
        </p:spPr>
        <p:txBody>
          <a:bodyPr wrap="square" lIns="0" tIns="0" rIns="0" bIns="0" rtlCol="0" anchor="ctr"/>
          <a:lstStyle/>
          <a:p>
            <a:pPr indent="0" marL="0">
              <a:buNone/>
            </a:pPr>
            <a:r>
              <a:rPr lang="en-US" sz="1000" b="1" dirty="0">
                <a:solidFill>
                  <a:srgbClr val="94A3B8"/>
                </a:solidFill>
                <a:latin typeface="Arial" pitchFamily="34" charset="0"/>
                <a:ea typeface="Arial" pitchFamily="34" charset="-122"/>
                <a:cs typeface="Arial" pitchFamily="34" charset="-120"/>
              </a:rPr>
              <a:t>Task 1 — Compare image sizes</a:t>
            </a:r>
            <a:endParaRPr lang="en-US" sz="1000" dirty="0"/>
          </a:p>
        </p:txBody>
      </p:sp>
      <p:sp>
        <p:nvSpPr>
          <p:cNvPr id="12" name="Text 10"/>
          <p:cNvSpPr/>
          <p:nvPr/>
        </p:nvSpPr>
        <p:spPr>
          <a:xfrm>
            <a:off x="475488" y="1984248"/>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pull nginx:alpine  &amp;&amp;  docker pull nginx:latest</a:t>
            </a:r>
            <a:endParaRPr lang="en-US" sz="950" dirty="0"/>
          </a:p>
        </p:txBody>
      </p:sp>
      <p:sp>
        <p:nvSpPr>
          <p:cNvPr id="13" name="Text 11"/>
          <p:cNvSpPr/>
          <p:nvPr/>
        </p:nvSpPr>
        <p:spPr>
          <a:xfrm>
            <a:off x="475488" y="2185416"/>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images | grep nginx</a:t>
            </a:r>
            <a:endParaRPr lang="en-US" sz="950" dirty="0"/>
          </a:p>
        </p:txBody>
      </p:sp>
      <p:sp>
        <p:nvSpPr>
          <p:cNvPr id="14" name="Text 12"/>
          <p:cNvSpPr/>
          <p:nvPr/>
        </p:nvSpPr>
        <p:spPr>
          <a:xfrm>
            <a:off x="475488" y="2386584"/>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Expected: alpine ~41MB, latest ~141MB</a:t>
            </a:r>
            <a:endParaRPr lang="en-US" sz="950" dirty="0"/>
          </a:p>
        </p:txBody>
      </p:sp>
      <p:sp>
        <p:nvSpPr>
          <p:cNvPr id="15" name="Shape 13"/>
          <p:cNvSpPr/>
          <p:nvPr/>
        </p:nvSpPr>
        <p:spPr>
          <a:xfrm>
            <a:off x="320040" y="2944368"/>
            <a:ext cx="8503920" cy="1207008"/>
          </a:xfrm>
          <a:prstGeom prst="roundRect">
            <a:avLst>
              <a:gd name="adj" fmla="val 7576"/>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6" name="Text 14"/>
          <p:cNvSpPr/>
          <p:nvPr/>
        </p:nvSpPr>
        <p:spPr>
          <a:xfrm>
            <a:off x="475488" y="2999232"/>
            <a:ext cx="8229600" cy="228600"/>
          </a:xfrm>
          <a:prstGeom prst="rect">
            <a:avLst/>
          </a:prstGeom>
          <a:noFill/>
          <a:ln/>
        </p:spPr>
        <p:txBody>
          <a:bodyPr wrap="square" lIns="0" tIns="0" rIns="0" bIns="0" rtlCol="0" anchor="ctr"/>
          <a:lstStyle/>
          <a:p>
            <a:pPr indent="0" marL="0">
              <a:buNone/>
            </a:pPr>
            <a:r>
              <a:rPr lang="en-US" sz="1000" b="1" dirty="0">
                <a:solidFill>
                  <a:srgbClr val="94A3B8"/>
                </a:solidFill>
                <a:latin typeface="Arial" pitchFamily="34" charset="0"/>
                <a:ea typeface="Arial" pitchFamily="34" charset="-122"/>
                <a:cs typeface="Arial" pitchFamily="34" charset="-120"/>
              </a:rPr>
              <a:t>Task 2 — Inspect nginx:alpine for port and architecture</a:t>
            </a:r>
            <a:endParaRPr lang="en-US" sz="1000" dirty="0"/>
          </a:p>
        </p:txBody>
      </p:sp>
      <p:sp>
        <p:nvSpPr>
          <p:cNvPr id="17" name="Text 15"/>
          <p:cNvSpPr/>
          <p:nvPr/>
        </p:nvSpPr>
        <p:spPr>
          <a:xfrm>
            <a:off x="475488" y="3264408"/>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inspect nginx:alpine | grep -E '"ExposedPorts"|"Architecture"'</a:t>
            </a:r>
            <a:endParaRPr lang="en-US" sz="950" dirty="0"/>
          </a:p>
        </p:txBody>
      </p:sp>
      <p:sp>
        <p:nvSpPr>
          <p:cNvPr id="18" name="Text 16"/>
          <p:cNvSpPr/>
          <p:nvPr/>
        </p:nvSpPr>
        <p:spPr>
          <a:xfrm>
            <a:off x="475488" y="3465576"/>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 80/tcp     Architecture: amd64</a:t>
            </a:r>
            <a:endParaRPr lang="en-US" sz="950" dirty="0"/>
          </a:p>
        </p:txBody>
      </p:sp>
      <p:sp>
        <p:nvSpPr>
          <p:cNvPr id="19" name="Shape 17"/>
          <p:cNvSpPr/>
          <p:nvPr/>
        </p:nvSpPr>
        <p:spPr>
          <a:xfrm>
            <a:off x="320040" y="3858768"/>
            <a:ext cx="8503920" cy="1207008"/>
          </a:xfrm>
          <a:prstGeom prst="roundRect">
            <a:avLst>
              <a:gd name="adj" fmla="val 7576"/>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475488" y="3913632"/>
            <a:ext cx="8229600" cy="228600"/>
          </a:xfrm>
          <a:prstGeom prst="rect">
            <a:avLst/>
          </a:prstGeom>
          <a:noFill/>
          <a:ln/>
        </p:spPr>
        <p:txBody>
          <a:bodyPr wrap="square" lIns="0" tIns="0" rIns="0" bIns="0" rtlCol="0" anchor="ctr"/>
          <a:lstStyle/>
          <a:p>
            <a:pPr indent="0" marL="0">
              <a:buNone/>
            </a:pPr>
            <a:r>
              <a:rPr lang="en-US" sz="1000" b="1" dirty="0">
                <a:solidFill>
                  <a:srgbClr val="94A3B8"/>
                </a:solidFill>
                <a:latin typeface="Arial" pitchFamily="34" charset="0"/>
                <a:ea typeface="Arial" pitchFamily="34" charset="-122"/>
                <a:cs typeface="Arial" pitchFamily="34" charset="-120"/>
              </a:rPr>
              <a:t>Tasks 3-6 — Run, browse, logs, exec, cleanup</a:t>
            </a:r>
            <a:endParaRPr lang="en-US" sz="1000" dirty="0"/>
          </a:p>
        </p:txBody>
      </p:sp>
      <p:sp>
        <p:nvSpPr>
          <p:cNvPr id="21" name="Text 19"/>
          <p:cNvSpPr/>
          <p:nvPr/>
        </p:nvSpPr>
        <p:spPr>
          <a:xfrm>
            <a:off x="475488" y="4178808"/>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run -d --name webserver -p 8080:80 nginx:alpine</a:t>
            </a:r>
            <a:endParaRPr lang="en-US" sz="950" dirty="0"/>
          </a:p>
        </p:txBody>
      </p:sp>
      <p:sp>
        <p:nvSpPr>
          <p:cNvPr id="22" name="Text 20"/>
          <p:cNvSpPr/>
          <p:nvPr/>
        </p:nvSpPr>
        <p:spPr>
          <a:xfrm>
            <a:off x="475488" y="4379976"/>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logs -f webserver    # Ctrl+C to exit</a:t>
            </a:r>
            <a:endParaRPr lang="en-US" sz="950" dirty="0"/>
          </a:p>
        </p:txBody>
      </p:sp>
      <p:sp>
        <p:nvSpPr>
          <p:cNvPr id="23" name="Text 21"/>
          <p:cNvSpPr/>
          <p:nvPr/>
        </p:nvSpPr>
        <p:spPr>
          <a:xfrm>
            <a:off x="475488" y="4581144"/>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exec -it webserver sh    # type 'exit' to leave shell</a:t>
            </a:r>
            <a:endParaRPr lang="en-US" sz="950" dirty="0"/>
          </a:p>
        </p:txBody>
      </p:sp>
      <p:sp>
        <p:nvSpPr>
          <p:cNvPr id="24" name="Text 22"/>
          <p:cNvSpPr/>
          <p:nvPr/>
        </p:nvSpPr>
        <p:spPr>
          <a:xfrm>
            <a:off x="475488" y="4782312"/>
            <a:ext cx="8229600" cy="182880"/>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stop webserver  &amp;&amp;  docker rm webserver</a:t>
            </a:r>
            <a:endParaRPr lang="en-US" sz="950" dirty="0"/>
          </a:p>
        </p:txBody>
      </p:sp>
      <p:sp>
        <p:nvSpPr>
          <p:cNvPr id="25" name="Shape 23"/>
          <p:cNvSpPr/>
          <p:nvPr/>
        </p:nvSpPr>
        <p:spPr>
          <a:xfrm>
            <a:off x="320040" y="4919472"/>
            <a:ext cx="8503920" cy="365760"/>
          </a:xfrm>
          <a:prstGeom prst="roundRect">
            <a:avLst>
              <a:gd name="adj" fmla="val 25000"/>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457200" y="5010912"/>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27" name="Text 25"/>
          <p:cNvSpPr/>
          <p:nvPr/>
        </p:nvSpPr>
        <p:spPr>
          <a:xfrm>
            <a:off x="457200" y="5303520"/>
            <a:ext cx="8229600" cy="-137160"/>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Most common error: port already allocated — change host port to 8081. Second most common: students forget to stop the container before trying to rm it — use docker rm -f.</a:t>
            </a:r>
            <a:endParaRPr lang="en-US" sz="1000" dirty="0"/>
          </a:p>
        </p:txBody>
      </p:sp>
      <p:sp>
        <p:nvSpPr>
          <p:cNvPr id="28" name="Shape 26"/>
          <p:cNvSpPr/>
          <p:nvPr/>
        </p:nvSpPr>
        <p:spPr>
          <a:xfrm>
            <a:off x="0" y="4846320"/>
            <a:ext cx="9144000" cy="297180"/>
          </a:xfrm>
          <a:prstGeom prst="rect">
            <a:avLst/>
          </a:prstGeom>
          <a:solidFill>
            <a:srgbClr val="7C2D12"/>
          </a:solidFill>
          <a:ln w="12700">
            <a:solidFill>
              <a:srgbClr val="7C2D12"/>
            </a:solidFill>
            <a:prstDash val="solid"/>
          </a:ln>
        </p:spPr>
      </p:sp>
      <p:sp>
        <p:nvSpPr>
          <p:cNvPr id="29" name="Text 2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Lab 1 Answers — CONFIDENTIAL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UP NEXT — DOCKERFILE &amp; VOLUMES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What's Coming</a:t>
            </a:r>
            <a:endParaRPr lang="en-US" sz="950" dirty="0"/>
          </a:p>
        </p:txBody>
      </p:sp>
      <p:sp>
        <p:nvSpPr>
          <p:cNvPr id="6" name="Shape 4"/>
          <p:cNvSpPr/>
          <p:nvPr/>
        </p:nvSpPr>
        <p:spPr>
          <a:xfrm>
            <a:off x="320040" y="868680"/>
            <a:ext cx="8503920" cy="566928"/>
          </a:xfrm>
          <a:prstGeom prst="roundRect">
            <a:avLst>
              <a:gd name="adj" fmla="val 16129"/>
            </a:avLst>
          </a:prstGeom>
          <a:solidFill>
            <a:srgbClr val="FEF3C7"/>
          </a:solidFill>
          <a:ln w="12700">
            <a:solidFill>
              <a:srgbClr val="FCD34D"/>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457200"/>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You can now pull, run and manage containers. Next we learn to build our own images and make data persist.</a:t>
            </a:r>
            <a:endParaRPr lang="en-US" sz="1200" dirty="0"/>
          </a:p>
        </p:txBody>
      </p:sp>
      <p:sp>
        <p:nvSpPr>
          <p:cNvPr id="8" name="Shape 6"/>
          <p:cNvSpPr/>
          <p:nvPr/>
        </p:nvSpPr>
        <p:spPr>
          <a:xfrm>
            <a:off x="320040" y="157276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169164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0" name="Text 8"/>
          <p:cNvSpPr/>
          <p:nvPr/>
        </p:nvSpPr>
        <p:spPr>
          <a:xfrm>
            <a:off x="475488" y="2286000"/>
            <a:ext cx="2423160" cy="438912"/>
          </a:xfrm>
          <a:prstGeom prst="rect">
            <a:avLst/>
          </a:prstGeom>
          <a:noFill/>
          <a:ln/>
        </p:spPr>
        <p:txBody>
          <a:bodyPr wrap="square" lIns="0" tIns="0" rIns="0" bIns="0" rtlCol="0" anchor="ctr"/>
          <a:lstStyle/>
          <a:p>
            <a:pPr indent="0" marL="0">
              <a:buNone/>
            </a:pPr>
            <a:r>
              <a:rPr lang="en-US" sz="1300" b="1" dirty="0">
                <a:solidFill>
                  <a:srgbClr val="2563EB"/>
                </a:solidFill>
                <a:latin typeface="Cambria" pitchFamily="34" charset="0"/>
                <a:ea typeface="Cambria" pitchFamily="34" charset="-122"/>
                <a:cs typeface="Cambria" pitchFamily="34" charset="-120"/>
              </a:rPr>
              <a:t>Dockerfile</a:t>
            </a:r>
            <a:endParaRPr lang="en-US" sz="1300" dirty="0"/>
          </a:p>
        </p:txBody>
      </p:sp>
      <p:sp>
        <p:nvSpPr>
          <p:cNvPr id="11" name="Text 9"/>
          <p:cNvSpPr/>
          <p:nvPr/>
        </p:nvSpPr>
        <p:spPr>
          <a:xfrm>
            <a:off x="475488" y="2761488"/>
            <a:ext cx="2423160" cy="171907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Write instructions to build your own custom image — your app, your dependencies, your config — packaged into a single portable image.</a:t>
            </a:r>
            <a:endParaRPr lang="en-US" sz="1100" dirty="0"/>
          </a:p>
        </p:txBody>
      </p:sp>
      <p:sp>
        <p:nvSpPr>
          <p:cNvPr id="12" name="Shape 10"/>
          <p:cNvSpPr/>
          <p:nvPr/>
        </p:nvSpPr>
        <p:spPr>
          <a:xfrm>
            <a:off x="3172968" y="157276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3328416" y="169164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4" name="Text 12"/>
          <p:cNvSpPr/>
          <p:nvPr/>
        </p:nvSpPr>
        <p:spPr>
          <a:xfrm>
            <a:off x="3328416" y="2286000"/>
            <a:ext cx="2423160" cy="438912"/>
          </a:xfrm>
          <a:prstGeom prst="rect">
            <a:avLst/>
          </a:prstGeom>
          <a:noFill/>
          <a:ln/>
        </p:spPr>
        <p:txBody>
          <a:bodyPr wrap="square" lIns="0" tIns="0" rIns="0" bIns="0" rtlCol="0" anchor="ctr"/>
          <a:lstStyle/>
          <a:p>
            <a:pPr indent="0" marL="0">
              <a:buNone/>
            </a:pPr>
            <a:r>
              <a:rPr lang="en-US" sz="1300" b="1" dirty="0">
                <a:solidFill>
                  <a:srgbClr val="059669"/>
                </a:solidFill>
                <a:latin typeface="Cambria" pitchFamily="34" charset="0"/>
                <a:ea typeface="Cambria" pitchFamily="34" charset="-122"/>
                <a:cs typeface="Cambria" pitchFamily="34" charset="-120"/>
              </a:rPr>
              <a:t>Docker Volumes</a:t>
            </a:r>
            <a:endParaRPr lang="en-US" sz="1300" dirty="0"/>
          </a:p>
        </p:txBody>
      </p:sp>
      <p:sp>
        <p:nvSpPr>
          <p:cNvPr id="15" name="Text 13"/>
          <p:cNvSpPr/>
          <p:nvPr/>
        </p:nvSpPr>
        <p:spPr>
          <a:xfrm>
            <a:off x="3328416" y="2761488"/>
            <a:ext cx="2423160" cy="171907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Containers lose all data when removed. Volumes solve this — they persist data outside the container so your database survives restarts.</a:t>
            </a:r>
            <a:endParaRPr lang="en-US" sz="1100" dirty="0"/>
          </a:p>
        </p:txBody>
      </p:sp>
      <p:sp>
        <p:nvSpPr>
          <p:cNvPr id="16" name="Shape 14"/>
          <p:cNvSpPr/>
          <p:nvPr/>
        </p:nvSpPr>
        <p:spPr>
          <a:xfrm>
            <a:off x="6025896" y="1572768"/>
            <a:ext cx="2697480" cy="3035808"/>
          </a:xfrm>
          <a:prstGeom prst="roundRect">
            <a:avLst>
              <a:gd name="adj" fmla="val 3390"/>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6181344" y="1691640"/>
            <a:ext cx="54864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8" name="Text 16"/>
          <p:cNvSpPr/>
          <p:nvPr/>
        </p:nvSpPr>
        <p:spPr>
          <a:xfrm>
            <a:off x="6181344" y="2286000"/>
            <a:ext cx="2423160" cy="438912"/>
          </a:xfrm>
          <a:prstGeom prst="rect">
            <a:avLst/>
          </a:prstGeom>
          <a:noFill/>
          <a:ln/>
        </p:spPr>
        <p:txBody>
          <a:bodyPr wrap="square" lIns="0" tIns="0" rIns="0" bIns="0" rtlCol="0" anchor="ctr"/>
          <a:lstStyle/>
          <a:p>
            <a:pPr indent="0" marL="0">
              <a:buNone/>
            </a:pPr>
            <a:r>
              <a:rPr lang="en-US" sz="1300" b="1" dirty="0">
                <a:solidFill>
                  <a:srgbClr val="0DB7ED"/>
                </a:solidFill>
                <a:latin typeface="Cambria" pitchFamily="34" charset="0"/>
                <a:ea typeface="Cambria" pitchFamily="34" charset="-122"/>
                <a:cs typeface="Cambria" pitchFamily="34" charset="-120"/>
              </a:rPr>
              <a:t>Then — Kubernetes</a:t>
            </a:r>
            <a:endParaRPr lang="en-US" sz="1300" dirty="0"/>
          </a:p>
        </p:txBody>
      </p:sp>
      <p:sp>
        <p:nvSpPr>
          <p:cNvPr id="19" name="Text 17"/>
          <p:cNvSpPr/>
          <p:nvPr/>
        </p:nvSpPr>
        <p:spPr>
          <a:xfrm>
            <a:off x="6181344" y="2761488"/>
            <a:ext cx="2423160" cy="171907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Once you understand Docker images and containers, Kubernetes becomes the next step — orchestrating many containers at scale across many machines.</a:t>
            </a:r>
            <a:endParaRPr lang="en-US" sz="1100" dirty="0"/>
          </a:p>
        </p:txBody>
      </p:sp>
      <p:sp>
        <p:nvSpPr>
          <p:cNvPr id="20" name="Shape 18"/>
          <p:cNvSpPr/>
          <p:nvPr/>
        </p:nvSpPr>
        <p:spPr>
          <a:xfrm>
            <a:off x="0" y="4846320"/>
            <a:ext cx="9144000" cy="297180"/>
          </a:xfrm>
          <a:prstGeom prst="rect">
            <a:avLst/>
          </a:prstGeom>
          <a:solidFill>
            <a:srgbClr val="0F172A"/>
          </a:solidFill>
          <a:ln w="12700">
            <a:solidFill>
              <a:srgbClr val="0F172A"/>
            </a:solidFill>
            <a:prstDash val="solid"/>
          </a:ln>
        </p:spPr>
      </p:sp>
      <p:sp>
        <p:nvSpPr>
          <p:cNvPr id="21" name="Text 1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End of Section 04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Training - Trainer Guide Part 2</dc:title>
  <dc:subject>PptxGenJS Presentation</dc:subject>
  <dc:creator>PptxGenJS</dc:creator>
  <cp:lastModifiedBy>PptxGenJS</cp:lastModifiedBy>
  <cp:revision>1</cp:revision>
  <dcterms:created xsi:type="dcterms:W3CDTF">2026-07-01T12:04:51Z</dcterms:created>
  <dcterms:modified xsi:type="dcterms:W3CDTF">2026-07-01T12:04:51Z</dcterms:modified>
</cp:coreProperties>
</file>