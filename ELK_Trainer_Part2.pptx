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10:35 (after break)
Say: 'Now we go deep on Elasticsearch — the E in ELK. Everything else depends on understanding this. Elasticsearch is where all your data lives and where all your searches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10:35 – 10:48  (13 min)
LIVE DEMO — create your first index:
curl -X PUT 'http://localhost:9200/logs-training'
curl 'http://localhost:9200/_cat/indices?v'
Show students the response — the index is created with 1 shard and 1 replica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10:48 – 11:02  (14 min)
LIVE DEMO — index a document:
curl -X POST 'http://localhost:9200/apache-logs/_doc' -H 'Content-Type: application/json' -d '{"timestamp":"2024-01-25T10:15:32Z","status_code":200,"url":"/api/users"}'
Show the response: {"_index":"apache-logs","_id":"auto-generated-id","result":"created"}
Then retrieve it:
curl 'http://localhost:9200/apache-logs/_doc/&lt;id&gt;'
Key concept: 'Notice we never defined a schema first. Elasticsearch automatically detected that timestamp is a date, status_code is a number, and url is a string. This is called dynamic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11:02 – 11:15  (13 min)
The text vs keyword distinction is the most important concept in mappings.
text: 'GET /api/users HTTP/1.1' → tokenised into ['GET', 'api', 'users', 'HTTP', '1.1'] → you can search for any of those words
keyword: '200' stored as-is → exact match only → perfect for status codes, IPs, methods
Dual mapping: you can have both on the same field:
url: { type: 'text', fields: { keyword: { type: 'keyword' } } }
Now url searches text, url.keyword does exact match and aggregations.
View auto-generated mapping:
curl 'http://localhost:9200/apache-logs/_mapping' | python -m json.tool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11:15
Say: 'Now we understand what Elasticsearch stores and how. Next — how it scales. This is what makes Elasticsearch handle billions of documents across dozens of servers. Even if you run it on one machine for training, understanding the architecture helps you reason about performance and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11:15 – 11:28  (13 min)
LIVE DEMO — cluster health:
curl 'http://localhost:9200/_cluster/health?pretty'
curl 'http://localhost:9200/_cat/nodes?v'
curl 'http://localhost:9200/_cat/shards?v'
Cluster health colours:
Green: all shards assigned and available
Yellow: all primary shards assigned, some replica shards unassigned (common on single-node — no second node for replicas)
Red: some primary shards not assigned — data may be unavailable
In single-node training: status will be Yellow because there's no second node to host replica shards. This is expected — tell students it's normal for a single-node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11:28 – 11:42  (14 min)
Key analogy: 'Think of shards like chapters of a book. If a book has 3 chapters and 3 people read it simultaneously, each reads one chapter — 3x faster. Replicas are photocopies — if one copy gets damaged, you still have the others.'
For training (single node):
curl -X PUT 'http://localhost:9200/apache-logs' -H 'Content-Type: application/json' -d '{"settings":{"number_of_shards":1,"number_of_replicas":0}}'
Set replicas to 0 on single-node to get Green health status instead of Yellow.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11:42
Say: 'You know how data is stored. Now the most important skill — finding it. Elasticsearch has a powerful JSON-based query language called Query DSL. It looks verbose at first but has a consistent pattern once you understand the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11:42 – 11:52  (10 min)
LIVE DEMO in terminal:
curl -s 'http://localhost:9200/_cluster/health' | python -m json.tool
curl -s 'http://localhost:9200/_cat/indices?v'
curl -s 'http://localhost:9200/_cat/shards?v'
Pipe through python -m json.tool for pretty-printing JSON. Alternatively use jq if installed: curl -s ... | jq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11:52 – 12:00  (8 min then lunch)
LIVE DEMO — run each query type:
# match
curl -s -X POST 'http://localhost:9200/apache-logs/_search' -H 'Content-Type: application/json' -d '{"query":{"match_all":{}}}' | python -m json.tool
# term - find all 200 status codes
curl -s -X POST 'http://localhost:9200/apache-logs/_search' -H 'Content-Type: application/json' -d '{"query":{"term":{"status_code":200}}}'
# range - last hour
curl -s -X POST 'http://localhost:9200/apache-logs/_search' -H 'Content-Type: application/json' -d '{"query":{"range":{"@timestamp":{"gte":"now-1h"}}}}'
LUNCH: 12:00 – 13:00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AGGREGATIONS are what power Kibana charts. When students ask 'how does the bar chart know how many logs per hour?' — the answer is date_histogram aggregation.
You don't need to teach this explicitly — Kibana's Lens handles it visually on Day 2. But fast students who finish Lab 1 early can explore aggregations with curl.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Say this before lunch break.
'Elasticsearch morning done. After lunch: Logstash — how to build the pipeline that feeds Elasticsearch. Then Lab 1 where you put it all together. Come back ready to write some pipeline 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00BFB3"/>
          </a:solidFill>
          <a:ln w="12700">
            <a:solidFill>
              <a:srgbClr val="00BFB3"/>
            </a:solidFill>
            <a:prstDash val="solid"/>
          </a:ln>
        </p:spPr>
      </p:sp>
      <p:sp>
        <p:nvSpPr>
          <p:cNvPr id="3" name="Shape 1"/>
          <p:cNvSpPr/>
          <p:nvPr/>
        </p:nvSpPr>
        <p:spPr>
          <a:xfrm>
            <a:off x="5943600" y="-914400"/>
            <a:ext cx="4572000" cy="4572000"/>
          </a:xfrm>
          <a:prstGeom prst="ellipse">
            <a:avLst/>
          </a:prstGeom>
          <a:solidFill>
            <a:srgbClr val="00BFB3">
              <a:alpha val="10000"/>
            </a:srgbClr>
          </a:solidFill>
          <a:ln w="12700">
            <a:solidFill>
              <a:srgbClr val="00BFB3">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00BFB3"/>
                </a:solidFill>
                <a:latin typeface="Arial" pitchFamily="34" charset="0"/>
                <a:ea typeface="Arial" pitchFamily="34" charset="-122"/>
                <a:cs typeface="Arial" pitchFamily="34" charset="-120"/>
              </a:rPr>
              <a:t>SECTION 03</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Elasticsearch</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Fundamentals</a:t>
            </a:r>
            <a:endParaRPr lang="en-US" sz="44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Indices, documents, mappings and field types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ELASTICSEARCH — CORE CONCEPTS</a:t>
            </a:r>
            <a:endParaRPr lang="en-US" sz="2000" dirty="0"/>
          </a:p>
        </p:txBody>
      </p:sp>
      <p:sp>
        <p:nvSpPr>
          <p:cNvPr id="4" name="Shape 2"/>
          <p:cNvSpPr/>
          <p:nvPr/>
        </p:nvSpPr>
        <p:spPr>
          <a:xfrm>
            <a:off x="7178040" y="109728"/>
            <a:ext cx="1600200" cy="475488"/>
          </a:xfrm>
          <a:prstGeom prst="roundRect">
            <a:avLst>
              <a:gd name="adj" fmla="val 11538"/>
            </a:avLst>
          </a:prstGeom>
          <a:solidFill>
            <a:srgbClr val="00BFB3"/>
          </a:solidFill>
          <a:ln w="12700">
            <a:solidFill>
              <a:srgbClr val="00BFB3"/>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03  •  ES Fundamentals</a:t>
            </a:r>
            <a:endParaRPr lang="en-US" sz="950" dirty="0"/>
          </a:p>
        </p:txBody>
      </p:sp>
      <p:sp>
        <p:nvSpPr>
          <p:cNvPr id="6" name="Shape 4"/>
          <p:cNvSpPr/>
          <p:nvPr/>
        </p:nvSpPr>
        <p:spPr>
          <a:xfrm>
            <a:off x="320040" y="868680"/>
            <a:ext cx="8503920" cy="658368"/>
          </a:xfrm>
          <a:prstGeom prst="roundRect">
            <a:avLst>
              <a:gd name="adj" fmla="val 13889"/>
            </a:avLst>
          </a:prstGeom>
          <a:solidFill>
            <a:srgbClr val="E6FAF9"/>
          </a:solidFill>
          <a:ln w="12700">
            <a:solidFill>
              <a:srgbClr val="5EEAD4"/>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566928"/>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Elasticsearch stores data as JSON documents inside indices. Think of an index as a database table, and a document as a row — except every field in every document is automatically indexed for fast full-text search.</a:t>
            </a:r>
            <a:endParaRPr lang="en-US" sz="1250" dirty="0"/>
          </a:p>
        </p:txBody>
      </p:sp>
      <p:sp>
        <p:nvSpPr>
          <p:cNvPr id="8" name="Text 6"/>
          <p:cNvSpPr/>
          <p:nvPr/>
        </p:nvSpPr>
        <p:spPr>
          <a:xfrm>
            <a:off x="320040" y="1664208"/>
            <a:ext cx="4572000" cy="292608"/>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Relational DB → Elasticsearch Mapping</a:t>
            </a:r>
            <a:endParaRPr lang="en-US" sz="1200" dirty="0"/>
          </a:p>
        </p:txBody>
      </p:sp>
      <p:sp>
        <p:nvSpPr>
          <p:cNvPr id="9" name="Shape 7"/>
          <p:cNvSpPr/>
          <p:nvPr/>
        </p:nvSpPr>
        <p:spPr>
          <a:xfrm>
            <a:off x="320040" y="2011680"/>
            <a:ext cx="8503920" cy="329184"/>
          </a:xfrm>
          <a:prstGeom prst="rect">
            <a:avLst/>
          </a:prstGeom>
          <a:solidFill>
            <a:srgbClr val="0F172A"/>
          </a:solidFill>
          <a:ln w="12700">
            <a:solidFill>
              <a:srgbClr val="0F172A"/>
            </a:solidFill>
            <a:prstDash val="solid"/>
          </a:ln>
        </p:spPr>
      </p:sp>
      <p:sp>
        <p:nvSpPr>
          <p:cNvPr id="10" name="Text 8"/>
          <p:cNvSpPr/>
          <p:nvPr/>
        </p:nvSpPr>
        <p:spPr>
          <a:xfrm>
            <a:off x="411480" y="2039112"/>
            <a:ext cx="1938528"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SQL / Relational</a:t>
            </a:r>
            <a:endParaRPr lang="en-US" sz="1050" dirty="0"/>
          </a:p>
        </p:txBody>
      </p:sp>
      <p:sp>
        <p:nvSpPr>
          <p:cNvPr id="11" name="Text 9"/>
          <p:cNvSpPr/>
          <p:nvPr/>
        </p:nvSpPr>
        <p:spPr>
          <a:xfrm>
            <a:off x="2423160" y="2039112"/>
            <a:ext cx="1938528"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Elasticsearch</a:t>
            </a:r>
            <a:endParaRPr lang="en-US" sz="1050" dirty="0"/>
          </a:p>
        </p:txBody>
      </p:sp>
      <p:sp>
        <p:nvSpPr>
          <p:cNvPr id="12" name="Text 10"/>
          <p:cNvSpPr/>
          <p:nvPr/>
        </p:nvSpPr>
        <p:spPr>
          <a:xfrm>
            <a:off x="4434840" y="2039112"/>
            <a:ext cx="4315968"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Description</a:t>
            </a:r>
            <a:endParaRPr lang="en-US" sz="1050" dirty="0"/>
          </a:p>
        </p:txBody>
      </p:sp>
      <p:sp>
        <p:nvSpPr>
          <p:cNvPr id="13" name="Shape 11"/>
          <p:cNvSpPr/>
          <p:nvPr/>
        </p:nvSpPr>
        <p:spPr>
          <a:xfrm>
            <a:off x="320040" y="2377440"/>
            <a:ext cx="8503920" cy="329184"/>
          </a:xfrm>
          <a:prstGeom prst="rect">
            <a:avLst/>
          </a:prstGeom>
          <a:solidFill>
            <a:srgbClr val="FFFFFF"/>
          </a:solidFill>
          <a:ln w="12700">
            <a:solidFill>
              <a:srgbClr val="E2E8F0"/>
            </a:solidFill>
            <a:prstDash val="solid"/>
          </a:ln>
        </p:spPr>
      </p:sp>
      <p:sp>
        <p:nvSpPr>
          <p:cNvPr id="14" name="Text 12"/>
          <p:cNvSpPr/>
          <p:nvPr/>
        </p:nvSpPr>
        <p:spPr>
          <a:xfrm>
            <a:off x="411480" y="2423160"/>
            <a:ext cx="1938528" cy="237744"/>
          </a:xfrm>
          <a:prstGeom prst="rect">
            <a:avLst/>
          </a:prstGeom>
          <a:noFill/>
          <a:ln/>
        </p:spPr>
        <p:txBody>
          <a:bodyPr wrap="square" lIns="0" tIns="0" rIns="0" bIns="0" rtlCol="0" anchor="ctr"/>
          <a:lstStyle/>
          <a:p>
            <a:pPr indent="0" marL="0">
              <a:buNone/>
            </a:pPr>
            <a:r>
              <a:rPr lang="en-US" sz="1000" b="1" dirty="0">
                <a:solidFill>
                  <a:srgbClr val="475569"/>
                </a:solidFill>
                <a:latin typeface="Arial" pitchFamily="34" charset="0"/>
                <a:ea typeface="Arial" pitchFamily="34" charset="-122"/>
                <a:cs typeface="Arial" pitchFamily="34" charset="-120"/>
              </a:rPr>
              <a:t>Database</a:t>
            </a:r>
            <a:endParaRPr lang="en-US" sz="1000" dirty="0"/>
          </a:p>
        </p:txBody>
      </p:sp>
      <p:sp>
        <p:nvSpPr>
          <p:cNvPr id="15" name="Text 13"/>
          <p:cNvSpPr/>
          <p:nvPr/>
        </p:nvSpPr>
        <p:spPr>
          <a:xfrm>
            <a:off x="2423160" y="2423160"/>
            <a:ext cx="1938528" cy="237744"/>
          </a:xfrm>
          <a:prstGeom prst="rect">
            <a:avLst/>
          </a:prstGeom>
          <a:noFill/>
          <a:ln/>
        </p:spPr>
        <p:txBody>
          <a:bodyPr wrap="square" lIns="0" tIns="0" rIns="0" bIns="0" rtlCol="0" anchor="ctr"/>
          <a:lstStyle/>
          <a:p>
            <a:pPr indent="0" marL="0">
              <a:buNone/>
            </a:pPr>
            <a:r>
              <a:rPr lang="en-US" sz="1000" b="1" dirty="0">
                <a:solidFill>
                  <a:srgbClr val="00BFB3"/>
                </a:solidFill>
                <a:latin typeface="Courier New" pitchFamily="34" charset="0"/>
                <a:ea typeface="Courier New" pitchFamily="34" charset="-122"/>
                <a:cs typeface="Courier New" pitchFamily="34" charset="-120"/>
              </a:rPr>
              <a:t>Index</a:t>
            </a:r>
            <a:endParaRPr lang="en-US" sz="1000" dirty="0"/>
          </a:p>
        </p:txBody>
      </p:sp>
      <p:sp>
        <p:nvSpPr>
          <p:cNvPr id="16" name="Text 14"/>
          <p:cNvSpPr/>
          <p:nvPr/>
        </p:nvSpPr>
        <p:spPr>
          <a:xfrm>
            <a:off x="4434840" y="2423160"/>
            <a:ext cx="4315968"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Top-level container for related data</a:t>
            </a:r>
            <a:endParaRPr lang="en-US" sz="1000" dirty="0"/>
          </a:p>
        </p:txBody>
      </p:sp>
      <p:sp>
        <p:nvSpPr>
          <p:cNvPr id="17" name="Shape 15"/>
          <p:cNvSpPr/>
          <p:nvPr/>
        </p:nvSpPr>
        <p:spPr>
          <a:xfrm>
            <a:off x="320040" y="2724912"/>
            <a:ext cx="8503920" cy="329184"/>
          </a:xfrm>
          <a:prstGeom prst="rect">
            <a:avLst/>
          </a:prstGeom>
          <a:solidFill>
            <a:srgbClr val="F1F5F9"/>
          </a:solidFill>
          <a:ln w="12700">
            <a:solidFill>
              <a:srgbClr val="E2E8F0"/>
            </a:solidFill>
            <a:prstDash val="solid"/>
          </a:ln>
        </p:spPr>
      </p:sp>
      <p:sp>
        <p:nvSpPr>
          <p:cNvPr id="18" name="Text 16"/>
          <p:cNvSpPr/>
          <p:nvPr/>
        </p:nvSpPr>
        <p:spPr>
          <a:xfrm>
            <a:off x="411480" y="2770632"/>
            <a:ext cx="1938528" cy="237744"/>
          </a:xfrm>
          <a:prstGeom prst="rect">
            <a:avLst/>
          </a:prstGeom>
          <a:noFill/>
          <a:ln/>
        </p:spPr>
        <p:txBody>
          <a:bodyPr wrap="square" lIns="0" tIns="0" rIns="0" bIns="0" rtlCol="0" anchor="ctr"/>
          <a:lstStyle/>
          <a:p>
            <a:pPr indent="0" marL="0">
              <a:buNone/>
            </a:pPr>
            <a:r>
              <a:rPr lang="en-US" sz="1000" b="1" dirty="0">
                <a:solidFill>
                  <a:srgbClr val="475569"/>
                </a:solidFill>
                <a:latin typeface="Arial" pitchFamily="34" charset="0"/>
                <a:ea typeface="Arial" pitchFamily="34" charset="-122"/>
                <a:cs typeface="Arial" pitchFamily="34" charset="-120"/>
              </a:rPr>
              <a:t>Table</a:t>
            </a:r>
            <a:endParaRPr lang="en-US" sz="1000" dirty="0"/>
          </a:p>
        </p:txBody>
      </p:sp>
      <p:sp>
        <p:nvSpPr>
          <p:cNvPr id="19" name="Text 17"/>
          <p:cNvSpPr/>
          <p:nvPr/>
        </p:nvSpPr>
        <p:spPr>
          <a:xfrm>
            <a:off x="2423160" y="2770632"/>
            <a:ext cx="1938528" cy="237744"/>
          </a:xfrm>
          <a:prstGeom prst="rect">
            <a:avLst/>
          </a:prstGeom>
          <a:noFill/>
          <a:ln/>
        </p:spPr>
        <p:txBody>
          <a:bodyPr wrap="square" lIns="0" tIns="0" rIns="0" bIns="0" rtlCol="0" anchor="ctr"/>
          <a:lstStyle/>
          <a:p>
            <a:pPr indent="0" marL="0">
              <a:buNone/>
            </a:pPr>
            <a:r>
              <a:rPr lang="en-US" sz="1000" b="1" dirty="0">
                <a:solidFill>
                  <a:srgbClr val="00BFB3"/>
                </a:solidFill>
                <a:latin typeface="Courier New" pitchFamily="34" charset="0"/>
                <a:ea typeface="Courier New" pitchFamily="34" charset="-122"/>
                <a:cs typeface="Courier New" pitchFamily="34" charset="-120"/>
              </a:rPr>
              <a:t>Mapping Type (deprecated in 8.x)</a:t>
            </a:r>
            <a:endParaRPr lang="en-US" sz="1000" dirty="0"/>
          </a:p>
        </p:txBody>
      </p:sp>
      <p:sp>
        <p:nvSpPr>
          <p:cNvPr id="20" name="Text 18"/>
          <p:cNvSpPr/>
          <p:nvPr/>
        </p:nvSpPr>
        <p:spPr>
          <a:xfrm>
            <a:off x="4434840" y="2770632"/>
            <a:ext cx="4315968"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Type system removed — one index, one doc type</a:t>
            </a:r>
            <a:endParaRPr lang="en-US" sz="1000" dirty="0"/>
          </a:p>
        </p:txBody>
      </p:sp>
      <p:sp>
        <p:nvSpPr>
          <p:cNvPr id="21" name="Shape 19"/>
          <p:cNvSpPr/>
          <p:nvPr/>
        </p:nvSpPr>
        <p:spPr>
          <a:xfrm>
            <a:off x="320040" y="3072384"/>
            <a:ext cx="8503920" cy="329184"/>
          </a:xfrm>
          <a:prstGeom prst="rect">
            <a:avLst/>
          </a:prstGeom>
          <a:solidFill>
            <a:srgbClr val="FFFFFF"/>
          </a:solidFill>
          <a:ln w="12700">
            <a:solidFill>
              <a:srgbClr val="E2E8F0"/>
            </a:solidFill>
            <a:prstDash val="solid"/>
          </a:ln>
        </p:spPr>
      </p:sp>
      <p:sp>
        <p:nvSpPr>
          <p:cNvPr id="22" name="Text 20"/>
          <p:cNvSpPr/>
          <p:nvPr/>
        </p:nvSpPr>
        <p:spPr>
          <a:xfrm>
            <a:off x="411480" y="3118104"/>
            <a:ext cx="1938528" cy="237744"/>
          </a:xfrm>
          <a:prstGeom prst="rect">
            <a:avLst/>
          </a:prstGeom>
          <a:noFill/>
          <a:ln/>
        </p:spPr>
        <p:txBody>
          <a:bodyPr wrap="square" lIns="0" tIns="0" rIns="0" bIns="0" rtlCol="0" anchor="ctr"/>
          <a:lstStyle/>
          <a:p>
            <a:pPr indent="0" marL="0">
              <a:buNone/>
            </a:pPr>
            <a:r>
              <a:rPr lang="en-US" sz="1000" b="1" dirty="0">
                <a:solidFill>
                  <a:srgbClr val="475569"/>
                </a:solidFill>
                <a:latin typeface="Arial" pitchFamily="34" charset="0"/>
                <a:ea typeface="Arial" pitchFamily="34" charset="-122"/>
                <a:cs typeface="Arial" pitchFamily="34" charset="-120"/>
              </a:rPr>
              <a:t>Row</a:t>
            </a:r>
            <a:endParaRPr lang="en-US" sz="1000" dirty="0"/>
          </a:p>
        </p:txBody>
      </p:sp>
      <p:sp>
        <p:nvSpPr>
          <p:cNvPr id="23" name="Text 21"/>
          <p:cNvSpPr/>
          <p:nvPr/>
        </p:nvSpPr>
        <p:spPr>
          <a:xfrm>
            <a:off x="2423160" y="3118104"/>
            <a:ext cx="1938528" cy="237744"/>
          </a:xfrm>
          <a:prstGeom prst="rect">
            <a:avLst/>
          </a:prstGeom>
          <a:noFill/>
          <a:ln/>
        </p:spPr>
        <p:txBody>
          <a:bodyPr wrap="square" lIns="0" tIns="0" rIns="0" bIns="0" rtlCol="0" anchor="ctr"/>
          <a:lstStyle/>
          <a:p>
            <a:pPr indent="0" marL="0">
              <a:buNone/>
            </a:pPr>
            <a:r>
              <a:rPr lang="en-US" sz="1000" b="1" dirty="0">
                <a:solidFill>
                  <a:srgbClr val="00BFB3"/>
                </a:solidFill>
                <a:latin typeface="Courier New" pitchFamily="34" charset="0"/>
                <a:ea typeface="Courier New" pitchFamily="34" charset="-122"/>
                <a:cs typeface="Courier New" pitchFamily="34" charset="-120"/>
              </a:rPr>
              <a:t>Document</a:t>
            </a:r>
            <a:endParaRPr lang="en-US" sz="1000" dirty="0"/>
          </a:p>
        </p:txBody>
      </p:sp>
      <p:sp>
        <p:nvSpPr>
          <p:cNvPr id="24" name="Text 22"/>
          <p:cNvSpPr/>
          <p:nvPr/>
        </p:nvSpPr>
        <p:spPr>
          <a:xfrm>
            <a:off x="4434840" y="3118104"/>
            <a:ext cx="4315968"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A single JSON record — one log line, one event</a:t>
            </a:r>
            <a:endParaRPr lang="en-US" sz="1000" dirty="0"/>
          </a:p>
        </p:txBody>
      </p:sp>
      <p:sp>
        <p:nvSpPr>
          <p:cNvPr id="25" name="Shape 23"/>
          <p:cNvSpPr/>
          <p:nvPr/>
        </p:nvSpPr>
        <p:spPr>
          <a:xfrm>
            <a:off x="320040" y="3419856"/>
            <a:ext cx="8503920" cy="329184"/>
          </a:xfrm>
          <a:prstGeom prst="rect">
            <a:avLst/>
          </a:prstGeom>
          <a:solidFill>
            <a:srgbClr val="F1F5F9"/>
          </a:solidFill>
          <a:ln w="12700">
            <a:solidFill>
              <a:srgbClr val="E2E8F0"/>
            </a:solidFill>
            <a:prstDash val="solid"/>
          </a:ln>
        </p:spPr>
      </p:sp>
      <p:sp>
        <p:nvSpPr>
          <p:cNvPr id="26" name="Text 24"/>
          <p:cNvSpPr/>
          <p:nvPr/>
        </p:nvSpPr>
        <p:spPr>
          <a:xfrm>
            <a:off x="411480" y="3465576"/>
            <a:ext cx="1938528" cy="237744"/>
          </a:xfrm>
          <a:prstGeom prst="rect">
            <a:avLst/>
          </a:prstGeom>
          <a:noFill/>
          <a:ln/>
        </p:spPr>
        <p:txBody>
          <a:bodyPr wrap="square" lIns="0" tIns="0" rIns="0" bIns="0" rtlCol="0" anchor="ctr"/>
          <a:lstStyle/>
          <a:p>
            <a:pPr indent="0" marL="0">
              <a:buNone/>
            </a:pPr>
            <a:r>
              <a:rPr lang="en-US" sz="1000" b="1" dirty="0">
                <a:solidFill>
                  <a:srgbClr val="475569"/>
                </a:solidFill>
                <a:latin typeface="Arial" pitchFamily="34" charset="0"/>
                <a:ea typeface="Arial" pitchFamily="34" charset="-122"/>
                <a:cs typeface="Arial" pitchFamily="34" charset="-120"/>
              </a:rPr>
              <a:t>Column</a:t>
            </a:r>
            <a:endParaRPr lang="en-US" sz="1000" dirty="0"/>
          </a:p>
        </p:txBody>
      </p:sp>
      <p:sp>
        <p:nvSpPr>
          <p:cNvPr id="27" name="Text 25"/>
          <p:cNvSpPr/>
          <p:nvPr/>
        </p:nvSpPr>
        <p:spPr>
          <a:xfrm>
            <a:off x="2423160" y="3465576"/>
            <a:ext cx="1938528" cy="237744"/>
          </a:xfrm>
          <a:prstGeom prst="rect">
            <a:avLst/>
          </a:prstGeom>
          <a:noFill/>
          <a:ln/>
        </p:spPr>
        <p:txBody>
          <a:bodyPr wrap="square" lIns="0" tIns="0" rIns="0" bIns="0" rtlCol="0" anchor="ctr"/>
          <a:lstStyle/>
          <a:p>
            <a:pPr indent="0" marL="0">
              <a:buNone/>
            </a:pPr>
            <a:r>
              <a:rPr lang="en-US" sz="1000" b="1" dirty="0">
                <a:solidFill>
                  <a:srgbClr val="00BFB3"/>
                </a:solidFill>
                <a:latin typeface="Courier New" pitchFamily="34" charset="0"/>
                <a:ea typeface="Courier New" pitchFamily="34" charset="-122"/>
                <a:cs typeface="Courier New" pitchFamily="34" charset="-120"/>
              </a:rPr>
              <a:t>Field</a:t>
            </a:r>
            <a:endParaRPr lang="en-US" sz="1000" dirty="0"/>
          </a:p>
        </p:txBody>
      </p:sp>
      <p:sp>
        <p:nvSpPr>
          <p:cNvPr id="28" name="Text 26"/>
          <p:cNvSpPr/>
          <p:nvPr/>
        </p:nvSpPr>
        <p:spPr>
          <a:xfrm>
            <a:off x="4434840" y="3465576"/>
            <a:ext cx="4315968"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A key-value pair inside the document</a:t>
            </a:r>
            <a:endParaRPr lang="en-US" sz="1000" dirty="0"/>
          </a:p>
        </p:txBody>
      </p:sp>
      <p:sp>
        <p:nvSpPr>
          <p:cNvPr id="29" name="Shape 27"/>
          <p:cNvSpPr/>
          <p:nvPr/>
        </p:nvSpPr>
        <p:spPr>
          <a:xfrm>
            <a:off x="320040" y="3767328"/>
            <a:ext cx="8503920" cy="329184"/>
          </a:xfrm>
          <a:prstGeom prst="rect">
            <a:avLst/>
          </a:prstGeom>
          <a:solidFill>
            <a:srgbClr val="FFFFFF"/>
          </a:solidFill>
          <a:ln w="12700">
            <a:solidFill>
              <a:srgbClr val="E2E8F0"/>
            </a:solidFill>
            <a:prstDash val="solid"/>
          </a:ln>
        </p:spPr>
      </p:sp>
      <p:sp>
        <p:nvSpPr>
          <p:cNvPr id="30" name="Text 28"/>
          <p:cNvSpPr/>
          <p:nvPr/>
        </p:nvSpPr>
        <p:spPr>
          <a:xfrm>
            <a:off x="411480" y="3813048"/>
            <a:ext cx="1938528" cy="237744"/>
          </a:xfrm>
          <a:prstGeom prst="rect">
            <a:avLst/>
          </a:prstGeom>
          <a:noFill/>
          <a:ln/>
        </p:spPr>
        <p:txBody>
          <a:bodyPr wrap="square" lIns="0" tIns="0" rIns="0" bIns="0" rtlCol="0" anchor="ctr"/>
          <a:lstStyle/>
          <a:p>
            <a:pPr indent="0" marL="0">
              <a:buNone/>
            </a:pPr>
            <a:r>
              <a:rPr lang="en-US" sz="1000" b="1" dirty="0">
                <a:solidFill>
                  <a:srgbClr val="475569"/>
                </a:solidFill>
                <a:latin typeface="Arial" pitchFamily="34" charset="0"/>
                <a:ea typeface="Arial" pitchFamily="34" charset="-122"/>
                <a:cs typeface="Arial" pitchFamily="34" charset="-120"/>
              </a:rPr>
              <a:t>Schema</a:t>
            </a:r>
            <a:endParaRPr lang="en-US" sz="1000" dirty="0"/>
          </a:p>
        </p:txBody>
      </p:sp>
      <p:sp>
        <p:nvSpPr>
          <p:cNvPr id="31" name="Text 29"/>
          <p:cNvSpPr/>
          <p:nvPr/>
        </p:nvSpPr>
        <p:spPr>
          <a:xfrm>
            <a:off x="2423160" y="3813048"/>
            <a:ext cx="1938528" cy="237744"/>
          </a:xfrm>
          <a:prstGeom prst="rect">
            <a:avLst/>
          </a:prstGeom>
          <a:noFill/>
          <a:ln/>
        </p:spPr>
        <p:txBody>
          <a:bodyPr wrap="square" lIns="0" tIns="0" rIns="0" bIns="0" rtlCol="0" anchor="ctr"/>
          <a:lstStyle/>
          <a:p>
            <a:pPr indent="0" marL="0">
              <a:buNone/>
            </a:pPr>
            <a:r>
              <a:rPr lang="en-US" sz="1000" b="1" dirty="0">
                <a:solidFill>
                  <a:srgbClr val="00BFB3"/>
                </a:solidFill>
                <a:latin typeface="Courier New" pitchFamily="34" charset="0"/>
                <a:ea typeface="Courier New" pitchFamily="34" charset="-122"/>
                <a:cs typeface="Courier New" pitchFamily="34" charset="-120"/>
              </a:rPr>
              <a:t>Mapping</a:t>
            </a:r>
            <a:endParaRPr lang="en-US" sz="1000" dirty="0"/>
          </a:p>
        </p:txBody>
      </p:sp>
      <p:sp>
        <p:nvSpPr>
          <p:cNvPr id="32" name="Text 30"/>
          <p:cNvSpPr/>
          <p:nvPr/>
        </p:nvSpPr>
        <p:spPr>
          <a:xfrm>
            <a:off x="4434840" y="3813048"/>
            <a:ext cx="4315968"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Definition of field names and their data types</a:t>
            </a:r>
            <a:endParaRPr lang="en-US" sz="1000" dirty="0"/>
          </a:p>
        </p:txBody>
      </p:sp>
      <p:sp>
        <p:nvSpPr>
          <p:cNvPr id="33" name="Shape 31"/>
          <p:cNvSpPr/>
          <p:nvPr/>
        </p:nvSpPr>
        <p:spPr>
          <a:xfrm>
            <a:off x="320040" y="4114800"/>
            <a:ext cx="8503920" cy="329184"/>
          </a:xfrm>
          <a:prstGeom prst="rect">
            <a:avLst/>
          </a:prstGeom>
          <a:solidFill>
            <a:srgbClr val="F1F5F9"/>
          </a:solidFill>
          <a:ln w="12700">
            <a:solidFill>
              <a:srgbClr val="E2E8F0"/>
            </a:solidFill>
            <a:prstDash val="solid"/>
          </a:ln>
        </p:spPr>
      </p:sp>
      <p:sp>
        <p:nvSpPr>
          <p:cNvPr id="34" name="Text 32"/>
          <p:cNvSpPr/>
          <p:nvPr/>
        </p:nvSpPr>
        <p:spPr>
          <a:xfrm>
            <a:off x="411480" y="4160520"/>
            <a:ext cx="1938528" cy="237744"/>
          </a:xfrm>
          <a:prstGeom prst="rect">
            <a:avLst/>
          </a:prstGeom>
          <a:noFill/>
          <a:ln/>
        </p:spPr>
        <p:txBody>
          <a:bodyPr wrap="square" lIns="0" tIns="0" rIns="0" bIns="0" rtlCol="0" anchor="ctr"/>
          <a:lstStyle/>
          <a:p>
            <a:pPr indent="0" marL="0">
              <a:buNone/>
            </a:pPr>
            <a:r>
              <a:rPr lang="en-US" sz="1000" b="1" dirty="0">
                <a:solidFill>
                  <a:srgbClr val="475569"/>
                </a:solidFill>
                <a:latin typeface="Arial" pitchFamily="34" charset="0"/>
                <a:ea typeface="Arial" pitchFamily="34" charset="-122"/>
                <a:cs typeface="Arial" pitchFamily="34" charset="-120"/>
              </a:rPr>
              <a:t>SQL Query</a:t>
            </a:r>
            <a:endParaRPr lang="en-US" sz="1000" dirty="0"/>
          </a:p>
        </p:txBody>
      </p:sp>
      <p:sp>
        <p:nvSpPr>
          <p:cNvPr id="35" name="Text 33"/>
          <p:cNvSpPr/>
          <p:nvPr/>
        </p:nvSpPr>
        <p:spPr>
          <a:xfrm>
            <a:off x="2423160" y="4160520"/>
            <a:ext cx="1938528" cy="237744"/>
          </a:xfrm>
          <a:prstGeom prst="rect">
            <a:avLst/>
          </a:prstGeom>
          <a:noFill/>
          <a:ln/>
        </p:spPr>
        <p:txBody>
          <a:bodyPr wrap="square" lIns="0" tIns="0" rIns="0" bIns="0" rtlCol="0" anchor="ctr"/>
          <a:lstStyle/>
          <a:p>
            <a:pPr indent="0" marL="0">
              <a:buNone/>
            </a:pPr>
            <a:r>
              <a:rPr lang="en-US" sz="1000" b="1" dirty="0">
                <a:solidFill>
                  <a:srgbClr val="00BFB3"/>
                </a:solidFill>
                <a:latin typeface="Courier New" pitchFamily="34" charset="0"/>
                <a:ea typeface="Courier New" pitchFamily="34" charset="-122"/>
                <a:cs typeface="Courier New" pitchFamily="34" charset="-120"/>
              </a:rPr>
              <a:t>Query DSL</a:t>
            </a:r>
            <a:endParaRPr lang="en-US" sz="1000" dirty="0"/>
          </a:p>
        </p:txBody>
      </p:sp>
      <p:sp>
        <p:nvSpPr>
          <p:cNvPr id="36" name="Text 34"/>
          <p:cNvSpPr/>
          <p:nvPr/>
        </p:nvSpPr>
        <p:spPr>
          <a:xfrm>
            <a:off x="4434840" y="4160520"/>
            <a:ext cx="4315968"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JSON-based query language for searching documents</a:t>
            </a:r>
            <a:endParaRPr lang="en-US" sz="1000" dirty="0"/>
          </a:p>
        </p:txBody>
      </p:sp>
      <p:sp>
        <p:nvSpPr>
          <p:cNvPr id="37" name="Shape 35"/>
          <p:cNvSpPr/>
          <p:nvPr/>
        </p:nvSpPr>
        <p:spPr>
          <a:xfrm>
            <a:off x="320040" y="4681728"/>
            <a:ext cx="8503920" cy="384048"/>
          </a:xfrm>
          <a:prstGeom prst="roundRect">
            <a:avLst>
              <a:gd name="adj" fmla="val 23810"/>
            </a:avLst>
          </a:prstGeom>
          <a:solidFill>
            <a:srgbClr val="FFF7ED"/>
          </a:solidFill>
          <a:ln w="12700">
            <a:solidFill>
              <a:srgbClr val="FED7AA"/>
            </a:solidFill>
            <a:prstDash val="solid"/>
          </a:ln>
          <a:effectLst>
            <a:outerShdw sx="100000" sy="100000" kx="0" ky="0" algn="bl" rotWithShape="0" blurRad="76200" dist="38100" dir="2700000">
              <a:srgbClr val="000000">
                <a:alpha val="10000"/>
              </a:srgbClr>
            </a:outerShdw>
          </a:effectLst>
        </p:spPr>
      </p:sp>
      <p:sp>
        <p:nvSpPr>
          <p:cNvPr id="38" name="Text 36"/>
          <p:cNvSpPr/>
          <p:nvPr/>
        </p:nvSpPr>
        <p:spPr>
          <a:xfrm>
            <a:off x="457200" y="4773168"/>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a:t>
            </a:r>
            <a:endParaRPr lang="en-US" sz="1000" dirty="0"/>
          </a:p>
        </p:txBody>
      </p:sp>
      <p:sp>
        <p:nvSpPr>
          <p:cNvPr id="39" name="Text 37"/>
          <p:cNvSpPr/>
          <p:nvPr/>
        </p:nvSpPr>
        <p:spPr>
          <a:xfrm>
            <a:off x="457200" y="5065776"/>
            <a:ext cx="8229600" cy="-118872"/>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This comparison helps students who come from SQL backgrounds. Repeat as needed — 'Index = database, Document = row, Field = column'. It clicks quickly.</a:t>
            </a:r>
            <a:endParaRPr lang="en-US" sz="1000" dirty="0"/>
          </a:p>
        </p:txBody>
      </p:sp>
      <p:sp>
        <p:nvSpPr>
          <p:cNvPr id="40" name="Shape 38"/>
          <p:cNvSpPr/>
          <p:nvPr/>
        </p:nvSpPr>
        <p:spPr>
          <a:xfrm>
            <a:off x="0" y="4846320"/>
            <a:ext cx="9144000" cy="297180"/>
          </a:xfrm>
          <a:prstGeom prst="rect">
            <a:avLst/>
          </a:prstGeom>
          <a:solidFill>
            <a:srgbClr val="0F172A"/>
          </a:solidFill>
          <a:ln w="12700">
            <a:solidFill>
              <a:srgbClr val="0F172A"/>
            </a:solidFill>
            <a:prstDash val="solid"/>
          </a:ln>
        </p:spPr>
      </p:sp>
      <p:sp>
        <p:nvSpPr>
          <p:cNvPr id="41" name="Text 3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03: Elasticsearch Fundamentals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DOCUMENTS &amp; INDICES</a:t>
            </a:r>
            <a:endParaRPr lang="en-US" sz="2000" dirty="0"/>
          </a:p>
        </p:txBody>
      </p:sp>
      <p:sp>
        <p:nvSpPr>
          <p:cNvPr id="4" name="Shape 2"/>
          <p:cNvSpPr/>
          <p:nvPr/>
        </p:nvSpPr>
        <p:spPr>
          <a:xfrm>
            <a:off x="7178040" y="109728"/>
            <a:ext cx="1600200" cy="475488"/>
          </a:xfrm>
          <a:prstGeom prst="roundRect">
            <a:avLst>
              <a:gd name="adj" fmla="val 11538"/>
            </a:avLst>
          </a:prstGeom>
          <a:solidFill>
            <a:srgbClr val="00BFB3"/>
          </a:solidFill>
          <a:ln w="12700">
            <a:solidFill>
              <a:srgbClr val="00BFB3"/>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03  •  ES Fundamentals</a:t>
            </a:r>
            <a:endParaRPr lang="en-US" sz="950" dirty="0"/>
          </a:p>
        </p:txBody>
      </p:sp>
      <p:sp>
        <p:nvSpPr>
          <p:cNvPr id="6" name="Text 4"/>
          <p:cNvSpPr/>
          <p:nvPr/>
        </p:nvSpPr>
        <p:spPr>
          <a:xfrm>
            <a:off x="320040" y="868680"/>
            <a:ext cx="8229600" cy="292608"/>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A Document — JSON in Elasticsearch</a:t>
            </a:r>
            <a:endParaRPr lang="en-US" sz="1300" dirty="0"/>
          </a:p>
        </p:txBody>
      </p:sp>
      <p:sp>
        <p:nvSpPr>
          <p:cNvPr id="7" name="Shape 5"/>
          <p:cNvSpPr/>
          <p:nvPr/>
        </p:nvSpPr>
        <p:spPr>
          <a:xfrm>
            <a:off x="320040" y="1234440"/>
            <a:ext cx="4251960" cy="3364992"/>
          </a:xfrm>
          <a:prstGeom prst="roundRect">
            <a:avLst>
              <a:gd name="adj" fmla="val 2717"/>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8" name="Text 6"/>
          <p:cNvSpPr/>
          <p:nvPr/>
        </p:nvSpPr>
        <p:spPr>
          <a:xfrm>
            <a:off x="475488" y="1307592"/>
            <a:ext cx="394106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A single log document</a:t>
            </a:r>
            <a:endParaRPr lang="en-US" sz="900" dirty="0"/>
          </a:p>
        </p:txBody>
      </p:sp>
      <p:sp>
        <p:nvSpPr>
          <p:cNvPr id="9" name="Text 7"/>
          <p:cNvSpPr/>
          <p:nvPr/>
        </p:nvSpPr>
        <p:spPr>
          <a:xfrm>
            <a:off x="475488" y="1545336"/>
            <a:ext cx="3941064" cy="201168"/>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a:t>
            </a:r>
            <a:endParaRPr lang="en-US" sz="950" dirty="0"/>
          </a:p>
        </p:txBody>
      </p:sp>
      <p:sp>
        <p:nvSpPr>
          <p:cNvPr id="10" name="Text 8"/>
          <p:cNvSpPr/>
          <p:nvPr/>
        </p:nvSpPr>
        <p:spPr>
          <a:xfrm>
            <a:off x="475488" y="1741932"/>
            <a:ext cx="3941064" cy="201168"/>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  "_index": "apache-logs",</a:t>
            </a:r>
            <a:endParaRPr lang="en-US" sz="950" dirty="0"/>
          </a:p>
        </p:txBody>
      </p:sp>
      <p:sp>
        <p:nvSpPr>
          <p:cNvPr id="11" name="Text 9"/>
          <p:cNvSpPr/>
          <p:nvPr/>
        </p:nvSpPr>
        <p:spPr>
          <a:xfrm>
            <a:off x="475488" y="1938528"/>
            <a:ext cx="3941064" cy="201168"/>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  "_id": "1",</a:t>
            </a:r>
            <a:endParaRPr lang="en-US" sz="950" dirty="0"/>
          </a:p>
        </p:txBody>
      </p:sp>
      <p:sp>
        <p:nvSpPr>
          <p:cNvPr id="12" name="Text 10"/>
          <p:cNvSpPr/>
          <p:nvPr/>
        </p:nvSpPr>
        <p:spPr>
          <a:xfrm>
            <a:off x="475488" y="2135124"/>
            <a:ext cx="394106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"_source": {</a:t>
            </a:r>
            <a:endParaRPr lang="en-US" sz="950" dirty="0"/>
          </a:p>
        </p:txBody>
      </p:sp>
      <p:sp>
        <p:nvSpPr>
          <p:cNvPr id="13" name="Text 11"/>
          <p:cNvSpPr/>
          <p:nvPr/>
        </p:nvSpPr>
        <p:spPr>
          <a:xfrm>
            <a:off x="475488" y="2331720"/>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"timestamp": "2024-01-25T10:15:32Z",</a:t>
            </a:r>
            <a:endParaRPr lang="en-US" sz="950" dirty="0"/>
          </a:p>
        </p:txBody>
      </p:sp>
      <p:sp>
        <p:nvSpPr>
          <p:cNvPr id="14" name="Text 12"/>
          <p:cNvSpPr/>
          <p:nvPr/>
        </p:nvSpPr>
        <p:spPr>
          <a:xfrm>
            <a:off x="475488" y="2528316"/>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"client_ip": "192.168.1.1",</a:t>
            </a:r>
            <a:endParaRPr lang="en-US" sz="950" dirty="0"/>
          </a:p>
        </p:txBody>
      </p:sp>
      <p:sp>
        <p:nvSpPr>
          <p:cNvPr id="15" name="Text 13"/>
          <p:cNvSpPr/>
          <p:nvPr/>
        </p:nvSpPr>
        <p:spPr>
          <a:xfrm>
            <a:off x="475488" y="2724912"/>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"method": "GET",</a:t>
            </a:r>
            <a:endParaRPr lang="en-US" sz="950" dirty="0"/>
          </a:p>
        </p:txBody>
      </p:sp>
      <p:sp>
        <p:nvSpPr>
          <p:cNvPr id="16" name="Text 14"/>
          <p:cNvSpPr/>
          <p:nvPr/>
        </p:nvSpPr>
        <p:spPr>
          <a:xfrm>
            <a:off x="475488" y="2921508"/>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"url": "/api/users",</a:t>
            </a:r>
            <a:endParaRPr lang="en-US" sz="950" dirty="0"/>
          </a:p>
        </p:txBody>
      </p:sp>
      <p:sp>
        <p:nvSpPr>
          <p:cNvPr id="17" name="Text 15"/>
          <p:cNvSpPr/>
          <p:nvPr/>
        </p:nvSpPr>
        <p:spPr>
          <a:xfrm>
            <a:off x="475488" y="3118104"/>
            <a:ext cx="394106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"status_code": 200,</a:t>
            </a:r>
            <a:endParaRPr lang="en-US" sz="950" dirty="0"/>
          </a:p>
        </p:txBody>
      </p:sp>
      <p:sp>
        <p:nvSpPr>
          <p:cNvPr id="18" name="Text 16"/>
          <p:cNvSpPr/>
          <p:nvPr/>
        </p:nvSpPr>
        <p:spPr>
          <a:xfrm>
            <a:off x="475488" y="3314700"/>
            <a:ext cx="394106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"bytes": 1420,</a:t>
            </a:r>
            <a:endParaRPr lang="en-US" sz="950" dirty="0"/>
          </a:p>
        </p:txBody>
      </p:sp>
      <p:sp>
        <p:nvSpPr>
          <p:cNvPr id="19" name="Text 17"/>
          <p:cNvSpPr/>
          <p:nvPr/>
        </p:nvSpPr>
        <p:spPr>
          <a:xfrm>
            <a:off x="475488" y="3511296"/>
            <a:ext cx="394106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"response_time_ms": 45</a:t>
            </a:r>
            <a:endParaRPr lang="en-US" sz="950" dirty="0"/>
          </a:p>
        </p:txBody>
      </p:sp>
      <p:sp>
        <p:nvSpPr>
          <p:cNvPr id="20" name="Text 18"/>
          <p:cNvSpPr/>
          <p:nvPr/>
        </p:nvSpPr>
        <p:spPr>
          <a:xfrm>
            <a:off x="475488" y="3707892"/>
            <a:ext cx="394106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a:t>
            </a:r>
            <a:endParaRPr lang="en-US" sz="950" dirty="0"/>
          </a:p>
        </p:txBody>
      </p:sp>
      <p:sp>
        <p:nvSpPr>
          <p:cNvPr id="21" name="Text 19"/>
          <p:cNvSpPr/>
          <p:nvPr/>
        </p:nvSpPr>
        <p:spPr>
          <a:xfrm>
            <a:off x="475488" y="3904488"/>
            <a:ext cx="3941064" cy="201168"/>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a:t>
            </a:r>
            <a:endParaRPr lang="en-US" sz="950" dirty="0"/>
          </a:p>
        </p:txBody>
      </p:sp>
      <p:sp>
        <p:nvSpPr>
          <p:cNvPr id="22" name="Shape 20"/>
          <p:cNvSpPr/>
          <p:nvPr/>
        </p:nvSpPr>
        <p:spPr>
          <a:xfrm>
            <a:off x="4754880" y="868680"/>
            <a:ext cx="4069080" cy="960120"/>
          </a:xfrm>
          <a:prstGeom prst="roundRect">
            <a:avLst>
              <a:gd name="adj" fmla="val 952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3" name="Shape 21"/>
          <p:cNvSpPr/>
          <p:nvPr/>
        </p:nvSpPr>
        <p:spPr>
          <a:xfrm>
            <a:off x="4910328" y="960120"/>
            <a:ext cx="3749040" cy="256032"/>
          </a:xfrm>
          <a:prstGeom prst="roundRect">
            <a:avLst>
              <a:gd name="adj" fmla="val 17857"/>
            </a:avLst>
          </a:prstGeom>
          <a:solidFill>
            <a:srgbClr val="00BFB3"/>
          </a:solidFill>
          <a:ln w="12700">
            <a:solidFill>
              <a:srgbClr val="00BFB3"/>
            </a:solidFill>
            <a:prstDash val="solid"/>
          </a:ln>
        </p:spPr>
      </p:sp>
      <p:sp>
        <p:nvSpPr>
          <p:cNvPr id="24" name="Text 22"/>
          <p:cNvSpPr/>
          <p:nvPr/>
        </p:nvSpPr>
        <p:spPr>
          <a:xfrm>
            <a:off x="4910328" y="960120"/>
            <a:ext cx="374904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Create / Index a Document</a:t>
            </a:r>
            <a:endParaRPr lang="en-US" sz="950" dirty="0"/>
          </a:p>
        </p:txBody>
      </p:sp>
      <p:sp>
        <p:nvSpPr>
          <p:cNvPr id="25" name="Shape 23"/>
          <p:cNvSpPr/>
          <p:nvPr/>
        </p:nvSpPr>
        <p:spPr>
          <a:xfrm>
            <a:off x="4910328" y="1280160"/>
            <a:ext cx="3749040" cy="685800"/>
          </a:xfrm>
          <a:prstGeom prst="roundRect">
            <a:avLst>
              <a:gd name="adj" fmla="val 13333"/>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26" name="Text 24"/>
          <p:cNvSpPr/>
          <p:nvPr/>
        </p:nvSpPr>
        <p:spPr>
          <a:xfrm>
            <a:off x="5001768" y="1325880"/>
            <a:ext cx="3566160" cy="182880"/>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curl -X POST "localhost:9200/apache-logs/_doc" \</a:t>
            </a:r>
            <a:endParaRPr lang="en-US" sz="850" dirty="0"/>
          </a:p>
        </p:txBody>
      </p:sp>
      <p:sp>
        <p:nvSpPr>
          <p:cNvPr id="27" name="Text 25"/>
          <p:cNvSpPr/>
          <p:nvPr/>
        </p:nvSpPr>
        <p:spPr>
          <a:xfrm>
            <a:off x="5001768" y="1508760"/>
            <a:ext cx="3566160" cy="182880"/>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  -H "Content-Type: application/json" \</a:t>
            </a:r>
            <a:endParaRPr lang="en-US" sz="850" dirty="0"/>
          </a:p>
        </p:txBody>
      </p:sp>
      <p:sp>
        <p:nvSpPr>
          <p:cNvPr id="28" name="Text 26"/>
          <p:cNvSpPr/>
          <p:nvPr/>
        </p:nvSpPr>
        <p:spPr>
          <a:xfrm>
            <a:off x="5001768" y="1691640"/>
            <a:ext cx="3566160" cy="182880"/>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  -d '{"timestamp":"2024-01-25","status_code":200}'</a:t>
            </a:r>
            <a:endParaRPr lang="en-US" sz="850" dirty="0"/>
          </a:p>
        </p:txBody>
      </p:sp>
      <p:sp>
        <p:nvSpPr>
          <p:cNvPr id="29" name="Shape 27"/>
          <p:cNvSpPr/>
          <p:nvPr/>
        </p:nvSpPr>
        <p:spPr>
          <a:xfrm>
            <a:off x="4754880" y="1920240"/>
            <a:ext cx="4069080" cy="960120"/>
          </a:xfrm>
          <a:prstGeom prst="roundRect">
            <a:avLst>
              <a:gd name="adj" fmla="val 952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0" name="Shape 28"/>
          <p:cNvSpPr/>
          <p:nvPr/>
        </p:nvSpPr>
        <p:spPr>
          <a:xfrm>
            <a:off x="4910328" y="2011680"/>
            <a:ext cx="3749040" cy="256032"/>
          </a:xfrm>
          <a:prstGeom prst="roundRect">
            <a:avLst>
              <a:gd name="adj" fmla="val 17857"/>
            </a:avLst>
          </a:prstGeom>
          <a:solidFill>
            <a:srgbClr val="2563EB"/>
          </a:solidFill>
          <a:ln w="12700">
            <a:solidFill>
              <a:srgbClr val="2563EB"/>
            </a:solidFill>
            <a:prstDash val="solid"/>
          </a:ln>
        </p:spPr>
      </p:sp>
      <p:sp>
        <p:nvSpPr>
          <p:cNvPr id="31" name="Text 29"/>
          <p:cNvSpPr/>
          <p:nvPr/>
        </p:nvSpPr>
        <p:spPr>
          <a:xfrm>
            <a:off x="4910328" y="2011680"/>
            <a:ext cx="374904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Get a Document by ID</a:t>
            </a:r>
            <a:endParaRPr lang="en-US" sz="950" dirty="0"/>
          </a:p>
        </p:txBody>
      </p:sp>
      <p:sp>
        <p:nvSpPr>
          <p:cNvPr id="32" name="Shape 30"/>
          <p:cNvSpPr/>
          <p:nvPr/>
        </p:nvSpPr>
        <p:spPr>
          <a:xfrm>
            <a:off x="4910328" y="2331720"/>
            <a:ext cx="3749040" cy="411480"/>
          </a:xfrm>
          <a:prstGeom prst="roundRect">
            <a:avLst>
              <a:gd name="adj" fmla="val 22222"/>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33" name="Text 31"/>
          <p:cNvSpPr/>
          <p:nvPr/>
        </p:nvSpPr>
        <p:spPr>
          <a:xfrm>
            <a:off x="5001768" y="2377440"/>
            <a:ext cx="3566160" cy="182880"/>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curl "localhost:9200/apache-logs/_doc/1"</a:t>
            </a:r>
            <a:endParaRPr lang="en-US" sz="850" dirty="0"/>
          </a:p>
        </p:txBody>
      </p:sp>
      <p:sp>
        <p:nvSpPr>
          <p:cNvPr id="34" name="Shape 32"/>
          <p:cNvSpPr/>
          <p:nvPr/>
        </p:nvSpPr>
        <p:spPr>
          <a:xfrm>
            <a:off x="4754880" y="2971800"/>
            <a:ext cx="4069080" cy="960120"/>
          </a:xfrm>
          <a:prstGeom prst="roundRect">
            <a:avLst>
              <a:gd name="adj" fmla="val 952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5" name="Shape 33"/>
          <p:cNvSpPr/>
          <p:nvPr/>
        </p:nvSpPr>
        <p:spPr>
          <a:xfrm>
            <a:off x="4910328" y="3063240"/>
            <a:ext cx="3749040" cy="256032"/>
          </a:xfrm>
          <a:prstGeom prst="roundRect">
            <a:avLst>
              <a:gd name="adj" fmla="val 17857"/>
            </a:avLst>
          </a:prstGeom>
          <a:solidFill>
            <a:srgbClr val="D97706"/>
          </a:solidFill>
          <a:ln w="12700">
            <a:solidFill>
              <a:srgbClr val="D97706"/>
            </a:solidFill>
            <a:prstDash val="solid"/>
          </a:ln>
        </p:spPr>
      </p:sp>
      <p:sp>
        <p:nvSpPr>
          <p:cNvPr id="36" name="Text 34"/>
          <p:cNvSpPr/>
          <p:nvPr/>
        </p:nvSpPr>
        <p:spPr>
          <a:xfrm>
            <a:off x="4910328" y="3063240"/>
            <a:ext cx="374904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List All Indices</a:t>
            </a:r>
            <a:endParaRPr lang="en-US" sz="950" dirty="0"/>
          </a:p>
        </p:txBody>
      </p:sp>
      <p:sp>
        <p:nvSpPr>
          <p:cNvPr id="37" name="Shape 35"/>
          <p:cNvSpPr/>
          <p:nvPr/>
        </p:nvSpPr>
        <p:spPr>
          <a:xfrm>
            <a:off x="4910328" y="3383280"/>
            <a:ext cx="3749040" cy="411480"/>
          </a:xfrm>
          <a:prstGeom prst="roundRect">
            <a:avLst>
              <a:gd name="adj" fmla="val 22222"/>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38" name="Text 36"/>
          <p:cNvSpPr/>
          <p:nvPr/>
        </p:nvSpPr>
        <p:spPr>
          <a:xfrm>
            <a:off x="5001768" y="3429000"/>
            <a:ext cx="3566160" cy="182880"/>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curl "localhost:9200/_cat/indices?v"</a:t>
            </a:r>
            <a:endParaRPr lang="en-US" sz="850" dirty="0"/>
          </a:p>
        </p:txBody>
      </p:sp>
      <p:sp>
        <p:nvSpPr>
          <p:cNvPr id="39" name="Shape 37"/>
          <p:cNvSpPr/>
          <p:nvPr/>
        </p:nvSpPr>
        <p:spPr>
          <a:xfrm>
            <a:off x="4754880" y="4023360"/>
            <a:ext cx="4069080" cy="960120"/>
          </a:xfrm>
          <a:prstGeom prst="roundRect">
            <a:avLst>
              <a:gd name="adj" fmla="val 952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40" name="Shape 38"/>
          <p:cNvSpPr/>
          <p:nvPr/>
        </p:nvSpPr>
        <p:spPr>
          <a:xfrm>
            <a:off x="4910328" y="4114800"/>
            <a:ext cx="3749040" cy="256032"/>
          </a:xfrm>
          <a:prstGeom prst="roundRect">
            <a:avLst>
              <a:gd name="adj" fmla="val 17857"/>
            </a:avLst>
          </a:prstGeom>
          <a:solidFill>
            <a:srgbClr val="DC2626"/>
          </a:solidFill>
          <a:ln w="12700">
            <a:solidFill>
              <a:srgbClr val="DC2626"/>
            </a:solidFill>
            <a:prstDash val="solid"/>
          </a:ln>
        </p:spPr>
      </p:sp>
      <p:sp>
        <p:nvSpPr>
          <p:cNvPr id="41" name="Text 39"/>
          <p:cNvSpPr/>
          <p:nvPr/>
        </p:nvSpPr>
        <p:spPr>
          <a:xfrm>
            <a:off x="4910328" y="4114800"/>
            <a:ext cx="374904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Delete an Index</a:t>
            </a:r>
            <a:endParaRPr lang="en-US" sz="950" dirty="0"/>
          </a:p>
        </p:txBody>
      </p:sp>
      <p:sp>
        <p:nvSpPr>
          <p:cNvPr id="42" name="Shape 40"/>
          <p:cNvSpPr/>
          <p:nvPr/>
        </p:nvSpPr>
        <p:spPr>
          <a:xfrm>
            <a:off x="4910328" y="4434840"/>
            <a:ext cx="3749040" cy="411480"/>
          </a:xfrm>
          <a:prstGeom prst="roundRect">
            <a:avLst>
              <a:gd name="adj" fmla="val 22222"/>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43" name="Text 41"/>
          <p:cNvSpPr/>
          <p:nvPr/>
        </p:nvSpPr>
        <p:spPr>
          <a:xfrm>
            <a:off x="5001768" y="4480560"/>
            <a:ext cx="3566160" cy="182880"/>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curl -X DELETE "localhost:9200/apache-logs"</a:t>
            </a:r>
            <a:endParaRPr lang="en-US" sz="850" dirty="0"/>
          </a:p>
        </p:txBody>
      </p:sp>
      <p:sp>
        <p:nvSpPr>
          <p:cNvPr id="44" name="Shape 42"/>
          <p:cNvSpPr/>
          <p:nvPr/>
        </p:nvSpPr>
        <p:spPr>
          <a:xfrm>
            <a:off x="0" y="4846320"/>
            <a:ext cx="9144000" cy="297180"/>
          </a:xfrm>
          <a:prstGeom prst="rect">
            <a:avLst/>
          </a:prstGeom>
          <a:solidFill>
            <a:srgbClr val="0F172A"/>
          </a:solidFill>
          <a:ln w="12700">
            <a:solidFill>
              <a:srgbClr val="0F172A"/>
            </a:solidFill>
            <a:prstDash val="solid"/>
          </a:ln>
        </p:spPr>
      </p:sp>
      <p:sp>
        <p:nvSpPr>
          <p:cNvPr id="45" name="Text 43"/>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03: Elasticsearch Fundamentals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MAPPINGS &amp; FIELD TYPES</a:t>
            </a:r>
            <a:endParaRPr lang="en-US" sz="2000" dirty="0"/>
          </a:p>
        </p:txBody>
      </p:sp>
      <p:sp>
        <p:nvSpPr>
          <p:cNvPr id="4" name="Shape 2"/>
          <p:cNvSpPr/>
          <p:nvPr/>
        </p:nvSpPr>
        <p:spPr>
          <a:xfrm>
            <a:off x="7178040" y="109728"/>
            <a:ext cx="1600200" cy="475488"/>
          </a:xfrm>
          <a:prstGeom prst="roundRect">
            <a:avLst>
              <a:gd name="adj" fmla="val 11538"/>
            </a:avLst>
          </a:prstGeom>
          <a:solidFill>
            <a:srgbClr val="00BFB3"/>
          </a:solidFill>
          <a:ln w="12700">
            <a:solidFill>
              <a:srgbClr val="00BFB3"/>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03  •  ES Fundamentals</a:t>
            </a:r>
            <a:endParaRPr lang="en-US" sz="950" dirty="0"/>
          </a:p>
        </p:txBody>
      </p:sp>
      <p:sp>
        <p:nvSpPr>
          <p:cNvPr id="6" name="Shape 4"/>
          <p:cNvSpPr/>
          <p:nvPr/>
        </p:nvSpPr>
        <p:spPr>
          <a:xfrm>
            <a:off x="320040" y="868680"/>
            <a:ext cx="8503920" cy="658368"/>
          </a:xfrm>
          <a:prstGeom prst="roundRect">
            <a:avLst>
              <a:gd name="adj" fmla="val 13889"/>
            </a:avLst>
          </a:prstGeom>
          <a:solidFill>
            <a:srgbClr val="E6FAF9"/>
          </a:solidFill>
          <a:ln w="12700">
            <a:solidFill>
              <a:srgbClr val="5EEAD4"/>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566928"/>
          </a:xfrm>
          <a:prstGeom prst="rect">
            <a:avLst/>
          </a:prstGeom>
          <a:noFill/>
          <a:ln/>
        </p:spPr>
        <p:txBody>
          <a:bodyPr wrap="square" lIns="0" tIns="0" rIns="0" bIns="0" rtlCol="0" anchor="ctr"/>
          <a:lstStyle/>
          <a:p>
            <a:pPr indent="0" marL="0">
              <a:buNone/>
            </a:pPr>
            <a:r>
              <a:rPr lang="en-US" sz="1200" dirty="0">
                <a:solidFill>
                  <a:srgbClr val="0F172A"/>
                </a:solidFill>
                <a:latin typeface="Cambria" pitchFamily="34" charset="0"/>
                <a:ea typeface="Cambria" pitchFamily="34" charset="-122"/>
                <a:cs typeface="Cambria" pitchFamily="34" charset="-120"/>
              </a:rPr>
              <a:t>A mapping defines the field names and data types in an index — like a schema. Elasticsearch creates mappings automatically (dynamic mapping) but explicit mappings give you more control.</a:t>
            </a:r>
            <a:endParaRPr lang="en-US" sz="1200" dirty="0"/>
          </a:p>
        </p:txBody>
      </p:sp>
      <p:sp>
        <p:nvSpPr>
          <p:cNvPr id="8" name="Shape 6"/>
          <p:cNvSpPr/>
          <p:nvPr/>
        </p:nvSpPr>
        <p:spPr>
          <a:xfrm>
            <a:off x="320040" y="1664208"/>
            <a:ext cx="8503920" cy="329184"/>
          </a:xfrm>
          <a:prstGeom prst="rect">
            <a:avLst/>
          </a:prstGeom>
          <a:solidFill>
            <a:srgbClr val="0F172A"/>
          </a:solidFill>
          <a:ln w="12700">
            <a:solidFill>
              <a:srgbClr val="0F172A"/>
            </a:solidFill>
            <a:prstDash val="solid"/>
          </a:ln>
        </p:spPr>
      </p:sp>
      <p:sp>
        <p:nvSpPr>
          <p:cNvPr id="9" name="Text 7"/>
          <p:cNvSpPr/>
          <p:nvPr/>
        </p:nvSpPr>
        <p:spPr>
          <a:xfrm>
            <a:off x="411480" y="1691640"/>
            <a:ext cx="1389888"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Field Type</a:t>
            </a:r>
            <a:endParaRPr lang="en-US" sz="1050" dirty="0"/>
          </a:p>
        </p:txBody>
      </p:sp>
      <p:sp>
        <p:nvSpPr>
          <p:cNvPr id="10" name="Text 8"/>
          <p:cNvSpPr/>
          <p:nvPr/>
        </p:nvSpPr>
        <p:spPr>
          <a:xfrm>
            <a:off x="1874520" y="1691640"/>
            <a:ext cx="3218688"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Use For</a:t>
            </a:r>
            <a:endParaRPr lang="en-US" sz="1050" dirty="0"/>
          </a:p>
        </p:txBody>
      </p:sp>
      <p:sp>
        <p:nvSpPr>
          <p:cNvPr id="11" name="Text 9"/>
          <p:cNvSpPr/>
          <p:nvPr/>
        </p:nvSpPr>
        <p:spPr>
          <a:xfrm>
            <a:off x="5166360" y="1691640"/>
            <a:ext cx="3566160"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Example</a:t>
            </a:r>
            <a:endParaRPr lang="en-US" sz="1050" dirty="0"/>
          </a:p>
        </p:txBody>
      </p:sp>
      <p:sp>
        <p:nvSpPr>
          <p:cNvPr id="12" name="Shape 10"/>
          <p:cNvSpPr/>
          <p:nvPr/>
        </p:nvSpPr>
        <p:spPr>
          <a:xfrm>
            <a:off x="320040" y="2029968"/>
            <a:ext cx="8503920" cy="347472"/>
          </a:xfrm>
          <a:prstGeom prst="rect">
            <a:avLst/>
          </a:prstGeom>
          <a:solidFill>
            <a:srgbClr val="FFFFFF"/>
          </a:solidFill>
          <a:ln w="12700">
            <a:solidFill>
              <a:srgbClr val="E2E8F0"/>
            </a:solidFill>
            <a:prstDash val="solid"/>
          </a:ln>
        </p:spPr>
      </p:sp>
      <p:sp>
        <p:nvSpPr>
          <p:cNvPr id="13" name="Text 11"/>
          <p:cNvSpPr/>
          <p:nvPr/>
        </p:nvSpPr>
        <p:spPr>
          <a:xfrm>
            <a:off x="411480" y="2075688"/>
            <a:ext cx="1389888" cy="256032"/>
          </a:xfrm>
          <a:prstGeom prst="rect">
            <a:avLst/>
          </a:prstGeom>
          <a:noFill/>
          <a:ln/>
        </p:spPr>
        <p:txBody>
          <a:bodyPr wrap="square" lIns="0" tIns="0" rIns="0" bIns="0" rtlCol="0" anchor="ctr"/>
          <a:lstStyle/>
          <a:p>
            <a:pPr indent="0" marL="0">
              <a:buNone/>
            </a:pPr>
            <a:r>
              <a:rPr lang="en-US" sz="1000" b="1" dirty="0">
                <a:solidFill>
                  <a:srgbClr val="00BFB3"/>
                </a:solidFill>
                <a:latin typeface="Courier New" pitchFamily="34" charset="0"/>
                <a:ea typeface="Courier New" pitchFamily="34" charset="-122"/>
                <a:cs typeface="Courier New" pitchFamily="34" charset="-120"/>
              </a:rPr>
              <a:t>text</a:t>
            </a:r>
            <a:endParaRPr lang="en-US" sz="1000" dirty="0"/>
          </a:p>
        </p:txBody>
      </p:sp>
      <p:sp>
        <p:nvSpPr>
          <p:cNvPr id="14" name="Text 12"/>
          <p:cNvSpPr/>
          <p:nvPr/>
        </p:nvSpPr>
        <p:spPr>
          <a:xfrm>
            <a:off x="1874520" y="2075688"/>
            <a:ext cx="3218688"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Full-text search fields — analysed, tokenised</a:t>
            </a:r>
            <a:endParaRPr lang="en-US" sz="1000" dirty="0"/>
          </a:p>
        </p:txBody>
      </p:sp>
      <p:sp>
        <p:nvSpPr>
          <p:cNvPr id="15" name="Text 13"/>
          <p:cNvSpPr/>
          <p:nvPr/>
        </p:nvSpPr>
        <p:spPr>
          <a:xfrm>
            <a:off x="5166360" y="2075688"/>
            <a:ext cx="356616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log message, url path</a:t>
            </a:r>
            <a:endParaRPr lang="en-US" sz="950" dirty="0"/>
          </a:p>
        </p:txBody>
      </p:sp>
      <p:sp>
        <p:nvSpPr>
          <p:cNvPr id="16" name="Shape 14"/>
          <p:cNvSpPr/>
          <p:nvPr/>
        </p:nvSpPr>
        <p:spPr>
          <a:xfrm>
            <a:off x="320040" y="2414016"/>
            <a:ext cx="8503920" cy="347472"/>
          </a:xfrm>
          <a:prstGeom prst="rect">
            <a:avLst/>
          </a:prstGeom>
          <a:solidFill>
            <a:srgbClr val="F1F5F9"/>
          </a:solidFill>
          <a:ln w="12700">
            <a:solidFill>
              <a:srgbClr val="E2E8F0"/>
            </a:solidFill>
            <a:prstDash val="solid"/>
          </a:ln>
        </p:spPr>
      </p:sp>
      <p:sp>
        <p:nvSpPr>
          <p:cNvPr id="17" name="Text 15"/>
          <p:cNvSpPr/>
          <p:nvPr/>
        </p:nvSpPr>
        <p:spPr>
          <a:xfrm>
            <a:off x="411480" y="2459736"/>
            <a:ext cx="1389888" cy="256032"/>
          </a:xfrm>
          <a:prstGeom prst="rect">
            <a:avLst/>
          </a:prstGeom>
          <a:noFill/>
          <a:ln/>
        </p:spPr>
        <p:txBody>
          <a:bodyPr wrap="square" lIns="0" tIns="0" rIns="0" bIns="0" rtlCol="0" anchor="ctr"/>
          <a:lstStyle/>
          <a:p>
            <a:pPr indent="0" marL="0">
              <a:buNone/>
            </a:pPr>
            <a:r>
              <a:rPr lang="en-US" sz="1000" b="1" dirty="0">
                <a:solidFill>
                  <a:srgbClr val="00BFB3"/>
                </a:solidFill>
                <a:latin typeface="Courier New" pitchFamily="34" charset="0"/>
                <a:ea typeface="Courier New" pitchFamily="34" charset="-122"/>
                <a:cs typeface="Courier New" pitchFamily="34" charset="-120"/>
              </a:rPr>
              <a:t>keyword</a:t>
            </a:r>
            <a:endParaRPr lang="en-US" sz="1000" dirty="0"/>
          </a:p>
        </p:txBody>
      </p:sp>
      <p:sp>
        <p:nvSpPr>
          <p:cNvPr id="18" name="Text 16"/>
          <p:cNvSpPr/>
          <p:nvPr/>
        </p:nvSpPr>
        <p:spPr>
          <a:xfrm>
            <a:off x="1874520" y="2459736"/>
            <a:ext cx="3218688"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Exact match, aggregations, sorting</a:t>
            </a:r>
            <a:endParaRPr lang="en-US" sz="1000" dirty="0"/>
          </a:p>
        </p:txBody>
      </p:sp>
      <p:sp>
        <p:nvSpPr>
          <p:cNvPr id="19" name="Text 17"/>
          <p:cNvSpPr/>
          <p:nvPr/>
        </p:nvSpPr>
        <p:spPr>
          <a:xfrm>
            <a:off x="5166360" y="2459736"/>
            <a:ext cx="356616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status code, IP address, HTTP method</a:t>
            </a:r>
            <a:endParaRPr lang="en-US" sz="950" dirty="0"/>
          </a:p>
        </p:txBody>
      </p:sp>
      <p:sp>
        <p:nvSpPr>
          <p:cNvPr id="20" name="Shape 18"/>
          <p:cNvSpPr/>
          <p:nvPr/>
        </p:nvSpPr>
        <p:spPr>
          <a:xfrm>
            <a:off x="320040" y="2798064"/>
            <a:ext cx="8503920" cy="347472"/>
          </a:xfrm>
          <a:prstGeom prst="rect">
            <a:avLst/>
          </a:prstGeom>
          <a:solidFill>
            <a:srgbClr val="FFFFFF"/>
          </a:solidFill>
          <a:ln w="12700">
            <a:solidFill>
              <a:srgbClr val="E2E8F0"/>
            </a:solidFill>
            <a:prstDash val="solid"/>
          </a:ln>
        </p:spPr>
      </p:sp>
      <p:sp>
        <p:nvSpPr>
          <p:cNvPr id="21" name="Text 19"/>
          <p:cNvSpPr/>
          <p:nvPr/>
        </p:nvSpPr>
        <p:spPr>
          <a:xfrm>
            <a:off x="411480" y="2843784"/>
            <a:ext cx="1389888" cy="256032"/>
          </a:xfrm>
          <a:prstGeom prst="rect">
            <a:avLst/>
          </a:prstGeom>
          <a:noFill/>
          <a:ln/>
        </p:spPr>
        <p:txBody>
          <a:bodyPr wrap="square" lIns="0" tIns="0" rIns="0" bIns="0" rtlCol="0" anchor="ctr"/>
          <a:lstStyle/>
          <a:p>
            <a:pPr indent="0" marL="0">
              <a:buNone/>
            </a:pPr>
            <a:r>
              <a:rPr lang="en-US" sz="1000" b="1" dirty="0">
                <a:solidFill>
                  <a:srgbClr val="00BFB3"/>
                </a:solidFill>
                <a:latin typeface="Courier New" pitchFamily="34" charset="0"/>
                <a:ea typeface="Courier New" pitchFamily="34" charset="-122"/>
                <a:cs typeface="Courier New" pitchFamily="34" charset="-120"/>
              </a:rPr>
              <a:t>long / integer</a:t>
            </a:r>
            <a:endParaRPr lang="en-US" sz="1000" dirty="0"/>
          </a:p>
        </p:txBody>
      </p:sp>
      <p:sp>
        <p:nvSpPr>
          <p:cNvPr id="22" name="Text 20"/>
          <p:cNvSpPr/>
          <p:nvPr/>
        </p:nvSpPr>
        <p:spPr>
          <a:xfrm>
            <a:off x="1874520" y="2843784"/>
            <a:ext cx="3218688"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Numeric values — ranges, aggregations</a:t>
            </a:r>
            <a:endParaRPr lang="en-US" sz="1000" dirty="0"/>
          </a:p>
        </p:txBody>
      </p:sp>
      <p:sp>
        <p:nvSpPr>
          <p:cNvPr id="23" name="Text 21"/>
          <p:cNvSpPr/>
          <p:nvPr/>
        </p:nvSpPr>
        <p:spPr>
          <a:xfrm>
            <a:off x="5166360" y="2843784"/>
            <a:ext cx="356616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response_time_ms, bytes</a:t>
            </a:r>
            <a:endParaRPr lang="en-US" sz="950" dirty="0"/>
          </a:p>
        </p:txBody>
      </p:sp>
      <p:sp>
        <p:nvSpPr>
          <p:cNvPr id="24" name="Shape 22"/>
          <p:cNvSpPr/>
          <p:nvPr/>
        </p:nvSpPr>
        <p:spPr>
          <a:xfrm>
            <a:off x="320040" y="3182112"/>
            <a:ext cx="8503920" cy="347472"/>
          </a:xfrm>
          <a:prstGeom prst="rect">
            <a:avLst/>
          </a:prstGeom>
          <a:solidFill>
            <a:srgbClr val="F1F5F9"/>
          </a:solidFill>
          <a:ln w="12700">
            <a:solidFill>
              <a:srgbClr val="E2E8F0"/>
            </a:solidFill>
            <a:prstDash val="solid"/>
          </a:ln>
        </p:spPr>
      </p:sp>
      <p:sp>
        <p:nvSpPr>
          <p:cNvPr id="25" name="Text 23"/>
          <p:cNvSpPr/>
          <p:nvPr/>
        </p:nvSpPr>
        <p:spPr>
          <a:xfrm>
            <a:off x="411480" y="3227832"/>
            <a:ext cx="1389888" cy="256032"/>
          </a:xfrm>
          <a:prstGeom prst="rect">
            <a:avLst/>
          </a:prstGeom>
          <a:noFill/>
          <a:ln/>
        </p:spPr>
        <p:txBody>
          <a:bodyPr wrap="square" lIns="0" tIns="0" rIns="0" bIns="0" rtlCol="0" anchor="ctr"/>
          <a:lstStyle/>
          <a:p>
            <a:pPr indent="0" marL="0">
              <a:buNone/>
            </a:pPr>
            <a:r>
              <a:rPr lang="en-US" sz="1000" b="1" dirty="0">
                <a:solidFill>
                  <a:srgbClr val="00BFB3"/>
                </a:solidFill>
                <a:latin typeface="Courier New" pitchFamily="34" charset="0"/>
                <a:ea typeface="Courier New" pitchFamily="34" charset="-122"/>
                <a:cs typeface="Courier New" pitchFamily="34" charset="-120"/>
              </a:rPr>
              <a:t>date</a:t>
            </a:r>
            <a:endParaRPr lang="en-US" sz="1000" dirty="0"/>
          </a:p>
        </p:txBody>
      </p:sp>
      <p:sp>
        <p:nvSpPr>
          <p:cNvPr id="26" name="Text 24"/>
          <p:cNvSpPr/>
          <p:nvPr/>
        </p:nvSpPr>
        <p:spPr>
          <a:xfrm>
            <a:off x="1874520" y="3227832"/>
            <a:ext cx="3218688"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Timestamp fields — time-series, date histograms</a:t>
            </a:r>
            <a:endParaRPr lang="en-US" sz="1000" dirty="0"/>
          </a:p>
        </p:txBody>
      </p:sp>
      <p:sp>
        <p:nvSpPr>
          <p:cNvPr id="27" name="Text 25"/>
          <p:cNvSpPr/>
          <p:nvPr/>
        </p:nvSpPr>
        <p:spPr>
          <a:xfrm>
            <a:off x="5166360" y="3227832"/>
            <a:ext cx="356616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@timestamp, created_at</a:t>
            </a:r>
            <a:endParaRPr lang="en-US" sz="950" dirty="0"/>
          </a:p>
        </p:txBody>
      </p:sp>
      <p:sp>
        <p:nvSpPr>
          <p:cNvPr id="28" name="Shape 26"/>
          <p:cNvSpPr/>
          <p:nvPr/>
        </p:nvSpPr>
        <p:spPr>
          <a:xfrm>
            <a:off x="320040" y="3566160"/>
            <a:ext cx="8503920" cy="347472"/>
          </a:xfrm>
          <a:prstGeom prst="rect">
            <a:avLst/>
          </a:prstGeom>
          <a:solidFill>
            <a:srgbClr val="FFFFFF"/>
          </a:solidFill>
          <a:ln w="12700">
            <a:solidFill>
              <a:srgbClr val="E2E8F0"/>
            </a:solidFill>
            <a:prstDash val="solid"/>
          </a:ln>
        </p:spPr>
      </p:sp>
      <p:sp>
        <p:nvSpPr>
          <p:cNvPr id="29" name="Text 27"/>
          <p:cNvSpPr/>
          <p:nvPr/>
        </p:nvSpPr>
        <p:spPr>
          <a:xfrm>
            <a:off x="411480" y="3611880"/>
            <a:ext cx="1389888" cy="256032"/>
          </a:xfrm>
          <a:prstGeom prst="rect">
            <a:avLst/>
          </a:prstGeom>
          <a:noFill/>
          <a:ln/>
        </p:spPr>
        <p:txBody>
          <a:bodyPr wrap="square" lIns="0" tIns="0" rIns="0" bIns="0" rtlCol="0" anchor="ctr"/>
          <a:lstStyle/>
          <a:p>
            <a:pPr indent="0" marL="0">
              <a:buNone/>
            </a:pPr>
            <a:r>
              <a:rPr lang="en-US" sz="1000" b="1" dirty="0">
                <a:solidFill>
                  <a:srgbClr val="00BFB3"/>
                </a:solidFill>
                <a:latin typeface="Courier New" pitchFamily="34" charset="0"/>
                <a:ea typeface="Courier New" pitchFamily="34" charset="-122"/>
                <a:cs typeface="Courier New" pitchFamily="34" charset="-120"/>
              </a:rPr>
              <a:t>boolean</a:t>
            </a:r>
            <a:endParaRPr lang="en-US" sz="1000" dirty="0"/>
          </a:p>
        </p:txBody>
      </p:sp>
      <p:sp>
        <p:nvSpPr>
          <p:cNvPr id="30" name="Text 28"/>
          <p:cNvSpPr/>
          <p:nvPr/>
        </p:nvSpPr>
        <p:spPr>
          <a:xfrm>
            <a:off x="1874520" y="3611880"/>
            <a:ext cx="3218688"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True/false values</a:t>
            </a:r>
            <a:endParaRPr lang="en-US" sz="1000" dirty="0"/>
          </a:p>
        </p:txBody>
      </p:sp>
      <p:sp>
        <p:nvSpPr>
          <p:cNvPr id="31" name="Text 29"/>
          <p:cNvSpPr/>
          <p:nvPr/>
        </p:nvSpPr>
        <p:spPr>
          <a:xfrm>
            <a:off x="5166360" y="3611880"/>
            <a:ext cx="356616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is_error, cache_hit</a:t>
            </a:r>
            <a:endParaRPr lang="en-US" sz="950" dirty="0"/>
          </a:p>
        </p:txBody>
      </p:sp>
      <p:sp>
        <p:nvSpPr>
          <p:cNvPr id="32" name="Shape 30"/>
          <p:cNvSpPr/>
          <p:nvPr/>
        </p:nvSpPr>
        <p:spPr>
          <a:xfrm>
            <a:off x="320040" y="3950208"/>
            <a:ext cx="8503920" cy="347472"/>
          </a:xfrm>
          <a:prstGeom prst="rect">
            <a:avLst/>
          </a:prstGeom>
          <a:solidFill>
            <a:srgbClr val="F1F5F9"/>
          </a:solidFill>
          <a:ln w="12700">
            <a:solidFill>
              <a:srgbClr val="E2E8F0"/>
            </a:solidFill>
            <a:prstDash val="solid"/>
          </a:ln>
        </p:spPr>
      </p:sp>
      <p:sp>
        <p:nvSpPr>
          <p:cNvPr id="33" name="Text 31"/>
          <p:cNvSpPr/>
          <p:nvPr/>
        </p:nvSpPr>
        <p:spPr>
          <a:xfrm>
            <a:off x="411480" y="3995928"/>
            <a:ext cx="1389888" cy="256032"/>
          </a:xfrm>
          <a:prstGeom prst="rect">
            <a:avLst/>
          </a:prstGeom>
          <a:noFill/>
          <a:ln/>
        </p:spPr>
        <p:txBody>
          <a:bodyPr wrap="square" lIns="0" tIns="0" rIns="0" bIns="0" rtlCol="0" anchor="ctr"/>
          <a:lstStyle/>
          <a:p>
            <a:pPr indent="0" marL="0">
              <a:buNone/>
            </a:pPr>
            <a:r>
              <a:rPr lang="en-US" sz="1000" b="1" dirty="0">
                <a:solidFill>
                  <a:srgbClr val="00BFB3"/>
                </a:solidFill>
                <a:latin typeface="Courier New" pitchFamily="34" charset="0"/>
                <a:ea typeface="Courier New" pitchFamily="34" charset="-122"/>
                <a:cs typeface="Courier New" pitchFamily="34" charset="-120"/>
              </a:rPr>
              <a:t>ip</a:t>
            </a:r>
            <a:endParaRPr lang="en-US" sz="1000" dirty="0"/>
          </a:p>
        </p:txBody>
      </p:sp>
      <p:sp>
        <p:nvSpPr>
          <p:cNvPr id="34" name="Text 32"/>
          <p:cNvSpPr/>
          <p:nvPr/>
        </p:nvSpPr>
        <p:spPr>
          <a:xfrm>
            <a:off x="1874520" y="3995928"/>
            <a:ext cx="3218688"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IP address fields — CIDR range queries</a:t>
            </a:r>
            <a:endParaRPr lang="en-US" sz="1000" dirty="0"/>
          </a:p>
        </p:txBody>
      </p:sp>
      <p:sp>
        <p:nvSpPr>
          <p:cNvPr id="35" name="Text 33"/>
          <p:cNvSpPr/>
          <p:nvPr/>
        </p:nvSpPr>
        <p:spPr>
          <a:xfrm>
            <a:off x="5166360" y="3995928"/>
            <a:ext cx="356616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client_ip, server_ip</a:t>
            </a:r>
            <a:endParaRPr lang="en-US" sz="950" dirty="0"/>
          </a:p>
        </p:txBody>
      </p:sp>
      <p:sp>
        <p:nvSpPr>
          <p:cNvPr id="36" name="Shape 34"/>
          <p:cNvSpPr/>
          <p:nvPr/>
        </p:nvSpPr>
        <p:spPr>
          <a:xfrm>
            <a:off x="320040" y="4334256"/>
            <a:ext cx="8503920" cy="347472"/>
          </a:xfrm>
          <a:prstGeom prst="rect">
            <a:avLst/>
          </a:prstGeom>
          <a:solidFill>
            <a:srgbClr val="FFFFFF"/>
          </a:solidFill>
          <a:ln w="12700">
            <a:solidFill>
              <a:srgbClr val="E2E8F0"/>
            </a:solidFill>
            <a:prstDash val="solid"/>
          </a:ln>
        </p:spPr>
      </p:sp>
      <p:sp>
        <p:nvSpPr>
          <p:cNvPr id="37" name="Text 35"/>
          <p:cNvSpPr/>
          <p:nvPr/>
        </p:nvSpPr>
        <p:spPr>
          <a:xfrm>
            <a:off x="411480" y="4379976"/>
            <a:ext cx="1389888" cy="256032"/>
          </a:xfrm>
          <a:prstGeom prst="rect">
            <a:avLst/>
          </a:prstGeom>
          <a:noFill/>
          <a:ln/>
        </p:spPr>
        <p:txBody>
          <a:bodyPr wrap="square" lIns="0" tIns="0" rIns="0" bIns="0" rtlCol="0" anchor="ctr"/>
          <a:lstStyle/>
          <a:p>
            <a:pPr indent="0" marL="0">
              <a:buNone/>
            </a:pPr>
            <a:r>
              <a:rPr lang="en-US" sz="1000" b="1" dirty="0">
                <a:solidFill>
                  <a:srgbClr val="00BFB3"/>
                </a:solidFill>
                <a:latin typeface="Courier New" pitchFamily="34" charset="0"/>
                <a:ea typeface="Courier New" pitchFamily="34" charset="-122"/>
                <a:cs typeface="Courier New" pitchFamily="34" charset="-120"/>
              </a:rPr>
              <a:t>geo_point</a:t>
            </a:r>
            <a:endParaRPr lang="en-US" sz="1000" dirty="0"/>
          </a:p>
        </p:txBody>
      </p:sp>
      <p:sp>
        <p:nvSpPr>
          <p:cNvPr id="38" name="Text 36"/>
          <p:cNvSpPr/>
          <p:nvPr/>
        </p:nvSpPr>
        <p:spPr>
          <a:xfrm>
            <a:off x="1874520" y="4379976"/>
            <a:ext cx="3218688"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Latitude/longitude coordinates — map visualisations</a:t>
            </a:r>
            <a:endParaRPr lang="en-US" sz="1000" dirty="0"/>
          </a:p>
        </p:txBody>
      </p:sp>
      <p:sp>
        <p:nvSpPr>
          <p:cNvPr id="39" name="Text 37"/>
          <p:cNvSpPr/>
          <p:nvPr/>
        </p:nvSpPr>
        <p:spPr>
          <a:xfrm>
            <a:off x="5166360" y="4379976"/>
            <a:ext cx="356616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location.lat + location.lon</a:t>
            </a:r>
            <a:endParaRPr lang="en-US" sz="950" dirty="0"/>
          </a:p>
        </p:txBody>
      </p:sp>
      <p:sp>
        <p:nvSpPr>
          <p:cNvPr id="40" name="Shape 38"/>
          <p:cNvSpPr/>
          <p:nvPr/>
        </p:nvSpPr>
        <p:spPr>
          <a:xfrm>
            <a:off x="320040" y="4773168"/>
            <a:ext cx="8503920" cy="347472"/>
          </a:xfrm>
          <a:prstGeom prst="roundRect">
            <a:avLst>
              <a:gd name="adj" fmla="val 26316"/>
            </a:avLst>
          </a:prstGeom>
          <a:solidFill>
            <a:srgbClr val="FEF3C7"/>
          </a:solidFill>
          <a:ln w="12700">
            <a:solidFill>
              <a:srgbClr val="FCD34D"/>
            </a:solidFill>
            <a:prstDash val="solid"/>
          </a:ln>
          <a:effectLst>
            <a:outerShdw sx="100000" sy="100000" kx="0" ky="0" algn="bl" rotWithShape="0" blurRad="76200" dist="38100" dir="2700000">
              <a:srgbClr val="000000">
                <a:alpha val="10000"/>
              </a:srgbClr>
            </a:outerShdw>
          </a:effectLst>
        </p:spPr>
      </p:sp>
      <p:sp>
        <p:nvSpPr>
          <p:cNvPr id="41" name="Text 39"/>
          <p:cNvSpPr/>
          <p:nvPr/>
        </p:nvSpPr>
        <p:spPr>
          <a:xfrm>
            <a:off x="475488" y="4809744"/>
            <a:ext cx="8229600" cy="274320"/>
          </a:xfrm>
          <a:prstGeom prst="rect">
            <a:avLst/>
          </a:prstGeom>
          <a:noFill/>
          <a:ln/>
        </p:spPr>
        <p:txBody>
          <a:bodyPr wrap="square" lIns="0" tIns="0" rIns="0" bIns="0" rtlCol="0" anchor="ctr"/>
          <a:lstStyle/>
          <a:p>
            <a:pPr indent="0" marL="0">
              <a:buNone/>
            </a:pPr>
            <a:r>
              <a:rPr lang="en-US" sz="1000" b="1" dirty="0">
                <a:solidFill>
                  <a:srgbClr val="D97706"/>
                </a:solidFill>
                <a:latin typeface="Arial" pitchFamily="34" charset="0"/>
                <a:ea typeface="Arial" pitchFamily="34" charset="-122"/>
                <a:cs typeface="Arial" pitchFamily="34" charset="-120"/>
              </a:rPr>
              <a:t>⭐  text vs keyword: Use 'text' when users will search inside the value (log messages). Use 'keyword' for exact filtering (status_code: 200, method: GET). Wrong type = broken search.</a:t>
            </a:r>
            <a:endParaRPr lang="en-US" sz="1000" dirty="0"/>
          </a:p>
        </p:txBody>
      </p:sp>
      <p:sp>
        <p:nvSpPr>
          <p:cNvPr id="42" name="Shape 40"/>
          <p:cNvSpPr/>
          <p:nvPr/>
        </p:nvSpPr>
        <p:spPr>
          <a:xfrm>
            <a:off x="0" y="4846320"/>
            <a:ext cx="9144000" cy="297180"/>
          </a:xfrm>
          <a:prstGeom prst="rect">
            <a:avLst/>
          </a:prstGeom>
          <a:solidFill>
            <a:srgbClr val="0F172A"/>
          </a:solidFill>
          <a:ln w="12700">
            <a:solidFill>
              <a:srgbClr val="0F172A"/>
            </a:solidFill>
            <a:prstDash val="solid"/>
          </a:ln>
        </p:spPr>
      </p:sp>
      <p:sp>
        <p:nvSpPr>
          <p:cNvPr id="43" name="Text 41"/>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03: Elasticsearch Fundamentals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00BFB3"/>
          </a:solidFill>
          <a:ln w="12700">
            <a:solidFill>
              <a:srgbClr val="00BFB3"/>
            </a:solidFill>
            <a:prstDash val="solid"/>
          </a:ln>
        </p:spPr>
      </p:sp>
      <p:sp>
        <p:nvSpPr>
          <p:cNvPr id="3" name="Shape 1"/>
          <p:cNvSpPr/>
          <p:nvPr/>
        </p:nvSpPr>
        <p:spPr>
          <a:xfrm>
            <a:off x="5943600" y="-914400"/>
            <a:ext cx="4572000" cy="4572000"/>
          </a:xfrm>
          <a:prstGeom prst="ellipse">
            <a:avLst/>
          </a:prstGeom>
          <a:solidFill>
            <a:srgbClr val="00BFB3">
              <a:alpha val="10000"/>
            </a:srgbClr>
          </a:solidFill>
          <a:ln w="12700">
            <a:solidFill>
              <a:srgbClr val="00BFB3">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00BFB3"/>
                </a:solidFill>
                <a:latin typeface="Arial" pitchFamily="34" charset="0"/>
                <a:ea typeface="Arial" pitchFamily="34" charset="-122"/>
                <a:cs typeface="Arial" pitchFamily="34" charset="-120"/>
              </a:rPr>
              <a:t>SECTION 04</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Elasticsearch</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Architecture</a:t>
            </a:r>
            <a:endParaRPr lang="en-US" sz="44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Clusters, nodes, shards and replicas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CLUSTERS, NODES &amp; ROLES</a:t>
            </a:r>
            <a:endParaRPr lang="en-US" sz="2000" dirty="0"/>
          </a:p>
        </p:txBody>
      </p:sp>
      <p:sp>
        <p:nvSpPr>
          <p:cNvPr id="4" name="Shape 2"/>
          <p:cNvSpPr/>
          <p:nvPr/>
        </p:nvSpPr>
        <p:spPr>
          <a:xfrm>
            <a:off x="7178040" y="109728"/>
            <a:ext cx="1600200" cy="475488"/>
          </a:xfrm>
          <a:prstGeom prst="roundRect">
            <a:avLst>
              <a:gd name="adj" fmla="val 11538"/>
            </a:avLst>
          </a:prstGeom>
          <a:solidFill>
            <a:srgbClr val="00BFB3"/>
          </a:solidFill>
          <a:ln w="12700">
            <a:solidFill>
              <a:srgbClr val="00BFB3"/>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04  •  Architecture</a:t>
            </a:r>
            <a:endParaRPr lang="en-US" sz="950" dirty="0"/>
          </a:p>
        </p:txBody>
      </p:sp>
      <p:sp>
        <p:nvSpPr>
          <p:cNvPr id="6" name="Shape 4"/>
          <p:cNvSpPr/>
          <p:nvPr/>
        </p:nvSpPr>
        <p:spPr>
          <a:xfrm>
            <a:off x="320040" y="868680"/>
            <a:ext cx="8503920" cy="658368"/>
          </a:xfrm>
          <a:prstGeom prst="roundRect">
            <a:avLst>
              <a:gd name="adj" fmla="val 13889"/>
            </a:avLst>
          </a:prstGeom>
          <a:solidFill>
            <a:srgbClr val="E6FAF9"/>
          </a:solidFill>
          <a:ln w="12700">
            <a:solidFill>
              <a:srgbClr val="5EEAD4"/>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566928"/>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An Elasticsearch cluster is a group of nodes (servers) that together store your data and provide search capabilities. Each node has one or more roles that determine what it does.</a:t>
            </a:r>
            <a:endParaRPr lang="en-US" sz="1250" dirty="0"/>
          </a:p>
        </p:txBody>
      </p:sp>
      <p:sp>
        <p:nvSpPr>
          <p:cNvPr id="8" name="Shape 6"/>
          <p:cNvSpPr/>
          <p:nvPr/>
        </p:nvSpPr>
        <p:spPr>
          <a:xfrm>
            <a:off x="320040" y="1664208"/>
            <a:ext cx="8503920" cy="2240280"/>
          </a:xfrm>
          <a:prstGeom prst="roundRect">
            <a:avLst>
              <a:gd name="adj" fmla="val 4082"/>
            </a:avLst>
          </a:prstGeom>
          <a:solidFill>
            <a:srgbClr val="E6FAF9"/>
          </a:solidFill>
          <a:ln w="12700">
            <a:solidFill>
              <a:srgbClr val="5EEAD4"/>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755648"/>
            <a:ext cx="8229600" cy="256032"/>
          </a:xfrm>
          <a:prstGeom prst="rect">
            <a:avLst/>
          </a:prstGeom>
          <a:noFill/>
          <a:ln/>
        </p:spPr>
        <p:txBody>
          <a:bodyPr wrap="square" lIns="0" tIns="0" rIns="0" bIns="0" rtlCol="0" anchor="ctr"/>
          <a:lstStyle/>
          <a:p>
            <a:pPr indent="0" marL="0">
              <a:buNone/>
            </a:pPr>
            <a:r>
              <a:rPr lang="en-US" sz="1050" b="1" dirty="0">
                <a:solidFill>
                  <a:srgbClr val="00BFB3"/>
                </a:solidFill>
                <a:latin typeface="Arial" pitchFamily="34" charset="0"/>
                <a:ea typeface="Arial" pitchFamily="34" charset="-122"/>
                <a:cs typeface="Arial" pitchFamily="34" charset="-120"/>
              </a:rPr>
              <a:t>☸️  Elasticsearch Cluster</a:t>
            </a:r>
            <a:endParaRPr lang="en-US" sz="1050" dirty="0"/>
          </a:p>
        </p:txBody>
      </p:sp>
      <p:sp>
        <p:nvSpPr>
          <p:cNvPr id="10" name="Shape 8"/>
          <p:cNvSpPr/>
          <p:nvPr/>
        </p:nvSpPr>
        <p:spPr>
          <a:xfrm>
            <a:off x="502920" y="2084832"/>
            <a:ext cx="2633472" cy="1572768"/>
          </a:xfrm>
          <a:prstGeom prst="roundRect">
            <a:avLst>
              <a:gd name="adj" fmla="val 5814"/>
            </a:avLst>
          </a:prstGeom>
          <a:solidFill>
            <a:srgbClr val="DBEAFE"/>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1" name="Shape 9"/>
          <p:cNvSpPr/>
          <p:nvPr/>
        </p:nvSpPr>
        <p:spPr>
          <a:xfrm>
            <a:off x="612648" y="2176272"/>
            <a:ext cx="2395728" cy="292608"/>
          </a:xfrm>
          <a:prstGeom prst="roundRect">
            <a:avLst>
              <a:gd name="adj" fmla="val 18750"/>
            </a:avLst>
          </a:prstGeom>
          <a:solidFill>
            <a:srgbClr val="0077CC"/>
          </a:solidFill>
          <a:ln w="12700">
            <a:solidFill>
              <a:srgbClr val="0077CC"/>
            </a:solidFill>
            <a:prstDash val="solid"/>
          </a:ln>
        </p:spPr>
      </p:sp>
      <p:sp>
        <p:nvSpPr>
          <p:cNvPr id="12" name="Text 10"/>
          <p:cNvSpPr/>
          <p:nvPr/>
        </p:nvSpPr>
        <p:spPr>
          <a:xfrm>
            <a:off x="612648" y="2176272"/>
            <a:ext cx="239572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Master Node</a:t>
            </a:r>
            <a:endParaRPr lang="en-US" sz="1000" dirty="0"/>
          </a:p>
        </p:txBody>
      </p:sp>
      <p:sp>
        <p:nvSpPr>
          <p:cNvPr id="13" name="Text 11"/>
          <p:cNvSpPr/>
          <p:nvPr/>
        </p:nvSpPr>
        <p:spPr>
          <a:xfrm>
            <a:off x="640080" y="2542032"/>
            <a:ext cx="2377440" cy="8046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Manages cluster state</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Track indices and shards</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Elects primary shards</a:t>
            </a:r>
            <a:endParaRPr lang="en-US" sz="950" dirty="0"/>
          </a:p>
        </p:txBody>
      </p:sp>
      <p:sp>
        <p:nvSpPr>
          <p:cNvPr id="14" name="Shape 12"/>
          <p:cNvSpPr/>
          <p:nvPr/>
        </p:nvSpPr>
        <p:spPr>
          <a:xfrm>
            <a:off x="3337560" y="2084832"/>
            <a:ext cx="2633472" cy="1572768"/>
          </a:xfrm>
          <a:prstGeom prst="roundRect">
            <a:avLst>
              <a:gd name="adj" fmla="val 5814"/>
            </a:avLst>
          </a:prstGeom>
          <a:solidFill>
            <a:srgbClr val="E6FAF9"/>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5" name="Shape 13"/>
          <p:cNvSpPr/>
          <p:nvPr/>
        </p:nvSpPr>
        <p:spPr>
          <a:xfrm>
            <a:off x="3447288" y="2176272"/>
            <a:ext cx="2395728" cy="292608"/>
          </a:xfrm>
          <a:prstGeom prst="roundRect">
            <a:avLst>
              <a:gd name="adj" fmla="val 18750"/>
            </a:avLst>
          </a:prstGeom>
          <a:solidFill>
            <a:srgbClr val="00BFB3"/>
          </a:solidFill>
          <a:ln w="12700">
            <a:solidFill>
              <a:srgbClr val="00BFB3"/>
            </a:solidFill>
            <a:prstDash val="solid"/>
          </a:ln>
        </p:spPr>
      </p:sp>
      <p:sp>
        <p:nvSpPr>
          <p:cNvPr id="16" name="Text 14"/>
          <p:cNvSpPr/>
          <p:nvPr/>
        </p:nvSpPr>
        <p:spPr>
          <a:xfrm>
            <a:off x="3447288" y="2176272"/>
            <a:ext cx="239572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Data Node</a:t>
            </a:r>
            <a:endParaRPr lang="en-US" sz="1000" dirty="0"/>
          </a:p>
        </p:txBody>
      </p:sp>
      <p:sp>
        <p:nvSpPr>
          <p:cNvPr id="17" name="Text 15"/>
          <p:cNvSpPr/>
          <p:nvPr/>
        </p:nvSpPr>
        <p:spPr>
          <a:xfrm>
            <a:off x="3474720" y="2542032"/>
            <a:ext cx="2377440" cy="8046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Stores actual data</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Performs search queries</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Handles indexing</a:t>
            </a:r>
            <a:endParaRPr lang="en-US" sz="950" dirty="0"/>
          </a:p>
        </p:txBody>
      </p:sp>
      <p:sp>
        <p:nvSpPr>
          <p:cNvPr id="18" name="Shape 16"/>
          <p:cNvSpPr/>
          <p:nvPr/>
        </p:nvSpPr>
        <p:spPr>
          <a:xfrm>
            <a:off x="6172200" y="2084832"/>
            <a:ext cx="2633472" cy="1572768"/>
          </a:xfrm>
          <a:prstGeom prst="roundRect">
            <a:avLst>
              <a:gd name="adj" fmla="val 5814"/>
            </a:avLst>
          </a:prstGeom>
          <a:solidFill>
            <a:srgbClr val="EDE9FE"/>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9" name="Shape 17"/>
          <p:cNvSpPr/>
          <p:nvPr/>
        </p:nvSpPr>
        <p:spPr>
          <a:xfrm>
            <a:off x="6281928" y="2176272"/>
            <a:ext cx="2395728" cy="292608"/>
          </a:xfrm>
          <a:prstGeom prst="roundRect">
            <a:avLst>
              <a:gd name="adj" fmla="val 18750"/>
            </a:avLst>
          </a:prstGeom>
          <a:solidFill>
            <a:srgbClr val="7C3AED"/>
          </a:solidFill>
          <a:ln w="12700">
            <a:solidFill>
              <a:srgbClr val="7C3AED"/>
            </a:solidFill>
            <a:prstDash val="solid"/>
          </a:ln>
        </p:spPr>
      </p:sp>
      <p:sp>
        <p:nvSpPr>
          <p:cNvPr id="20" name="Text 18"/>
          <p:cNvSpPr/>
          <p:nvPr/>
        </p:nvSpPr>
        <p:spPr>
          <a:xfrm>
            <a:off x="6281928" y="2176272"/>
            <a:ext cx="239572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Coordinating Node</a:t>
            </a:r>
            <a:endParaRPr lang="en-US" sz="1000" dirty="0"/>
          </a:p>
        </p:txBody>
      </p:sp>
      <p:sp>
        <p:nvSpPr>
          <p:cNvPr id="21" name="Text 19"/>
          <p:cNvSpPr/>
          <p:nvPr/>
        </p:nvSpPr>
        <p:spPr>
          <a:xfrm>
            <a:off x="6309360" y="2542032"/>
            <a:ext cx="2377440" cy="8046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Routes requests</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Merges search results</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Load balancing</a:t>
            </a:r>
            <a:endParaRPr lang="en-US" sz="950" dirty="0"/>
          </a:p>
        </p:txBody>
      </p:sp>
      <p:sp>
        <p:nvSpPr>
          <p:cNvPr id="22" name="Shape 20"/>
          <p:cNvSpPr/>
          <p:nvPr/>
        </p:nvSpPr>
        <p:spPr>
          <a:xfrm>
            <a:off x="320040" y="4005072"/>
            <a:ext cx="8503920" cy="475488"/>
          </a:xfrm>
          <a:prstGeom prst="roundRect">
            <a:avLst>
              <a:gd name="adj" fmla="val 19231"/>
            </a:avLst>
          </a:prstGeom>
          <a:solidFill>
            <a:srgbClr val="FEF3C7"/>
          </a:solidFill>
          <a:ln w="12700">
            <a:solidFill>
              <a:srgbClr val="FCD34D"/>
            </a:solidFill>
            <a:prstDash val="solid"/>
          </a:ln>
          <a:effectLst>
            <a:outerShdw sx="100000" sy="100000" kx="0" ky="0" algn="bl" rotWithShape="0" blurRad="76200" dist="38100" dir="2700000">
              <a:srgbClr val="000000">
                <a:alpha val="10000"/>
              </a:srgbClr>
            </a:outerShdw>
          </a:effectLst>
        </p:spPr>
      </p:sp>
      <p:sp>
        <p:nvSpPr>
          <p:cNvPr id="23" name="Text 21"/>
          <p:cNvSpPr/>
          <p:nvPr/>
        </p:nvSpPr>
        <p:spPr>
          <a:xfrm>
            <a:off x="475488" y="4059936"/>
            <a:ext cx="8229600" cy="365760"/>
          </a:xfrm>
          <a:prstGeom prst="rect">
            <a:avLst/>
          </a:prstGeom>
          <a:noFill/>
          <a:ln/>
        </p:spPr>
        <p:txBody>
          <a:bodyPr wrap="square" lIns="0" tIns="0" rIns="0" bIns="0" rtlCol="0" anchor="ctr"/>
          <a:lstStyle/>
          <a:p>
            <a:pPr indent="0" marL="0">
              <a:buNone/>
            </a:pPr>
            <a:r>
              <a:rPr lang="en-US" sz="1050" dirty="0">
                <a:solidFill>
                  <a:srgbClr val="0F172A"/>
                </a:solidFill>
                <a:latin typeface="Arial" pitchFamily="34" charset="0"/>
                <a:ea typeface="Arial" pitchFamily="34" charset="-122"/>
                <a:cs typeface="Arial" pitchFamily="34" charset="-120"/>
              </a:rPr>
              <a:t>📌  In training (single-node): one Docker container does ALL roles — master, data and coordinating. In production: dedicated nodes per role for performance and resilience.</a:t>
            </a:r>
            <a:endParaRPr lang="en-US" sz="1050" dirty="0"/>
          </a:p>
        </p:txBody>
      </p:sp>
      <p:sp>
        <p:nvSpPr>
          <p:cNvPr id="24" name="Text 22"/>
          <p:cNvSpPr/>
          <p:nvPr/>
        </p:nvSpPr>
        <p:spPr>
          <a:xfrm>
            <a:off x="320040" y="4590288"/>
            <a:ext cx="3657600" cy="256032"/>
          </a:xfrm>
          <a:prstGeom prst="rect">
            <a:avLst/>
          </a:prstGeom>
          <a:noFill/>
          <a:ln/>
        </p:spPr>
        <p:txBody>
          <a:bodyPr wrap="square" lIns="0" tIns="0" rIns="0" bIns="0" rtlCol="0" anchor="ctr"/>
          <a:lstStyle/>
          <a:p>
            <a:pPr indent="0" marL="0">
              <a:buNone/>
            </a:pPr>
            <a:r>
              <a:rPr lang="en-US" sz="1100" b="1" dirty="0">
                <a:solidFill>
                  <a:srgbClr val="0F172A"/>
                </a:solidFill>
                <a:latin typeface="Cambria" pitchFamily="34" charset="0"/>
                <a:ea typeface="Cambria" pitchFamily="34" charset="-122"/>
                <a:cs typeface="Cambria" pitchFamily="34" charset="-120"/>
              </a:rPr>
              <a:t>Useful Cluster Commands</a:t>
            </a:r>
            <a:endParaRPr lang="en-US" sz="1100" dirty="0"/>
          </a:p>
        </p:txBody>
      </p:sp>
      <p:sp>
        <p:nvSpPr>
          <p:cNvPr id="25" name="Shape 23"/>
          <p:cNvSpPr/>
          <p:nvPr/>
        </p:nvSpPr>
        <p:spPr>
          <a:xfrm>
            <a:off x="0" y="4846320"/>
            <a:ext cx="9144000" cy="297180"/>
          </a:xfrm>
          <a:prstGeom prst="rect">
            <a:avLst/>
          </a:prstGeom>
          <a:solidFill>
            <a:srgbClr val="0F172A"/>
          </a:solidFill>
          <a:ln w="12700">
            <a:solidFill>
              <a:srgbClr val="0F172A"/>
            </a:solidFill>
            <a:prstDash val="solid"/>
          </a:ln>
        </p:spPr>
      </p:sp>
      <p:sp>
        <p:nvSpPr>
          <p:cNvPr id="26" name="Text 24"/>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04: Architecture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SHARDS &amp; REPLICAS</a:t>
            </a:r>
            <a:endParaRPr lang="en-US" sz="2000" dirty="0"/>
          </a:p>
        </p:txBody>
      </p:sp>
      <p:sp>
        <p:nvSpPr>
          <p:cNvPr id="4" name="Shape 2"/>
          <p:cNvSpPr/>
          <p:nvPr/>
        </p:nvSpPr>
        <p:spPr>
          <a:xfrm>
            <a:off x="7178040" y="109728"/>
            <a:ext cx="1600200" cy="475488"/>
          </a:xfrm>
          <a:prstGeom prst="roundRect">
            <a:avLst>
              <a:gd name="adj" fmla="val 11538"/>
            </a:avLst>
          </a:prstGeom>
          <a:solidFill>
            <a:srgbClr val="00BFB3"/>
          </a:solidFill>
          <a:ln w="12700">
            <a:solidFill>
              <a:srgbClr val="00BFB3"/>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04  •  Architecture</a:t>
            </a:r>
            <a:endParaRPr lang="en-US" sz="950" dirty="0"/>
          </a:p>
        </p:txBody>
      </p:sp>
      <p:sp>
        <p:nvSpPr>
          <p:cNvPr id="6" name="Shape 4"/>
          <p:cNvSpPr/>
          <p:nvPr/>
        </p:nvSpPr>
        <p:spPr>
          <a:xfrm>
            <a:off x="320040" y="868680"/>
            <a:ext cx="8503920" cy="713232"/>
          </a:xfrm>
          <a:prstGeom prst="roundRect">
            <a:avLst>
              <a:gd name="adj" fmla="val 12821"/>
            </a:avLst>
          </a:prstGeom>
          <a:solidFill>
            <a:srgbClr val="E6FAF9"/>
          </a:solidFill>
          <a:ln w="12700">
            <a:solidFill>
              <a:srgbClr val="5EEAD4"/>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621792"/>
          </a:xfrm>
          <a:prstGeom prst="rect">
            <a:avLst/>
          </a:prstGeom>
          <a:noFill/>
          <a:ln/>
        </p:spPr>
        <p:txBody>
          <a:bodyPr wrap="square" lIns="0" tIns="0" rIns="0" bIns="0" rtlCol="0" anchor="ctr"/>
          <a:lstStyle/>
          <a:p>
            <a:pPr indent="0" marL="0">
              <a:buNone/>
            </a:pPr>
            <a:r>
              <a:rPr lang="en-US" sz="1200" dirty="0">
                <a:solidFill>
                  <a:srgbClr val="0F172A"/>
                </a:solidFill>
                <a:latin typeface="Cambria" pitchFamily="34" charset="0"/>
                <a:ea typeface="Cambria" pitchFamily="34" charset="-122"/>
                <a:cs typeface="Cambria" pitchFamily="34" charset="-120"/>
              </a:rPr>
              <a:t>An index is divided into shards — smaller pieces distributed across nodes. Replicas are copies of shards — they provide redundancy and increase read throughput. Together they enable Elasticsearch to scale to billions of documents.</a:t>
            </a:r>
            <a:endParaRPr lang="en-US" sz="1200" dirty="0"/>
          </a:p>
        </p:txBody>
      </p:sp>
      <p:sp>
        <p:nvSpPr>
          <p:cNvPr id="8" name="Shape 6"/>
          <p:cNvSpPr/>
          <p:nvPr/>
        </p:nvSpPr>
        <p:spPr>
          <a:xfrm>
            <a:off x="320040" y="1719072"/>
            <a:ext cx="8503920" cy="2240280"/>
          </a:xfrm>
          <a:prstGeom prst="roundRect">
            <a:avLst>
              <a:gd name="adj" fmla="val 4082"/>
            </a:avLst>
          </a:prstGeom>
          <a:solidFill>
            <a:srgbClr val="E6FAF9"/>
          </a:solidFill>
          <a:ln w="12700">
            <a:solidFill>
              <a:srgbClr val="5EEAD4"/>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84632" y="1810512"/>
            <a:ext cx="8229600" cy="457200"/>
          </a:xfrm>
          <a:prstGeom prst="rect">
            <a:avLst/>
          </a:prstGeom>
          <a:noFill/>
          <a:ln/>
        </p:spPr>
        <p:txBody>
          <a:bodyPr wrap="square" lIns="0" tIns="0" rIns="0" bIns="0" rtlCol="0" anchor="ctr"/>
          <a:lstStyle/>
          <a:p>
            <a:pPr indent="0" marL="0">
              <a:buNone/>
            </a:pPr>
            <a:r>
              <a:rPr lang="en-US" sz="1050" b="1" dirty="0">
                <a:solidFill>
                  <a:srgbClr val="00BFB3"/>
                </a:solidFill>
                <a:latin typeface="Arial" pitchFamily="34" charset="0"/>
                <a:ea typeface="Arial" pitchFamily="34" charset="-122"/>
                <a:cs typeface="Arial" pitchFamily="34" charset="-120"/>
              </a:rPr>
              <a:t>Index: apache-logs</a:t>
            </a:r>
            <a:endParaRPr lang="en-US" sz="1050" dirty="0"/>
          </a:p>
          <a:p>
            <a:pPr indent="0" marL="0">
              <a:buNone/>
            </a:pPr>
            <a:r>
              <a:rPr lang="en-US" sz="1050" b="1" dirty="0">
                <a:solidFill>
                  <a:srgbClr val="00BFB3"/>
                </a:solidFill>
                <a:latin typeface="Arial" pitchFamily="34" charset="0"/>
                <a:ea typeface="Arial" pitchFamily="34" charset="-122"/>
                <a:cs typeface="Arial" pitchFamily="34" charset="-120"/>
              </a:rPr>
              <a:t>3 Shards, 1 Replica each</a:t>
            </a:r>
            <a:endParaRPr lang="en-US" sz="1050" dirty="0"/>
          </a:p>
        </p:txBody>
      </p:sp>
      <p:sp>
        <p:nvSpPr>
          <p:cNvPr id="10" name="Shape 8"/>
          <p:cNvSpPr/>
          <p:nvPr/>
        </p:nvSpPr>
        <p:spPr>
          <a:xfrm>
            <a:off x="548640" y="2340864"/>
            <a:ext cx="1261872" cy="1481328"/>
          </a:xfrm>
          <a:prstGeom prst="roundRect">
            <a:avLst>
              <a:gd name="adj" fmla="val 7246"/>
            </a:avLst>
          </a:prstGeom>
          <a:solidFill>
            <a:srgbClr val="E6FAF9"/>
          </a:solidFill>
          <a:ln w="12700">
            <a:solidFill>
              <a:srgbClr val="00BFB3"/>
            </a:solidFill>
            <a:prstDash val="solid"/>
          </a:ln>
          <a:effectLst>
            <a:outerShdw sx="100000" sy="100000" kx="0" ky="0" algn="bl" rotWithShape="0" blurRad="76200" dist="38100" dir="2700000">
              <a:srgbClr val="000000">
                <a:alpha val="10000"/>
              </a:srgbClr>
            </a:outerShdw>
          </a:effectLst>
        </p:spPr>
      </p:sp>
      <p:sp>
        <p:nvSpPr>
          <p:cNvPr id="11" name="Text 9"/>
          <p:cNvSpPr/>
          <p:nvPr/>
        </p:nvSpPr>
        <p:spPr>
          <a:xfrm>
            <a:off x="548640" y="2432304"/>
            <a:ext cx="1261872" cy="566928"/>
          </a:xfrm>
          <a:prstGeom prst="rect">
            <a:avLst/>
          </a:prstGeom>
          <a:noFill/>
          <a:ln/>
        </p:spPr>
        <p:txBody>
          <a:bodyPr wrap="square" lIns="0" tIns="0" rIns="0" bIns="0" rtlCol="0" anchor="ctr"/>
          <a:lstStyle/>
          <a:p>
            <a:pPr algn="ctr" indent="0" marL="0">
              <a:buNone/>
            </a:pPr>
            <a:r>
              <a:rPr lang="en-US" sz="900" b="1" dirty="0">
                <a:solidFill>
                  <a:srgbClr val="00BFB3"/>
                </a:solidFill>
                <a:latin typeface="Arial" pitchFamily="34" charset="0"/>
                <a:ea typeface="Arial" pitchFamily="34" charset="-122"/>
                <a:cs typeface="Arial" pitchFamily="34" charset="-120"/>
              </a:rPr>
              <a:t>Shard 0</a:t>
            </a:r>
            <a:endParaRPr lang="en-US" sz="900" dirty="0"/>
          </a:p>
          <a:p>
            <a:pPr algn="ctr" indent="0" marL="0">
              <a:buNone/>
            </a:pPr>
            <a:r>
              <a:rPr lang="en-US" sz="900" b="1" dirty="0">
                <a:solidFill>
                  <a:srgbClr val="00BFB3"/>
                </a:solidFill>
                <a:latin typeface="Arial" pitchFamily="34" charset="0"/>
                <a:ea typeface="Arial" pitchFamily="34" charset="-122"/>
                <a:cs typeface="Arial" pitchFamily="34" charset="-120"/>
              </a:rPr>
              <a:t>(Primary)</a:t>
            </a:r>
            <a:endParaRPr lang="en-US" sz="900" dirty="0"/>
          </a:p>
        </p:txBody>
      </p:sp>
      <p:sp>
        <p:nvSpPr>
          <p:cNvPr id="12" name="Text 10"/>
          <p:cNvSpPr/>
          <p:nvPr/>
        </p:nvSpPr>
        <p:spPr>
          <a:xfrm>
            <a:off x="548640" y="3044952"/>
            <a:ext cx="1261872" cy="658368"/>
          </a:xfrm>
          <a:prstGeom prst="rect">
            <a:avLst/>
          </a:prstGeom>
          <a:noFill/>
          <a:ln/>
        </p:spPr>
        <p:txBody>
          <a:bodyPr wrap="square" lIns="0" tIns="0" rIns="0" bIns="0"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Node 1</a:t>
            </a:r>
            <a:endParaRPr lang="en-US" sz="850" dirty="0"/>
          </a:p>
        </p:txBody>
      </p:sp>
      <p:sp>
        <p:nvSpPr>
          <p:cNvPr id="13" name="Shape 11"/>
          <p:cNvSpPr/>
          <p:nvPr/>
        </p:nvSpPr>
        <p:spPr>
          <a:xfrm>
            <a:off x="1938528" y="2340864"/>
            <a:ext cx="1261872" cy="1481328"/>
          </a:xfrm>
          <a:prstGeom prst="roundRect">
            <a:avLst>
              <a:gd name="adj" fmla="val 7246"/>
            </a:avLst>
          </a:prstGeom>
          <a:solidFill>
            <a:srgbClr val="E6FAF9"/>
          </a:solidFill>
          <a:ln w="12700">
            <a:solidFill>
              <a:srgbClr val="00BFB3"/>
            </a:solidFill>
            <a:prstDash val="solid"/>
          </a:ln>
          <a:effectLst>
            <a:outerShdw sx="100000" sy="100000" kx="0" ky="0" algn="bl" rotWithShape="0" blurRad="76200" dist="38100" dir="2700000">
              <a:srgbClr val="000000">
                <a:alpha val="10000"/>
              </a:srgbClr>
            </a:outerShdw>
          </a:effectLst>
        </p:spPr>
      </p:sp>
      <p:sp>
        <p:nvSpPr>
          <p:cNvPr id="14" name="Text 12"/>
          <p:cNvSpPr/>
          <p:nvPr/>
        </p:nvSpPr>
        <p:spPr>
          <a:xfrm>
            <a:off x="1938528" y="2432304"/>
            <a:ext cx="1261872" cy="566928"/>
          </a:xfrm>
          <a:prstGeom prst="rect">
            <a:avLst/>
          </a:prstGeom>
          <a:noFill/>
          <a:ln/>
        </p:spPr>
        <p:txBody>
          <a:bodyPr wrap="square" lIns="0" tIns="0" rIns="0" bIns="0" rtlCol="0" anchor="ctr"/>
          <a:lstStyle/>
          <a:p>
            <a:pPr algn="ctr" indent="0" marL="0">
              <a:buNone/>
            </a:pPr>
            <a:r>
              <a:rPr lang="en-US" sz="900" b="1" dirty="0">
                <a:solidFill>
                  <a:srgbClr val="00BFB3"/>
                </a:solidFill>
                <a:latin typeface="Arial" pitchFamily="34" charset="0"/>
                <a:ea typeface="Arial" pitchFamily="34" charset="-122"/>
                <a:cs typeface="Arial" pitchFamily="34" charset="-120"/>
              </a:rPr>
              <a:t>Shard 1</a:t>
            </a:r>
            <a:endParaRPr lang="en-US" sz="900" dirty="0"/>
          </a:p>
          <a:p>
            <a:pPr algn="ctr" indent="0" marL="0">
              <a:buNone/>
            </a:pPr>
            <a:r>
              <a:rPr lang="en-US" sz="900" b="1" dirty="0">
                <a:solidFill>
                  <a:srgbClr val="00BFB3"/>
                </a:solidFill>
                <a:latin typeface="Arial" pitchFamily="34" charset="0"/>
                <a:ea typeface="Arial" pitchFamily="34" charset="-122"/>
                <a:cs typeface="Arial" pitchFamily="34" charset="-120"/>
              </a:rPr>
              <a:t>(Primary)</a:t>
            </a:r>
            <a:endParaRPr lang="en-US" sz="900" dirty="0"/>
          </a:p>
        </p:txBody>
      </p:sp>
      <p:sp>
        <p:nvSpPr>
          <p:cNvPr id="15" name="Text 13"/>
          <p:cNvSpPr/>
          <p:nvPr/>
        </p:nvSpPr>
        <p:spPr>
          <a:xfrm>
            <a:off x="1938528" y="3044952"/>
            <a:ext cx="1261872" cy="658368"/>
          </a:xfrm>
          <a:prstGeom prst="rect">
            <a:avLst/>
          </a:prstGeom>
          <a:noFill/>
          <a:ln/>
        </p:spPr>
        <p:txBody>
          <a:bodyPr wrap="square" lIns="0" tIns="0" rIns="0" bIns="0"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Node 2</a:t>
            </a:r>
            <a:endParaRPr lang="en-US" sz="850" dirty="0"/>
          </a:p>
        </p:txBody>
      </p:sp>
      <p:sp>
        <p:nvSpPr>
          <p:cNvPr id="16" name="Shape 14"/>
          <p:cNvSpPr/>
          <p:nvPr/>
        </p:nvSpPr>
        <p:spPr>
          <a:xfrm>
            <a:off x="3328416" y="2340864"/>
            <a:ext cx="1261872" cy="1481328"/>
          </a:xfrm>
          <a:prstGeom prst="roundRect">
            <a:avLst>
              <a:gd name="adj" fmla="val 7246"/>
            </a:avLst>
          </a:prstGeom>
          <a:solidFill>
            <a:srgbClr val="E6FAF9"/>
          </a:solidFill>
          <a:ln w="12700">
            <a:solidFill>
              <a:srgbClr val="00BFB3"/>
            </a:solidFill>
            <a:prstDash val="solid"/>
          </a:ln>
          <a:effectLst>
            <a:outerShdw sx="100000" sy="100000" kx="0" ky="0" algn="bl" rotWithShape="0" blurRad="76200" dist="38100" dir="2700000">
              <a:srgbClr val="000000">
                <a:alpha val="10000"/>
              </a:srgbClr>
            </a:outerShdw>
          </a:effectLst>
        </p:spPr>
      </p:sp>
      <p:sp>
        <p:nvSpPr>
          <p:cNvPr id="17" name="Text 15"/>
          <p:cNvSpPr/>
          <p:nvPr/>
        </p:nvSpPr>
        <p:spPr>
          <a:xfrm>
            <a:off x="3328416" y="2432304"/>
            <a:ext cx="1261872" cy="566928"/>
          </a:xfrm>
          <a:prstGeom prst="rect">
            <a:avLst/>
          </a:prstGeom>
          <a:noFill/>
          <a:ln/>
        </p:spPr>
        <p:txBody>
          <a:bodyPr wrap="square" lIns="0" tIns="0" rIns="0" bIns="0" rtlCol="0" anchor="ctr"/>
          <a:lstStyle/>
          <a:p>
            <a:pPr algn="ctr" indent="0" marL="0">
              <a:buNone/>
            </a:pPr>
            <a:r>
              <a:rPr lang="en-US" sz="900" b="1" dirty="0">
                <a:solidFill>
                  <a:srgbClr val="00BFB3"/>
                </a:solidFill>
                <a:latin typeface="Arial" pitchFamily="34" charset="0"/>
                <a:ea typeface="Arial" pitchFamily="34" charset="-122"/>
                <a:cs typeface="Arial" pitchFamily="34" charset="-120"/>
              </a:rPr>
              <a:t>Shard 2</a:t>
            </a:r>
            <a:endParaRPr lang="en-US" sz="900" dirty="0"/>
          </a:p>
          <a:p>
            <a:pPr algn="ctr" indent="0" marL="0">
              <a:buNone/>
            </a:pPr>
            <a:r>
              <a:rPr lang="en-US" sz="900" b="1" dirty="0">
                <a:solidFill>
                  <a:srgbClr val="00BFB3"/>
                </a:solidFill>
                <a:latin typeface="Arial" pitchFamily="34" charset="0"/>
                <a:ea typeface="Arial" pitchFamily="34" charset="-122"/>
                <a:cs typeface="Arial" pitchFamily="34" charset="-120"/>
              </a:rPr>
              <a:t>(Primary)</a:t>
            </a:r>
            <a:endParaRPr lang="en-US" sz="900" dirty="0"/>
          </a:p>
        </p:txBody>
      </p:sp>
      <p:sp>
        <p:nvSpPr>
          <p:cNvPr id="18" name="Text 16"/>
          <p:cNvSpPr/>
          <p:nvPr/>
        </p:nvSpPr>
        <p:spPr>
          <a:xfrm>
            <a:off x="3328416" y="3044952"/>
            <a:ext cx="1261872" cy="658368"/>
          </a:xfrm>
          <a:prstGeom prst="rect">
            <a:avLst/>
          </a:prstGeom>
          <a:noFill/>
          <a:ln/>
        </p:spPr>
        <p:txBody>
          <a:bodyPr wrap="square" lIns="0" tIns="0" rIns="0" bIns="0"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Node 3</a:t>
            </a:r>
            <a:endParaRPr lang="en-US" sz="850" dirty="0"/>
          </a:p>
        </p:txBody>
      </p:sp>
      <p:sp>
        <p:nvSpPr>
          <p:cNvPr id="19" name="Shape 17"/>
          <p:cNvSpPr/>
          <p:nvPr/>
        </p:nvSpPr>
        <p:spPr>
          <a:xfrm>
            <a:off x="4718304" y="2340864"/>
            <a:ext cx="1261872" cy="1481328"/>
          </a:xfrm>
          <a:prstGeom prst="roundRect">
            <a:avLst>
              <a:gd name="adj" fmla="val 7246"/>
            </a:avLst>
          </a:prstGeom>
          <a:solidFill>
            <a:srgbClr val="EFF6FF"/>
          </a:solidFill>
          <a:ln w="12700">
            <a:solidFill>
              <a:srgbClr val="2563EB"/>
            </a:solidFill>
            <a:prstDash val="solid"/>
          </a:ln>
          <a:effectLst>
            <a:outerShdw sx="100000" sy="100000" kx="0" ky="0" algn="bl" rotWithShape="0" blurRad="76200" dist="38100" dir="2700000">
              <a:srgbClr val="000000">
                <a:alpha val="10000"/>
              </a:srgbClr>
            </a:outerShdw>
          </a:effectLst>
        </p:spPr>
      </p:sp>
      <p:sp>
        <p:nvSpPr>
          <p:cNvPr id="20" name="Text 18"/>
          <p:cNvSpPr/>
          <p:nvPr/>
        </p:nvSpPr>
        <p:spPr>
          <a:xfrm>
            <a:off x="4718304" y="2432304"/>
            <a:ext cx="1261872" cy="566928"/>
          </a:xfrm>
          <a:prstGeom prst="rect">
            <a:avLst/>
          </a:prstGeom>
          <a:noFill/>
          <a:ln/>
        </p:spPr>
        <p:txBody>
          <a:bodyPr wrap="square" lIns="0" tIns="0" rIns="0" bIns="0"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Shard 0</a:t>
            </a:r>
            <a:endParaRPr lang="en-US" sz="900" dirty="0"/>
          </a:p>
          <a:p>
            <a:pPr algn="ctr" indent="0" marL="0">
              <a:buNone/>
            </a:pPr>
            <a:r>
              <a:rPr lang="en-US" sz="900" b="1" dirty="0">
                <a:solidFill>
                  <a:srgbClr val="2563EB"/>
                </a:solidFill>
                <a:latin typeface="Arial" pitchFamily="34" charset="0"/>
                <a:ea typeface="Arial" pitchFamily="34" charset="-122"/>
                <a:cs typeface="Arial" pitchFamily="34" charset="-120"/>
              </a:rPr>
              <a:t>(Replica)</a:t>
            </a:r>
            <a:endParaRPr lang="en-US" sz="900" dirty="0"/>
          </a:p>
        </p:txBody>
      </p:sp>
      <p:sp>
        <p:nvSpPr>
          <p:cNvPr id="21" name="Text 19"/>
          <p:cNvSpPr/>
          <p:nvPr/>
        </p:nvSpPr>
        <p:spPr>
          <a:xfrm>
            <a:off x="4718304" y="3044952"/>
            <a:ext cx="1261872" cy="658368"/>
          </a:xfrm>
          <a:prstGeom prst="rect">
            <a:avLst/>
          </a:prstGeom>
          <a:noFill/>
          <a:ln/>
        </p:spPr>
        <p:txBody>
          <a:bodyPr wrap="square" lIns="0" tIns="0" rIns="0" bIns="0"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Node 2</a:t>
            </a:r>
            <a:endParaRPr lang="en-US" sz="850" dirty="0"/>
          </a:p>
        </p:txBody>
      </p:sp>
      <p:sp>
        <p:nvSpPr>
          <p:cNvPr id="22" name="Shape 20"/>
          <p:cNvSpPr/>
          <p:nvPr/>
        </p:nvSpPr>
        <p:spPr>
          <a:xfrm>
            <a:off x="6108192" y="2340864"/>
            <a:ext cx="1261872" cy="1481328"/>
          </a:xfrm>
          <a:prstGeom prst="roundRect">
            <a:avLst>
              <a:gd name="adj" fmla="val 7246"/>
            </a:avLst>
          </a:prstGeom>
          <a:solidFill>
            <a:srgbClr val="EFF6FF"/>
          </a:solidFill>
          <a:ln w="12700">
            <a:solidFill>
              <a:srgbClr val="2563EB"/>
            </a:solidFill>
            <a:prstDash val="solid"/>
          </a:ln>
          <a:effectLst>
            <a:outerShdw sx="100000" sy="100000" kx="0" ky="0" algn="bl" rotWithShape="0" blurRad="76200" dist="38100" dir="2700000">
              <a:srgbClr val="000000">
                <a:alpha val="10000"/>
              </a:srgbClr>
            </a:outerShdw>
          </a:effectLst>
        </p:spPr>
      </p:sp>
      <p:sp>
        <p:nvSpPr>
          <p:cNvPr id="23" name="Text 21"/>
          <p:cNvSpPr/>
          <p:nvPr/>
        </p:nvSpPr>
        <p:spPr>
          <a:xfrm>
            <a:off x="6108192" y="2432304"/>
            <a:ext cx="1261872" cy="566928"/>
          </a:xfrm>
          <a:prstGeom prst="rect">
            <a:avLst/>
          </a:prstGeom>
          <a:noFill/>
          <a:ln/>
        </p:spPr>
        <p:txBody>
          <a:bodyPr wrap="square" lIns="0" tIns="0" rIns="0" bIns="0"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Shard 1</a:t>
            </a:r>
            <a:endParaRPr lang="en-US" sz="900" dirty="0"/>
          </a:p>
          <a:p>
            <a:pPr algn="ctr" indent="0" marL="0">
              <a:buNone/>
            </a:pPr>
            <a:r>
              <a:rPr lang="en-US" sz="900" b="1" dirty="0">
                <a:solidFill>
                  <a:srgbClr val="2563EB"/>
                </a:solidFill>
                <a:latin typeface="Arial" pitchFamily="34" charset="0"/>
                <a:ea typeface="Arial" pitchFamily="34" charset="-122"/>
                <a:cs typeface="Arial" pitchFamily="34" charset="-120"/>
              </a:rPr>
              <a:t>(Replica)</a:t>
            </a:r>
            <a:endParaRPr lang="en-US" sz="900" dirty="0"/>
          </a:p>
        </p:txBody>
      </p:sp>
      <p:sp>
        <p:nvSpPr>
          <p:cNvPr id="24" name="Text 22"/>
          <p:cNvSpPr/>
          <p:nvPr/>
        </p:nvSpPr>
        <p:spPr>
          <a:xfrm>
            <a:off x="6108192" y="3044952"/>
            <a:ext cx="1261872" cy="658368"/>
          </a:xfrm>
          <a:prstGeom prst="rect">
            <a:avLst/>
          </a:prstGeom>
          <a:noFill/>
          <a:ln/>
        </p:spPr>
        <p:txBody>
          <a:bodyPr wrap="square" lIns="0" tIns="0" rIns="0" bIns="0"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Node 3</a:t>
            </a:r>
            <a:endParaRPr lang="en-US" sz="850" dirty="0"/>
          </a:p>
        </p:txBody>
      </p:sp>
      <p:sp>
        <p:nvSpPr>
          <p:cNvPr id="25" name="Shape 23"/>
          <p:cNvSpPr/>
          <p:nvPr/>
        </p:nvSpPr>
        <p:spPr>
          <a:xfrm>
            <a:off x="7498080" y="2340864"/>
            <a:ext cx="1261872" cy="1481328"/>
          </a:xfrm>
          <a:prstGeom prst="roundRect">
            <a:avLst>
              <a:gd name="adj" fmla="val 7246"/>
            </a:avLst>
          </a:prstGeom>
          <a:solidFill>
            <a:srgbClr val="EFF6FF"/>
          </a:solidFill>
          <a:ln w="12700">
            <a:solidFill>
              <a:srgbClr val="2563EB"/>
            </a:solidFill>
            <a:prstDash val="solid"/>
          </a:ln>
          <a:effectLst>
            <a:outerShdw sx="100000" sy="100000" kx="0" ky="0" algn="bl" rotWithShape="0" blurRad="76200" dist="38100" dir="2700000">
              <a:srgbClr val="000000">
                <a:alpha val="10000"/>
              </a:srgbClr>
            </a:outerShdw>
          </a:effectLst>
        </p:spPr>
      </p:sp>
      <p:sp>
        <p:nvSpPr>
          <p:cNvPr id="26" name="Text 24"/>
          <p:cNvSpPr/>
          <p:nvPr/>
        </p:nvSpPr>
        <p:spPr>
          <a:xfrm>
            <a:off x="7498080" y="2432304"/>
            <a:ext cx="1261872" cy="566928"/>
          </a:xfrm>
          <a:prstGeom prst="rect">
            <a:avLst/>
          </a:prstGeom>
          <a:noFill/>
          <a:ln/>
        </p:spPr>
        <p:txBody>
          <a:bodyPr wrap="square" lIns="0" tIns="0" rIns="0" bIns="0"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Shard 2</a:t>
            </a:r>
            <a:endParaRPr lang="en-US" sz="900" dirty="0"/>
          </a:p>
          <a:p>
            <a:pPr algn="ctr" indent="0" marL="0">
              <a:buNone/>
            </a:pPr>
            <a:r>
              <a:rPr lang="en-US" sz="900" b="1" dirty="0">
                <a:solidFill>
                  <a:srgbClr val="2563EB"/>
                </a:solidFill>
                <a:latin typeface="Arial" pitchFamily="34" charset="0"/>
                <a:ea typeface="Arial" pitchFamily="34" charset="-122"/>
                <a:cs typeface="Arial" pitchFamily="34" charset="-120"/>
              </a:rPr>
              <a:t>(Replica)</a:t>
            </a:r>
            <a:endParaRPr lang="en-US" sz="900" dirty="0"/>
          </a:p>
        </p:txBody>
      </p:sp>
      <p:sp>
        <p:nvSpPr>
          <p:cNvPr id="27" name="Text 25"/>
          <p:cNvSpPr/>
          <p:nvPr/>
        </p:nvSpPr>
        <p:spPr>
          <a:xfrm>
            <a:off x="7498080" y="3044952"/>
            <a:ext cx="1261872" cy="658368"/>
          </a:xfrm>
          <a:prstGeom prst="rect">
            <a:avLst/>
          </a:prstGeom>
          <a:noFill/>
          <a:ln/>
        </p:spPr>
        <p:txBody>
          <a:bodyPr wrap="square" lIns="0" tIns="0" rIns="0" bIns="0"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Node 1</a:t>
            </a:r>
            <a:endParaRPr lang="en-US" sz="850" dirty="0"/>
          </a:p>
        </p:txBody>
      </p:sp>
      <p:sp>
        <p:nvSpPr>
          <p:cNvPr id="28" name="Shape 26"/>
          <p:cNvSpPr/>
          <p:nvPr/>
        </p:nvSpPr>
        <p:spPr>
          <a:xfrm>
            <a:off x="320040" y="4069080"/>
            <a:ext cx="411480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9" name="Text 27"/>
          <p:cNvSpPr/>
          <p:nvPr/>
        </p:nvSpPr>
        <p:spPr>
          <a:xfrm>
            <a:off x="457200" y="4123944"/>
            <a:ext cx="3840480" cy="256032"/>
          </a:xfrm>
          <a:prstGeom prst="rect">
            <a:avLst/>
          </a:prstGeom>
          <a:noFill/>
          <a:ln/>
        </p:spPr>
        <p:txBody>
          <a:bodyPr wrap="square" lIns="0" tIns="0" rIns="0" bIns="0" rtlCol="0" anchor="ctr"/>
          <a:lstStyle/>
          <a:p>
            <a:pPr indent="0" marL="0">
              <a:buNone/>
            </a:pPr>
            <a:r>
              <a:rPr lang="en-US" sz="1100" b="1" dirty="0">
                <a:solidFill>
                  <a:srgbClr val="0F172A"/>
                </a:solidFill>
                <a:latin typeface="Arial" pitchFamily="34" charset="0"/>
                <a:ea typeface="Arial" pitchFamily="34" charset="-122"/>
                <a:cs typeface="Arial" pitchFamily="34" charset="-120"/>
              </a:rPr>
              <a:t>⚡  Primary shards handle writes</a:t>
            </a:r>
            <a:endParaRPr lang="en-US" sz="1100" dirty="0"/>
          </a:p>
        </p:txBody>
      </p:sp>
      <p:sp>
        <p:nvSpPr>
          <p:cNvPr id="30" name="Text 28"/>
          <p:cNvSpPr/>
          <p:nvPr/>
        </p:nvSpPr>
        <p:spPr>
          <a:xfrm>
            <a:off x="457200" y="4398264"/>
            <a:ext cx="3840480" cy="201168"/>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All indexing goes to primary shards first, then replicates.</a:t>
            </a:r>
            <a:endParaRPr lang="en-US" sz="950" dirty="0"/>
          </a:p>
        </p:txBody>
      </p:sp>
      <p:sp>
        <p:nvSpPr>
          <p:cNvPr id="31" name="Shape 29"/>
          <p:cNvSpPr/>
          <p:nvPr/>
        </p:nvSpPr>
        <p:spPr>
          <a:xfrm>
            <a:off x="4709160" y="4069080"/>
            <a:ext cx="411480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2" name="Text 30"/>
          <p:cNvSpPr/>
          <p:nvPr/>
        </p:nvSpPr>
        <p:spPr>
          <a:xfrm>
            <a:off x="4846320" y="4123944"/>
            <a:ext cx="3840480" cy="256032"/>
          </a:xfrm>
          <a:prstGeom prst="rect">
            <a:avLst/>
          </a:prstGeom>
          <a:noFill/>
          <a:ln/>
        </p:spPr>
        <p:txBody>
          <a:bodyPr wrap="square" lIns="0" tIns="0" rIns="0" bIns="0" rtlCol="0" anchor="ctr"/>
          <a:lstStyle/>
          <a:p>
            <a:pPr indent="0" marL="0">
              <a:buNone/>
            </a:pPr>
            <a:r>
              <a:rPr lang="en-US" sz="1100" b="1" dirty="0">
                <a:solidFill>
                  <a:srgbClr val="0F172A"/>
                </a:solidFill>
                <a:latin typeface="Arial" pitchFamily="34" charset="0"/>
                <a:ea typeface="Arial" pitchFamily="34" charset="-122"/>
                <a:cs typeface="Arial" pitchFamily="34" charset="-120"/>
              </a:rPr>
              <a:t>📖  Replicas handle reads</a:t>
            </a:r>
            <a:endParaRPr lang="en-US" sz="1100" dirty="0"/>
          </a:p>
        </p:txBody>
      </p:sp>
      <p:sp>
        <p:nvSpPr>
          <p:cNvPr id="33" name="Text 31"/>
          <p:cNvSpPr/>
          <p:nvPr/>
        </p:nvSpPr>
        <p:spPr>
          <a:xfrm>
            <a:off x="4846320" y="4398264"/>
            <a:ext cx="3840480" cy="201168"/>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Search queries can be served by any shard — primary or replica.</a:t>
            </a:r>
            <a:endParaRPr lang="en-US" sz="950" dirty="0"/>
          </a:p>
        </p:txBody>
      </p:sp>
      <p:sp>
        <p:nvSpPr>
          <p:cNvPr id="34" name="Shape 32"/>
          <p:cNvSpPr/>
          <p:nvPr/>
        </p:nvSpPr>
        <p:spPr>
          <a:xfrm>
            <a:off x="320040" y="4727448"/>
            <a:ext cx="411480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5" name="Text 33"/>
          <p:cNvSpPr/>
          <p:nvPr/>
        </p:nvSpPr>
        <p:spPr>
          <a:xfrm>
            <a:off x="457200" y="4782312"/>
            <a:ext cx="3840480" cy="256032"/>
          </a:xfrm>
          <a:prstGeom prst="rect">
            <a:avLst/>
          </a:prstGeom>
          <a:noFill/>
          <a:ln/>
        </p:spPr>
        <p:txBody>
          <a:bodyPr wrap="square" lIns="0" tIns="0" rIns="0" bIns="0" rtlCol="0" anchor="ctr"/>
          <a:lstStyle/>
          <a:p>
            <a:pPr indent="0" marL="0">
              <a:buNone/>
            </a:pPr>
            <a:r>
              <a:rPr lang="en-US" sz="1100" b="1" dirty="0">
                <a:solidFill>
                  <a:srgbClr val="0F172A"/>
                </a:solidFill>
                <a:latin typeface="Arial" pitchFamily="34" charset="0"/>
                <a:ea typeface="Arial" pitchFamily="34" charset="-122"/>
                <a:cs typeface="Arial" pitchFamily="34" charset="-120"/>
              </a:rPr>
              <a:t>🛡️  Replicas provide resilience</a:t>
            </a:r>
            <a:endParaRPr lang="en-US" sz="1100" dirty="0"/>
          </a:p>
        </p:txBody>
      </p:sp>
      <p:sp>
        <p:nvSpPr>
          <p:cNvPr id="36" name="Text 34"/>
          <p:cNvSpPr/>
          <p:nvPr/>
        </p:nvSpPr>
        <p:spPr>
          <a:xfrm>
            <a:off x="457200" y="5056632"/>
            <a:ext cx="3840480" cy="201168"/>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If a node fails, replicas on other nodes take over — no data loss.</a:t>
            </a:r>
            <a:endParaRPr lang="en-US" sz="950" dirty="0"/>
          </a:p>
        </p:txBody>
      </p:sp>
      <p:sp>
        <p:nvSpPr>
          <p:cNvPr id="37" name="Shape 35"/>
          <p:cNvSpPr/>
          <p:nvPr/>
        </p:nvSpPr>
        <p:spPr>
          <a:xfrm>
            <a:off x="4709160" y="4727448"/>
            <a:ext cx="411480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8" name="Text 36"/>
          <p:cNvSpPr/>
          <p:nvPr/>
        </p:nvSpPr>
        <p:spPr>
          <a:xfrm>
            <a:off x="4846320" y="4782312"/>
            <a:ext cx="3840480" cy="256032"/>
          </a:xfrm>
          <a:prstGeom prst="rect">
            <a:avLst/>
          </a:prstGeom>
          <a:noFill/>
          <a:ln/>
        </p:spPr>
        <p:txBody>
          <a:bodyPr wrap="square" lIns="0" tIns="0" rIns="0" bIns="0" rtlCol="0" anchor="ctr"/>
          <a:lstStyle/>
          <a:p>
            <a:pPr indent="0" marL="0">
              <a:buNone/>
            </a:pPr>
            <a:r>
              <a:rPr lang="en-US" sz="1100" b="1" dirty="0">
                <a:solidFill>
                  <a:srgbClr val="0F172A"/>
                </a:solidFill>
                <a:latin typeface="Arial" pitchFamily="34" charset="0"/>
                <a:ea typeface="Arial" pitchFamily="34" charset="-122"/>
                <a:cs typeface="Arial" pitchFamily="34" charset="-120"/>
              </a:rPr>
              <a:t>⚠️  Shard count is fixed</a:t>
            </a:r>
            <a:endParaRPr lang="en-US" sz="1100" dirty="0"/>
          </a:p>
        </p:txBody>
      </p:sp>
      <p:sp>
        <p:nvSpPr>
          <p:cNvPr id="39" name="Text 37"/>
          <p:cNvSpPr/>
          <p:nvPr/>
        </p:nvSpPr>
        <p:spPr>
          <a:xfrm>
            <a:off x="4846320" y="5056632"/>
            <a:ext cx="3840480" cy="201168"/>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You cannot change shard count after index creation. Plan upfront.</a:t>
            </a:r>
            <a:endParaRPr lang="en-US" sz="950" dirty="0"/>
          </a:p>
        </p:txBody>
      </p:sp>
      <p:sp>
        <p:nvSpPr>
          <p:cNvPr id="40" name="Shape 38"/>
          <p:cNvSpPr/>
          <p:nvPr/>
        </p:nvSpPr>
        <p:spPr>
          <a:xfrm>
            <a:off x="0" y="4846320"/>
            <a:ext cx="9144000" cy="297180"/>
          </a:xfrm>
          <a:prstGeom prst="rect">
            <a:avLst/>
          </a:prstGeom>
          <a:solidFill>
            <a:srgbClr val="0F172A"/>
          </a:solidFill>
          <a:ln w="12700">
            <a:solidFill>
              <a:srgbClr val="0F172A"/>
            </a:solidFill>
            <a:prstDash val="solid"/>
          </a:ln>
        </p:spPr>
      </p:sp>
      <p:sp>
        <p:nvSpPr>
          <p:cNvPr id="41" name="Text 3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04: Architecture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00BFB3"/>
          </a:solidFill>
          <a:ln w="12700">
            <a:solidFill>
              <a:srgbClr val="00BFB3"/>
            </a:solidFill>
            <a:prstDash val="solid"/>
          </a:ln>
        </p:spPr>
      </p:sp>
      <p:sp>
        <p:nvSpPr>
          <p:cNvPr id="3" name="Shape 1"/>
          <p:cNvSpPr/>
          <p:nvPr/>
        </p:nvSpPr>
        <p:spPr>
          <a:xfrm>
            <a:off x="5943600" y="-914400"/>
            <a:ext cx="4572000" cy="4572000"/>
          </a:xfrm>
          <a:prstGeom prst="ellipse">
            <a:avLst/>
          </a:prstGeom>
          <a:solidFill>
            <a:srgbClr val="00BFB3">
              <a:alpha val="10000"/>
            </a:srgbClr>
          </a:solidFill>
          <a:ln w="12700">
            <a:solidFill>
              <a:srgbClr val="00BFB3">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00BFB3"/>
                </a:solidFill>
                <a:latin typeface="Arial" pitchFamily="34" charset="0"/>
                <a:ea typeface="Arial" pitchFamily="34" charset="-122"/>
                <a:cs typeface="Arial" pitchFamily="34" charset="-120"/>
              </a:rPr>
              <a:t>SECTION 05</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Elasticsearch</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Querying</a:t>
            </a:r>
            <a:endParaRPr lang="en-US" sz="44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REST API and Query DSL — finding your data</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ELASTICSEARCH REST API</a:t>
            </a:r>
            <a:endParaRPr lang="en-US" sz="2000" dirty="0"/>
          </a:p>
        </p:txBody>
      </p:sp>
      <p:sp>
        <p:nvSpPr>
          <p:cNvPr id="4" name="Shape 2"/>
          <p:cNvSpPr/>
          <p:nvPr/>
        </p:nvSpPr>
        <p:spPr>
          <a:xfrm>
            <a:off x="7178040" y="109728"/>
            <a:ext cx="1600200" cy="475488"/>
          </a:xfrm>
          <a:prstGeom prst="roundRect">
            <a:avLst>
              <a:gd name="adj" fmla="val 11538"/>
            </a:avLst>
          </a:prstGeom>
          <a:solidFill>
            <a:srgbClr val="00BFB3"/>
          </a:solidFill>
          <a:ln w="12700">
            <a:solidFill>
              <a:srgbClr val="00BFB3"/>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05  •  Querying</a:t>
            </a:r>
            <a:endParaRPr lang="en-US" sz="950" dirty="0"/>
          </a:p>
        </p:txBody>
      </p:sp>
      <p:sp>
        <p:nvSpPr>
          <p:cNvPr id="6" name="Shape 4"/>
          <p:cNvSpPr/>
          <p:nvPr/>
        </p:nvSpPr>
        <p:spPr>
          <a:xfrm>
            <a:off x="320040" y="868680"/>
            <a:ext cx="8503920" cy="566928"/>
          </a:xfrm>
          <a:prstGeom prst="roundRect">
            <a:avLst>
              <a:gd name="adj" fmla="val 16129"/>
            </a:avLst>
          </a:prstGeom>
          <a:solidFill>
            <a:srgbClr val="E6FAF9"/>
          </a:solidFill>
          <a:ln w="12700">
            <a:solidFill>
              <a:srgbClr val="5EEAD4"/>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475488"/>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Elasticsearch exposes a REST API. Every operation — indexing, searching, deleting — is an HTTP request. curl, Postman, Dev Tools in Kibana all work.</a:t>
            </a:r>
            <a:endParaRPr lang="en-US" sz="1250" dirty="0"/>
          </a:p>
        </p:txBody>
      </p:sp>
      <p:sp>
        <p:nvSpPr>
          <p:cNvPr id="8" name="Text 6"/>
          <p:cNvSpPr/>
          <p:nvPr/>
        </p:nvSpPr>
        <p:spPr>
          <a:xfrm>
            <a:off x="320040" y="1554480"/>
            <a:ext cx="3657600" cy="292608"/>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API Pattern</a:t>
            </a:r>
            <a:endParaRPr lang="en-US" sz="1200" dirty="0"/>
          </a:p>
        </p:txBody>
      </p:sp>
      <p:sp>
        <p:nvSpPr>
          <p:cNvPr id="9" name="Shape 7"/>
          <p:cNvSpPr/>
          <p:nvPr/>
        </p:nvSpPr>
        <p:spPr>
          <a:xfrm>
            <a:off x="320040" y="1901952"/>
            <a:ext cx="8503920" cy="530352"/>
          </a:xfrm>
          <a:prstGeom prst="roundRect">
            <a:avLst>
              <a:gd name="adj" fmla="val 17241"/>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10" name="Text 8"/>
          <p:cNvSpPr/>
          <p:nvPr/>
        </p:nvSpPr>
        <p:spPr>
          <a:xfrm>
            <a:off x="475488" y="2011680"/>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HTTP_VERB  http://localhost:9200/[index]/_[action]  -d '{JSON body}'</a:t>
            </a:r>
            <a:endParaRPr lang="en-US" sz="950" dirty="0"/>
          </a:p>
        </p:txBody>
      </p:sp>
      <p:sp>
        <p:nvSpPr>
          <p:cNvPr id="11" name="Text 9"/>
          <p:cNvSpPr/>
          <p:nvPr/>
        </p:nvSpPr>
        <p:spPr>
          <a:xfrm>
            <a:off x="320040" y="2578608"/>
            <a:ext cx="3657600" cy="292608"/>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Common API Calls</a:t>
            </a:r>
            <a:endParaRPr lang="en-US" sz="1200" dirty="0"/>
          </a:p>
        </p:txBody>
      </p:sp>
      <p:sp>
        <p:nvSpPr>
          <p:cNvPr id="12" name="Shape 10"/>
          <p:cNvSpPr/>
          <p:nvPr/>
        </p:nvSpPr>
        <p:spPr>
          <a:xfrm>
            <a:off x="320040" y="2926080"/>
            <a:ext cx="8503920" cy="329184"/>
          </a:xfrm>
          <a:prstGeom prst="rect">
            <a:avLst/>
          </a:prstGeom>
          <a:solidFill>
            <a:srgbClr val="0F172A"/>
          </a:solidFill>
          <a:ln w="12700">
            <a:solidFill>
              <a:srgbClr val="0F172A"/>
            </a:solidFill>
            <a:prstDash val="solid"/>
          </a:ln>
        </p:spPr>
      </p:sp>
      <p:sp>
        <p:nvSpPr>
          <p:cNvPr id="13" name="Text 11"/>
          <p:cNvSpPr/>
          <p:nvPr/>
        </p:nvSpPr>
        <p:spPr>
          <a:xfrm>
            <a:off x="411480" y="2953512"/>
            <a:ext cx="841248"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Method</a:t>
            </a:r>
            <a:endParaRPr lang="en-US" sz="1000" dirty="0"/>
          </a:p>
        </p:txBody>
      </p:sp>
      <p:sp>
        <p:nvSpPr>
          <p:cNvPr id="14" name="Text 12"/>
          <p:cNvSpPr/>
          <p:nvPr/>
        </p:nvSpPr>
        <p:spPr>
          <a:xfrm>
            <a:off x="1325880" y="2953512"/>
            <a:ext cx="3035808"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Endpoint</a:t>
            </a:r>
            <a:endParaRPr lang="en-US" sz="1000" dirty="0"/>
          </a:p>
        </p:txBody>
      </p:sp>
      <p:sp>
        <p:nvSpPr>
          <p:cNvPr id="15" name="Text 13"/>
          <p:cNvSpPr/>
          <p:nvPr/>
        </p:nvSpPr>
        <p:spPr>
          <a:xfrm>
            <a:off x="4434840" y="2953512"/>
            <a:ext cx="4315968"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Action</a:t>
            </a:r>
            <a:endParaRPr lang="en-US" sz="1000" dirty="0"/>
          </a:p>
        </p:txBody>
      </p:sp>
      <p:sp>
        <p:nvSpPr>
          <p:cNvPr id="16" name="Shape 14"/>
          <p:cNvSpPr/>
          <p:nvPr/>
        </p:nvSpPr>
        <p:spPr>
          <a:xfrm>
            <a:off x="320040" y="3291840"/>
            <a:ext cx="8503920" cy="201168"/>
          </a:xfrm>
          <a:prstGeom prst="rect">
            <a:avLst/>
          </a:prstGeom>
          <a:solidFill>
            <a:srgbClr val="FFFFFF"/>
          </a:solidFill>
          <a:ln w="12700">
            <a:solidFill>
              <a:srgbClr val="E2E8F0"/>
            </a:solidFill>
            <a:prstDash val="solid"/>
          </a:ln>
        </p:spPr>
      </p:sp>
      <p:sp>
        <p:nvSpPr>
          <p:cNvPr id="17" name="Text 15"/>
          <p:cNvSpPr/>
          <p:nvPr/>
        </p:nvSpPr>
        <p:spPr>
          <a:xfrm>
            <a:off x="411480" y="3310128"/>
            <a:ext cx="841248" cy="164592"/>
          </a:xfrm>
          <a:prstGeom prst="rect">
            <a:avLst/>
          </a:prstGeom>
          <a:noFill/>
          <a:ln/>
        </p:spPr>
        <p:txBody>
          <a:bodyPr wrap="square" lIns="0" tIns="0" rIns="0" bIns="0" rtlCol="0" anchor="ctr"/>
          <a:lstStyle/>
          <a:p>
            <a:pPr indent="0" marL="0">
              <a:buNone/>
            </a:pPr>
            <a:r>
              <a:rPr lang="en-US" sz="850" b="1" dirty="0">
                <a:solidFill>
                  <a:srgbClr val="00BFB3"/>
                </a:solidFill>
                <a:latin typeface="Courier New" pitchFamily="34" charset="0"/>
                <a:ea typeface="Courier New" pitchFamily="34" charset="-122"/>
                <a:cs typeface="Courier New" pitchFamily="34" charset="-120"/>
              </a:rPr>
              <a:t>GET</a:t>
            </a:r>
            <a:endParaRPr lang="en-US" sz="850" dirty="0"/>
          </a:p>
        </p:txBody>
      </p:sp>
      <p:sp>
        <p:nvSpPr>
          <p:cNvPr id="18" name="Text 16"/>
          <p:cNvSpPr/>
          <p:nvPr/>
        </p:nvSpPr>
        <p:spPr>
          <a:xfrm>
            <a:off x="1325880" y="3310128"/>
            <a:ext cx="3035808" cy="164592"/>
          </a:xfrm>
          <a:prstGeom prst="rect">
            <a:avLst/>
          </a:prstGeom>
          <a:noFill/>
          <a:ln/>
        </p:spPr>
        <p:txBody>
          <a:bodyPr wrap="square" lIns="0" tIns="0" rIns="0" bIns="0" rtlCol="0" anchor="ctr"/>
          <a:lstStyle/>
          <a:p>
            <a:pPr indent="0" marL="0">
              <a:buNone/>
            </a:pPr>
            <a:r>
              <a:rPr lang="en-US" sz="850" dirty="0">
                <a:solidFill>
                  <a:srgbClr val="475569"/>
                </a:solidFill>
                <a:latin typeface="Courier New" pitchFamily="34" charset="0"/>
                <a:ea typeface="Courier New" pitchFamily="34" charset="-122"/>
                <a:cs typeface="Courier New" pitchFamily="34" charset="-120"/>
              </a:rPr>
              <a:t>/_cluster/health</a:t>
            </a:r>
            <a:endParaRPr lang="en-US" sz="850" dirty="0"/>
          </a:p>
        </p:txBody>
      </p:sp>
      <p:sp>
        <p:nvSpPr>
          <p:cNvPr id="19" name="Text 17"/>
          <p:cNvSpPr/>
          <p:nvPr/>
        </p:nvSpPr>
        <p:spPr>
          <a:xfrm>
            <a:off x="4434840" y="3310128"/>
            <a:ext cx="4315968" cy="16459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Check cluster status</a:t>
            </a:r>
            <a:endParaRPr lang="en-US" sz="900" dirty="0"/>
          </a:p>
        </p:txBody>
      </p:sp>
      <p:sp>
        <p:nvSpPr>
          <p:cNvPr id="20" name="Shape 18"/>
          <p:cNvSpPr/>
          <p:nvPr/>
        </p:nvSpPr>
        <p:spPr>
          <a:xfrm>
            <a:off x="320040" y="3511296"/>
            <a:ext cx="8503920" cy="201168"/>
          </a:xfrm>
          <a:prstGeom prst="rect">
            <a:avLst/>
          </a:prstGeom>
          <a:solidFill>
            <a:srgbClr val="F1F5F9"/>
          </a:solidFill>
          <a:ln w="12700">
            <a:solidFill>
              <a:srgbClr val="E2E8F0"/>
            </a:solidFill>
            <a:prstDash val="solid"/>
          </a:ln>
        </p:spPr>
      </p:sp>
      <p:sp>
        <p:nvSpPr>
          <p:cNvPr id="21" name="Text 19"/>
          <p:cNvSpPr/>
          <p:nvPr/>
        </p:nvSpPr>
        <p:spPr>
          <a:xfrm>
            <a:off x="411480" y="3529584"/>
            <a:ext cx="841248" cy="164592"/>
          </a:xfrm>
          <a:prstGeom prst="rect">
            <a:avLst/>
          </a:prstGeom>
          <a:noFill/>
          <a:ln/>
        </p:spPr>
        <p:txBody>
          <a:bodyPr wrap="square" lIns="0" tIns="0" rIns="0" bIns="0" rtlCol="0" anchor="ctr"/>
          <a:lstStyle/>
          <a:p>
            <a:pPr indent="0" marL="0">
              <a:buNone/>
            </a:pPr>
            <a:r>
              <a:rPr lang="en-US" sz="850" b="1" dirty="0">
                <a:solidFill>
                  <a:srgbClr val="00BFB3"/>
                </a:solidFill>
                <a:latin typeface="Courier New" pitchFamily="34" charset="0"/>
                <a:ea typeface="Courier New" pitchFamily="34" charset="-122"/>
                <a:cs typeface="Courier New" pitchFamily="34" charset="-120"/>
              </a:rPr>
              <a:t>GET</a:t>
            </a:r>
            <a:endParaRPr lang="en-US" sz="850" dirty="0"/>
          </a:p>
        </p:txBody>
      </p:sp>
      <p:sp>
        <p:nvSpPr>
          <p:cNvPr id="22" name="Text 20"/>
          <p:cNvSpPr/>
          <p:nvPr/>
        </p:nvSpPr>
        <p:spPr>
          <a:xfrm>
            <a:off x="1325880" y="3529584"/>
            <a:ext cx="3035808" cy="164592"/>
          </a:xfrm>
          <a:prstGeom prst="rect">
            <a:avLst/>
          </a:prstGeom>
          <a:noFill/>
          <a:ln/>
        </p:spPr>
        <p:txBody>
          <a:bodyPr wrap="square" lIns="0" tIns="0" rIns="0" bIns="0" rtlCol="0" anchor="ctr"/>
          <a:lstStyle/>
          <a:p>
            <a:pPr indent="0" marL="0">
              <a:buNone/>
            </a:pPr>
            <a:r>
              <a:rPr lang="en-US" sz="850" dirty="0">
                <a:solidFill>
                  <a:srgbClr val="475569"/>
                </a:solidFill>
                <a:latin typeface="Courier New" pitchFamily="34" charset="0"/>
                <a:ea typeface="Courier New" pitchFamily="34" charset="-122"/>
                <a:cs typeface="Courier New" pitchFamily="34" charset="-120"/>
              </a:rPr>
              <a:t>/_cat/indices?v</a:t>
            </a:r>
            <a:endParaRPr lang="en-US" sz="850" dirty="0"/>
          </a:p>
        </p:txBody>
      </p:sp>
      <p:sp>
        <p:nvSpPr>
          <p:cNvPr id="23" name="Text 21"/>
          <p:cNvSpPr/>
          <p:nvPr/>
        </p:nvSpPr>
        <p:spPr>
          <a:xfrm>
            <a:off x="4434840" y="3529584"/>
            <a:ext cx="4315968" cy="16459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List all indices with stats</a:t>
            </a:r>
            <a:endParaRPr lang="en-US" sz="900" dirty="0"/>
          </a:p>
        </p:txBody>
      </p:sp>
      <p:sp>
        <p:nvSpPr>
          <p:cNvPr id="24" name="Shape 22"/>
          <p:cNvSpPr/>
          <p:nvPr/>
        </p:nvSpPr>
        <p:spPr>
          <a:xfrm>
            <a:off x="320040" y="3730752"/>
            <a:ext cx="8503920" cy="201168"/>
          </a:xfrm>
          <a:prstGeom prst="rect">
            <a:avLst/>
          </a:prstGeom>
          <a:solidFill>
            <a:srgbClr val="FFFFFF"/>
          </a:solidFill>
          <a:ln w="12700">
            <a:solidFill>
              <a:srgbClr val="E2E8F0"/>
            </a:solidFill>
            <a:prstDash val="solid"/>
          </a:ln>
        </p:spPr>
      </p:sp>
      <p:sp>
        <p:nvSpPr>
          <p:cNvPr id="25" name="Text 23"/>
          <p:cNvSpPr/>
          <p:nvPr/>
        </p:nvSpPr>
        <p:spPr>
          <a:xfrm>
            <a:off x="411480" y="3749040"/>
            <a:ext cx="841248" cy="164592"/>
          </a:xfrm>
          <a:prstGeom prst="rect">
            <a:avLst/>
          </a:prstGeom>
          <a:noFill/>
          <a:ln/>
        </p:spPr>
        <p:txBody>
          <a:bodyPr wrap="square" lIns="0" tIns="0" rIns="0" bIns="0" rtlCol="0" anchor="ctr"/>
          <a:lstStyle/>
          <a:p>
            <a:pPr indent="0" marL="0">
              <a:buNone/>
            </a:pPr>
            <a:r>
              <a:rPr lang="en-US" sz="850" b="1" dirty="0">
                <a:solidFill>
                  <a:srgbClr val="2563EB"/>
                </a:solidFill>
                <a:latin typeface="Courier New" pitchFamily="34" charset="0"/>
                <a:ea typeface="Courier New" pitchFamily="34" charset="-122"/>
                <a:cs typeface="Courier New" pitchFamily="34" charset="-120"/>
              </a:rPr>
              <a:t>PUT</a:t>
            </a:r>
            <a:endParaRPr lang="en-US" sz="850" dirty="0"/>
          </a:p>
        </p:txBody>
      </p:sp>
      <p:sp>
        <p:nvSpPr>
          <p:cNvPr id="26" name="Text 24"/>
          <p:cNvSpPr/>
          <p:nvPr/>
        </p:nvSpPr>
        <p:spPr>
          <a:xfrm>
            <a:off x="1325880" y="3749040"/>
            <a:ext cx="3035808" cy="164592"/>
          </a:xfrm>
          <a:prstGeom prst="rect">
            <a:avLst/>
          </a:prstGeom>
          <a:noFill/>
          <a:ln/>
        </p:spPr>
        <p:txBody>
          <a:bodyPr wrap="square" lIns="0" tIns="0" rIns="0" bIns="0" rtlCol="0" anchor="ctr"/>
          <a:lstStyle/>
          <a:p>
            <a:pPr indent="0" marL="0">
              <a:buNone/>
            </a:pPr>
            <a:r>
              <a:rPr lang="en-US" sz="850" dirty="0">
                <a:solidFill>
                  <a:srgbClr val="475569"/>
                </a:solidFill>
                <a:latin typeface="Courier New" pitchFamily="34" charset="0"/>
                <a:ea typeface="Courier New" pitchFamily="34" charset="-122"/>
                <a:cs typeface="Courier New" pitchFamily="34" charset="-120"/>
              </a:rPr>
              <a:t>/my-index</a:t>
            </a:r>
            <a:endParaRPr lang="en-US" sz="850" dirty="0"/>
          </a:p>
        </p:txBody>
      </p:sp>
      <p:sp>
        <p:nvSpPr>
          <p:cNvPr id="27" name="Text 25"/>
          <p:cNvSpPr/>
          <p:nvPr/>
        </p:nvSpPr>
        <p:spPr>
          <a:xfrm>
            <a:off x="4434840" y="3749040"/>
            <a:ext cx="4315968" cy="16459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Create an index</a:t>
            </a:r>
            <a:endParaRPr lang="en-US" sz="900" dirty="0"/>
          </a:p>
        </p:txBody>
      </p:sp>
      <p:sp>
        <p:nvSpPr>
          <p:cNvPr id="28" name="Shape 26"/>
          <p:cNvSpPr/>
          <p:nvPr/>
        </p:nvSpPr>
        <p:spPr>
          <a:xfrm>
            <a:off x="320040" y="3950208"/>
            <a:ext cx="8503920" cy="201168"/>
          </a:xfrm>
          <a:prstGeom prst="rect">
            <a:avLst/>
          </a:prstGeom>
          <a:solidFill>
            <a:srgbClr val="F1F5F9"/>
          </a:solidFill>
          <a:ln w="12700">
            <a:solidFill>
              <a:srgbClr val="E2E8F0"/>
            </a:solidFill>
            <a:prstDash val="solid"/>
          </a:ln>
        </p:spPr>
      </p:sp>
      <p:sp>
        <p:nvSpPr>
          <p:cNvPr id="29" name="Text 27"/>
          <p:cNvSpPr/>
          <p:nvPr/>
        </p:nvSpPr>
        <p:spPr>
          <a:xfrm>
            <a:off x="411480" y="3968496"/>
            <a:ext cx="841248" cy="164592"/>
          </a:xfrm>
          <a:prstGeom prst="rect">
            <a:avLst/>
          </a:prstGeom>
          <a:noFill/>
          <a:ln/>
        </p:spPr>
        <p:txBody>
          <a:bodyPr wrap="square" lIns="0" tIns="0" rIns="0" bIns="0" rtlCol="0" anchor="ctr"/>
          <a:lstStyle/>
          <a:p>
            <a:pPr indent="0" marL="0">
              <a:buNone/>
            </a:pPr>
            <a:r>
              <a:rPr lang="en-US" sz="850" b="1" dirty="0">
                <a:solidFill>
                  <a:srgbClr val="059669"/>
                </a:solidFill>
                <a:latin typeface="Courier New" pitchFamily="34" charset="0"/>
                <a:ea typeface="Courier New" pitchFamily="34" charset="-122"/>
                <a:cs typeface="Courier New" pitchFamily="34" charset="-120"/>
              </a:rPr>
              <a:t>POST</a:t>
            </a:r>
            <a:endParaRPr lang="en-US" sz="850" dirty="0"/>
          </a:p>
        </p:txBody>
      </p:sp>
      <p:sp>
        <p:nvSpPr>
          <p:cNvPr id="30" name="Text 28"/>
          <p:cNvSpPr/>
          <p:nvPr/>
        </p:nvSpPr>
        <p:spPr>
          <a:xfrm>
            <a:off x="1325880" y="3968496"/>
            <a:ext cx="3035808" cy="164592"/>
          </a:xfrm>
          <a:prstGeom prst="rect">
            <a:avLst/>
          </a:prstGeom>
          <a:noFill/>
          <a:ln/>
        </p:spPr>
        <p:txBody>
          <a:bodyPr wrap="square" lIns="0" tIns="0" rIns="0" bIns="0" rtlCol="0" anchor="ctr"/>
          <a:lstStyle/>
          <a:p>
            <a:pPr indent="0" marL="0">
              <a:buNone/>
            </a:pPr>
            <a:r>
              <a:rPr lang="en-US" sz="850" dirty="0">
                <a:solidFill>
                  <a:srgbClr val="475569"/>
                </a:solidFill>
                <a:latin typeface="Courier New" pitchFamily="34" charset="0"/>
                <a:ea typeface="Courier New" pitchFamily="34" charset="-122"/>
                <a:cs typeface="Courier New" pitchFamily="34" charset="-120"/>
              </a:rPr>
              <a:t>/my-index/_doc</a:t>
            </a:r>
            <a:endParaRPr lang="en-US" sz="850" dirty="0"/>
          </a:p>
        </p:txBody>
      </p:sp>
      <p:sp>
        <p:nvSpPr>
          <p:cNvPr id="31" name="Text 29"/>
          <p:cNvSpPr/>
          <p:nvPr/>
        </p:nvSpPr>
        <p:spPr>
          <a:xfrm>
            <a:off x="4434840" y="3968496"/>
            <a:ext cx="4315968" cy="16459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Index (add) a document</a:t>
            </a:r>
            <a:endParaRPr lang="en-US" sz="900" dirty="0"/>
          </a:p>
        </p:txBody>
      </p:sp>
      <p:sp>
        <p:nvSpPr>
          <p:cNvPr id="32" name="Shape 30"/>
          <p:cNvSpPr/>
          <p:nvPr/>
        </p:nvSpPr>
        <p:spPr>
          <a:xfrm>
            <a:off x="320040" y="4169664"/>
            <a:ext cx="8503920" cy="201168"/>
          </a:xfrm>
          <a:prstGeom prst="rect">
            <a:avLst/>
          </a:prstGeom>
          <a:solidFill>
            <a:srgbClr val="FFFFFF"/>
          </a:solidFill>
          <a:ln w="12700">
            <a:solidFill>
              <a:srgbClr val="E2E8F0"/>
            </a:solidFill>
            <a:prstDash val="solid"/>
          </a:ln>
        </p:spPr>
      </p:sp>
      <p:sp>
        <p:nvSpPr>
          <p:cNvPr id="33" name="Text 31"/>
          <p:cNvSpPr/>
          <p:nvPr/>
        </p:nvSpPr>
        <p:spPr>
          <a:xfrm>
            <a:off x="411480" y="4187952"/>
            <a:ext cx="841248" cy="164592"/>
          </a:xfrm>
          <a:prstGeom prst="rect">
            <a:avLst/>
          </a:prstGeom>
          <a:noFill/>
          <a:ln/>
        </p:spPr>
        <p:txBody>
          <a:bodyPr wrap="square" lIns="0" tIns="0" rIns="0" bIns="0" rtlCol="0" anchor="ctr"/>
          <a:lstStyle/>
          <a:p>
            <a:pPr indent="0" marL="0">
              <a:buNone/>
            </a:pPr>
            <a:r>
              <a:rPr lang="en-US" sz="850" b="1" dirty="0">
                <a:solidFill>
                  <a:srgbClr val="00BFB3"/>
                </a:solidFill>
                <a:latin typeface="Courier New" pitchFamily="34" charset="0"/>
                <a:ea typeface="Courier New" pitchFamily="34" charset="-122"/>
                <a:cs typeface="Courier New" pitchFamily="34" charset="-120"/>
              </a:rPr>
              <a:t>GET</a:t>
            </a:r>
            <a:endParaRPr lang="en-US" sz="850" dirty="0"/>
          </a:p>
        </p:txBody>
      </p:sp>
      <p:sp>
        <p:nvSpPr>
          <p:cNvPr id="34" name="Text 32"/>
          <p:cNvSpPr/>
          <p:nvPr/>
        </p:nvSpPr>
        <p:spPr>
          <a:xfrm>
            <a:off x="1325880" y="4187952"/>
            <a:ext cx="3035808" cy="164592"/>
          </a:xfrm>
          <a:prstGeom prst="rect">
            <a:avLst/>
          </a:prstGeom>
          <a:noFill/>
          <a:ln/>
        </p:spPr>
        <p:txBody>
          <a:bodyPr wrap="square" lIns="0" tIns="0" rIns="0" bIns="0" rtlCol="0" anchor="ctr"/>
          <a:lstStyle/>
          <a:p>
            <a:pPr indent="0" marL="0">
              <a:buNone/>
            </a:pPr>
            <a:r>
              <a:rPr lang="en-US" sz="850" dirty="0">
                <a:solidFill>
                  <a:srgbClr val="475569"/>
                </a:solidFill>
                <a:latin typeface="Courier New" pitchFamily="34" charset="0"/>
                <a:ea typeface="Courier New" pitchFamily="34" charset="-122"/>
                <a:cs typeface="Courier New" pitchFamily="34" charset="-120"/>
              </a:rPr>
              <a:t>/my-index/_search</a:t>
            </a:r>
            <a:endParaRPr lang="en-US" sz="850" dirty="0"/>
          </a:p>
        </p:txBody>
      </p:sp>
      <p:sp>
        <p:nvSpPr>
          <p:cNvPr id="35" name="Text 33"/>
          <p:cNvSpPr/>
          <p:nvPr/>
        </p:nvSpPr>
        <p:spPr>
          <a:xfrm>
            <a:off x="4434840" y="4187952"/>
            <a:ext cx="4315968" cy="16459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Search with query body</a:t>
            </a:r>
            <a:endParaRPr lang="en-US" sz="900" dirty="0"/>
          </a:p>
        </p:txBody>
      </p:sp>
      <p:sp>
        <p:nvSpPr>
          <p:cNvPr id="36" name="Shape 34"/>
          <p:cNvSpPr/>
          <p:nvPr/>
        </p:nvSpPr>
        <p:spPr>
          <a:xfrm>
            <a:off x="320040" y="4389120"/>
            <a:ext cx="8503920" cy="201168"/>
          </a:xfrm>
          <a:prstGeom prst="rect">
            <a:avLst/>
          </a:prstGeom>
          <a:solidFill>
            <a:srgbClr val="F1F5F9"/>
          </a:solidFill>
          <a:ln w="12700">
            <a:solidFill>
              <a:srgbClr val="E2E8F0"/>
            </a:solidFill>
            <a:prstDash val="solid"/>
          </a:ln>
        </p:spPr>
      </p:sp>
      <p:sp>
        <p:nvSpPr>
          <p:cNvPr id="37" name="Text 35"/>
          <p:cNvSpPr/>
          <p:nvPr/>
        </p:nvSpPr>
        <p:spPr>
          <a:xfrm>
            <a:off x="411480" y="4407408"/>
            <a:ext cx="841248" cy="164592"/>
          </a:xfrm>
          <a:prstGeom prst="rect">
            <a:avLst/>
          </a:prstGeom>
          <a:noFill/>
          <a:ln/>
        </p:spPr>
        <p:txBody>
          <a:bodyPr wrap="square" lIns="0" tIns="0" rIns="0" bIns="0" rtlCol="0" anchor="ctr"/>
          <a:lstStyle/>
          <a:p>
            <a:pPr indent="0" marL="0">
              <a:buNone/>
            </a:pPr>
            <a:r>
              <a:rPr lang="en-US" sz="850" b="1" dirty="0">
                <a:solidFill>
                  <a:srgbClr val="00BFB3"/>
                </a:solidFill>
                <a:latin typeface="Courier New" pitchFamily="34" charset="0"/>
                <a:ea typeface="Courier New" pitchFamily="34" charset="-122"/>
                <a:cs typeface="Courier New" pitchFamily="34" charset="-120"/>
              </a:rPr>
              <a:t>GET</a:t>
            </a:r>
            <a:endParaRPr lang="en-US" sz="850" dirty="0"/>
          </a:p>
        </p:txBody>
      </p:sp>
      <p:sp>
        <p:nvSpPr>
          <p:cNvPr id="38" name="Text 36"/>
          <p:cNvSpPr/>
          <p:nvPr/>
        </p:nvSpPr>
        <p:spPr>
          <a:xfrm>
            <a:off x="1325880" y="4407408"/>
            <a:ext cx="3035808" cy="164592"/>
          </a:xfrm>
          <a:prstGeom prst="rect">
            <a:avLst/>
          </a:prstGeom>
          <a:noFill/>
          <a:ln/>
        </p:spPr>
        <p:txBody>
          <a:bodyPr wrap="square" lIns="0" tIns="0" rIns="0" bIns="0" rtlCol="0" anchor="ctr"/>
          <a:lstStyle/>
          <a:p>
            <a:pPr indent="0" marL="0">
              <a:buNone/>
            </a:pPr>
            <a:r>
              <a:rPr lang="en-US" sz="850" dirty="0">
                <a:solidFill>
                  <a:srgbClr val="475569"/>
                </a:solidFill>
                <a:latin typeface="Courier New" pitchFamily="34" charset="0"/>
                <a:ea typeface="Courier New" pitchFamily="34" charset="-122"/>
                <a:cs typeface="Courier New" pitchFamily="34" charset="-120"/>
              </a:rPr>
              <a:t>/my-index/_doc/{id}</a:t>
            </a:r>
            <a:endParaRPr lang="en-US" sz="850" dirty="0"/>
          </a:p>
        </p:txBody>
      </p:sp>
      <p:sp>
        <p:nvSpPr>
          <p:cNvPr id="39" name="Text 37"/>
          <p:cNvSpPr/>
          <p:nvPr/>
        </p:nvSpPr>
        <p:spPr>
          <a:xfrm>
            <a:off x="4434840" y="4407408"/>
            <a:ext cx="4315968" cy="16459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Retrieve a specific document</a:t>
            </a:r>
            <a:endParaRPr lang="en-US" sz="900" dirty="0"/>
          </a:p>
        </p:txBody>
      </p:sp>
      <p:sp>
        <p:nvSpPr>
          <p:cNvPr id="40" name="Shape 38"/>
          <p:cNvSpPr/>
          <p:nvPr/>
        </p:nvSpPr>
        <p:spPr>
          <a:xfrm>
            <a:off x="320040" y="4608576"/>
            <a:ext cx="8503920" cy="201168"/>
          </a:xfrm>
          <a:prstGeom prst="rect">
            <a:avLst/>
          </a:prstGeom>
          <a:solidFill>
            <a:srgbClr val="FFFFFF"/>
          </a:solidFill>
          <a:ln w="12700">
            <a:solidFill>
              <a:srgbClr val="E2E8F0"/>
            </a:solidFill>
            <a:prstDash val="solid"/>
          </a:ln>
        </p:spPr>
      </p:sp>
      <p:sp>
        <p:nvSpPr>
          <p:cNvPr id="41" name="Text 39"/>
          <p:cNvSpPr/>
          <p:nvPr/>
        </p:nvSpPr>
        <p:spPr>
          <a:xfrm>
            <a:off x="411480" y="4626864"/>
            <a:ext cx="841248" cy="164592"/>
          </a:xfrm>
          <a:prstGeom prst="rect">
            <a:avLst/>
          </a:prstGeom>
          <a:noFill/>
          <a:ln/>
        </p:spPr>
        <p:txBody>
          <a:bodyPr wrap="square" lIns="0" tIns="0" rIns="0" bIns="0" rtlCol="0" anchor="ctr"/>
          <a:lstStyle/>
          <a:p>
            <a:pPr indent="0" marL="0">
              <a:buNone/>
            </a:pPr>
            <a:r>
              <a:rPr lang="en-US" sz="850" b="1" dirty="0">
                <a:solidFill>
                  <a:srgbClr val="DC2626"/>
                </a:solidFill>
                <a:latin typeface="Courier New" pitchFamily="34" charset="0"/>
                <a:ea typeface="Courier New" pitchFamily="34" charset="-122"/>
                <a:cs typeface="Courier New" pitchFamily="34" charset="-120"/>
              </a:rPr>
              <a:t>DELETE</a:t>
            </a:r>
            <a:endParaRPr lang="en-US" sz="850" dirty="0"/>
          </a:p>
        </p:txBody>
      </p:sp>
      <p:sp>
        <p:nvSpPr>
          <p:cNvPr id="42" name="Text 40"/>
          <p:cNvSpPr/>
          <p:nvPr/>
        </p:nvSpPr>
        <p:spPr>
          <a:xfrm>
            <a:off x="1325880" y="4626864"/>
            <a:ext cx="3035808" cy="164592"/>
          </a:xfrm>
          <a:prstGeom prst="rect">
            <a:avLst/>
          </a:prstGeom>
          <a:noFill/>
          <a:ln/>
        </p:spPr>
        <p:txBody>
          <a:bodyPr wrap="square" lIns="0" tIns="0" rIns="0" bIns="0" rtlCol="0" anchor="ctr"/>
          <a:lstStyle/>
          <a:p>
            <a:pPr indent="0" marL="0">
              <a:buNone/>
            </a:pPr>
            <a:r>
              <a:rPr lang="en-US" sz="850" dirty="0">
                <a:solidFill>
                  <a:srgbClr val="475569"/>
                </a:solidFill>
                <a:latin typeface="Courier New" pitchFamily="34" charset="0"/>
                <a:ea typeface="Courier New" pitchFamily="34" charset="-122"/>
                <a:cs typeface="Courier New" pitchFamily="34" charset="-120"/>
              </a:rPr>
              <a:t>/my-index</a:t>
            </a:r>
            <a:endParaRPr lang="en-US" sz="850" dirty="0"/>
          </a:p>
        </p:txBody>
      </p:sp>
      <p:sp>
        <p:nvSpPr>
          <p:cNvPr id="43" name="Text 41"/>
          <p:cNvSpPr/>
          <p:nvPr/>
        </p:nvSpPr>
        <p:spPr>
          <a:xfrm>
            <a:off x="4434840" y="4626864"/>
            <a:ext cx="4315968" cy="16459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Delete an entire index</a:t>
            </a:r>
            <a:endParaRPr lang="en-US" sz="900" dirty="0"/>
          </a:p>
        </p:txBody>
      </p:sp>
      <p:sp>
        <p:nvSpPr>
          <p:cNvPr id="44" name="Shape 42"/>
          <p:cNvSpPr/>
          <p:nvPr/>
        </p:nvSpPr>
        <p:spPr>
          <a:xfrm>
            <a:off x="320040" y="4937760"/>
            <a:ext cx="8503920" cy="347472"/>
          </a:xfrm>
          <a:prstGeom prst="roundRect">
            <a:avLst>
              <a:gd name="adj" fmla="val 26316"/>
            </a:avLst>
          </a:prstGeom>
          <a:solidFill>
            <a:srgbClr val="FFF7ED"/>
          </a:solidFill>
          <a:ln w="12700">
            <a:solidFill>
              <a:srgbClr val="FED7AA"/>
            </a:solidFill>
            <a:prstDash val="solid"/>
          </a:ln>
          <a:effectLst>
            <a:outerShdw sx="100000" sy="100000" kx="0" ky="0" algn="bl" rotWithShape="0" blurRad="76200" dist="38100" dir="2700000">
              <a:srgbClr val="000000">
                <a:alpha val="10000"/>
              </a:srgbClr>
            </a:outerShdw>
          </a:effectLst>
        </p:spPr>
      </p:sp>
      <p:sp>
        <p:nvSpPr>
          <p:cNvPr id="45" name="Text 43"/>
          <p:cNvSpPr/>
          <p:nvPr/>
        </p:nvSpPr>
        <p:spPr>
          <a:xfrm>
            <a:off x="457200" y="5029200"/>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  —  Kibana Dev Tools</a:t>
            </a:r>
            <a:endParaRPr lang="en-US" sz="1000" dirty="0"/>
          </a:p>
        </p:txBody>
      </p:sp>
      <p:sp>
        <p:nvSpPr>
          <p:cNvPr id="46" name="Text 44"/>
          <p:cNvSpPr/>
          <p:nvPr/>
        </p:nvSpPr>
        <p:spPr>
          <a:xfrm>
            <a:off x="457200" y="5321808"/>
            <a:ext cx="8229600" cy="-155448"/>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In Kibana → Dev Tools → Console, you can type GET /_cluster/health without curl. Much easier than the terminal. Show students on Day 2.</a:t>
            </a:r>
            <a:endParaRPr lang="en-US" sz="1000" dirty="0"/>
          </a:p>
        </p:txBody>
      </p:sp>
      <p:sp>
        <p:nvSpPr>
          <p:cNvPr id="47" name="Shape 45"/>
          <p:cNvSpPr/>
          <p:nvPr/>
        </p:nvSpPr>
        <p:spPr>
          <a:xfrm>
            <a:off x="0" y="4846320"/>
            <a:ext cx="9144000" cy="297180"/>
          </a:xfrm>
          <a:prstGeom prst="rect">
            <a:avLst/>
          </a:prstGeom>
          <a:solidFill>
            <a:srgbClr val="0F172A"/>
          </a:solidFill>
          <a:ln w="12700">
            <a:solidFill>
              <a:srgbClr val="0F172A"/>
            </a:solidFill>
            <a:prstDash val="solid"/>
          </a:ln>
        </p:spPr>
      </p:sp>
      <p:sp>
        <p:nvSpPr>
          <p:cNvPr id="48" name="Text 46"/>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05: Querying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QUERY DSL — FINDING YOUR DATA</a:t>
            </a:r>
            <a:endParaRPr lang="en-US" sz="2000" dirty="0"/>
          </a:p>
        </p:txBody>
      </p:sp>
      <p:sp>
        <p:nvSpPr>
          <p:cNvPr id="4" name="Shape 2"/>
          <p:cNvSpPr/>
          <p:nvPr/>
        </p:nvSpPr>
        <p:spPr>
          <a:xfrm>
            <a:off x="7178040" y="109728"/>
            <a:ext cx="1600200" cy="475488"/>
          </a:xfrm>
          <a:prstGeom prst="roundRect">
            <a:avLst>
              <a:gd name="adj" fmla="val 11538"/>
            </a:avLst>
          </a:prstGeom>
          <a:solidFill>
            <a:srgbClr val="00BFB3"/>
          </a:solidFill>
          <a:ln w="12700">
            <a:solidFill>
              <a:srgbClr val="00BFB3"/>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05  •  Querying</a:t>
            </a:r>
            <a:endParaRPr lang="en-US" sz="950" dirty="0"/>
          </a:p>
        </p:txBody>
      </p:sp>
      <p:sp>
        <p:nvSpPr>
          <p:cNvPr id="6" name="Shape 4"/>
          <p:cNvSpPr/>
          <p:nvPr/>
        </p:nvSpPr>
        <p:spPr>
          <a:xfrm>
            <a:off x="320040" y="868680"/>
            <a:ext cx="4114800" cy="1938528"/>
          </a:xfrm>
          <a:prstGeom prst="roundRect">
            <a:avLst>
              <a:gd name="adj" fmla="val 4717"/>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7" name="Shape 5"/>
          <p:cNvSpPr/>
          <p:nvPr/>
        </p:nvSpPr>
        <p:spPr>
          <a:xfrm>
            <a:off x="429768" y="960120"/>
            <a:ext cx="3886200" cy="292608"/>
          </a:xfrm>
          <a:prstGeom prst="roundRect">
            <a:avLst>
              <a:gd name="adj" fmla="val 18750"/>
            </a:avLst>
          </a:prstGeom>
          <a:solidFill>
            <a:srgbClr val="00BFB3"/>
          </a:solidFill>
          <a:ln w="12700">
            <a:solidFill>
              <a:srgbClr val="00BFB3"/>
            </a:solidFill>
            <a:prstDash val="solid"/>
          </a:ln>
        </p:spPr>
      </p:sp>
      <p:sp>
        <p:nvSpPr>
          <p:cNvPr id="8" name="Text 6"/>
          <p:cNvSpPr/>
          <p:nvPr/>
        </p:nvSpPr>
        <p:spPr>
          <a:xfrm>
            <a:off x="429768" y="960120"/>
            <a:ext cx="38862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match — Full Text Search</a:t>
            </a:r>
            <a:endParaRPr lang="en-US" sz="1050" dirty="0"/>
          </a:p>
        </p:txBody>
      </p:sp>
      <p:sp>
        <p:nvSpPr>
          <p:cNvPr id="9" name="Text 7"/>
          <p:cNvSpPr/>
          <p:nvPr/>
        </p:nvSpPr>
        <p:spPr>
          <a:xfrm>
            <a:off x="457200" y="1325880"/>
            <a:ext cx="3840480" cy="3474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Search inside text fields. Analyses the query the same way the field was indexed.</a:t>
            </a:r>
            <a:endParaRPr lang="en-US" sz="950" dirty="0"/>
          </a:p>
        </p:txBody>
      </p:sp>
      <p:sp>
        <p:nvSpPr>
          <p:cNvPr id="10" name="Shape 8"/>
          <p:cNvSpPr/>
          <p:nvPr/>
        </p:nvSpPr>
        <p:spPr>
          <a:xfrm>
            <a:off x="429768" y="1728216"/>
            <a:ext cx="3886200" cy="932688"/>
          </a:xfrm>
          <a:prstGeom prst="roundRect">
            <a:avLst>
              <a:gd name="adj" fmla="val 9804"/>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11" name="Text 9"/>
          <p:cNvSpPr/>
          <p:nvPr/>
        </p:nvSpPr>
        <p:spPr>
          <a:xfrm>
            <a:off x="521208" y="1783080"/>
            <a:ext cx="3712464" cy="182880"/>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POST /apache-logs/_search</a:t>
            </a:r>
            <a:endParaRPr lang="en-US" sz="850" dirty="0"/>
          </a:p>
        </p:txBody>
      </p:sp>
      <p:sp>
        <p:nvSpPr>
          <p:cNvPr id="12" name="Text 10"/>
          <p:cNvSpPr/>
          <p:nvPr/>
        </p:nvSpPr>
        <p:spPr>
          <a:xfrm>
            <a:off x="521208" y="1984248"/>
            <a:ext cx="3712464" cy="182880"/>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a:t>
            </a:r>
            <a:endParaRPr lang="en-US" sz="850" dirty="0"/>
          </a:p>
        </p:txBody>
      </p:sp>
      <p:sp>
        <p:nvSpPr>
          <p:cNvPr id="13" name="Text 11"/>
          <p:cNvSpPr/>
          <p:nvPr/>
        </p:nvSpPr>
        <p:spPr>
          <a:xfrm>
            <a:off x="521208" y="2185416"/>
            <a:ext cx="3712464" cy="182880"/>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"query": { "match": { "message": "error 500" } }</a:t>
            </a:r>
            <a:endParaRPr lang="en-US" sz="850" dirty="0"/>
          </a:p>
        </p:txBody>
      </p:sp>
      <p:sp>
        <p:nvSpPr>
          <p:cNvPr id="14" name="Text 12"/>
          <p:cNvSpPr/>
          <p:nvPr/>
        </p:nvSpPr>
        <p:spPr>
          <a:xfrm>
            <a:off x="521208" y="2386584"/>
            <a:ext cx="3712464" cy="182880"/>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a:t>
            </a:r>
            <a:endParaRPr lang="en-US" sz="850" dirty="0"/>
          </a:p>
        </p:txBody>
      </p:sp>
      <p:sp>
        <p:nvSpPr>
          <p:cNvPr id="15" name="Shape 13"/>
          <p:cNvSpPr/>
          <p:nvPr/>
        </p:nvSpPr>
        <p:spPr>
          <a:xfrm>
            <a:off x="4754880" y="868680"/>
            <a:ext cx="4114800" cy="1938528"/>
          </a:xfrm>
          <a:prstGeom prst="roundRect">
            <a:avLst>
              <a:gd name="adj" fmla="val 4717"/>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6" name="Shape 14"/>
          <p:cNvSpPr/>
          <p:nvPr/>
        </p:nvSpPr>
        <p:spPr>
          <a:xfrm>
            <a:off x="4864608" y="960120"/>
            <a:ext cx="3886200" cy="292608"/>
          </a:xfrm>
          <a:prstGeom prst="roundRect">
            <a:avLst>
              <a:gd name="adj" fmla="val 18750"/>
            </a:avLst>
          </a:prstGeom>
          <a:solidFill>
            <a:srgbClr val="2563EB"/>
          </a:solidFill>
          <a:ln w="12700">
            <a:solidFill>
              <a:srgbClr val="2563EB"/>
            </a:solidFill>
            <a:prstDash val="solid"/>
          </a:ln>
        </p:spPr>
      </p:sp>
      <p:sp>
        <p:nvSpPr>
          <p:cNvPr id="17" name="Text 15"/>
          <p:cNvSpPr/>
          <p:nvPr/>
        </p:nvSpPr>
        <p:spPr>
          <a:xfrm>
            <a:off x="4864608" y="960120"/>
            <a:ext cx="38862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term — Exact Match</a:t>
            </a:r>
            <a:endParaRPr lang="en-US" sz="1050" dirty="0"/>
          </a:p>
        </p:txBody>
      </p:sp>
      <p:sp>
        <p:nvSpPr>
          <p:cNvPr id="18" name="Text 16"/>
          <p:cNvSpPr/>
          <p:nvPr/>
        </p:nvSpPr>
        <p:spPr>
          <a:xfrm>
            <a:off x="4892040" y="1325880"/>
            <a:ext cx="3840480" cy="3474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Match an exact value. Use for keyword fields — status_code, method, IP.</a:t>
            </a:r>
            <a:endParaRPr lang="en-US" sz="950" dirty="0"/>
          </a:p>
        </p:txBody>
      </p:sp>
      <p:sp>
        <p:nvSpPr>
          <p:cNvPr id="19" name="Shape 17"/>
          <p:cNvSpPr/>
          <p:nvPr/>
        </p:nvSpPr>
        <p:spPr>
          <a:xfrm>
            <a:off x="4864608" y="1728216"/>
            <a:ext cx="3886200" cy="932688"/>
          </a:xfrm>
          <a:prstGeom prst="roundRect">
            <a:avLst>
              <a:gd name="adj" fmla="val 9804"/>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20" name="Text 18"/>
          <p:cNvSpPr/>
          <p:nvPr/>
        </p:nvSpPr>
        <p:spPr>
          <a:xfrm>
            <a:off x="4956048" y="1783080"/>
            <a:ext cx="3712464" cy="182880"/>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POST /apache-logs/_search</a:t>
            </a:r>
            <a:endParaRPr lang="en-US" sz="850" dirty="0"/>
          </a:p>
        </p:txBody>
      </p:sp>
      <p:sp>
        <p:nvSpPr>
          <p:cNvPr id="21" name="Text 19"/>
          <p:cNvSpPr/>
          <p:nvPr/>
        </p:nvSpPr>
        <p:spPr>
          <a:xfrm>
            <a:off x="4956048" y="1984248"/>
            <a:ext cx="3712464" cy="182880"/>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a:t>
            </a:r>
            <a:endParaRPr lang="en-US" sz="850" dirty="0"/>
          </a:p>
        </p:txBody>
      </p:sp>
      <p:sp>
        <p:nvSpPr>
          <p:cNvPr id="22" name="Text 20"/>
          <p:cNvSpPr/>
          <p:nvPr/>
        </p:nvSpPr>
        <p:spPr>
          <a:xfrm>
            <a:off x="4956048" y="2185416"/>
            <a:ext cx="3712464" cy="182880"/>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"query": { "term": { "status_code": 500 } }</a:t>
            </a:r>
            <a:endParaRPr lang="en-US" sz="850" dirty="0"/>
          </a:p>
        </p:txBody>
      </p:sp>
      <p:sp>
        <p:nvSpPr>
          <p:cNvPr id="23" name="Text 21"/>
          <p:cNvSpPr/>
          <p:nvPr/>
        </p:nvSpPr>
        <p:spPr>
          <a:xfrm>
            <a:off x="4956048" y="2386584"/>
            <a:ext cx="3712464" cy="182880"/>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a:t>
            </a:r>
            <a:endParaRPr lang="en-US" sz="850" dirty="0"/>
          </a:p>
        </p:txBody>
      </p:sp>
      <p:sp>
        <p:nvSpPr>
          <p:cNvPr id="24" name="Shape 22"/>
          <p:cNvSpPr/>
          <p:nvPr/>
        </p:nvSpPr>
        <p:spPr>
          <a:xfrm>
            <a:off x="320040" y="2953512"/>
            <a:ext cx="4114800" cy="1938528"/>
          </a:xfrm>
          <a:prstGeom prst="roundRect">
            <a:avLst>
              <a:gd name="adj" fmla="val 4717"/>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5" name="Shape 23"/>
          <p:cNvSpPr/>
          <p:nvPr/>
        </p:nvSpPr>
        <p:spPr>
          <a:xfrm>
            <a:off x="429768" y="3044952"/>
            <a:ext cx="3886200" cy="292608"/>
          </a:xfrm>
          <a:prstGeom prst="roundRect">
            <a:avLst>
              <a:gd name="adj" fmla="val 18750"/>
            </a:avLst>
          </a:prstGeom>
          <a:solidFill>
            <a:srgbClr val="D97706"/>
          </a:solidFill>
          <a:ln w="12700">
            <a:solidFill>
              <a:srgbClr val="D97706"/>
            </a:solidFill>
            <a:prstDash val="solid"/>
          </a:ln>
        </p:spPr>
      </p:sp>
      <p:sp>
        <p:nvSpPr>
          <p:cNvPr id="26" name="Text 24"/>
          <p:cNvSpPr/>
          <p:nvPr/>
        </p:nvSpPr>
        <p:spPr>
          <a:xfrm>
            <a:off x="429768" y="3044952"/>
            <a:ext cx="38862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range — Numeric &amp; Date Ranges</a:t>
            </a:r>
            <a:endParaRPr lang="en-US" sz="1050" dirty="0"/>
          </a:p>
        </p:txBody>
      </p:sp>
      <p:sp>
        <p:nvSpPr>
          <p:cNvPr id="27" name="Text 25"/>
          <p:cNvSpPr/>
          <p:nvPr/>
        </p:nvSpPr>
        <p:spPr>
          <a:xfrm>
            <a:off x="457200" y="3410712"/>
            <a:ext cx="3840480" cy="3474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Filter by value range. Works on numbers, dates and IPs.</a:t>
            </a:r>
            <a:endParaRPr lang="en-US" sz="950" dirty="0"/>
          </a:p>
        </p:txBody>
      </p:sp>
      <p:sp>
        <p:nvSpPr>
          <p:cNvPr id="28" name="Shape 26"/>
          <p:cNvSpPr/>
          <p:nvPr/>
        </p:nvSpPr>
        <p:spPr>
          <a:xfrm>
            <a:off x="429768" y="3813048"/>
            <a:ext cx="3886200" cy="932688"/>
          </a:xfrm>
          <a:prstGeom prst="roundRect">
            <a:avLst>
              <a:gd name="adj" fmla="val 9804"/>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29" name="Text 27"/>
          <p:cNvSpPr/>
          <p:nvPr/>
        </p:nvSpPr>
        <p:spPr>
          <a:xfrm>
            <a:off x="521208" y="3867912"/>
            <a:ext cx="3712464" cy="182880"/>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POST /apache-logs/_search</a:t>
            </a:r>
            <a:endParaRPr lang="en-US" sz="850" dirty="0"/>
          </a:p>
        </p:txBody>
      </p:sp>
      <p:sp>
        <p:nvSpPr>
          <p:cNvPr id="30" name="Text 28"/>
          <p:cNvSpPr/>
          <p:nvPr/>
        </p:nvSpPr>
        <p:spPr>
          <a:xfrm>
            <a:off x="521208" y="4069080"/>
            <a:ext cx="3712464" cy="182880"/>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a:t>
            </a:r>
            <a:endParaRPr lang="en-US" sz="850" dirty="0"/>
          </a:p>
        </p:txBody>
      </p:sp>
      <p:sp>
        <p:nvSpPr>
          <p:cNvPr id="31" name="Text 29"/>
          <p:cNvSpPr/>
          <p:nvPr/>
        </p:nvSpPr>
        <p:spPr>
          <a:xfrm>
            <a:off x="521208" y="4270248"/>
            <a:ext cx="3712464" cy="182880"/>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"query": {"range": {"@timestamp": {"gte": "now-1h"}}}</a:t>
            </a:r>
            <a:endParaRPr lang="en-US" sz="850" dirty="0"/>
          </a:p>
        </p:txBody>
      </p:sp>
      <p:sp>
        <p:nvSpPr>
          <p:cNvPr id="32" name="Text 30"/>
          <p:cNvSpPr/>
          <p:nvPr/>
        </p:nvSpPr>
        <p:spPr>
          <a:xfrm>
            <a:off x="521208" y="4471416"/>
            <a:ext cx="3712464" cy="182880"/>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a:t>
            </a:r>
            <a:endParaRPr lang="en-US" sz="850" dirty="0"/>
          </a:p>
        </p:txBody>
      </p:sp>
      <p:sp>
        <p:nvSpPr>
          <p:cNvPr id="33" name="Shape 31"/>
          <p:cNvSpPr/>
          <p:nvPr/>
        </p:nvSpPr>
        <p:spPr>
          <a:xfrm>
            <a:off x="4754880" y="2953512"/>
            <a:ext cx="4114800" cy="1938528"/>
          </a:xfrm>
          <a:prstGeom prst="roundRect">
            <a:avLst>
              <a:gd name="adj" fmla="val 4717"/>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4" name="Shape 32"/>
          <p:cNvSpPr/>
          <p:nvPr/>
        </p:nvSpPr>
        <p:spPr>
          <a:xfrm>
            <a:off x="4864608" y="3044952"/>
            <a:ext cx="3886200" cy="292608"/>
          </a:xfrm>
          <a:prstGeom prst="roundRect">
            <a:avLst>
              <a:gd name="adj" fmla="val 18750"/>
            </a:avLst>
          </a:prstGeom>
          <a:solidFill>
            <a:srgbClr val="7C3AED"/>
          </a:solidFill>
          <a:ln w="12700">
            <a:solidFill>
              <a:srgbClr val="7C3AED"/>
            </a:solidFill>
            <a:prstDash val="solid"/>
          </a:ln>
        </p:spPr>
      </p:sp>
      <p:sp>
        <p:nvSpPr>
          <p:cNvPr id="35" name="Text 33"/>
          <p:cNvSpPr/>
          <p:nvPr/>
        </p:nvSpPr>
        <p:spPr>
          <a:xfrm>
            <a:off x="4864608" y="3044952"/>
            <a:ext cx="38862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bool — Combine Queries</a:t>
            </a:r>
            <a:endParaRPr lang="en-US" sz="1050" dirty="0"/>
          </a:p>
        </p:txBody>
      </p:sp>
      <p:sp>
        <p:nvSpPr>
          <p:cNvPr id="36" name="Text 34"/>
          <p:cNvSpPr/>
          <p:nvPr/>
        </p:nvSpPr>
        <p:spPr>
          <a:xfrm>
            <a:off x="4892040" y="3410712"/>
            <a:ext cx="3840480" cy="3474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Combine multiple queries with must (AND), should (OR), must_not (NOT), filter.</a:t>
            </a:r>
            <a:endParaRPr lang="en-US" sz="950" dirty="0"/>
          </a:p>
        </p:txBody>
      </p:sp>
      <p:sp>
        <p:nvSpPr>
          <p:cNvPr id="37" name="Shape 35"/>
          <p:cNvSpPr/>
          <p:nvPr/>
        </p:nvSpPr>
        <p:spPr>
          <a:xfrm>
            <a:off x="4864608" y="3813048"/>
            <a:ext cx="3886200" cy="932688"/>
          </a:xfrm>
          <a:prstGeom prst="roundRect">
            <a:avLst>
              <a:gd name="adj" fmla="val 9804"/>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38" name="Text 36"/>
          <p:cNvSpPr/>
          <p:nvPr/>
        </p:nvSpPr>
        <p:spPr>
          <a:xfrm>
            <a:off x="4956048" y="3867912"/>
            <a:ext cx="3712464" cy="182880"/>
          </a:xfrm>
          <a:prstGeom prst="rect">
            <a:avLst/>
          </a:prstGeom>
          <a:noFill/>
          <a:ln/>
        </p:spPr>
        <p:txBody>
          <a:bodyPr wrap="square" lIns="0" tIns="0" rIns="0" bIns="0" rtlCol="0" anchor="ctr"/>
          <a:lstStyle/>
          <a:p>
            <a:pPr indent="0" marL="0">
              <a:buNone/>
            </a:pPr>
            <a:r>
              <a:rPr lang="en-US" sz="850" dirty="0">
                <a:solidFill>
                  <a:srgbClr val="93C5FD"/>
                </a:solidFill>
                <a:latin typeface="Courier New" pitchFamily="34" charset="0"/>
                <a:ea typeface="Courier New" pitchFamily="34" charset="-122"/>
                <a:cs typeface="Courier New" pitchFamily="34" charset="-120"/>
              </a:rPr>
              <a:t>POST /apache-logs/_search</a:t>
            </a:r>
            <a:endParaRPr lang="en-US" sz="850" dirty="0"/>
          </a:p>
        </p:txBody>
      </p:sp>
      <p:sp>
        <p:nvSpPr>
          <p:cNvPr id="39" name="Text 37"/>
          <p:cNvSpPr/>
          <p:nvPr/>
        </p:nvSpPr>
        <p:spPr>
          <a:xfrm>
            <a:off x="4956048" y="4069080"/>
            <a:ext cx="3712464" cy="182880"/>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a:t>
            </a:r>
            <a:endParaRPr lang="en-US" sz="850" dirty="0"/>
          </a:p>
        </p:txBody>
      </p:sp>
      <p:sp>
        <p:nvSpPr>
          <p:cNvPr id="40" name="Text 38"/>
          <p:cNvSpPr/>
          <p:nvPr/>
        </p:nvSpPr>
        <p:spPr>
          <a:xfrm>
            <a:off x="4956048" y="4270248"/>
            <a:ext cx="3712464" cy="182880"/>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"query": {"bool": {"must": [{"term":{"status_code":500}}],</a:t>
            </a:r>
            <a:endParaRPr lang="en-US" sz="850" dirty="0"/>
          </a:p>
        </p:txBody>
      </p:sp>
      <p:sp>
        <p:nvSpPr>
          <p:cNvPr id="41" name="Text 39"/>
          <p:cNvSpPr/>
          <p:nvPr/>
        </p:nvSpPr>
        <p:spPr>
          <a:xfrm>
            <a:off x="4956048" y="4471416"/>
            <a:ext cx="3712464" cy="182880"/>
          </a:xfrm>
          <a:prstGeom prst="rect">
            <a:avLst/>
          </a:prstGeom>
          <a:noFill/>
          <a:ln/>
        </p:spPr>
        <p:txBody>
          <a:bodyPr wrap="square" lIns="0" tIns="0" rIns="0" bIns="0" rtlCol="0" anchor="ctr"/>
          <a:lstStyle/>
          <a:p>
            <a:pPr indent="0" marL="0">
              <a:buNone/>
            </a:pPr>
            <a:r>
              <a:rPr lang="en-US" sz="850" dirty="0">
                <a:solidFill>
                  <a:srgbClr val="FDE68A"/>
                </a:solidFill>
                <a:latin typeface="Courier New" pitchFamily="34" charset="0"/>
                <a:ea typeface="Courier New" pitchFamily="34" charset="-122"/>
                <a:cs typeface="Courier New" pitchFamily="34" charset="-120"/>
              </a:rPr>
              <a:t>                     "filter": [{"range":{"@timestamp":{"gte":"now-1h"}}}]}}</a:t>
            </a:r>
            <a:endParaRPr lang="en-US" sz="850" dirty="0"/>
          </a:p>
        </p:txBody>
      </p:sp>
      <p:sp>
        <p:nvSpPr>
          <p:cNvPr id="42" name="Text 40"/>
          <p:cNvSpPr/>
          <p:nvPr/>
        </p:nvSpPr>
        <p:spPr>
          <a:xfrm>
            <a:off x="4956048" y="4672584"/>
            <a:ext cx="3712464" cy="182880"/>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a:t>
            </a:r>
            <a:endParaRPr lang="en-US" sz="850" dirty="0"/>
          </a:p>
        </p:txBody>
      </p:sp>
      <p:sp>
        <p:nvSpPr>
          <p:cNvPr id="43" name="Shape 41"/>
          <p:cNvSpPr/>
          <p:nvPr/>
        </p:nvSpPr>
        <p:spPr>
          <a:xfrm>
            <a:off x="0" y="4846320"/>
            <a:ext cx="9144000" cy="297180"/>
          </a:xfrm>
          <a:prstGeom prst="rect">
            <a:avLst/>
          </a:prstGeom>
          <a:solidFill>
            <a:srgbClr val="0F172A"/>
          </a:solidFill>
          <a:ln w="12700">
            <a:solidFill>
              <a:srgbClr val="0F172A"/>
            </a:solidFill>
            <a:prstDash val="solid"/>
          </a:ln>
        </p:spPr>
      </p:sp>
      <p:sp>
        <p:nvSpPr>
          <p:cNvPr id="44" name="Text 42"/>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05: Querying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AGGREGATIONS — ANALYTICS ON YOUR DATA</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170432"/>
            <a:ext cx="8503920" cy="475488"/>
          </a:xfrm>
          <a:prstGeom prst="roundRect">
            <a:avLst>
              <a:gd name="adj" fmla="val 19231"/>
            </a:avLst>
          </a:prstGeom>
          <a:solidFill>
            <a:srgbClr val="E6FAF9"/>
          </a:solidFill>
          <a:ln w="12700">
            <a:solidFill>
              <a:srgbClr val="5EEAD4"/>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207008"/>
            <a:ext cx="8229600" cy="384048"/>
          </a:xfrm>
          <a:prstGeom prst="rect">
            <a:avLst/>
          </a:prstGeom>
          <a:noFill/>
          <a:ln/>
        </p:spPr>
        <p:txBody>
          <a:bodyPr wrap="square" lIns="0" tIns="0" rIns="0" bIns="0" rtlCol="0" anchor="ctr"/>
          <a:lstStyle/>
          <a:p>
            <a:pPr indent="0" marL="0">
              <a:buNone/>
            </a:pPr>
            <a:r>
              <a:rPr lang="en-US" sz="1100" dirty="0">
                <a:solidFill>
                  <a:srgbClr val="0F172A"/>
                </a:solidFill>
                <a:latin typeface="Cambria" pitchFamily="34" charset="0"/>
                <a:ea typeface="Cambria" pitchFamily="34" charset="-122"/>
                <a:cs typeface="Cambria" pitchFamily="34" charset="-120"/>
              </a:rPr>
              <a:t>Aggregations are Elasticsearch's analytics engine — like GROUP BY in SQL. They power all Kibana visualisations. Show this to fast students or if time allows after Lab 1.</a:t>
            </a:r>
            <a:endParaRPr lang="en-US" sz="1100" dirty="0"/>
          </a:p>
        </p:txBody>
      </p:sp>
      <p:sp>
        <p:nvSpPr>
          <p:cNvPr id="10" name="Shape 8"/>
          <p:cNvSpPr/>
          <p:nvPr/>
        </p:nvSpPr>
        <p:spPr>
          <a:xfrm>
            <a:off x="320040" y="1755648"/>
            <a:ext cx="4251960" cy="3035808"/>
          </a:xfrm>
          <a:prstGeom prst="roundRect">
            <a:avLst>
              <a:gd name="adj" fmla="val 3012"/>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11" name="Text 9"/>
          <p:cNvSpPr/>
          <p:nvPr/>
        </p:nvSpPr>
        <p:spPr>
          <a:xfrm>
            <a:off x="475488" y="1828800"/>
            <a:ext cx="394106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Top 5 URLs by request count</a:t>
            </a:r>
            <a:endParaRPr lang="en-US" sz="900" dirty="0"/>
          </a:p>
        </p:txBody>
      </p:sp>
      <p:sp>
        <p:nvSpPr>
          <p:cNvPr id="12" name="Text 10"/>
          <p:cNvSpPr/>
          <p:nvPr/>
        </p:nvSpPr>
        <p:spPr>
          <a:xfrm>
            <a:off x="475488" y="2066544"/>
            <a:ext cx="394106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POST /apache-logs/_search</a:t>
            </a:r>
            <a:endParaRPr lang="en-US" sz="950" dirty="0"/>
          </a:p>
        </p:txBody>
      </p:sp>
      <p:sp>
        <p:nvSpPr>
          <p:cNvPr id="13" name="Text 11"/>
          <p:cNvSpPr/>
          <p:nvPr/>
        </p:nvSpPr>
        <p:spPr>
          <a:xfrm>
            <a:off x="475488" y="2263140"/>
            <a:ext cx="3941064" cy="201168"/>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a:t>
            </a:r>
            <a:endParaRPr lang="en-US" sz="950" dirty="0"/>
          </a:p>
        </p:txBody>
      </p:sp>
      <p:sp>
        <p:nvSpPr>
          <p:cNvPr id="14" name="Text 12"/>
          <p:cNvSpPr/>
          <p:nvPr/>
        </p:nvSpPr>
        <p:spPr>
          <a:xfrm>
            <a:off x="475488" y="2459736"/>
            <a:ext cx="3941064" cy="201168"/>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  "size": 0,</a:t>
            </a:r>
            <a:endParaRPr lang="en-US" sz="950" dirty="0"/>
          </a:p>
        </p:txBody>
      </p:sp>
      <p:sp>
        <p:nvSpPr>
          <p:cNvPr id="15" name="Text 13"/>
          <p:cNvSpPr/>
          <p:nvPr/>
        </p:nvSpPr>
        <p:spPr>
          <a:xfrm>
            <a:off x="475488" y="2656332"/>
            <a:ext cx="394106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"aggs": {</a:t>
            </a:r>
            <a:endParaRPr lang="en-US" sz="950" dirty="0"/>
          </a:p>
        </p:txBody>
      </p:sp>
      <p:sp>
        <p:nvSpPr>
          <p:cNvPr id="16" name="Text 14"/>
          <p:cNvSpPr/>
          <p:nvPr/>
        </p:nvSpPr>
        <p:spPr>
          <a:xfrm>
            <a:off x="475488" y="2852928"/>
            <a:ext cx="394106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"top_urls": {</a:t>
            </a:r>
            <a:endParaRPr lang="en-US" sz="950" dirty="0"/>
          </a:p>
        </p:txBody>
      </p:sp>
      <p:sp>
        <p:nvSpPr>
          <p:cNvPr id="17" name="Text 15"/>
          <p:cNvSpPr/>
          <p:nvPr/>
        </p:nvSpPr>
        <p:spPr>
          <a:xfrm>
            <a:off x="475488" y="3049524"/>
            <a:ext cx="394106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"terms": {</a:t>
            </a:r>
            <a:endParaRPr lang="en-US" sz="950" dirty="0"/>
          </a:p>
        </p:txBody>
      </p:sp>
      <p:sp>
        <p:nvSpPr>
          <p:cNvPr id="18" name="Text 16"/>
          <p:cNvSpPr/>
          <p:nvPr/>
        </p:nvSpPr>
        <p:spPr>
          <a:xfrm>
            <a:off x="475488" y="3246120"/>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"field": "url.keyword",</a:t>
            </a:r>
            <a:endParaRPr lang="en-US" sz="950" dirty="0"/>
          </a:p>
        </p:txBody>
      </p:sp>
      <p:sp>
        <p:nvSpPr>
          <p:cNvPr id="19" name="Text 17"/>
          <p:cNvSpPr/>
          <p:nvPr/>
        </p:nvSpPr>
        <p:spPr>
          <a:xfrm>
            <a:off x="475488" y="3442716"/>
            <a:ext cx="394106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"size": 5</a:t>
            </a:r>
            <a:endParaRPr lang="en-US" sz="950" dirty="0"/>
          </a:p>
        </p:txBody>
      </p:sp>
      <p:sp>
        <p:nvSpPr>
          <p:cNvPr id="20" name="Text 18"/>
          <p:cNvSpPr/>
          <p:nvPr/>
        </p:nvSpPr>
        <p:spPr>
          <a:xfrm>
            <a:off x="475488" y="3639312"/>
            <a:ext cx="394106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a:t>
            </a:r>
            <a:endParaRPr lang="en-US" sz="950" dirty="0"/>
          </a:p>
        </p:txBody>
      </p:sp>
      <p:sp>
        <p:nvSpPr>
          <p:cNvPr id="21" name="Text 19"/>
          <p:cNvSpPr/>
          <p:nvPr/>
        </p:nvSpPr>
        <p:spPr>
          <a:xfrm>
            <a:off x="475488" y="3835908"/>
            <a:ext cx="394106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a:t>
            </a:r>
            <a:endParaRPr lang="en-US" sz="950" dirty="0"/>
          </a:p>
        </p:txBody>
      </p:sp>
      <p:sp>
        <p:nvSpPr>
          <p:cNvPr id="22" name="Text 20"/>
          <p:cNvSpPr/>
          <p:nvPr/>
        </p:nvSpPr>
        <p:spPr>
          <a:xfrm>
            <a:off x="475488" y="4032504"/>
            <a:ext cx="394106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a:t>
            </a:r>
            <a:endParaRPr lang="en-US" sz="950" dirty="0"/>
          </a:p>
        </p:txBody>
      </p:sp>
      <p:sp>
        <p:nvSpPr>
          <p:cNvPr id="23" name="Text 21"/>
          <p:cNvSpPr/>
          <p:nvPr/>
        </p:nvSpPr>
        <p:spPr>
          <a:xfrm>
            <a:off x="475488" y="4229100"/>
            <a:ext cx="3941064" cy="201168"/>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a:t>
            </a:r>
            <a:endParaRPr lang="en-US" sz="950" dirty="0"/>
          </a:p>
        </p:txBody>
      </p:sp>
      <p:sp>
        <p:nvSpPr>
          <p:cNvPr id="24" name="Shape 22"/>
          <p:cNvSpPr/>
          <p:nvPr/>
        </p:nvSpPr>
        <p:spPr>
          <a:xfrm>
            <a:off x="4754880" y="1755648"/>
            <a:ext cx="406908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5" name="Text 23"/>
          <p:cNvSpPr/>
          <p:nvPr/>
        </p:nvSpPr>
        <p:spPr>
          <a:xfrm>
            <a:off x="4910328" y="1810512"/>
            <a:ext cx="3767328" cy="256032"/>
          </a:xfrm>
          <a:prstGeom prst="rect">
            <a:avLst/>
          </a:prstGeom>
          <a:noFill/>
          <a:ln/>
        </p:spPr>
        <p:txBody>
          <a:bodyPr wrap="square" lIns="0" tIns="0" rIns="0" bIns="0" rtlCol="0" anchor="ctr"/>
          <a:lstStyle/>
          <a:p>
            <a:pPr indent="0" marL="0">
              <a:buNone/>
            </a:pPr>
            <a:r>
              <a:rPr lang="en-US" sz="1150" b="1" dirty="0">
                <a:solidFill>
                  <a:srgbClr val="00BFB3"/>
                </a:solidFill>
                <a:latin typeface="Courier New" pitchFamily="34" charset="0"/>
                <a:ea typeface="Courier New" pitchFamily="34" charset="-122"/>
                <a:cs typeface="Courier New" pitchFamily="34" charset="-120"/>
              </a:rPr>
              <a:t>terms</a:t>
            </a:r>
            <a:endParaRPr lang="en-US" sz="1150" dirty="0"/>
          </a:p>
        </p:txBody>
      </p:sp>
      <p:sp>
        <p:nvSpPr>
          <p:cNvPr id="26" name="Text 24"/>
          <p:cNvSpPr/>
          <p:nvPr/>
        </p:nvSpPr>
        <p:spPr>
          <a:xfrm>
            <a:off x="4910328" y="2084832"/>
            <a:ext cx="3767328" cy="27432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Count documents by field value — top URLs, top status codes, top IPs.</a:t>
            </a:r>
            <a:endParaRPr lang="en-US" sz="950" dirty="0"/>
          </a:p>
        </p:txBody>
      </p:sp>
      <p:sp>
        <p:nvSpPr>
          <p:cNvPr id="27" name="Shape 25"/>
          <p:cNvSpPr/>
          <p:nvPr/>
        </p:nvSpPr>
        <p:spPr>
          <a:xfrm>
            <a:off x="4754880" y="2505456"/>
            <a:ext cx="406908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8" name="Text 26"/>
          <p:cNvSpPr/>
          <p:nvPr/>
        </p:nvSpPr>
        <p:spPr>
          <a:xfrm>
            <a:off x="4910328" y="2560320"/>
            <a:ext cx="3767328" cy="256032"/>
          </a:xfrm>
          <a:prstGeom prst="rect">
            <a:avLst/>
          </a:prstGeom>
          <a:noFill/>
          <a:ln/>
        </p:spPr>
        <p:txBody>
          <a:bodyPr wrap="square" lIns="0" tIns="0" rIns="0" bIns="0" rtlCol="0" anchor="ctr"/>
          <a:lstStyle/>
          <a:p>
            <a:pPr indent="0" marL="0">
              <a:buNone/>
            </a:pPr>
            <a:r>
              <a:rPr lang="en-US" sz="1150" b="1" dirty="0">
                <a:solidFill>
                  <a:srgbClr val="2563EB"/>
                </a:solidFill>
                <a:latin typeface="Courier New" pitchFamily="34" charset="0"/>
                <a:ea typeface="Courier New" pitchFamily="34" charset="-122"/>
                <a:cs typeface="Courier New" pitchFamily="34" charset="-120"/>
              </a:rPr>
              <a:t>date_histogram</a:t>
            </a:r>
            <a:endParaRPr lang="en-US" sz="1150" dirty="0"/>
          </a:p>
        </p:txBody>
      </p:sp>
      <p:sp>
        <p:nvSpPr>
          <p:cNvPr id="29" name="Text 27"/>
          <p:cNvSpPr/>
          <p:nvPr/>
        </p:nvSpPr>
        <p:spPr>
          <a:xfrm>
            <a:off x="4910328" y="2834640"/>
            <a:ext cx="3767328" cy="27432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Group by time interval — documents per hour/day. Foundation of time-series charts.</a:t>
            </a:r>
            <a:endParaRPr lang="en-US" sz="950" dirty="0"/>
          </a:p>
        </p:txBody>
      </p:sp>
      <p:sp>
        <p:nvSpPr>
          <p:cNvPr id="30" name="Shape 28"/>
          <p:cNvSpPr/>
          <p:nvPr/>
        </p:nvSpPr>
        <p:spPr>
          <a:xfrm>
            <a:off x="4754880" y="3255264"/>
            <a:ext cx="406908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1" name="Text 29"/>
          <p:cNvSpPr/>
          <p:nvPr/>
        </p:nvSpPr>
        <p:spPr>
          <a:xfrm>
            <a:off x="4910328" y="3310128"/>
            <a:ext cx="3767328" cy="256032"/>
          </a:xfrm>
          <a:prstGeom prst="rect">
            <a:avLst/>
          </a:prstGeom>
          <a:noFill/>
          <a:ln/>
        </p:spPr>
        <p:txBody>
          <a:bodyPr wrap="square" lIns="0" tIns="0" rIns="0" bIns="0" rtlCol="0" anchor="ctr"/>
          <a:lstStyle/>
          <a:p>
            <a:pPr indent="0" marL="0">
              <a:buNone/>
            </a:pPr>
            <a:r>
              <a:rPr lang="en-US" sz="1150" b="1" dirty="0">
                <a:solidFill>
                  <a:srgbClr val="D97706"/>
                </a:solidFill>
                <a:latin typeface="Courier New" pitchFamily="34" charset="0"/>
                <a:ea typeface="Courier New" pitchFamily="34" charset="-122"/>
                <a:cs typeface="Courier New" pitchFamily="34" charset="-120"/>
              </a:rPr>
              <a:t>avg / sum / min / max</a:t>
            </a:r>
            <a:endParaRPr lang="en-US" sz="1150" dirty="0"/>
          </a:p>
        </p:txBody>
      </p:sp>
      <p:sp>
        <p:nvSpPr>
          <p:cNvPr id="32" name="Text 30"/>
          <p:cNvSpPr/>
          <p:nvPr/>
        </p:nvSpPr>
        <p:spPr>
          <a:xfrm>
            <a:off x="4910328" y="3584448"/>
            <a:ext cx="3767328" cy="27432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Calculate statistics on numeric fields — average response time, total bytes.</a:t>
            </a:r>
            <a:endParaRPr lang="en-US" sz="950" dirty="0"/>
          </a:p>
        </p:txBody>
      </p:sp>
      <p:sp>
        <p:nvSpPr>
          <p:cNvPr id="33" name="Shape 31"/>
          <p:cNvSpPr/>
          <p:nvPr/>
        </p:nvSpPr>
        <p:spPr>
          <a:xfrm>
            <a:off x="4754880" y="4005072"/>
            <a:ext cx="406908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4" name="Text 32"/>
          <p:cNvSpPr/>
          <p:nvPr/>
        </p:nvSpPr>
        <p:spPr>
          <a:xfrm>
            <a:off x="4910328" y="4059936"/>
            <a:ext cx="3767328" cy="256032"/>
          </a:xfrm>
          <a:prstGeom prst="rect">
            <a:avLst/>
          </a:prstGeom>
          <a:noFill/>
          <a:ln/>
        </p:spPr>
        <p:txBody>
          <a:bodyPr wrap="square" lIns="0" tIns="0" rIns="0" bIns="0" rtlCol="0" anchor="ctr"/>
          <a:lstStyle/>
          <a:p>
            <a:pPr indent="0" marL="0">
              <a:buNone/>
            </a:pPr>
            <a:r>
              <a:rPr lang="en-US" sz="1150" b="1" dirty="0">
                <a:solidFill>
                  <a:srgbClr val="7C3AED"/>
                </a:solidFill>
                <a:latin typeface="Courier New" pitchFamily="34" charset="0"/>
                <a:ea typeface="Courier New" pitchFamily="34" charset="-122"/>
                <a:cs typeface="Courier New" pitchFamily="34" charset="-120"/>
              </a:rPr>
              <a:t>range</a:t>
            </a:r>
            <a:endParaRPr lang="en-US" sz="1150" dirty="0"/>
          </a:p>
        </p:txBody>
      </p:sp>
      <p:sp>
        <p:nvSpPr>
          <p:cNvPr id="35" name="Text 33"/>
          <p:cNvSpPr/>
          <p:nvPr/>
        </p:nvSpPr>
        <p:spPr>
          <a:xfrm>
            <a:off x="4910328" y="4334256"/>
            <a:ext cx="3767328" cy="27432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Bucket documents into custom ranges — response times 0-100ms, 100-500ms, 500ms+.</a:t>
            </a:r>
            <a:endParaRPr lang="en-US" sz="950" dirty="0"/>
          </a:p>
        </p:txBody>
      </p:sp>
      <p:sp>
        <p:nvSpPr>
          <p:cNvPr id="36" name="Shape 34"/>
          <p:cNvSpPr/>
          <p:nvPr/>
        </p:nvSpPr>
        <p:spPr>
          <a:xfrm>
            <a:off x="0" y="4846320"/>
            <a:ext cx="9144000" cy="297180"/>
          </a:xfrm>
          <a:prstGeom prst="rect">
            <a:avLst/>
          </a:prstGeom>
          <a:solidFill>
            <a:srgbClr val="7C2D12"/>
          </a:solidFill>
          <a:ln w="12700">
            <a:solidFill>
              <a:srgbClr val="7C2D12"/>
            </a:solidFill>
            <a:prstDash val="solid"/>
          </a:ln>
        </p:spPr>
      </p:sp>
      <p:sp>
        <p:nvSpPr>
          <p:cNvPr id="37" name="Text 35"/>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Aggregations Reference — CONFIDENTIAL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UP NEXT — LAB 1 AFTER LUNCH</a:t>
            </a:r>
            <a:endParaRPr lang="en-US" sz="2000" dirty="0"/>
          </a:p>
        </p:txBody>
      </p:sp>
      <p:sp>
        <p:nvSpPr>
          <p:cNvPr id="4" name="Shape 2"/>
          <p:cNvSpPr/>
          <p:nvPr/>
        </p:nvSpPr>
        <p:spPr>
          <a:xfrm>
            <a:off x="7178040" y="109728"/>
            <a:ext cx="1600200" cy="475488"/>
          </a:xfrm>
          <a:prstGeom prst="roundRect">
            <a:avLst>
              <a:gd name="adj" fmla="val 11538"/>
            </a:avLst>
          </a:prstGeom>
          <a:solidFill>
            <a:srgbClr val="00BFB3"/>
          </a:solidFill>
          <a:ln w="12700">
            <a:solidFill>
              <a:srgbClr val="00BFB3"/>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What's Coming</a:t>
            </a:r>
            <a:endParaRPr lang="en-US" sz="950" dirty="0"/>
          </a:p>
        </p:txBody>
      </p:sp>
      <p:sp>
        <p:nvSpPr>
          <p:cNvPr id="6" name="Shape 4"/>
          <p:cNvSpPr/>
          <p:nvPr/>
        </p:nvSpPr>
        <p:spPr>
          <a:xfrm>
            <a:off x="320040" y="868680"/>
            <a:ext cx="8503920" cy="658368"/>
          </a:xfrm>
          <a:prstGeom prst="roundRect">
            <a:avLst>
              <a:gd name="adj" fmla="val 13889"/>
            </a:avLst>
          </a:prstGeom>
          <a:solidFill>
            <a:srgbClr val="FEF3C7"/>
          </a:solidFill>
          <a:ln w="12700">
            <a:solidFill>
              <a:srgbClr val="FCD34D"/>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56692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This afternoon you build the full Day 1 pipeline — Apache logs → Logstash → Elasticsearch → verify. First we cover Logstash, then the lab runs 13:00–16:00.</a:t>
            </a:r>
            <a:endParaRPr lang="en-US" sz="1200" dirty="0"/>
          </a:p>
        </p:txBody>
      </p:sp>
      <p:sp>
        <p:nvSpPr>
          <p:cNvPr id="8" name="Shape 6"/>
          <p:cNvSpPr/>
          <p:nvPr/>
        </p:nvSpPr>
        <p:spPr>
          <a:xfrm>
            <a:off x="320040" y="1664208"/>
            <a:ext cx="2697480" cy="3035808"/>
          </a:xfrm>
          <a:prstGeom prst="roundRect">
            <a:avLst>
              <a:gd name="adj" fmla="val 3390"/>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783080"/>
            <a:ext cx="548640" cy="54864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0" name="Text 8"/>
          <p:cNvSpPr/>
          <p:nvPr/>
        </p:nvSpPr>
        <p:spPr>
          <a:xfrm>
            <a:off x="475488" y="2377440"/>
            <a:ext cx="2423160" cy="438912"/>
          </a:xfrm>
          <a:prstGeom prst="rect">
            <a:avLst/>
          </a:prstGeom>
          <a:noFill/>
          <a:ln/>
        </p:spPr>
        <p:txBody>
          <a:bodyPr wrap="square" lIns="0" tIns="0" rIns="0" bIns="0" rtlCol="0" anchor="ctr"/>
          <a:lstStyle/>
          <a:p>
            <a:pPr indent="0" marL="0">
              <a:buNone/>
            </a:pPr>
            <a:r>
              <a:rPr lang="en-US" sz="1250" b="1" dirty="0">
                <a:solidFill>
                  <a:srgbClr val="F4659C"/>
                </a:solidFill>
                <a:latin typeface="Cambria" pitchFamily="34" charset="0"/>
                <a:ea typeface="Cambria" pitchFamily="34" charset="-122"/>
                <a:cs typeface="Cambria" pitchFamily="34" charset="-120"/>
              </a:rPr>
              <a:t>Logstash (Section 06–09)</a:t>
            </a:r>
            <a:endParaRPr lang="en-US" sz="1250" dirty="0"/>
          </a:p>
        </p:txBody>
      </p:sp>
      <p:sp>
        <p:nvSpPr>
          <p:cNvPr id="11" name="Text 9"/>
          <p:cNvSpPr/>
          <p:nvPr/>
        </p:nvSpPr>
        <p:spPr>
          <a:xfrm>
            <a:off x="475488" y="2852928"/>
            <a:ext cx="2423160" cy="1719072"/>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After lunch we cover Logstash — how to write a pipeline config, parse Apache logs with grok, and ship them to Elasticsearch. This is the processing engine that transforms raw logs into structured data.</a:t>
            </a:r>
            <a:endParaRPr lang="en-US" sz="1050" dirty="0"/>
          </a:p>
        </p:txBody>
      </p:sp>
      <p:sp>
        <p:nvSpPr>
          <p:cNvPr id="12" name="Shape 10"/>
          <p:cNvSpPr/>
          <p:nvPr/>
        </p:nvSpPr>
        <p:spPr>
          <a:xfrm>
            <a:off x="3172968" y="1664208"/>
            <a:ext cx="2697480" cy="3035808"/>
          </a:xfrm>
          <a:prstGeom prst="roundRect">
            <a:avLst>
              <a:gd name="adj" fmla="val 3390"/>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3" name="Text 11"/>
          <p:cNvSpPr/>
          <p:nvPr/>
        </p:nvSpPr>
        <p:spPr>
          <a:xfrm>
            <a:off x="3328416" y="1783080"/>
            <a:ext cx="548640" cy="54864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4" name="Text 12"/>
          <p:cNvSpPr/>
          <p:nvPr/>
        </p:nvSpPr>
        <p:spPr>
          <a:xfrm>
            <a:off x="3328416" y="2377440"/>
            <a:ext cx="2423160" cy="438912"/>
          </a:xfrm>
          <a:prstGeom prst="rect">
            <a:avLst/>
          </a:prstGeom>
          <a:noFill/>
          <a:ln/>
        </p:spPr>
        <p:txBody>
          <a:bodyPr wrap="square" lIns="0" tIns="0" rIns="0" bIns="0" rtlCol="0" anchor="ctr"/>
          <a:lstStyle/>
          <a:p>
            <a:pPr indent="0" marL="0">
              <a:buNone/>
            </a:pPr>
            <a:r>
              <a:rPr lang="en-US" sz="1250" b="1" dirty="0">
                <a:solidFill>
                  <a:srgbClr val="00BFB3"/>
                </a:solidFill>
                <a:latin typeface="Cambria" pitchFamily="34" charset="0"/>
                <a:ea typeface="Cambria" pitchFamily="34" charset="-122"/>
                <a:cs typeface="Cambria" pitchFamily="34" charset="-120"/>
              </a:rPr>
              <a:t>Lab 1 — Full Pipeline</a:t>
            </a:r>
            <a:endParaRPr lang="en-US" sz="1250" dirty="0"/>
          </a:p>
        </p:txBody>
      </p:sp>
      <p:sp>
        <p:nvSpPr>
          <p:cNvPr id="15" name="Text 13"/>
          <p:cNvSpPr/>
          <p:nvPr/>
        </p:nvSpPr>
        <p:spPr>
          <a:xfrm>
            <a:off x="3328416" y="2852928"/>
            <a:ext cx="2423160" cy="1719072"/>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You write a Logstash pipeline config, start it, watch logs flow into Elasticsearch, then verify the data with curl queries. By end of lab you have real structured data in Elasticsearch.</a:t>
            </a:r>
            <a:endParaRPr lang="en-US" sz="1050" dirty="0"/>
          </a:p>
        </p:txBody>
      </p:sp>
      <p:sp>
        <p:nvSpPr>
          <p:cNvPr id="16" name="Shape 14"/>
          <p:cNvSpPr/>
          <p:nvPr/>
        </p:nvSpPr>
        <p:spPr>
          <a:xfrm>
            <a:off x="6025896" y="1664208"/>
            <a:ext cx="2697480" cy="3035808"/>
          </a:xfrm>
          <a:prstGeom prst="roundRect">
            <a:avLst>
              <a:gd name="adj" fmla="val 3390"/>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7" name="Text 15"/>
          <p:cNvSpPr/>
          <p:nvPr/>
        </p:nvSpPr>
        <p:spPr>
          <a:xfrm>
            <a:off x="6181344" y="1783080"/>
            <a:ext cx="548640" cy="54864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8" name="Text 16"/>
          <p:cNvSpPr/>
          <p:nvPr/>
        </p:nvSpPr>
        <p:spPr>
          <a:xfrm>
            <a:off x="6181344" y="2377440"/>
            <a:ext cx="2423160" cy="438912"/>
          </a:xfrm>
          <a:prstGeom prst="rect">
            <a:avLst/>
          </a:prstGeom>
          <a:noFill/>
          <a:ln/>
        </p:spPr>
        <p:txBody>
          <a:bodyPr wrap="square" lIns="0" tIns="0" rIns="0" bIns="0" rtlCol="0" anchor="ctr"/>
          <a:lstStyle/>
          <a:p>
            <a:pPr indent="0" marL="0">
              <a:buNone/>
            </a:pPr>
            <a:r>
              <a:rPr lang="en-US" sz="1250" b="1" dirty="0">
                <a:solidFill>
                  <a:srgbClr val="8B5CF6"/>
                </a:solidFill>
                <a:latin typeface="Cambria" pitchFamily="34" charset="0"/>
                <a:ea typeface="Cambria" pitchFamily="34" charset="-122"/>
                <a:cs typeface="Cambria" pitchFamily="34" charset="-120"/>
              </a:rPr>
              <a:t>Day 2 — Kibana</a:t>
            </a:r>
            <a:endParaRPr lang="en-US" sz="1250" dirty="0"/>
          </a:p>
        </p:txBody>
      </p:sp>
      <p:sp>
        <p:nvSpPr>
          <p:cNvPr id="19" name="Text 17"/>
          <p:cNvSpPr/>
          <p:nvPr/>
        </p:nvSpPr>
        <p:spPr>
          <a:xfrm>
            <a:off x="6181344" y="2852928"/>
            <a:ext cx="2423160" cy="1719072"/>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Tomorrow you visualise everything from today. The structured data in Elasticsearch becomes charts, dashboards and alerts in Kibana.</a:t>
            </a:r>
            <a:endParaRPr lang="en-US" sz="1050" dirty="0"/>
          </a:p>
        </p:txBody>
      </p:sp>
      <p:sp>
        <p:nvSpPr>
          <p:cNvPr id="20" name="Shape 18"/>
          <p:cNvSpPr/>
          <p:nvPr/>
        </p:nvSpPr>
        <p:spPr>
          <a:xfrm>
            <a:off x="0" y="4846320"/>
            <a:ext cx="9144000" cy="297180"/>
          </a:xfrm>
          <a:prstGeom prst="rect">
            <a:avLst/>
          </a:prstGeom>
          <a:solidFill>
            <a:srgbClr val="0F172A"/>
          </a:solidFill>
          <a:ln w="12700">
            <a:solidFill>
              <a:srgbClr val="0F172A"/>
            </a:solidFill>
            <a:prstDash val="solid"/>
          </a:ln>
        </p:spPr>
      </p:sp>
      <p:sp>
        <p:nvSpPr>
          <p:cNvPr id="21" name="Text 1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End of Part 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2026-07-02T08:41:40Z</dcterms:created>
  <dcterms:modified xsi:type="dcterms:W3CDTF">2026-07-02T08:41:40Z</dcterms:modified>
</cp:coreProperties>
</file>