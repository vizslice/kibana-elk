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13:00 (after lunch)
Say: 'This afternoon is all about Logstash — the L in ELK. Logstash is the pipeline that takes your raw messy log files and turns them into structured, searchable JSON that Elasticsearch can index. By end of today you will have real data flowing through the full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13:00 – 13:15  (15 min)
The pipeline concept is simple: input reads data, filter transforms it, output ships it.
Key analogy: 'Think of Logstash as a post sorting office. Mail arrives (input), gets sorted and stamped (filter), then delivered to the right address (output). Your log data is the mail.'
For training we use: input file → filter grok+date → output elasticsearch. This covers 90% of real-world use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13:15 – 13:28  (13 min)
LIVE DEMO — type this config file:
mkdir -p pipeline &amp;&amp; cat &gt; pipeline/apache.conf &lt;&lt; 'EOF'
input { file { path =&gt; '/logs/access.log' start_position =&gt; 'beginning' sincedb_path =&gt; '/dev/null' } }
filter { }
output { stdout { codec =&gt; rubydebug } }
EOF
Then restart Logstash:
docker-compose restart logstash
docker-compose logs -f logstash
With empty filter, show events appearing in stdout — raw single-line strings. Then explain: 'Right now Logstash is shipping the whole log line as a single message field. Next we use grok to parse it into structured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13:28
Say: 'Grok is the most important thing in Logstash. It takes a raw log line like this: 192.168.1.1 - - [25/Jan/2024] GET /api 200 1420 — and breaks it into named fields: client_ip, timestamp, method, url, status_code, bytes. Once it is structured, Elasticsearch can search, filter and aggregate on each field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13:28 – 13:45  (17 min)
The transformation from one messy string to structured fields is the 'wow moment' of Logstash. Make it visual — write the raw log on the whiteboard, then draw arrows to each extracted field.
COMBINEDAPACHELOG is a built-in Logstash pattern that handles the entire Apache combined log format. Students don't need to write it from scratch.
LIVE DEMO — update the pipeline config:
filter {
  grok {
    match =&gt; { "message" =&gt; "%{COMBINEDAPACHELOG}" }
  }
}
Restart Logstash and show the stdout output changing from one big 'message' field to structured fields including clientip, verb, request, response, bytes.
Grok Debugger tool: Kibana → Dev Tools → Grok Debugger. Students can test patterns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13:45 – 14:00  (15 min)
The date filter is critical — without it, Elasticsearch will use the ingestion time as @timestamp. This means your time-series charts will show all historical logs as if they happened right now.
LIVE DEMO — add date and mutate to the filter block, restart Logstash:
docker-compose restart logstash
docker-compose logs -f logstash
Now check the data in ES:
curl -s 'http://localhost:9200/apache-logs-*/_search?size=1' | python -m json.tool
Show students the @timestamp field now matches the actual log timestamp, not the current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14:00 – 14:12  (12 min)
For training: file input only. Students send logs from a file on disk.
Production reality: most organisations use beats input. Filebeat runs on every server, reads log files, and ships to a central Logstash on port 5044. Logstash parses and enriches, then ships to Elasticsearch.
Mention but don't demo: jdbc input for pulling data from MySQL/PostgreSQL databases. Common for audit logging and compliance use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14:12 – 14:25  (13 min)
LIVE DEMO — show the full working pipeline:
1. Confirm Logstash is processing: docker-compose logs -f logstash
2. Check events in ES: curl 'http://localhost:9200/_cat/indices?v'
3. Count documents: curl 'http://localhost:9200/apache-logs-*/_count'
4. Search first document: curl 'http://localhost:9200/apache-logs-*/_search?size=1' | python -m json.tool
Show students the structured fields in the _source — they are now searchable in Elasticsearch and visualisable in Kibana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TRAINER GUIDE
TIMING: 14:30 – 16:00 (90 min — students may finish faster)
PRE-LAB: Ensure the sample access.log file (5000 lines) is in the lab folder. Students copy it to ./logs/
Expected pipeline config (complete):
input {
  file {
    path =&gt; '/logs/access.log'
    start_position =&gt; 'beginning'
    sincedb_path =&gt; '/dev/null'
  }
}
filter {
  grok { match =&gt; { 'message' =&gt; '%{COMBINEDAPACHELOG}' } }
  date { match =&gt; ['timestamp','dd/MMM/yyyy:HH:mm:ss Z'] target =&gt; '@timestamp' }
  mutate {
    convert =&gt; { 'response' =&gt; 'integer' 'bytes' =&gt; 'integer' }
    rename =&gt; { 'clientip' =&gt; 'client_ip' 'verb' =&gt; 'method' }
    remove_field =&gt; ['message','timestamp']
  }
}
output {
  elasticsearch { hosts =&gt; ['http://elasticsearch:9200'] index =&gt; 'apache-logs-%{+YYYY.MM.dd}' }
  stdout { codec =&gt; rubydebug }
}
COMMON ERRORS:
1. _grokparsefailure tag on events — grok pattern didn't match. Show them Kibana Grok Debugger.
2. No documents in ES — check Logstash logs for connection errors. ES might not be ready.
3. Timestamps show today's date — date filter missing or wrong format string.
4. response field is a string — mutate convert missing.
VERIFICATION QUERIES:
curl 'http://localhost:9200/apache-logs-*/_count'
curl -X POST 'http://localhost:9200/apache-logs-*/_search' -H 'Content-Type: application/json' -d '{"query":{"term":{"response":500}}}'
curl -X POST 'http://localhost:9200/apache-logs-*/_search' -H 'Content-Type: application/json' -d '{"size":0,"aggs":{"by_status":{"terms":{"field":"response"}}}}' | python -m json.tool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common issue: _grokparsefailure. This means the grok pattern didn't match at least one log line. Use Kibana Grok Debugger (Day 2) or test with: echo '127.0.0.1 - - [25/Jan/2024:10:15:32 +0000] "GET / HTTP/1.1" 200 1234' | docker-compose exec -T logstash bin/logstash -e 'input{stdin{}} filter{grok{match=&gt;{"message"=&gt;"%{COMBINEDAPACHELOG}"}}} output{stdout{codec=&gt;rubydebug}}'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~16:00
Say: 'You built the E and the L today. Tomorrow is K — Kibana. All the data you put into Elasticsearch today becomes dashboards, charts and alerts in Kibana tomorrow.'
Reminder: leave the Docker stack running overnight if possible so Day 2 data is available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F4659C"/>
          </a:solidFill>
          <a:ln w="12700">
            <a:solidFill>
              <a:srgbClr val="F4659C"/>
            </a:solidFill>
            <a:prstDash val="solid"/>
          </a:ln>
        </p:spPr>
      </p:sp>
      <p:sp>
        <p:nvSpPr>
          <p:cNvPr id="3" name="Shape 1"/>
          <p:cNvSpPr/>
          <p:nvPr/>
        </p:nvSpPr>
        <p:spPr>
          <a:xfrm>
            <a:off x="5943600" y="-914400"/>
            <a:ext cx="4572000" cy="4572000"/>
          </a:xfrm>
          <a:prstGeom prst="ellipse">
            <a:avLst/>
          </a:prstGeom>
          <a:solidFill>
            <a:srgbClr val="F4659C">
              <a:alpha val="10000"/>
            </a:srgbClr>
          </a:solidFill>
          <a:ln w="12700">
            <a:solidFill>
              <a:srgbClr val="F4659C">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indent="0" marL="0">
              <a:buNone/>
            </a:pPr>
            <a:r>
              <a:rPr lang="en-US" sz="1200" b="1" spc="400" kern="0" dirty="0">
                <a:solidFill>
                  <a:srgbClr val="F4659C"/>
                </a:solidFill>
                <a:latin typeface="Arial" pitchFamily="34" charset="0"/>
                <a:ea typeface="Arial" pitchFamily="34" charset="-122"/>
                <a:cs typeface="Arial" pitchFamily="34" charset="-120"/>
              </a:rPr>
              <a:t>SECTION 06</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Logstash</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Fundamentals</a:t>
            </a:r>
            <a:endParaRPr lang="en-US" sz="44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The pipeline — collecting, parsing and shipping log data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WHAT IS LOGSTASH?</a:t>
            </a:r>
            <a:endParaRPr lang="en-US" sz="2000" dirty="0"/>
          </a:p>
        </p:txBody>
      </p:sp>
      <p:sp>
        <p:nvSpPr>
          <p:cNvPr id="4" name="Shape 2"/>
          <p:cNvSpPr/>
          <p:nvPr/>
        </p:nvSpPr>
        <p:spPr>
          <a:xfrm>
            <a:off x="7178040" y="109728"/>
            <a:ext cx="1600200" cy="475488"/>
          </a:xfrm>
          <a:prstGeom prst="roundRect">
            <a:avLst>
              <a:gd name="adj" fmla="val 11538"/>
            </a:avLst>
          </a:prstGeom>
          <a:solidFill>
            <a:srgbClr val="F4659C"/>
          </a:solidFill>
          <a:ln w="12700">
            <a:solidFill>
              <a:srgbClr val="F4659C"/>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06  •  Logstash Fundamentals</a:t>
            </a:r>
            <a:endParaRPr lang="en-US" sz="950" dirty="0"/>
          </a:p>
        </p:txBody>
      </p:sp>
      <p:sp>
        <p:nvSpPr>
          <p:cNvPr id="6" name="Shape 4"/>
          <p:cNvSpPr/>
          <p:nvPr/>
        </p:nvSpPr>
        <p:spPr>
          <a:xfrm>
            <a:off x="320040" y="868680"/>
            <a:ext cx="8503920" cy="713232"/>
          </a:xfrm>
          <a:prstGeom prst="roundRect">
            <a:avLst>
              <a:gd name="adj" fmla="val 12821"/>
            </a:avLst>
          </a:prstGeom>
          <a:solidFill>
            <a:srgbClr val="FEE2EF"/>
          </a:solidFill>
          <a:ln w="12700">
            <a:solidFill>
              <a:srgbClr val="F9A8D4"/>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621792"/>
          </a:xfrm>
          <a:prstGeom prst="rect">
            <a:avLst/>
          </a:prstGeom>
          <a:noFill/>
          <a:ln/>
        </p:spPr>
        <p:txBody>
          <a:bodyPr wrap="square" lIns="0" tIns="0" rIns="0" bIns="0" rtlCol="0" anchor="ctr"/>
          <a:lstStyle/>
          <a:p>
            <a:pPr indent="0" marL="0">
              <a:buNone/>
            </a:pPr>
            <a:r>
              <a:rPr lang="en-US" sz="1300" dirty="0">
                <a:solidFill>
                  <a:srgbClr val="0F172A"/>
                </a:solidFill>
                <a:latin typeface="Cambria" pitchFamily="34" charset="0"/>
                <a:ea typeface="Cambria" pitchFamily="34" charset="-122"/>
                <a:cs typeface="Cambria" pitchFamily="34" charset="-120"/>
              </a:rPr>
              <a:t>Logstash is a server-side data processing pipeline. It ingests data from multiple sources, transforms it, and ships it to your preferred destination — usually Elasticsearch.</a:t>
            </a:r>
            <a:endParaRPr lang="en-US" sz="1300" dirty="0"/>
          </a:p>
        </p:txBody>
      </p:sp>
      <p:sp>
        <p:nvSpPr>
          <p:cNvPr id="8" name="Shape 6"/>
          <p:cNvSpPr/>
          <p:nvPr/>
        </p:nvSpPr>
        <p:spPr>
          <a:xfrm>
            <a:off x="320040" y="1719072"/>
            <a:ext cx="8503920" cy="1170432"/>
          </a:xfrm>
          <a:prstGeom prst="roundRect">
            <a:avLst>
              <a:gd name="adj" fmla="val 7813"/>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9" name="Text 7"/>
          <p:cNvSpPr/>
          <p:nvPr/>
        </p:nvSpPr>
        <p:spPr>
          <a:xfrm>
            <a:off x="475488" y="1783080"/>
            <a:ext cx="8229600" cy="228600"/>
          </a:xfrm>
          <a:prstGeom prst="rect">
            <a:avLst/>
          </a:prstGeom>
          <a:noFill/>
          <a:ln/>
        </p:spPr>
        <p:txBody>
          <a:bodyPr wrap="square" lIns="0" tIns="0" rIns="0" bIns="0" rtlCol="0" anchor="ctr"/>
          <a:lstStyle/>
          <a:p>
            <a:pPr indent="0" marL="0">
              <a:buNone/>
            </a:pPr>
            <a:r>
              <a:rPr lang="en-US" sz="900" b="1" spc="300" kern="0" dirty="0">
                <a:solidFill>
                  <a:srgbClr val="64748B"/>
                </a:solidFill>
                <a:latin typeface="Arial" pitchFamily="34" charset="0"/>
                <a:ea typeface="Arial" pitchFamily="34" charset="-122"/>
                <a:cs typeface="Arial" pitchFamily="34" charset="-120"/>
              </a:rPr>
              <a:t>LOGSTASH PIPELINE</a:t>
            </a:r>
            <a:endParaRPr lang="en-US" sz="900" dirty="0"/>
          </a:p>
        </p:txBody>
      </p:sp>
      <p:sp>
        <p:nvSpPr>
          <p:cNvPr id="10" name="Shape 8"/>
          <p:cNvSpPr/>
          <p:nvPr/>
        </p:nvSpPr>
        <p:spPr>
          <a:xfrm>
            <a:off x="502920" y="2084832"/>
            <a:ext cx="2606040" cy="658368"/>
          </a:xfrm>
          <a:prstGeom prst="roundRect">
            <a:avLst>
              <a:gd name="adj" fmla="val 11111"/>
            </a:avLst>
          </a:prstGeom>
          <a:solidFill>
            <a:srgbClr val="F5A700"/>
          </a:solidFill>
          <a:ln w="12700">
            <a:solidFill>
              <a:srgbClr val="F5A700"/>
            </a:solidFill>
            <a:prstDash val="solid"/>
          </a:ln>
        </p:spPr>
      </p:sp>
      <p:sp>
        <p:nvSpPr>
          <p:cNvPr id="11" name="Text 9"/>
          <p:cNvSpPr/>
          <p:nvPr/>
        </p:nvSpPr>
        <p:spPr>
          <a:xfrm>
            <a:off x="502920" y="2130552"/>
            <a:ext cx="260604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INPUT</a:t>
            </a:r>
            <a:endParaRPr lang="en-US" sz="1400" dirty="0"/>
          </a:p>
        </p:txBody>
      </p:sp>
      <p:sp>
        <p:nvSpPr>
          <p:cNvPr id="12" name="Text 10"/>
          <p:cNvSpPr/>
          <p:nvPr/>
        </p:nvSpPr>
        <p:spPr>
          <a:xfrm>
            <a:off x="502920" y="2423160"/>
            <a:ext cx="2606040" cy="256032"/>
          </a:xfrm>
          <a:prstGeom prst="rect">
            <a:avLst/>
          </a:prstGeom>
          <a:noFill/>
          <a:ln/>
        </p:spPr>
        <p:txBody>
          <a:bodyPr wrap="square" lIns="0" tIns="0" rIns="0" bIns="0" rtlCol="0" anchor="ctr"/>
          <a:lstStyle/>
          <a:p>
            <a:pPr algn="ctr" indent="0" marL="0">
              <a:buNone/>
            </a:pPr>
            <a:r>
              <a:rPr lang="en-US" sz="850" dirty="0">
                <a:solidFill>
                  <a:srgbClr val="FFFFFF"/>
                </a:solidFill>
                <a:latin typeface="Arial" pitchFamily="34" charset="0"/>
                <a:ea typeface="Arial" pitchFamily="34" charset="-122"/>
                <a:cs typeface="Arial" pitchFamily="34" charset="-120"/>
              </a:rPr>
              <a:t>Where data</a:t>
            </a:r>
            <a:endParaRPr lang="en-US" sz="850" dirty="0"/>
          </a:p>
          <a:p>
            <a:pPr algn="ctr" indent="0" marL="0">
              <a:buNone/>
            </a:pPr>
            <a:r>
              <a:rPr lang="en-US" sz="850" dirty="0">
                <a:solidFill>
                  <a:srgbClr val="FFFFFF"/>
                </a:solidFill>
                <a:latin typeface="Arial" pitchFamily="34" charset="0"/>
                <a:ea typeface="Arial" pitchFamily="34" charset="-122"/>
                <a:cs typeface="Arial" pitchFamily="34" charset="-120"/>
              </a:rPr>
              <a:t>comes from</a:t>
            </a:r>
            <a:endParaRPr lang="en-US" sz="850" dirty="0"/>
          </a:p>
        </p:txBody>
      </p:sp>
      <p:sp>
        <p:nvSpPr>
          <p:cNvPr id="13" name="Text 11"/>
          <p:cNvSpPr/>
          <p:nvPr/>
        </p:nvSpPr>
        <p:spPr>
          <a:xfrm>
            <a:off x="3127248" y="2304288"/>
            <a:ext cx="201168" cy="256032"/>
          </a:xfrm>
          <a:prstGeom prst="rect">
            <a:avLst/>
          </a:prstGeom>
          <a:noFill/>
          <a:ln/>
        </p:spPr>
        <p:txBody>
          <a:bodyPr wrap="square" lIns="0" tIns="0" rIns="0" bIns="0" rtlCol="0" anchor="ctr"/>
          <a:lstStyle/>
          <a:p>
            <a:pPr algn="ctr" indent="0" marL="0">
              <a:buNone/>
            </a:pPr>
            <a:r>
              <a:rPr lang="en-US" sz="1800" dirty="0">
                <a:solidFill>
                  <a:srgbClr val="475569"/>
                </a:solidFill>
              </a:rPr>
              <a:t>→</a:t>
            </a:r>
            <a:endParaRPr lang="en-US" sz="1800" dirty="0"/>
          </a:p>
        </p:txBody>
      </p:sp>
      <p:sp>
        <p:nvSpPr>
          <p:cNvPr id="14" name="Shape 12"/>
          <p:cNvSpPr/>
          <p:nvPr/>
        </p:nvSpPr>
        <p:spPr>
          <a:xfrm>
            <a:off x="3337560" y="2084832"/>
            <a:ext cx="2606040" cy="658368"/>
          </a:xfrm>
          <a:prstGeom prst="roundRect">
            <a:avLst>
              <a:gd name="adj" fmla="val 11111"/>
            </a:avLst>
          </a:prstGeom>
          <a:solidFill>
            <a:srgbClr val="F4659C"/>
          </a:solidFill>
          <a:ln w="12700">
            <a:solidFill>
              <a:srgbClr val="F4659C"/>
            </a:solidFill>
            <a:prstDash val="solid"/>
          </a:ln>
        </p:spPr>
      </p:sp>
      <p:sp>
        <p:nvSpPr>
          <p:cNvPr id="15" name="Text 13"/>
          <p:cNvSpPr/>
          <p:nvPr/>
        </p:nvSpPr>
        <p:spPr>
          <a:xfrm>
            <a:off x="3337560" y="2130552"/>
            <a:ext cx="260604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FILTER</a:t>
            </a:r>
            <a:endParaRPr lang="en-US" sz="1400" dirty="0"/>
          </a:p>
        </p:txBody>
      </p:sp>
      <p:sp>
        <p:nvSpPr>
          <p:cNvPr id="16" name="Text 14"/>
          <p:cNvSpPr/>
          <p:nvPr/>
        </p:nvSpPr>
        <p:spPr>
          <a:xfrm>
            <a:off x="3337560" y="2423160"/>
            <a:ext cx="2606040" cy="256032"/>
          </a:xfrm>
          <a:prstGeom prst="rect">
            <a:avLst/>
          </a:prstGeom>
          <a:noFill/>
          <a:ln/>
        </p:spPr>
        <p:txBody>
          <a:bodyPr wrap="square" lIns="0" tIns="0" rIns="0" bIns="0" rtlCol="0" anchor="ctr"/>
          <a:lstStyle/>
          <a:p>
            <a:pPr algn="ctr" indent="0" marL="0">
              <a:buNone/>
            </a:pPr>
            <a:r>
              <a:rPr lang="en-US" sz="850" dirty="0">
                <a:solidFill>
                  <a:srgbClr val="FFFFFF"/>
                </a:solidFill>
                <a:latin typeface="Arial" pitchFamily="34" charset="0"/>
                <a:ea typeface="Arial" pitchFamily="34" charset="-122"/>
                <a:cs typeface="Arial" pitchFamily="34" charset="-120"/>
              </a:rPr>
              <a:t>Transform</a:t>
            </a:r>
            <a:endParaRPr lang="en-US" sz="850" dirty="0"/>
          </a:p>
          <a:p>
            <a:pPr algn="ctr" indent="0" marL="0">
              <a:buNone/>
            </a:pPr>
            <a:r>
              <a:rPr lang="en-US" sz="850" dirty="0">
                <a:solidFill>
                  <a:srgbClr val="FFFFFF"/>
                </a:solidFill>
                <a:latin typeface="Arial" pitchFamily="34" charset="0"/>
                <a:ea typeface="Arial" pitchFamily="34" charset="-122"/>
                <a:cs typeface="Arial" pitchFamily="34" charset="-120"/>
              </a:rPr>
              <a:t>&amp; enrich</a:t>
            </a:r>
            <a:endParaRPr lang="en-US" sz="850" dirty="0"/>
          </a:p>
        </p:txBody>
      </p:sp>
      <p:sp>
        <p:nvSpPr>
          <p:cNvPr id="17" name="Text 15"/>
          <p:cNvSpPr/>
          <p:nvPr/>
        </p:nvSpPr>
        <p:spPr>
          <a:xfrm>
            <a:off x="5961888" y="2304288"/>
            <a:ext cx="201168" cy="256032"/>
          </a:xfrm>
          <a:prstGeom prst="rect">
            <a:avLst/>
          </a:prstGeom>
          <a:noFill/>
          <a:ln/>
        </p:spPr>
        <p:txBody>
          <a:bodyPr wrap="square" lIns="0" tIns="0" rIns="0" bIns="0" rtlCol="0" anchor="ctr"/>
          <a:lstStyle/>
          <a:p>
            <a:pPr algn="ctr" indent="0" marL="0">
              <a:buNone/>
            </a:pPr>
            <a:r>
              <a:rPr lang="en-US" sz="1800" dirty="0">
                <a:solidFill>
                  <a:srgbClr val="475569"/>
                </a:solidFill>
              </a:rPr>
              <a:t>→</a:t>
            </a:r>
            <a:endParaRPr lang="en-US" sz="1800" dirty="0"/>
          </a:p>
        </p:txBody>
      </p:sp>
      <p:sp>
        <p:nvSpPr>
          <p:cNvPr id="18" name="Shape 16"/>
          <p:cNvSpPr/>
          <p:nvPr/>
        </p:nvSpPr>
        <p:spPr>
          <a:xfrm>
            <a:off x="6172200" y="2084832"/>
            <a:ext cx="2606040" cy="658368"/>
          </a:xfrm>
          <a:prstGeom prst="roundRect">
            <a:avLst>
              <a:gd name="adj" fmla="val 11111"/>
            </a:avLst>
          </a:prstGeom>
          <a:solidFill>
            <a:srgbClr val="00BFB3"/>
          </a:solidFill>
          <a:ln w="12700">
            <a:solidFill>
              <a:srgbClr val="00BFB3"/>
            </a:solidFill>
            <a:prstDash val="solid"/>
          </a:ln>
        </p:spPr>
      </p:sp>
      <p:sp>
        <p:nvSpPr>
          <p:cNvPr id="19" name="Text 17"/>
          <p:cNvSpPr/>
          <p:nvPr/>
        </p:nvSpPr>
        <p:spPr>
          <a:xfrm>
            <a:off x="6172200" y="2130552"/>
            <a:ext cx="2606040"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OUTPUT</a:t>
            </a:r>
            <a:endParaRPr lang="en-US" sz="1400" dirty="0"/>
          </a:p>
        </p:txBody>
      </p:sp>
      <p:sp>
        <p:nvSpPr>
          <p:cNvPr id="20" name="Text 18"/>
          <p:cNvSpPr/>
          <p:nvPr/>
        </p:nvSpPr>
        <p:spPr>
          <a:xfrm>
            <a:off x="6172200" y="2423160"/>
            <a:ext cx="2606040" cy="256032"/>
          </a:xfrm>
          <a:prstGeom prst="rect">
            <a:avLst/>
          </a:prstGeom>
          <a:noFill/>
          <a:ln/>
        </p:spPr>
        <p:txBody>
          <a:bodyPr wrap="square" lIns="0" tIns="0" rIns="0" bIns="0" rtlCol="0" anchor="ctr"/>
          <a:lstStyle/>
          <a:p>
            <a:pPr algn="ctr" indent="0" marL="0">
              <a:buNone/>
            </a:pPr>
            <a:r>
              <a:rPr lang="en-US" sz="850" dirty="0">
                <a:solidFill>
                  <a:srgbClr val="FFFFFF"/>
                </a:solidFill>
                <a:latin typeface="Arial" pitchFamily="34" charset="0"/>
                <a:ea typeface="Arial" pitchFamily="34" charset="-122"/>
                <a:cs typeface="Arial" pitchFamily="34" charset="-120"/>
              </a:rPr>
              <a:t>Where data</a:t>
            </a:r>
            <a:endParaRPr lang="en-US" sz="850" dirty="0"/>
          </a:p>
          <a:p>
            <a:pPr algn="ctr" indent="0" marL="0">
              <a:buNone/>
            </a:pPr>
            <a:r>
              <a:rPr lang="en-US" sz="850" dirty="0">
                <a:solidFill>
                  <a:srgbClr val="FFFFFF"/>
                </a:solidFill>
                <a:latin typeface="Arial" pitchFamily="34" charset="0"/>
                <a:ea typeface="Arial" pitchFamily="34" charset="-122"/>
                <a:cs typeface="Arial" pitchFamily="34" charset="-120"/>
              </a:rPr>
              <a:t>goes to</a:t>
            </a:r>
            <a:endParaRPr lang="en-US" sz="850" dirty="0"/>
          </a:p>
        </p:txBody>
      </p:sp>
      <p:sp>
        <p:nvSpPr>
          <p:cNvPr id="21" name="Shape 19"/>
          <p:cNvSpPr/>
          <p:nvPr/>
        </p:nvSpPr>
        <p:spPr>
          <a:xfrm>
            <a:off x="320040" y="2999232"/>
            <a:ext cx="8503920" cy="530352"/>
          </a:xfrm>
          <a:prstGeom prst="roundRect">
            <a:avLst>
              <a:gd name="adj" fmla="val 17241"/>
            </a:avLst>
          </a:prstGeom>
          <a:solidFill>
            <a:srgbClr val="FEF3C7"/>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2" name="Shape 20"/>
          <p:cNvSpPr/>
          <p:nvPr/>
        </p:nvSpPr>
        <p:spPr>
          <a:xfrm>
            <a:off x="475488" y="3090672"/>
            <a:ext cx="3200400" cy="292608"/>
          </a:xfrm>
          <a:prstGeom prst="roundRect">
            <a:avLst>
              <a:gd name="adj" fmla="val 18750"/>
            </a:avLst>
          </a:prstGeom>
          <a:solidFill>
            <a:srgbClr val="F5A700"/>
          </a:solidFill>
          <a:ln w="12700">
            <a:solidFill>
              <a:srgbClr val="F5A700"/>
            </a:solidFill>
            <a:prstDash val="solid"/>
          </a:ln>
        </p:spPr>
      </p:sp>
      <p:sp>
        <p:nvSpPr>
          <p:cNvPr id="23" name="Text 21"/>
          <p:cNvSpPr/>
          <p:nvPr/>
        </p:nvSpPr>
        <p:spPr>
          <a:xfrm>
            <a:off x="475488" y="3090672"/>
            <a:ext cx="320040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INPUT plugins — Where data comes from</a:t>
            </a:r>
            <a:endParaRPr lang="en-US" sz="950" dirty="0"/>
          </a:p>
        </p:txBody>
      </p:sp>
      <p:sp>
        <p:nvSpPr>
          <p:cNvPr id="24" name="Text 22"/>
          <p:cNvSpPr/>
          <p:nvPr/>
        </p:nvSpPr>
        <p:spPr>
          <a:xfrm>
            <a:off x="3822192" y="3090672"/>
            <a:ext cx="4617720" cy="292608"/>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file — read from local log files (most common in training)  •  beats — receive data from Filebeat / Metricbeat agents on remote servers</a:t>
            </a:r>
            <a:endParaRPr lang="en-US" sz="950" dirty="0"/>
          </a:p>
        </p:txBody>
      </p:sp>
      <p:sp>
        <p:nvSpPr>
          <p:cNvPr id="25" name="Shape 23"/>
          <p:cNvSpPr/>
          <p:nvPr/>
        </p:nvSpPr>
        <p:spPr>
          <a:xfrm>
            <a:off x="320040" y="3621024"/>
            <a:ext cx="8503920" cy="530352"/>
          </a:xfrm>
          <a:prstGeom prst="roundRect">
            <a:avLst>
              <a:gd name="adj" fmla="val 17241"/>
            </a:avLst>
          </a:prstGeom>
          <a:solidFill>
            <a:srgbClr val="FEE2EF"/>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6" name="Shape 24"/>
          <p:cNvSpPr/>
          <p:nvPr/>
        </p:nvSpPr>
        <p:spPr>
          <a:xfrm>
            <a:off x="475488" y="3712464"/>
            <a:ext cx="3200400" cy="292608"/>
          </a:xfrm>
          <a:prstGeom prst="roundRect">
            <a:avLst>
              <a:gd name="adj" fmla="val 18750"/>
            </a:avLst>
          </a:prstGeom>
          <a:solidFill>
            <a:srgbClr val="F4659C"/>
          </a:solidFill>
          <a:ln w="12700">
            <a:solidFill>
              <a:srgbClr val="F4659C"/>
            </a:solidFill>
            <a:prstDash val="solid"/>
          </a:ln>
        </p:spPr>
      </p:sp>
      <p:sp>
        <p:nvSpPr>
          <p:cNvPr id="27" name="Text 25"/>
          <p:cNvSpPr/>
          <p:nvPr/>
        </p:nvSpPr>
        <p:spPr>
          <a:xfrm>
            <a:off x="475488" y="3712464"/>
            <a:ext cx="320040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FILTER plugins — Transform your data</a:t>
            </a:r>
            <a:endParaRPr lang="en-US" sz="950" dirty="0"/>
          </a:p>
        </p:txBody>
      </p:sp>
      <p:sp>
        <p:nvSpPr>
          <p:cNvPr id="28" name="Text 26"/>
          <p:cNvSpPr/>
          <p:nvPr/>
        </p:nvSpPr>
        <p:spPr>
          <a:xfrm>
            <a:off x="3822192" y="3712464"/>
            <a:ext cx="4617720" cy="292608"/>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grok — parse unstructured text into named fields (most important filter)  •  mutate — rename, remove, convert or add fields</a:t>
            </a:r>
            <a:endParaRPr lang="en-US" sz="950" dirty="0"/>
          </a:p>
        </p:txBody>
      </p:sp>
      <p:sp>
        <p:nvSpPr>
          <p:cNvPr id="29" name="Shape 27"/>
          <p:cNvSpPr/>
          <p:nvPr/>
        </p:nvSpPr>
        <p:spPr>
          <a:xfrm>
            <a:off x="320040" y="4242816"/>
            <a:ext cx="8503920" cy="530352"/>
          </a:xfrm>
          <a:prstGeom prst="roundRect">
            <a:avLst>
              <a:gd name="adj" fmla="val 17241"/>
            </a:avLst>
          </a:prstGeom>
          <a:solidFill>
            <a:srgbClr val="E6FAF9"/>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0" name="Shape 28"/>
          <p:cNvSpPr/>
          <p:nvPr/>
        </p:nvSpPr>
        <p:spPr>
          <a:xfrm>
            <a:off x="475488" y="4334256"/>
            <a:ext cx="3200400" cy="292608"/>
          </a:xfrm>
          <a:prstGeom prst="roundRect">
            <a:avLst>
              <a:gd name="adj" fmla="val 18750"/>
            </a:avLst>
          </a:prstGeom>
          <a:solidFill>
            <a:srgbClr val="00BFB3"/>
          </a:solidFill>
          <a:ln w="12700">
            <a:solidFill>
              <a:srgbClr val="00BFB3"/>
            </a:solidFill>
            <a:prstDash val="solid"/>
          </a:ln>
        </p:spPr>
      </p:sp>
      <p:sp>
        <p:nvSpPr>
          <p:cNvPr id="31" name="Text 29"/>
          <p:cNvSpPr/>
          <p:nvPr/>
        </p:nvSpPr>
        <p:spPr>
          <a:xfrm>
            <a:off x="475488" y="4334256"/>
            <a:ext cx="320040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OUTPUT plugins — Where data goes</a:t>
            </a:r>
            <a:endParaRPr lang="en-US" sz="950" dirty="0"/>
          </a:p>
        </p:txBody>
      </p:sp>
      <p:sp>
        <p:nvSpPr>
          <p:cNvPr id="32" name="Text 30"/>
          <p:cNvSpPr/>
          <p:nvPr/>
        </p:nvSpPr>
        <p:spPr>
          <a:xfrm>
            <a:off x="3822192" y="4334256"/>
            <a:ext cx="4617720" cy="292608"/>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elasticsearch — index documents into Elasticsearch (primary output)  •  stdout — print to terminal (invaluable for debugging pipelines)</a:t>
            </a:r>
            <a:endParaRPr lang="en-US" sz="950" dirty="0"/>
          </a:p>
        </p:txBody>
      </p:sp>
      <p:sp>
        <p:nvSpPr>
          <p:cNvPr id="33" name="Shape 31"/>
          <p:cNvSpPr/>
          <p:nvPr/>
        </p:nvSpPr>
        <p:spPr>
          <a:xfrm>
            <a:off x="0" y="4846320"/>
            <a:ext cx="9144000" cy="297180"/>
          </a:xfrm>
          <a:prstGeom prst="rect">
            <a:avLst/>
          </a:prstGeom>
          <a:solidFill>
            <a:srgbClr val="0F172A"/>
          </a:solidFill>
          <a:ln w="12700">
            <a:solidFill>
              <a:srgbClr val="0F172A"/>
            </a:solidFill>
            <a:prstDash val="solid"/>
          </a:ln>
        </p:spPr>
      </p:sp>
      <p:sp>
        <p:nvSpPr>
          <p:cNvPr id="34" name="Text 32"/>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06: Logstash Fundamentals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THE PIPELINE CONFIG FILE</a:t>
            </a:r>
            <a:endParaRPr lang="en-US" sz="2000" dirty="0"/>
          </a:p>
        </p:txBody>
      </p:sp>
      <p:sp>
        <p:nvSpPr>
          <p:cNvPr id="4" name="Shape 2"/>
          <p:cNvSpPr/>
          <p:nvPr/>
        </p:nvSpPr>
        <p:spPr>
          <a:xfrm>
            <a:off x="7178040" y="109728"/>
            <a:ext cx="1600200" cy="475488"/>
          </a:xfrm>
          <a:prstGeom prst="roundRect">
            <a:avLst>
              <a:gd name="adj" fmla="val 11538"/>
            </a:avLst>
          </a:prstGeom>
          <a:solidFill>
            <a:srgbClr val="F4659C"/>
          </a:solidFill>
          <a:ln w="12700">
            <a:solidFill>
              <a:srgbClr val="F4659C"/>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06  •  Logstash Fundamentals</a:t>
            </a:r>
            <a:endParaRPr lang="en-US" sz="950" dirty="0"/>
          </a:p>
        </p:txBody>
      </p:sp>
      <p:sp>
        <p:nvSpPr>
          <p:cNvPr id="6" name="Shape 4"/>
          <p:cNvSpPr/>
          <p:nvPr/>
        </p:nvSpPr>
        <p:spPr>
          <a:xfrm>
            <a:off x="320040" y="868680"/>
            <a:ext cx="8503920" cy="566928"/>
          </a:xfrm>
          <a:prstGeom prst="roundRect">
            <a:avLst>
              <a:gd name="adj" fmla="val 16129"/>
            </a:avLst>
          </a:prstGeom>
          <a:solidFill>
            <a:srgbClr val="FEE2EF"/>
          </a:solidFill>
          <a:ln w="12700">
            <a:solidFill>
              <a:srgbClr val="F9A8D4"/>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475488"/>
          </a:xfrm>
          <a:prstGeom prst="rect">
            <a:avLst/>
          </a:prstGeom>
          <a:noFill/>
          <a:ln/>
        </p:spPr>
        <p:txBody>
          <a:bodyPr wrap="square" lIns="0" tIns="0" rIns="0" bIns="0" rtlCol="0" anchor="ctr"/>
          <a:lstStyle/>
          <a:p>
            <a:pPr indent="0" marL="0">
              <a:buNone/>
            </a:pPr>
            <a:r>
              <a:rPr lang="en-US" sz="1250" dirty="0">
                <a:solidFill>
                  <a:srgbClr val="0F172A"/>
                </a:solidFill>
                <a:latin typeface="Cambria" pitchFamily="34" charset="0"/>
                <a:ea typeface="Cambria" pitchFamily="34" charset="-122"/>
                <a:cs typeface="Cambria" pitchFamily="34" charset="-120"/>
              </a:rPr>
              <a:t>A Logstash pipeline is defined in a .conf file with three sections: input, filter and output. Logstash reads this file and executes each section in order for every event.</a:t>
            </a:r>
            <a:endParaRPr lang="en-US" sz="1250" dirty="0"/>
          </a:p>
        </p:txBody>
      </p:sp>
      <p:sp>
        <p:nvSpPr>
          <p:cNvPr id="8" name="Shape 6"/>
          <p:cNvSpPr/>
          <p:nvPr/>
        </p:nvSpPr>
        <p:spPr>
          <a:xfrm>
            <a:off x="320040" y="1572768"/>
            <a:ext cx="5074920" cy="3401568"/>
          </a:xfrm>
          <a:prstGeom prst="roundRect">
            <a:avLst>
              <a:gd name="adj" fmla="val 2688"/>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9" name="Text 7"/>
          <p:cNvSpPr/>
          <p:nvPr/>
        </p:nvSpPr>
        <p:spPr>
          <a:xfrm>
            <a:off x="475488" y="1645920"/>
            <a:ext cx="4764024" cy="201168"/>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 pipeline/apache.conf</a:t>
            </a:r>
            <a:endParaRPr lang="en-US" sz="900" dirty="0"/>
          </a:p>
        </p:txBody>
      </p:sp>
      <p:sp>
        <p:nvSpPr>
          <p:cNvPr id="10" name="Text 8"/>
          <p:cNvSpPr/>
          <p:nvPr/>
        </p:nvSpPr>
        <p:spPr>
          <a:xfrm>
            <a:off x="475488" y="1883664"/>
            <a:ext cx="4764024" cy="201168"/>
          </a:xfrm>
          <a:prstGeom prst="rect">
            <a:avLst/>
          </a:prstGeom>
          <a:noFill/>
          <a:ln/>
        </p:spPr>
        <p:txBody>
          <a:bodyPr wrap="square" lIns="0" tIns="0" rIns="0" bIns="0" rtlCol="0" anchor="ctr"/>
          <a:lstStyle/>
          <a:p>
            <a:pPr indent="0" marL="0">
              <a:buNone/>
            </a:pPr>
            <a:r>
              <a:rPr lang="en-US" sz="950" dirty="0">
                <a:solidFill>
                  <a:srgbClr val="F4659C"/>
                </a:solidFill>
                <a:latin typeface="Courier New" pitchFamily="34" charset="0"/>
                <a:ea typeface="Courier New" pitchFamily="34" charset="-122"/>
                <a:cs typeface="Courier New" pitchFamily="34" charset="-120"/>
              </a:rPr>
              <a:t>input {</a:t>
            </a:r>
            <a:endParaRPr lang="en-US" sz="950" dirty="0"/>
          </a:p>
        </p:txBody>
      </p:sp>
      <p:sp>
        <p:nvSpPr>
          <p:cNvPr id="11" name="Text 9"/>
          <p:cNvSpPr/>
          <p:nvPr/>
        </p:nvSpPr>
        <p:spPr>
          <a:xfrm>
            <a:off x="475488" y="2080260"/>
            <a:ext cx="4764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file {</a:t>
            </a:r>
            <a:endParaRPr lang="en-US" sz="950" dirty="0"/>
          </a:p>
        </p:txBody>
      </p:sp>
      <p:sp>
        <p:nvSpPr>
          <p:cNvPr id="12" name="Text 10"/>
          <p:cNvSpPr/>
          <p:nvPr/>
        </p:nvSpPr>
        <p:spPr>
          <a:xfrm>
            <a:off x="475488" y="2276856"/>
            <a:ext cx="4764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path =&gt; '/logs/access.log'</a:t>
            </a:r>
            <a:endParaRPr lang="en-US" sz="950" dirty="0"/>
          </a:p>
        </p:txBody>
      </p:sp>
      <p:sp>
        <p:nvSpPr>
          <p:cNvPr id="13" name="Text 11"/>
          <p:cNvSpPr/>
          <p:nvPr/>
        </p:nvSpPr>
        <p:spPr>
          <a:xfrm>
            <a:off x="475488" y="2473452"/>
            <a:ext cx="4764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start_position =&gt; 'beginning'</a:t>
            </a:r>
            <a:endParaRPr lang="en-US" sz="950" dirty="0"/>
          </a:p>
        </p:txBody>
      </p:sp>
      <p:sp>
        <p:nvSpPr>
          <p:cNvPr id="14" name="Text 12"/>
          <p:cNvSpPr/>
          <p:nvPr/>
        </p:nvSpPr>
        <p:spPr>
          <a:xfrm>
            <a:off x="475488" y="2670048"/>
            <a:ext cx="4764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sincedb_path =&gt; '/dev/null'</a:t>
            </a:r>
            <a:endParaRPr lang="en-US" sz="950" dirty="0"/>
          </a:p>
        </p:txBody>
      </p:sp>
      <p:sp>
        <p:nvSpPr>
          <p:cNvPr id="15" name="Text 13"/>
          <p:cNvSpPr/>
          <p:nvPr/>
        </p:nvSpPr>
        <p:spPr>
          <a:xfrm>
            <a:off x="475488" y="2866644"/>
            <a:ext cx="4764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a:t>
            </a:r>
            <a:endParaRPr lang="en-US" sz="950" dirty="0"/>
          </a:p>
        </p:txBody>
      </p:sp>
      <p:sp>
        <p:nvSpPr>
          <p:cNvPr id="16" name="Text 14"/>
          <p:cNvSpPr/>
          <p:nvPr/>
        </p:nvSpPr>
        <p:spPr>
          <a:xfrm>
            <a:off x="475488" y="3063240"/>
            <a:ext cx="4764024" cy="201168"/>
          </a:xfrm>
          <a:prstGeom prst="rect">
            <a:avLst/>
          </a:prstGeom>
          <a:noFill/>
          <a:ln/>
        </p:spPr>
        <p:txBody>
          <a:bodyPr wrap="square" lIns="0" tIns="0" rIns="0" bIns="0" rtlCol="0" anchor="ctr"/>
          <a:lstStyle/>
          <a:p>
            <a:pPr indent="0" marL="0">
              <a:buNone/>
            </a:pPr>
            <a:r>
              <a:rPr lang="en-US" sz="950" dirty="0">
                <a:solidFill>
                  <a:srgbClr val="F4659C"/>
                </a:solidFill>
                <a:latin typeface="Courier New" pitchFamily="34" charset="0"/>
                <a:ea typeface="Courier New" pitchFamily="34" charset="-122"/>
                <a:cs typeface="Courier New" pitchFamily="34" charset="-120"/>
              </a:rPr>
              <a:t>}</a:t>
            </a:r>
            <a:endParaRPr lang="en-US" sz="950" dirty="0"/>
          </a:p>
        </p:txBody>
      </p:sp>
      <p:sp>
        <p:nvSpPr>
          <p:cNvPr id="17" name="Text 15"/>
          <p:cNvSpPr/>
          <p:nvPr/>
        </p:nvSpPr>
        <p:spPr>
          <a:xfrm>
            <a:off x="475488" y="3259836"/>
            <a:ext cx="4764024" cy="201168"/>
          </a:xfrm>
          <a:prstGeom prst="rect">
            <a:avLst/>
          </a:prstGeom>
          <a:noFill/>
          <a:ln/>
        </p:spPr>
        <p:txBody>
          <a:bodyPr wrap="square" lIns="0" tIns="0" rIns="0" bIns="0" rtlCol="0" anchor="ctr"/>
          <a:lstStyle/>
          <a:p>
            <a:pPr indent="0" marL="0">
              <a:buNone/>
            </a:pPr>
            <a:r>
              <a:rPr lang="en-US" sz="950" dirty="0">
                <a:solidFill>
                  <a:srgbClr val="F4659C"/>
                </a:solidFill>
                <a:latin typeface="Courier New" pitchFamily="34" charset="0"/>
                <a:ea typeface="Courier New" pitchFamily="34" charset="-122"/>
                <a:cs typeface="Courier New" pitchFamily="34" charset="-120"/>
              </a:rPr>
              <a:t>filter {</a:t>
            </a:r>
            <a:endParaRPr lang="en-US" sz="950" dirty="0"/>
          </a:p>
        </p:txBody>
      </p:sp>
      <p:sp>
        <p:nvSpPr>
          <p:cNvPr id="18" name="Text 16"/>
          <p:cNvSpPr/>
          <p:nvPr/>
        </p:nvSpPr>
        <p:spPr>
          <a:xfrm>
            <a:off x="475488" y="3456432"/>
            <a:ext cx="4764024" cy="20116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 filters here (grok, date, etc.)</a:t>
            </a:r>
            <a:endParaRPr lang="en-US" sz="950" dirty="0"/>
          </a:p>
        </p:txBody>
      </p:sp>
      <p:sp>
        <p:nvSpPr>
          <p:cNvPr id="19" name="Text 17"/>
          <p:cNvSpPr/>
          <p:nvPr/>
        </p:nvSpPr>
        <p:spPr>
          <a:xfrm>
            <a:off x="475488" y="3653028"/>
            <a:ext cx="4764024" cy="201168"/>
          </a:xfrm>
          <a:prstGeom prst="rect">
            <a:avLst/>
          </a:prstGeom>
          <a:noFill/>
          <a:ln/>
        </p:spPr>
        <p:txBody>
          <a:bodyPr wrap="square" lIns="0" tIns="0" rIns="0" bIns="0" rtlCol="0" anchor="ctr"/>
          <a:lstStyle/>
          <a:p>
            <a:pPr indent="0" marL="0">
              <a:buNone/>
            </a:pPr>
            <a:r>
              <a:rPr lang="en-US" sz="950" dirty="0">
                <a:solidFill>
                  <a:srgbClr val="F4659C"/>
                </a:solidFill>
                <a:latin typeface="Courier New" pitchFamily="34" charset="0"/>
                <a:ea typeface="Courier New" pitchFamily="34" charset="-122"/>
                <a:cs typeface="Courier New" pitchFamily="34" charset="-120"/>
              </a:rPr>
              <a:t>}</a:t>
            </a:r>
            <a:endParaRPr lang="en-US" sz="950" dirty="0"/>
          </a:p>
        </p:txBody>
      </p:sp>
      <p:sp>
        <p:nvSpPr>
          <p:cNvPr id="20" name="Text 18"/>
          <p:cNvSpPr/>
          <p:nvPr/>
        </p:nvSpPr>
        <p:spPr>
          <a:xfrm>
            <a:off x="475488" y="3849624"/>
            <a:ext cx="4764024" cy="201168"/>
          </a:xfrm>
          <a:prstGeom prst="rect">
            <a:avLst/>
          </a:prstGeom>
          <a:noFill/>
          <a:ln/>
        </p:spPr>
        <p:txBody>
          <a:bodyPr wrap="square" lIns="0" tIns="0" rIns="0" bIns="0" rtlCol="0" anchor="ctr"/>
          <a:lstStyle/>
          <a:p>
            <a:pPr indent="0" marL="0">
              <a:buNone/>
            </a:pPr>
            <a:r>
              <a:rPr lang="en-US" sz="950" dirty="0">
                <a:solidFill>
                  <a:srgbClr val="F4659C"/>
                </a:solidFill>
                <a:latin typeface="Courier New" pitchFamily="34" charset="0"/>
                <a:ea typeface="Courier New" pitchFamily="34" charset="-122"/>
                <a:cs typeface="Courier New" pitchFamily="34" charset="-120"/>
              </a:rPr>
              <a:t>output {</a:t>
            </a:r>
            <a:endParaRPr lang="en-US" sz="950" dirty="0"/>
          </a:p>
        </p:txBody>
      </p:sp>
      <p:sp>
        <p:nvSpPr>
          <p:cNvPr id="21" name="Text 19"/>
          <p:cNvSpPr/>
          <p:nvPr/>
        </p:nvSpPr>
        <p:spPr>
          <a:xfrm>
            <a:off x="475488" y="4046220"/>
            <a:ext cx="4764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elasticsearch {</a:t>
            </a:r>
            <a:endParaRPr lang="en-US" sz="950" dirty="0"/>
          </a:p>
        </p:txBody>
      </p:sp>
      <p:sp>
        <p:nvSpPr>
          <p:cNvPr id="22" name="Text 20"/>
          <p:cNvSpPr/>
          <p:nvPr/>
        </p:nvSpPr>
        <p:spPr>
          <a:xfrm>
            <a:off x="475488" y="4242816"/>
            <a:ext cx="4764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hosts =&gt; ['http://elasticsearch:9200']</a:t>
            </a:r>
            <a:endParaRPr lang="en-US" sz="950" dirty="0"/>
          </a:p>
        </p:txBody>
      </p:sp>
      <p:sp>
        <p:nvSpPr>
          <p:cNvPr id="23" name="Text 21"/>
          <p:cNvSpPr/>
          <p:nvPr/>
        </p:nvSpPr>
        <p:spPr>
          <a:xfrm>
            <a:off x="475488" y="4439412"/>
            <a:ext cx="4764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index =&gt; 'apache-logs-%{+YYYY.MM.dd}'</a:t>
            </a:r>
            <a:endParaRPr lang="en-US" sz="950" dirty="0"/>
          </a:p>
        </p:txBody>
      </p:sp>
      <p:sp>
        <p:nvSpPr>
          <p:cNvPr id="24" name="Text 22"/>
          <p:cNvSpPr/>
          <p:nvPr/>
        </p:nvSpPr>
        <p:spPr>
          <a:xfrm>
            <a:off x="475488" y="4636008"/>
            <a:ext cx="4764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a:t>
            </a:r>
            <a:endParaRPr lang="en-US" sz="950" dirty="0"/>
          </a:p>
        </p:txBody>
      </p:sp>
      <p:sp>
        <p:nvSpPr>
          <p:cNvPr id="25" name="Text 23"/>
          <p:cNvSpPr/>
          <p:nvPr/>
        </p:nvSpPr>
        <p:spPr>
          <a:xfrm>
            <a:off x="475488" y="4832604"/>
            <a:ext cx="47640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stdout { codec =&gt; rubydebug }</a:t>
            </a:r>
            <a:endParaRPr lang="en-US" sz="950" dirty="0"/>
          </a:p>
        </p:txBody>
      </p:sp>
      <p:sp>
        <p:nvSpPr>
          <p:cNvPr id="26" name="Text 24"/>
          <p:cNvSpPr/>
          <p:nvPr/>
        </p:nvSpPr>
        <p:spPr>
          <a:xfrm>
            <a:off x="475488" y="5029200"/>
            <a:ext cx="4764024" cy="201168"/>
          </a:xfrm>
          <a:prstGeom prst="rect">
            <a:avLst/>
          </a:prstGeom>
          <a:noFill/>
          <a:ln/>
        </p:spPr>
        <p:txBody>
          <a:bodyPr wrap="square" lIns="0" tIns="0" rIns="0" bIns="0" rtlCol="0" anchor="ctr"/>
          <a:lstStyle/>
          <a:p>
            <a:pPr indent="0" marL="0">
              <a:buNone/>
            </a:pPr>
            <a:r>
              <a:rPr lang="en-US" sz="950" dirty="0">
                <a:solidFill>
                  <a:srgbClr val="F4659C"/>
                </a:solidFill>
                <a:latin typeface="Courier New" pitchFamily="34" charset="0"/>
                <a:ea typeface="Courier New" pitchFamily="34" charset="-122"/>
                <a:cs typeface="Courier New" pitchFamily="34" charset="-120"/>
              </a:rPr>
              <a:t>}</a:t>
            </a:r>
            <a:endParaRPr lang="en-US" sz="950" dirty="0"/>
          </a:p>
        </p:txBody>
      </p:sp>
      <p:sp>
        <p:nvSpPr>
          <p:cNvPr id="27" name="Shape 25"/>
          <p:cNvSpPr/>
          <p:nvPr/>
        </p:nvSpPr>
        <p:spPr>
          <a:xfrm>
            <a:off x="5596128" y="1572768"/>
            <a:ext cx="292608" cy="292608"/>
          </a:xfrm>
          <a:prstGeom prst="ellipse">
            <a:avLst/>
          </a:prstGeom>
          <a:solidFill>
            <a:srgbClr val="F4659C"/>
          </a:solidFill>
          <a:ln w="12700">
            <a:solidFill>
              <a:srgbClr val="F4659C"/>
            </a:solidFill>
            <a:prstDash val="solid"/>
          </a:ln>
        </p:spPr>
      </p:sp>
      <p:sp>
        <p:nvSpPr>
          <p:cNvPr id="28" name="Text 26"/>
          <p:cNvSpPr/>
          <p:nvPr/>
        </p:nvSpPr>
        <p:spPr>
          <a:xfrm>
            <a:off x="5596128" y="1572768"/>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29" name="Text 27"/>
          <p:cNvSpPr/>
          <p:nvPr/>
        </p:nvSpPr>
        <p:spPr>
          <a:xfrm>
            <a:off x="5961888" y="1572768"/>
            <a:ext cx="2834640" cy="228600"/>
          </a:xfrm>
          <a:prstGeom prst="rect">
            <a:avLst/>
          </a:prstGeom>
          <a:noFill/>
          <a:ln/>
        </p:spPr>
        <p:txBody>
          <a:bodyPr wrap="square" lIns="0" tIns="0" rIns="0" bIns="0" rtlCol="0" anchor="ctr"/>
          <a:lstStyle/>
          <a:p>
            <a:pPr indent="0" marL="0">
              <a:buNone/>
            </a:pPr>
            <a:r>
              <a:rPr lang="en-US" sz="1000" b="1" dirty="0">
                <a:solidFill>
                  <a:srgbClr val="0F172A"/>
                </a:solidFill>
                <a:latin typeface="Arial" pitchFamily="34" charset="0"/>
                <a:ea typeface="Arial" pitchFamily="34" charset="-122"/>
                <a:cs typeface="Arial" pitchFamily="34" charset="-120"/>
              </a:rPr>
              <a:t>path — the log file to read</a:t>
            </a:r>
            <a:endParaRPr lang="en-US" sz="1000" dirty="0"/>
          </a:p>
        </p:txBody>
      </p:sp>
      <p:sp>
        <p:nvSpPr>
          <p:cNvPr id="30" name="Text 28"/>
          <p:cNvSpPr/>
          <p:nvPr/>
        </p:nvSpPr>
        <p:spPr>
          <a:xfrm>
            <a:off x="5961888" y="1810512"/>
            <a:ext cx="2834640" cy="274320"/>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Full path inside the container. Mapped via Docker volume.</a:t>
            </a:r>
            <a:endParaRPr lang="en-US" sz="900" dirty="0"/>
          </a:p>
        </p:txBody>
      </p:sp>
      <p:sp>
        <p:nvSpPr>
          <p:cNvPr id="31" name="Shape 29"/>
          <p:cNvSpPr/>
          <p:nvPr/>
        </p:nvSpPr>
        <p:spPr>
          <a:xfrm>
            <a:off x="5596128" y="2167128"/>
            <a:ext cx="292608" cy="292608"/>
          </a:xfrm>
          <a:prstGeom prst="ellipse">
            <a:avLst/>
          </a:prstGeom>
          <a:solidFill>
            <a:srgbClr val="F4659C"/>
          </a:solidFill>
          <a:ln w="12700">
            <a:solidFill>
              <a:srgbClr val="F4659C"/>
            </a:solidFill>
            <a:prstDash val="solid"/>
          </a:ln>
        </p:spPr>
      </p:sp>
      <p:sp>
        <p:nvSpPr>
          <p:cNvPr id="32" name="Text 30"/>
          <p:cNvSpPr/>
          <p:nvPr/>
        </p:nvSpPr>
        <p:spPr>
          <a:xfrm>
            <a:off x="5596128" y="2167128"/>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33" name="Text 31"/>
          <p:cNvSpPr/>
          <p:nvPr/>
        </p:nvSpPr>
        <p:spPr>
          <a:xfrm>
            <a:off x="5961888" y="2167128"/>
            <a:ext cx="2834640" cy="228600"/>
          </a:xfrm>
          <a:prstGeom prst="rect">
            <a:avLst/>
          </a:prstGeom>
          <a:noFill/>
          <a:ln/>
        </p:spPr>
        <p:txBody>
          <a:bodyPr wrap="square" lIns="0" tIns="0" rIns="0" bIns="0" rtlCol="0" anchor="ctr"/>
          <a:lstStyle/>
          <a:p>
            <a:pPr indent="0" marL="0">
              <a:buNone/>
            </a:pPr>
            <a:r>
              <a:rPr lang="en-US" sz="1000" b="1" dirty="0">
                <a:solidFill>
                  <a:srgbClr val="0F172A"/>
                </a:solidFill>
                <a:latin typeface="Arial" pitchFamily="34" charset="0"/>
                <a:ea typeface="Arial" pitchFamily="34" charset="-122"/>
                <a:cs typeface="Arial" pitchFamily="34" charset="-120"/>
              </a:rPr>
              <a:t>start_position =&gt; beginning</a:t>
            </a:r>
            <a:endParaRPr lang="en-US" sz="1000" dirty="0"/>
          </a:p>
        </p:txBody>
      </p:sp>
      <p:sp>
        <p:nvSpPr>
          <p:cNvPr id="34" name="Text 32"/>
          <p:cNvSpPr/>
          <p:nvPr/>
        </p:nvSpPr>
        <p:spPr>
          <a:xfrm>
            <a:off x="5961888" y="2404872"/>
            <a:ext cx="2834640" cy="274320"/>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Read from the start of the file. Default is 'end' (only new lines).</a:t>
            </a:r>
            <a:endParaRPr lang="en-US" sz="900" dirty="0"/>
          </a:p>
        </p:txBody>
      </p:sp>
      <p:sp>
        <p:nvSpPr>
          <p:cNvPr id="35" name="Shape 33"/>
          <p:cNvSpPr/>
          <p:nvPr/>
        </p:nvSpPr>
        <p:spPr>
          <a:xfrm>
            <a:off x="5596128" y="2761488"/>
            <a:ext cx="292608" cy="292608"/>
          </a:xfrm>
          <a:prstGeom prst="ellipse">
            <a:avLst/>
          </a:prstGeom>
          <a:solidFill>
            <a:srgbClr val="F4659C"/>
          </a:solidFill>
          <a:ln w="12700">
            <a:solidFill>
              <a:srgbClr val="F4659C"/>
            </a:solidFill>
            <a:prstDash val="solid"/>
          </a:ln>
        </p:spPr>
      </p:sp>
      <p:sp>
        <p:nvSpPr>
          <p:cNvPr id="36" name="Text 34"/>
          <p:cNvSpPr/>
          <p:nvPr/>
        </p:nvSpPr>
        <p:spPr>
          <a:xfrm>
            <a:off x="5596128" y="2761488"/>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37" name="Text 35"/>
          <p:cNvSpPr/>
          <p:nvPr/>
        </p:nvSpPr>
        <p:spPr>
          <a:xfrm>
            <a:off x="5961888" y="2761488"/>
            <a:ext cx="2834640" cy="228600"/>
          </a:xfrm>
          <a:prstGeom prst="rect">
            <a:avLst/>
          </a:prstGeom>
          <a:noFill/>
          <a:ln/>
        </p:spPr>
        <p:txBody>
          <a:bodyPr wrap="square" lIns="0" tIns="0" rIns="0" bIns="0" rtlCol="0" anchor="ctr"/>
          <a:lstStyle/>
          <a:p>
            <a:pPr indent="0" marL="0">
              <a:buNone/>
            </a:pPr>
            <a:r>
              <a:rPr lang="en-US" sz="1000" b="1" dirty="0">
                <a:solidFill>
                  <a:srgbClr val="0F172A"/>
                </a:solidFill>
                <a:latin typeface="Arial" pitchFamily="34" charset="0"/>
                <a:ea typeface="Arial" pitchFamily="34" charset="-122"/>
                <a:cs typeface="Arial" pitchFamily="34" charset="-120"/>
              </a:rPr>
              <a:t>sincedb_path =&gt; /dev/null</a:t>
            </a:r>
            <a:endParaRPr lang="en-US" sz="1000" dirty="0"/>
          </a:p>
        </p:txBody>
      </p:sp>
      <p:sp>
        <p:nvSpPr>
          <p:cNvPr id="38" name="Text 36"/>
          <p:cNvSpPr/>
          <p:nvPr/>
        </p:nvSpPr>
        <p:spPr>
          <a:xfrm>
            <a:off x="5961888" y="2999232"/>
            <a:ext cx="2834640" cy="274320"/>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Forget read position on restart — reads file from beginning every time. Perfect for training.</a:t>
            </a:r>
            <a:endParaRPr lang="en-US" sz="900" dirty="0"/>
          </a:p>
        </p:txBody>
      </p:sp>
      <p:sp>
        <p:nvSpPr>
          <p:cNvPr id="39" name="Shape 37"/>
          <p:cNvSpPr/>
          <p:nvPr/>
        </p:nvSpPr>
        <p:spPr>
          <a:xfrm>
            <a:off x="5596128" y="3355848"/>
            <a:ext cx="292608" cy="292608"/>
          </a:xfrm>
          <a:prstGeom prst="ellipse">
            <a:avLst/>
          </a:prstGeom>
          <a:solidFill>
            <a:srgbClr val="F4659C"/>
          </a:solidFill>
          <a:ln w="12700">
            <a:solidFill>
              <a:srgbClr val="F4659C"/>
            </a:solidFill>
            <a:prstDash val="solid"/>
          </a:ln>
        </p:spPr>
      </p:sp>
      <p:sp>
        <p:nvSpPr>
          <p:cNvPr id="40" name="Text 38"/>
          <p:cNvSpPr/>
          <p:nvPr/>
        </p:nvSpPr>
        <p:spPr>
          <a:xfrm>
            <a:off x="5596128" y="3355848"/>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41" name="Text 39"/>
          <p:cNvSpPr/>
          <p:nvPr/>
        </p:nvSpPr>
        <p:spPr>
          <a:xfrm>
            <a:off x="5961888" y="3355848"/>
            <a:ext cx="2834640" cy="228600"/>
          </a:xfrm>
          <a:prstGeom prst="rect">
            <a:avLst/>
          </a:prstGeom>
          <a:noFill/>
          <a:ln/>
        </p:spPr>
        <p:txBody>
          <a:bodyPr wrap="square" lIns="0" tIns="0" rIns="0" bIns="0" rtlCol="0" anchor="ctr"/>
          <a:lstStyle/>
          <a:p>
            <a:pPr indent="0" marL="0">
              <a:buNone/>
            </a:pPr>
            <a:r>
              <a:rPr lang="en-US" sz="1000" b="1" dirty="0">
                <a:solidFill>
                  <a:srgbClr val="0F172A"/>
                </a:solidFill>
                <a:latin typeface="Arial" pitchFamily="34" charset="0"/>
                <a:ea typeface="Arial" pitchFamily="34" charset="-122"/>
                <a:cs typeface="Arial" pitchFamily="34" charset="-120"/>
              </a:rPr>
              <a:t>index =&gt; with date pattern</a:t>
            </a:r>
            <a:endParaRPr lang="en-US" sz="1000" dirty="0"/>
          </a:p>
        </p:txBody>
      </p:sp>
      <p:sp>
        <p:nvSpPr>
          <p:cNvPr id="42" name="Text 40"/>
          <p:cNvSpPr/>
          <p:nvPr/>
        </p:nvSpPr>
        <p:spPr>
          <a:xfrm>
            <a:off x="5961888" y="3593592"/>
            <a:ext cx="2834640" cy="274320"/>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Creates daily indices: apache-logs-2024.01.25. Standard ELK practice.</a:t>
            </a:r>
            <a:endParaRPr lang="en-US" sz="900" dirty="0"/>
          </a:p>
        </p:txBody>
      </p:sp>
      <p:sp>
        <p:nvSpPr>
          <p:cNvPr id="43" name="Shape 41"/>
          <p:cNvSpPr/>
          <p:nvPr/>
        </p:nvSpPr>
        <p:spPr>
          <a:xfrm>
            <a:off x="5596128" y="3950208"/>
            <a:ext cx="292608" cy="292608"/>
          </a:xfrm>
          <a:prstGeom prst="ellipse">
            <a:avLst/>
          </a:prstGeom>
          <a:solidFill>
            <a:srgbClr val="F4659C"/>
          </a:solidFill>
          <a:ln w="12700">
            <a:solidFill>
              <a:srgbClr val="F4659C"/>
            </a:solidFill>
            <a:prstDash val="solid"/>
          </a:ln>
        </p:spPr>
      </p:sp>
      <p:sp>
        <p:nvSpPr>
          <p:cNvPr id="44" name="Text 42"/>
          <p:cNvSpPr/>
          <p:nvPr/>
        </p:nvSpPr>
        <p:spPr>
          <a:xfrm>
            <a:off x="5596128" y="3950208"/>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45" name="Text 43"/>
          <p:cNvSpPr/>
          <p:nvPr/>
        </p:nvSpPr>
        <p:spPr>
          <a:xfrm>
            <a:off x="5961888" y="3950208"/>
            <a:ext cx="2834640" cy="228600"/>
          </a:xfrm>
          <a:prstGeom prst="rect">
            <a:avLst/>
          </a:prstGeom>
          <a:noFill/>
          <a:ln/>
        </p:spPr>
        <p:txBody>
          <a:bodyPr wrap="square" lIns="0" tIns="0" rIns="0" bIns="0" rtlCol="0" anchor="ctr"/>
          <a:lstStyle/>
          <a:p>
            <a:pPr indent="0" marL="0">
              <a:buNone/>
            </a:pPr>
            <a:r>
              <a:rPr lang="en-US" sz="1000" b="1" dirty="0">
                <a:solidFill>
                  <a:srgbClr val="0F172A"/>
                </a:solidFill>
                <a:latin typeface="Arial" pitchFamily="34" charset="0"/>
                <a:ea typeface="Arial" pitchFamily="34" charset="-122"/>
                <a:cs typeface="Arial" pitchFamily="34" charset="-120"/>
              </a:rPr>
              <a:t>stdout — keep this during development</a:t>
            </a:r>
            <a:endParaRPr lang="en-US" sz="1000" dirty="0"/>
          </a:p>
        </p:txBody>
      </p:sp>
      <p:sp>
        <p:nvSpPr>
          <p:cNvPr id="46" name="Text 44"/>
          <p:cNvSpPr/>
          <p:nvPr/>
        </p:nvSpPr>
        <p:spPr>
          <a:xfrm>
            <a:off x="5961888" y="4187952"/>
            <a:ext cx="2834640" cy="274320"/>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Prints every event to the Logstash console. Remove in production.</a:t>
            </a:r>
            <a:endParaRPr lang="en-US" sz="900" dirty="0"/>
          </a:p>
        </p:txBody>
      </p:sp>
      <p:sp>
        <p:nvSpPr>
          <p:cNvPr id="47" name="Shape 45"/>
          <p:cNvSpPr/>
          <p:nvPr/>
        </p:nvSpPr>
        <p:spPr>
          <a:xfrm>
            <a:off x="0" y="4846320"/>
            <a:ext cx="9144000" cy="297180"/>
          </a:xfrm>
          <a:prstGeom prst="rect">
            <a:avLst/>
          </a:prstGeom>
          <a:solidFill>
            <a:srgbClr val="0F172A"/>
          </a:solidFill>
          <a:ln w="12700">
            <a:solidFill>
              <a:srgbClr val="0F172A"/>
            </a:solidFill>
            <a:prstDash val="solid"/>
          </a:ln>
        </p:spPr>
      </p:sp>
      <p:sp>
        <p:nvSpPr>
          <p:cNvPr id="48" name="Text 46"/>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06: Logstash Fundamentals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F4659C"/>
          </a:solidFill>
          <a:ln w="12700">
            <a:solidFill>
              <a:srgbClr val="F4659C"/>
            </a:solidFill>
            <a:prstDash val="solid"/>
          </a:ln>
        </p:spPr>
      </p:sp>
      <p:sp>
        <p:nvSpPr>
          <p:cNvPr id="3" name="Shape 1"/>
          <p:cNvSpPr/>
          <p:nvPr/>
        </p:nvSpPr>
        <p:spPr>
          <a:xfrm>
            <a:off x="5943600" y="-914400"/>
            <a:ext cx="4572000" cy="4572000"/>
          </a:xfrm>
          <a:prstGeom prst="ellipse">
            <a:avLst/>
          </a:prstGeom>
          <a:solidFill>
            <a:srgbClr val="F4659C">
              <a:alpha val="10000"/>
            </a:srgbClr>
          </a:solidFill>
          <a:ln w="12700">
            <a:solidFill>
              <a:srgbClr val="F4659C">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indent="0" marL="0">
              <a:buNone/>
            </a:pPr>
            <a:r>
              <a:rPr lang="en-US" sz="1200" b="1" spc="400" kern="0" dirty="0">
                <a:solidFill>
                  <a:srgbClr val="F4659C"/>
                </a:solidFill>
                <a:latin typeface="Arial" pitchFamily="34" charset="0"/>
                <a:ea typeface="Arial" pitchFamily="34" charset="-122"/>
                <a:cs typeface="Arial" pitchFamily="34" charset="-120"/>
              </a:rPr>
              <a:t>SECTION 07</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Grok — Parsing</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Unstructured Logs</a:t>
            </a:r>
            <a:endParaRPr lang="en-US" sz="44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Turning raw log lines into structured JSON fields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GROK — PARSE UNSTRUCTURED TEXT</a:t>
            </a:r>
            <a:endParaRPr lang="en-US" sz="2000" dirty="0"/>
          </a:p>
        </p:txBody>
      </p:sp>
      <p:sp>
        <p:nvSpPr>
          <p:cNvPr id="4" name="Shape 2"/>
          <p:cNvSpPr/>
          <p:nvPr/>
        </p:nvSpPr>
        <p:spPr>
          <a:xfrm>
            <a:off x="7178040" y="109728"/>
            <a:ext cx="1600200" cy="475488"/>
          </a:xfrm>
          <a:prstGeom prst="roundRect">
            <a:avLst>
              <a:gd name="adj" fmla="val 11538"/>
            </a:avLst>
          </a:prstGeom>
          <a:solidFill>
            <a:srgbClr val="F4659C"/>
          </a:solidFill>
          <a:ln w="12700">
            <a:solidFill>
              <a:srgbClr val="F4659C"/>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07  •  Grok</a:t>
            </a:r>
            <a:endParaRPr lang="en-US" sz="950" dirty="0"/>
          </a:p>
        </p:txBody>
      </p:sp>
      <p:sp>
        <p:nvSpPr>
          <p:cNvPr id="6" name="Shape 4"/>
          <p:cNvSpPr/>
          <p:nvPr/>
        </p:nvSpPr>
        <p:spPr>
          <a:xfrm>
            <a:off x="320040" y="868680"/>
            <a:ext cx="8503920" cy="566928"/>
          </a:xfrm>
          <a:prstGeom prst="roundRect">
            <a:avLst>
              <a:gd name="adj" fmla="val 16129"/>
            </a:avLst>
          </a:prstGeom>
          <a:solidFill>
            <a:srgbClr val="FEE2EF"/>
          </a:solidFill>
          <a:ln w="12700">
            <a:solidFill>
              <a:srgbClr val="F9A8D4"/>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475488"/>
          </a:xfrm>
          <a:prstGeom prst="rect">
            <a:avLst/>
          </a:prstGeom>
          <a:noFill/>
          <a:ln/>
        </p:spPr>
        <p:txBody>
          <a:bodyPr wrap="square" lIns="0" tIns="0" rIns="0" bIns="0" rtlCol="0" anchor="ctr"/>
          <a:lstStyle/>
          <a:p>
            <a:pPr indent="0" marL="0">
              <a:buNone/>
            </a:pPr>
            <a:r>
              <a:rPr lang="en-US" sz="1200" dirty="0">
                <a:solidFill>
                  <a:srgbClr val="0F172A"/>
                </a:solidFill>
                <a:latin typeface="Cambria" pitchFamily="34" charset="0"/>
                <a:ea typeface="Cambria" pitchFamily="34" charset="-122"/>
                <a:cs typeface="Cambria" pitchFamily="34" charset="-120"/>
              </a:rPr>
              <a:t>Grok uses named patterns to match parts of a log line and extract them as fields. Pre-built patterns cover Apache, nginx, syslog, AWS and hundreds more — you rarely write patterns from scratch.</a:t>
            </a:r>
            <a:endParaRPr lang="en-US" sz="1200" dirty="0"/>
          </a:p>
        </p:txBody>
      </p:sp>
      <p:sp>
        <p:nvSpPr>
          <p:cNvPr id="8" name="Text 6"/>
          <p:cNvSpPr/>
          <p:nvPr/>
        </p:nvSpPr>
        <p:spPr>
          <a:xfrm>
            <a:off x="320040" y="1572768"/>
            <a:ext cx="8229600" cy="292608"/>
          </a:xfrm>
          <a:prstGeom prst="rect">
            <a:avLst/>
          </a:prstGeom>
          <a:noFill/>
          <a:ln/>
        </p:spPr>
        <p:txBody>
          <a:bodyPr wrap="square" lIns="0" tIns="0" rIns="0" bIns="0" rtlCol="0" anchor="ctr"/>
          <a:lstStyle/>
          <a:p>
            <a:pPr indent="0" marL="0">
              <a:buNone/>
            </a:pPr>
            <a:r>
              <a:rPr lang="en-US" sz="1150" b="1" dirty="0">
                <a:solidFill>
                  <a:srgbClr val="0F172A"/>
                </a:solidFill>
                <a:latin typeface="Cambria" pitchFamily="34" charset="0"/>
                <a:ea typeface="Cambria" pitchFamily="34" charset="-122"/>
                <a:cs typeface="Cambria" pitchFamily="34" charset="-120"/>
              </a:rPr>
              <a:t>Before Grok — Raw Log Line</a:t>
            </a:r>
            <a:endParaRPr lang="en-US" sz="1150" dirty="0"/>
          </a:p>
        </p:txBody>
      </p:sp>
      <p:sp>
        <p:nvSpPr>
          <p:cNvPr id="9" name="Shape 7"/>
          <p:cNvSpPr/>
          <p:nvPr/>
        </p:nvSpPr>
        <p:spPr>
          <a:xfrm>
            <a:off x="320040" y="1920240"/>
            <a:ext cx="8503920" cy="411480"/>
          </a:xfrm>
          <a:prstGeom prst="roundRect">
            <a:avLst>
              <a:gd name="adj" fmla="val 22222"/>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10" name="Text 8"/>
          <p:cNvSpPr/>
          <p:nvPr/>
        </p:nvSpPr>
        <p:spPr>
          <a:xfrm>
            <a:off x="475488" y="2029968"/>
            <a:ext cx="8193024" cy="201168"/>
          </a:xfrm>
          <a:prstGeom prst="rect">
            <a:avLst/>
          </a:prstGeom>
          <a:noFill/>
          <a:ln/>
        </p:spPr>
        <p:txBody>
          <a:bodyPr wrap="square" lIns="0" tIns="0" rIns="0" bIns="0" rtlCol="0" anchor="ctr"/>
          <a:lstStyle/>
          <a:p>
            <a:pPr indent="0" marL="0">
              <a:buNone/>
            </a:pPr>
            <a:r>
              <a:rPr lang="en-US" sz="950" dirty="0">
                <a:solidFill>
                  <a:srgbClr val="E2E8F0"/>
                </a:solidFill>
                <a:latin typeface="Courier New" pitchFamily="34" charset="0"/>
                <a:ea typeface="Courier New" pitchFamily="34" charset="-122"/>
                <a:cs typeface="Courier New" pitchFamily="34" charset="-120"/>
              </a:rPr>
              <a:t>192.168.1.1 - - [25/Jan/2024:10:15:32 +0000] "GET /api/users HTTP/1.1" 200 1420</a:t>
            </a:r>
            <a:endParaRPr lang="en-US" sz="950" dirty="0"/>
          </a:p>
        </p:txBody>
      </p:sp>
      <p:sp>
        <p:nvSpPr>
          <p:cNvPr id="11" name="Text 9"/>
          <p:cNvSpPr/>
          <p:nvPr/>
        </p:nvSpPr>
        <p:spPr>
          <a:xfrm>
            <a:off x="320040" y="2450592"/>
            <a:ext cx="8229600" cy="292608"/>
          </a:xfrm>
          <a:prstGeom prst="rect">
            <a:avLst/>
          </a:prstGeom>
          <a:noFill/>
          <a:ln/>
        </p:spPr>
        <p:txBody>
          <a:bodyPr wrap="square" lIns="0" tIns="0" rIns="0" bIns="0" rtlCol="0" anchor="ctr"/>
          <a:lstStyle/>
          <a:p>
            <a:pPr indent="0" marL="0">
              <a:buNone/>
            </a:pPr>
            <a:r>
              <a:rPr lang="en-US" sz="1150" b="1" dirty="0">
                <a:solidFill>
                  <a:srgbClr val="0F172A"/>
                </a:solidFill>
                <a:latin typeface="Cambria" pitchFamily="34" charset="0"/>
                <a:ea typeface="Cambria" pitchFamily="34" charset="-122"/>
                <a:cs typeface="Cambria" pitchFamily="34" charset="-120"/>
              </a:rPr>
              <a:t>After Grok — Structured Fields</a:t>
            </a:r>
            <a:endParaRPr lang="en-US" sz="1150" dirty="0"/>
          </a:p>
        </p:txBody>
      </p:sp>
      <p:sp>
        <p:nvSpPr>
          <p:cNvPr id="12" name="Shape 10"/>
          <p:cNvSpPr/>
          <p:nvPr/>
        </p:nvSpPr>
        <p:spPr>
          <a:xfrm>
            <a:off x="320040" y="2788920"/>
            <a:ext cx="8503920" cy="1261872"/>
          </a:xfrm>
          <a:prstGeom prst="roundRect">
            <a:avLst>
              <a:gd name="adj" fmla="val 7246"/>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13" name="Text 11"/>
          <p:cNvSpPr/>
          <p:nvPr/>
        </p:nvSpPr>
        <p:spPr>
          <a:xfrm>
            <a:off x="475488" y="2852928"/>
            <a:ext cx="8229600" cy="256032"/>
          </a:xfrm>
          <a:prstGeom prst="rect">
            <a:avLst/>
          </a:prstGeom>
          <a:noFill/>
          <a:ln/>
        </p:spPr>
        <p:txBody>
          <a:bodyPr wrap="square" lIns="0" tIns="0" rIns="0" bIns="0" rtlCol="0" anchor="ctr"/>
          <a:lstStyle/>
          <a:p>
            <a:pPr indent="0" marL="0">
              <a:buNone/>
            </a:pPr>
            <a:r>
              <a:rPr lang="en-US" sz="1050" dirty="0">
                <a:solidFill>
                  <a:srgbClr val="6EE7B7"/>
                </a:solidFill>
                <a:latin typeface="Courier New" pitchFamily="34" charset="0"/>
                <a:ea typeface="Courier New" pitchFamily="34" charset="-122"/>
                <a:cs typeface="Courier New" pitchFamily="34" charset="-120"/>
              </a:rPr>
              <a:t>{ "client_ip": "192.168.1.1",</a:t>
            </a:r>
            <a:endParaRPr lang="en-US" sz="1050" dirty="0"/>
          </a:p>
        </p:txBody>
      </p:sp>
      <p:sp>
        <p:nvSpPr>
          <p:cNvPr id="14" name="Text 12"/>
          <p:cNvSpPr/>
          <p:nvPr/>
        </p:nvSpPr>
        <p:spPr>
          <a:xfrm>
            <a:off x="475488" y="3127248"/>
            <a:ext cx="8229600" cy="256032"/>
          </a:xfrm>
          <a:prstGeom prst="rect">
            <a:avLst/>
          </a:prstGeom>
          <a:noFill/>
          <a:ln/>
        </p:spPr>
        <p:txBody>
          <a:bodyPr wrap="square" lIns="0" tIns="0" rIns="0" bIns="0" rtlCol="0" anchor="ctr"/>
          <a:lstStyle/>
          <a:p>
            <a:pPr indent="0" marL="0">
              <a:buNone/>
            </a:pPr>
            <a:r>
              <a:rPr lang="en-US" sz="1050" dirty="0">
                <a:solidFill>
                  <a:srgbClr val="6EE7B7"/>
                </a:solidFill>
                <a:latin typeface="Courier New" pitchFamily="34" charset="0"/>
                <a:ea typeface="Courier New" pitchFamily="34" charset="-122"/>
                <a:cs typeface="Courier New" pitchFamily="34" charset="-120"/>
              </a:rPr>
              <a:t>  "timestamp": "25/Jan/2024:10:15:32 +0000",</a:t>
            </a:r>
            <a:endParaRPr lang="en-US" sz="1050" dirty="0"/>
          </a:p>
        </p:txBody>
      </p:sp>
      <p:sp>
        <p:nvSpPr>
          <p:cNvPr id="15" name="Text 13"/>
          <p:cNvSpPr/>
          <p:nvPr/>
        </p:nvSpPr>
        <p:spPr>
          <a:xfrm>
            <a:off x="475488" y="3401568"/>
            <a:ext cx="8229600" cy="256032"/>
          </a:xfrm>
          <a:prstGeom prst="rect">
            <a:avLst/>
          </a:prstGeom>
          <a:noFill/>
          <a:ln/>
        </p:spPr>
        <p:txBody>
          <a:bodyPr wrap="square" lIns="0" tIns="0" rIns="0" bIns="0" rtlCol="0" anchor="ctr"/>
          <a:lstStyle/>
          <a:p>
            <a:pPr indent="0" marL="0">
              <a:buNone/>
            </a:pPr>
            <a:r>
              <a:rPr lang="en-US" sz="1050" dirty="0">
                <a:solidFill>
                  <a:srgbClr val="FDE68A"/>
                </a:solidFill>
                <a:latin typeface="Courier New" pitchFamily="34" charset="0"/>
                <a:ea typeface="Courier New" pitchFamily="34" charset="-122"/>
                <a:cs typeface="Courier New" pitchFamily="34" charset="-120"/>
              </a:rPr>
              <a:t>  "method": "GET",  "url": "/api/users",</a:t>
            </a:r>
            <a:endParaRPr lang="en-US" sz="1050" dirty="0"/>
          </a:p>
        </p:txBody>
      </p:sp>
      <p:sp>
        <p:nvSpPr>
          <p:cNvPr id="16" name="Text 14"/>
          <p:cNvSpPr/>
          <p:nvPr/>
        </p:nvSpPr>
        <p:spPr>
          <a:xfrm>
            <a:off x="475488" y="3675888"/>
            <a:ext cx="8229600" cy="256032"/>
          </a:xfrm>
          <a:prstGeom prst="rect">
            <a:avLst/>
          </a:prstGeom>
          <a:noFill/>
          <a:ln/>
        </p:spPr>
        <p:txBody>
          <a:bodyPr wrap="square" lIns="0" tIns="0" rIns="0" bIns="0" rtlCol="0" anchor="ctr"/>
          <a:lstStyle/>
          <a:p>
            <a:pPr indent="0" marL="0">
              <a:buNone/>
            </a:pPr>
            <a:r>
              <a:rPr lang="en-US" sz="1050" dirty="0">
                <a:solidFill>
                  <a:srgbClr val="FDE68A"/>
                </a:solidFill>
                <a:latin typeface="Courier New" pitchFamily="34" charset="0"/>
                <a:ea typeface="Courier New" pitchFamily="34" charset="-122"/>
                <a:cs typeface="Courier New" pitchFamily="34" charset="-120"/>
              </a:rPr>
              <a:t>  "status_code": 200,  "bytes": 1420 }</a:t>
            </a:r>
            <a:endParaRPr lang="en-US" sz="1050" dirty="0"/>
          </a:p>
        </p:txBody>
      </p:sp>
      <p:sp>
        <p:nvSpPr>
          <p:cNvPr id="17" name="Text 15"/>
          <p:cNvSpPr/>
          <p:nvPr/>
        </p:nvSpPr>
        <p:spPr>
          <a:xfrm>
            <a:off x="320040" y="4160520"/>
            <a:ext cx="8229600" cy="292608"/>
          </a:xfrm>
          <a:prstGeom prst="rect">
            <a:avLst/>
          </a:prstGeom>
          <a:noFill/>
          <a:ln/>
        </p:spPr>
        <p:txBody>
          <a:bodyPr wrap="square" lIns="0" tIns="0" rIns="0" bIns="0" rtlCol="0" anchor="ctr"/>
          <a:lstStyle/>
          <a:p>
            <a:pPr indent="0" marL="0">
              <a:buNone/>
            </a:pPr>
            <a:r>
              <a:rPr lang="en-US" sz="1150" b="1" dirty="0">
                <a:solidFill>
                  <a:srgbClr val="F4659C"/>
                </a:solidFill>
                <a:latin typeface="Cambria" pitchFamily="34" charset="0"/>
                <a:ea typeface="Cambria" pitchFamily="34" charset="-122"/>
                <a:cs typeface="Cambria" pitchFamily="34" charset="-120"/>
              </a:rPr>
              <a:t>The Grok Pattern (built-in COMBINEDAPACHELOG)</a:t>
            </a:r>
            <a:endParaRPr lang="en-US" sz="1150" dirty="0"/>
          </a:p>
        </p:txBody>
      </p:sp>
      <p:sp>
        <p:nvSpPr>
          <p:cNvPr id="18" name="Shape 16"/>
          <p:cNvSpPr/>
          <p:nvPr/>
        </p:nvSpPr>
        <p:spPr>
          <a:xfrm>
            <a:off x="320040" y="4498848"/>
            <a:ext cx="8503920" cy="530352"/>
          </a:xfrm>
          <a:prstGeom prst="roundRect">
            <a:avLst>
              <a:gd name="adj" fmla="val 17241"/>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19" name="Text 17"/>
          <p:cNvSpPr/>
          <p:nvPr/>
        </p:nvSpPr>
        <p:spPr>
          <a:xfrm>
            <a:off x="475488" y="4608576"/>
            <a:ext cx="8193024" cy="201168"/>
          </a:xfrm>
          <a:prstGeom prst="rect">
            <a:avLst/>
          </a:prstGeom>
          <a:noFill/>
          <a:ln/>
        </p:spPr>
        <p:txBody>
          <a:bodyPr wrap="square" lIns="0" tIns="0" rIns="0" bIns="0" rtlCol="0" anchor="ctr"/>
          <a:lstStyle/>
          <a:p>
            <a:pPr indent="0" marL="0">
              <a:buNone/>
            </a:pPr>
            <a:r>
              <a:rPr lang="en-US" sz="950" dirty="0">
                <a:solidFill>
                  <a:srgbClr val="F4659C"/>
                </a:solidFill>
                <a:latin typeface="Courier New" pitchFamily="34" charset="0"/>
                <a:ea typeface="Courier New" pitchFamily="34" charset="-122"/>
                <a:cs typeface="Courier New" pitchFamily="34" charset="-120"/>
              </a:rPr>
              <a:t>filter { grok { match =&gt; { "message" =&gt; "%{COMBINEDAPACHELOG}" } } }</a:t>
            </a:r>
            <a:endParaRPr lang="en-US" sz="950" dirty="0"/>
          </a:p>
        </p:txBody>
      </p:sp>
      <p:sp>
        <p:nvSpPr>
          <p:cNvPr id="20" name="Shape 18"/>
          <p:cNvSpPr/>
          <p:nvPr/>
        </p:nvSpPr>
        <p:spPr>
          <a:xfrm>
            <a:off x="0" y="4846320"/>
            <a:ext cx="9144000" cy="297180"/>
          </a:xfrm>
          <a:prstGeom prst="rect">
            <a:avLst/>
          </a:prstGeom>
          <a:solidFill>
            <a:srgbClr val="0F172A"/>
          </a:solidFill>
          <a:ln w="12700">
            <a:solidFill>
              <a:srgbClr val="0F172A"/>
            </a:solidFill>
            <a:prstDash val="solid"/>
          </a:ln>
        </p:spPr>
      </p:sp>
      <p:sp>
        <p:nvSpPr>
          <p:cNvPr id="21" name="Text 19"/>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07: Grok</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DATE &amp; MUTATE FILTERS</a:t>
            </a:r>
            <a:endParaRPr lang="en-US" sz="2000" dirty="0"/>
          </a:p>
        </p:txBody>
      </p:sp>
      <p:sp>
        <p:nvSpPr>
          <p:cNvPr id="4" name="Shape 2"/>
          <p:cNvSpPr/>
          <p:nvPr/>
        </p:nvSpPr>
        <p:spPr>
          <a:xfrm>
            <a:off x="7178040" y="109728"/>
            <a:ext cx="1600200" cy="475488"/>
          </a:xfrm>
          <a:prstGeom prst="roundRect">
            <a:avLst>
              <a:gd name="adj" fmla="val 11538"/>
            </a:avLst>
          </a:prstGeom>
          <a:solidFill>
            <a:srgbClr val="F4659C"/>
          </a:solidFill>
          <a:ln w="12700">
            <a:solidFill>
              <a:srgbClr val="F4659C"/>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07  •  Grok</a:t>
            </a:r>
            <a:endParaRPr lang="en-US" sz="950" dirty="0"/>
          </a:p>
        </p:txBody>
      </p:sp>
      <p:sp>
        <p:nvSpPr>
          <p:cNvPr id="6" name="Text 4"/>
          <p:cNvSpPr/>
          <p:nvPr/>
        </p:nvSpPr>
        <p:spPr>
          <a:xfrm>
            <a:off x="320040" y="868680"/>
            <a:ext cx="8503920" cy="384048"/>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After grok extracts fields, use date and mutate to clean up the data before shipping to Elasticsearch.</a:t>
            </a:r>
            <a:endParaRPr lang="en-US" sz="1200" dirty="0"/>
          </a:p>
        </p:txBody>
      </p:sp>
      <p:sp>
        <p:nvSpPr>
          <p:cNvPr id="7" name="Shape 5"/>
          <p:cNvSpPr/>
          <p:nvPr/>
        </p:nvSpPr>
        <p:spPr>
          <a:xfrm>
            <a:off x="320040" y="1325880"/>
            <a:ext cx="5074920" cy="3639312"/>
          </a:xfrm>
          <a:prstGeom prst="roundRect">
            <a:avLst>
              <a:gd name="adj" fmla="val 2513"/>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8" name="Text 6"/>
          <p:cNvSpPr/>
          <p:nvPr/>
        </p:nvSpPr>
        <p:spPr>
          <a:xfrm>
            <a:off x="475488" y="1399032"/>
            <a:ext cx="4764024" cy="201168"/>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 Complete filter block</a:t>
            </a:r>
            <a:endParaRPr lang="en-US" sz="900" dirty="0"/>
          </a:p>
        </p:txBody>
      </p:sp>
      <p:sp>
        <p:nvSpPr>
          <p:cNvPr id="9" name="Text 7"/>
          <p:cNvSpPr/>
          <p:nvPr/>
        </p:nvSpPr>
        <p:spPr>
          <a:xfrm>
            <a:off x="475488" y="1636776"/>
            <a:ext cx="4764024" cy="201168"/>
          </a:xfrm>
          <a:prstGeom prst="rect">
            <a:avLst/>
          </a:prstGeom>
          <a:noFill/>
          <a:ln/>
        </p:spPr>
        <p:txBody>
          <a:bodyPr wrap="square" lIns="0" tIns="0" rIns="0" bIns="0" rtlCol="0" anchor="ctr"/>
          <a:lstStyle/>
          <a:p>
            <a:pPr indent="0" marL="0">
              <a:buNone/>
            </a:pPr>
            <a:r>
              <a:rPr lang="en-US" sz="950" dirty="0">
                <a:solidFill>
                  <a:srgbClr val="F4659C"/>
                </a:solidFill>
                <a:latin typeface="Courier New" pitchFamily="34" charset="0"/>
                <a:ea typeface="Courier New" pitchFamily="34" charset="-122"/>
                <a:cs typeface="Courier New" pitchFamily="34" charset="-120"/>
              </a:rPr>
              <a:t>filter {</a:t>
            </a:r>
            <a:endParaRPr lang="en-US" sz="950" dirty="0"/>
          </a:p>
        </p:txBody>
      </p:sp>
      <p:sp>
        <p:nvSpPr>
          <p:cNvPr id="10" name="Text 8"/>
          <p:cNvSpPr/>
          <p:nvPr/>
        </p:nvSpPr>
        <p:spPr>
          <a:xfrm>
            <a:off x="475488" y="1833372"/>
            <a:ext cx="4764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grok {</a:t>
            </a:r>
            <a:endParaRPr lang="en-US" sz="950" dirty="0"/>
          </a:p>
        </p:txBody>
      </p:sp>
      <p:sp>
        <p:nvSpPr>
          <p:cNvPr id="11" name="Text 9"/>
          <p:cNvSpPr/>
          <p:nvPr/>
        </p:nvSpPr>
        <p:spPr>
          <a:xfrm>
            <a:off x="475488" y="2029968"/>
            <a:ext cx="4764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match =&gt; { 'message' =&gt; '%{COMBINEDAPACHELOG}' }</a:t>
            </a:r>
            <a:endParaRPr lang="en-US" sz="950" dirty="0"/>
          </a:p>
        </p:txBody>
      </p:sp>
      <p:sp>
        <p:nvSpPr>
          <p:cNvPr id="12" name="Text 10"/>
          <p:cNvSpPr/>
          <p:nvPr/>
        </p:nvSpPr>
        <p:spPr>
          <a:xfrm>
            <a:off x="475488" y="2226564"/>
            <a:ext cx="4764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a:t>
            </a:r>
            <a:endParaRPr lang="en-US" sz="950" dirty="0"/>
          </a:p>
        </p:txBody>
      </p:sp>
      <p:sp>
        <p:nvSpPr>
          <p:cNvPr id="13" name="Text 11"/>
          <p:cNvSpPr/>
          <p:nvPr/>
        </p:nvSpPr>
        <p:spPr>
          <a:xfrm>
            <a:off x="475488" y="2423160"/>
            <a:ext cx="4764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date {</a:t>
            </a:r>
            <a:endParaRPr lang="en-US" sz="950" dirty="0"/>
          </a:p>
        </p:txBody>
      </p:sp>
      <p:sp>
        <p:nvSpPr>
          <p:cNvPr id="14" name="Text 12"/>
          <p:cNvSpPr/>
          <p:nvPr/>
        </p:nvSpPr>
        <p:spPr>
          <a:xfrm>
            <a:off x="475488" y="2619756"/>
            <a:ext cx="4764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match =&gt; [ 'timestamp', 'dd/MMM/yyyy:HH:mm:ss Z' ]</a:t>
            </a:r>
            <a:endParaRPr lang="en-US" sz="950" dirty="0"/>
          </a:p>
        </p:txBody>
      </p:sp>
      <p:sp>
        <p:nvSpPr>
          <p:cNvPr id="15" name="Text 13"/>
          <p:cNvSpPr/>
          <p:nvPr/>
        </p:nvSpPr>
        <p:spPr>
          <a:xfrm>
            <a:off x="475488" y="2816352"/>
            <a:ext cx="4764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target =&gt; '@timestamp'</a:t>
            </a:r>
            <a:endParaRPr lang="en-US" sz="950" dirty="0"/>
          </a:p>
        </p:txBody>
      </p:sp>
      <p:sp>
        <p:nvSpPr>
          <p:cNvPr id="16" name="Text 14"/>
          <p:cNvSpPr/>
          <p:nvPr/>
        </p:nvSpPr>
        <p:spPr>
          <a:xfrm>
            <a:off x="475488" y="3012948"/>
            <a:ext cx="4764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a:t>
            </a:r>
            <a:endParaRPr lang="en-US" sz="950" dirty="0"/>
          </a:p>
        </p:txBody>
      </p:sp>
      <p:sp>
        <p:nvSpPr>
          <p:cNvPr id="17" name="Text 15"/>
          <p:cNvSpPr/>
          <p:nvPr/>
        </p:nvSpPr>
        <p:spPr>
          <a:xfrm>
            <a:off x="475488" y="3209544"/>
            <a:ext cx="4764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mutate {</a:t>
            </a:r>
            <a:endParaRPr lang="en-US" sz="950" dirty="0"/>
          </a:p>
        </p:txBody>
      </p:sp>
      <p:sp>
        <p:nvSpPr>
          <p:cNvPr id="18" name="Text 16"/>
          <p:cNvSpPr/>
          <p:nvPr/>
        </p:nvSpPr>
        <p:spPr>
          <a:xfrm>
            <a:off x="475488" y="3406140"/>
            <a:ext cx="4764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convert =&gt; { 'response' =&gt; 'integer' }</a:t>
            </a:r>
            <a:endParaRPr lang="en-US" sz="950" dirty="0"/>
          </a:p>
        </p:txBody>
      </p:sp>
      <p:sp>
        <p:nvSpPr>
          <p:cNvPr id="19" name="Text 17"/>
          <p:cNvSpPr/>
          <p:nvPr/>
        </p:nvSpPr>
        <p:spPr>
          <a:xfrm>
            <a:off x="475488" y="3602736"/>
            <a:ext cx="4764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convert =&gt; { 'bytes' =&gt; 'integer' }</a:t>
            </a:r>
            <a:endParaRPr lang="en-US" sz="950" dirty="0"/>
          </a:p>
        </p:txBody>
      </p:sp>
      <p:sp>
        <p:nvSpPr>
          <p:cNvPr id="20" name="Text 18"/>
          <p:cNvSpPr/>
          <p:nvPr/>
        </p:nvSpPr>
        <p:spPr>
          <a:xfrm>
            <a:off x="475488" y="3799332"/>
            <a:ext cx="47640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rename =&gt; { 'clientip' =&gt; 'client_ip' }</a:t>
            </a:r>
            <a:endParaRPr lang="en-US" sz="950" dirty="0"/>
          </a:p>
        </p:txBody>
      </p:sp>
      <p:sp>
        <p:nvSpPr>
          <p:cNvPr id="21" name="Text 19"/>
          <p:cNvSpPr/>
          <p:nvPr/>
        </p:nvSpPr>
        <p:spPr>
          <a:xfrm>
            <a:off x="475488" y="3995928"/>
            <a:ext cx="47640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rename =&gt; { 'verb' =&gt; 'method' }</a:t>
            </a:r>
            <a:endParaRPr lang="en-US" sz="950" dirty="0"/>
          </a:p>
        </p:txBody>
      </p:sp>
      <p:sp>
        <p:nvSpPr>
          <p:cNvPr id="22" name="Text 20"/>
          <p:cNvSpPr/>
          <p:nvPr/>
        </p:nvSpPr>
        <p:spPr>
          <a:xfrm>
            <a:off x="475488" y="4192524"/>
            <a:ext cx="4764024" cy="201168"/>
          </a:xfrm>
          <a:prstGeom prst="rect">
            <a:avLst/>
          </a:prstGeom>
          <a:noFill/>
          <a:ln/>
        </p:spPr>
        <p:txBody>
          <a:bodyPr wrap="square" lIns="0" tIns="0" rIns="0" bIns="0" rtlCol="0" anchor="ctr"/>
          <a:lstStyle/>
          <a:p>
            <a:pPr indent="0" marL="0">
              <a:buNone/>
            </a:pPr>
            <a:r>
              <a:rPr lang="en-US" sz="950" dirty="0">
                <a:solidFill>
                  <a:srgbClr val="C084FC"/>
                </a:solidFill>
                <a:latin typeface="Courier New" pitchFamily="34" charset="0"/>
                <a:ea typeface="Courier New" pitchFamily="34" charset="-122"/>
                <a:cs typeface="Courier New" pitchFamily="34" charset="-120"/>
              </a:rPr>
              <a:t>    remove_field =&gt; [ 'message', 'timestamp' ]</a:t>
            </a:r>
            <a:endParaRPr lang="en-US" sz="950" dirty="0"/>
          </a:p>
        </p:txBody>
      </p:sp>
      <p:sp>
        <p:nvSpPr>
          <p:cNvPr id="23" name="Text 21"/>
          <p:cNvSpPr/>
          <p:nvPr/>
        </p:nvSpPr>
        <p:spPr>
          <a:xfrm>
            <a:off x="475488" y="4389120"/>
            <a:ext cx="4764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a:t>
            </a:r>
            <a:endParaRPr lang="en-US" sz="950" dirty="0"/>
          </a:p>
        </p:txBody>
      </p:sp>
      <p:sp>
        <p:nvSpPr>
          <p:cNvPr id="24" name="Text 22"/>
          <p:cNvSpPr/>
          <p:nvPr/>
        </p:nvSpPr>
        <p:spPr>
          <a:xfrm>
            <a:off x="475488" y="4585716"/>
            <a:ext cx="4764024" cy="201168"/>
          </a:xfrm>
          <a:prstGeom prst="rect">
            <a:avLst/>
          </a:prstGeom>
          <a:noFill/>
          <a:ln/>
        </p:spPr>
        <p:txBody>
          <a:bodyPr wrap="square" lIns="0" tIns="0" rIns="0" bIns="0" rtlCol="0" anchor="ctr"/>
          <a:lstStyle/>
          <a:p>
            <a:pPr indent="0" marL="0">
              <a:buNone/>
            </a:pPr>
            <a:r>
              <a:rPr lang="en-US" sz="950" dirty="0">
                <a:solidFill>
                  <a:srgbClr val="F4659C"/>
                </a:solidFill>
                <a:latin typeface="Courier New" pitchFamily="34" charset="0"/>
                <a:ea typeface="Courier New" pitchFamily="34" charset="-122"/>
                <a:cs typeface="Courier New" pitchFamily="34" charset="-120"/>
              </a:rPr>
              <a:t>}</a:t>
            </a:r>
            <a:endParaRPr lang="en-US" sz="950" dirty="0"/>
          </a:p>
        </p:txBody>
      </p:sp>
      <p:sp>
        <p:nvSpPr>
          <p:cNvPr id="25" name="Shape 23"/>
          <p:cNvSpPr/>
          <p:nvPr/>
        </p:nvSpPr>
        <p:spPr>
          <a:xfrm>
            <a:off x="5596128" y="1325880"/>
            <a:ext cx="292608" cy="292608"/>
          </a:xfrm>
          <a:prstGeom prst="ellipse">
            <a:avLst/>
          </a:prstGeom>
          <a:solidFill>
            <a:srgbClr val="F4659C"/>
          </a:solidFill>
          <a:ln w="12700">
            <a:solidFill>
              <a:srgbClr val="F4659C"/>
            </a:solidFill>
            <a:prstDash val="solid"/>
          </a:ln>
        </p:spPr>
      </p:sp>
      <p:sp>
        <p:nvSpPr>
          <p:cNvPr id="26" name="Text 24"/>
          <p:cNvSpPr/>
          <p:nvPr/>
        </p:nvSpPr>
        <p:spPr>
          <a:xfrm>
            <a:off x="5596128" y="1325880"/>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27" name="Text 25"/>
          <p:cNvSpPr/>
          <p:nvPr/>
        </p:nvSpPr>
        <p:spPr>
          <a:xfrm>
            <a:off x="5961888" y="1325880"/>
            <a:ext cx="2834640" cy="228600"/>
          </a:xfrm>
          <a:prstGeom prst="rect">
            <a:avLst/>
          </a:prstGeom>
          <a:noFill/>
          <a:ln/>
        </p:spPr>
        <p:txBody>
          <a:bodyPr wrap="square" lIns="0" tIns="0" rIns="0" bIns="0" rtlCol="0" anchor="ctr"/>
          <a:lstStyle/>
          <a:p>
            <a:pPr indent="0" marL="0">
              <a:buNone/>
            </a:pPr>
            <a:r>
              <a:rPr lang="en-US" sz="1000" b="1" dirty="0">
                <a:solidFill>
                  <a:srgbClr val="0F172A"/>
                </a:solidFill>
                <a:latin typeface="Arial" pitchFamily="34" charset="0"/>
                <a:ea typeface="Arial" pitchFamily="34" charset="-122"/>
                <a:cs typeface="Arial" pitchFamily="34" charset="-120"/>
              </a:rPr>
              <a:t>grok — parses the raw log line</a:t>
            </a:r>
            <a:endParaRPr lang="en-US" sz="1000" dirty="0"/>
          </a:p>
        </p:txBody>
      </p:sp>
      <p:sp>
        <p:nvSpPr>
          <p:cNvPr id="28" name="Text 26"/>
          <p:cNvSpPr/>
          <p:nvPr/>
        </p:nvSpPr>
        <p:spPr>
          <a:xfrm>
            <a:off x="5961888" y="1563624"/>
            <a:ext cx="2834640" cy="320040"/>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COMBINEDAPACHELOG extracts all standard Apache fields automatically.</a:t>
            </a:r>
            <a:endParaRPr lang="en-US" sz="900" dirty="0"/>
          </a:p>
        </p:txBody>
      </p:sp>
      <p:sp>
        <p:nvSpPr>
          <p:cNvPr id="29" name="Shape 27"/>
          <p:cNvSpPr/>
          <p:nvPr/>
        </p:nvSpPr>
        <p:spPr>
          <a:xfrm>
            <a:off x="5596128" y="2121408"/>
            <a:ext cx="292608" cy="292608"/>
          </a:xfrm>
          <a:prstGeom prst="ellipse">
            <a:avLst/>
          </a:prstGeom>
          <a:solidFill>
            <a:srgbClr val="F4659C"/>
          </a:solidFill>
          <a:ln w="12700">
            <a:solidFill>
              <a:srgbClr val="F4659C"/>
            </a:solidFill>
            <a:prstDash val="solid"/>
          </a:ln>
        </p:spPr>
      </p:sp>
      <p:sp>
        <p:nvSpPr>
          <p:cNvPr id="30" name="Text 28"/>
          <p:cNvSpPr/>
          <p:nvPr/>
        </p:nvSpPr>
        <p:spPr>
          <a:xfrm>
            <a:off x="5596128" y="2121408"/>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31" name="Text 29"/>
          <p:cNvSpPr/>
          <p:nvPr/>
        </p:nvSpPr>
        <p:spPr>
          <a:xfrm>
            <a:off x="5961888" y="2121408"/>
            <a:ext cx="2834640" cy="228600"/>
          </a:xfrm>
          <a:prstGeom prst="rect">
            <a:avLst/>
          </a:prstGeom>
          <a:noFill/>
          <a:ln/>
        </p:spPr>
        <p:txBody>
          <a:bodyPr wrap="square" lIns="0" tIns="0" rIns="0" bIns="0" rtlCol="0" anchor="ctr"/>
          <a:lstStyle/>
          <a:p>
            <a:pPr indent="0" marL="0">
              <a:buNone/>
            </a:pPr>
            <a:r>
              <a:rPr lang="en-US" sz="1000" b="1" dirty="0">
                <a:solidFill>
                  <a:srgbClr val="0F172A"/>
                </a:solidFill>
                <a:latin typeface="Arial" pitchFamily="34" charset="0"/>
                <a:ea typeface="Arial" pitchFamily="34" charset="-122"/>
                <a:cs typeface="Arial" pitchFamily="34" charset="-120"/>
              </a:rPr>
              <a:t>date — fix the timestamp</a:t>
            </a:r>
            <a:endParaRPr lang="en-US" sz="1000" dirty="0"/>
          </a:p>
        </p:txBody>
      </p:sp>
      <p:sp>
        <p:nvSpPr>
          <p:cNvPr id="32" name="Text 30"/>
          <p:cNvSpPr/>
          <p:nvPr/>
        </p:nvSpPr>
        <p:spPr>
          <a:xfrm>
            <a:off x="5961888" y="2359152"/>
            <a:ext cx="2834640" cy="320040"/>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Converts the extracted string timestamp into @timestamp — the official Elasticsearch time field. Without this, all events appear at ingest time.</a:t>
            </a:r>
            <a:endParaRPr lang="en-US" sz="900" dirty="0"/>
          </a:p>
        </p:txBody>
      </p:sp>
      <p:sp>
        <p:nvSpPr>
          <p:cNvPr id="33" name="Shape 31"/>
          <p:cNvSpPr/>
          <p:nvPr/>
        </p:nvSpPr>
        <p:spPr>
          <a:xfrm>
            <a:off x="5596128" y="2926080"/>
            <a:ext cx="292608" cy="292608"/>
          </a:xfrm>
          <a:prstGeom prst="ellipse">
            <a:avLst/>
          </a:prstGeom>
          <a:solidFill>
            <a:srgbClr val="F4659C"/>
          </a:solidFill>
          <a:ln w="12700">
            <a:solidFill>
              <a:srgbClr val="F4659C"/>
            </a:solidFill>
            <a:prstDash val="solid"/>
          </a:ln>
        </p:spPr>
      </p:sp>
      <p:sp>
        <p:nvSpPr>
          <p:cNvPr id="34" name="Text 32"/>
          <p:cNvSpPr/>
          <p:nvPr/>
        </p:nvSpPr>
        <p:spPr>
          <a:xfrm>
            <a:off x="5596128" y="2926080"/>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35" name="Text 33"/>
          <p:cNvSpPr/>
          <p:nvPr/>
        </p:nvSpPr>
        <p:spPr>
          <a:xfrm>
            <a:off x="5961888" y="2926080"/>
            <a:ext cx="2834640" cy="228600"/>
          </a:xfrm>
          <a:prstGeom prst="rect">
            <a:avLst/>
          </a:prstGeom>
          <a:noFill/>
          <a:ln/>
        </p:spPr>
        <p:txBody>
          <a:bodyPr wrap="square" lIns="0" tIns="0" rIns="0" bIns="0" rtlCol="0" anchor="ctr"/>
          <a:lstStyle/>
          <a:p>
            <a:pPr indent="0" marL="0">
              <a:buNone/>
            </a:pPr>
            <a:r>
              <a:rPr lang="en-US" sz="1000" b="1" dirty="0">
                <a:solidFill>
                  <a:srgbClr val="0F172A"/>
                </a:solidFill>
                <a:latin typeface="Arial" pitchFamily="34" charset="0"/>
                <a:ea typeface="Arial" pitchFamily="34" charset="-122"/>
                <a:cs typeface="Arial" pitchFamily="34" charset="-120"/>
              </a:rPr>
              <a:t>mutate convert — fix field types</a:t>
            </a:r>
            <a:endParaRPr lang="en-US" sz="1000" dirty="0"/>
          </a:p>
        </p:txBody>
      </p:sp>
      <p:sp>
        <p:nvSpPr>
          <p:cNvPr id="36" name="Text 34"/>
          <p:cNvSpPr/>
          <p:nvPr/>
        </p:nvSpPr>
        <p:spPr>
          <a:xfrm>
            <a:off x="5961888" y="3163824"/>
            <a:ext cx="2834640" cy="320040"/>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grok extracts everything as strings. Convert numeric fields so Elasticsearch can do maths on them.</a:t>
            </a:r>
            <a:endParaRPr lang="en-US" sz="900" dirty="0"/>
          </a:p>
        </p:txBody>
      </p:sp>
      <p:sp>
        <p:nvSpPr>
          <p:cNvPr id="37" name="Shape 35"/>
          <p:cNvSpPr/>
          <p:nvPr/>
        </p:nvSpPr>
        <p:spPr>
          <a:xfrm>
            <a:off x="5596128" y="3712464"/>
            <a:ext cx="292608" cy="292608"/>
          </a:xfrm>
          <a:prstGeom prst="ellipse">
            <a:avLst/>
          </a:prstGeom>
          <a:solidFill>
            <a:srgbClr val="F4659C"/>
          </a:solidFill>
          <a:ln w="12700">
            <a:solidFill>
              <a:srgbClr val="F4659C"/>
            </a:solidFill>
            <a:prstDash val="solid"/>
          </a:ln>
        </p:spPr>
      </p:sp>
      <p:sp>
        <p:nvSpPr>
          <p:cNvPr id="38" name="Text 36"/>
          <p:cNvSpPr/>
          <p:nvPr/>
        </p:nvSpPr>
        <p:spPr>
          <a:xfrm>
            <a:off x="5596128" y="3712464"/>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39" name="Text 37"/>
          <p:cNvSpPr/>
          <p:nvPr/>
        </p:nvSpPr>
        <p:spPr>
          <a:xfrm>
            <a:off x="5961888" y="3712464"/>
            <a:ext cx="2834640" cy="228600"/>
          </a:xfrm>
          <a:prstGeom prst="rect">
            <a:avLst/>
          </a:prstGeom>
          <a:noFill/>
          <a:ln/>
        </p:spPr>
        <p:txBody>
          <a:bodyPr wrap="square" lIns="0" tIns="0" rIns="0" bIns="0" rtlCol="0" anchor="ctr"/>
          <a:lstStyle/>
          <a:p>
            <a:pPr indent="0" marL="0">
              <a:buNone/>
            </a:pPr>
            <a:r>
              <a:rPr lang="en-US" sz="1000" b="1" dirty="0">
                <a:solidFill>
                  <a:srgbClr val="0F172A"/>
                </a:solidFill>
                <a:latin typeface="Arial" pitchFamily="34" charset="0"/>
                <a:ea typeface="Arial" pitchFamily="34" charset="-122"/>
                <a:cs typeface="Arial" pitchFamily="34" charset="-120"/>
              </a:rPr>
              <a:t>mutate rename — clean field names</a:t>
            </a:r>
            <a:endParaRPr lang="en-US" sz="1000" dirty="0"/>
          </a:p>
        </p:txBody>
      </p:sp>
      <p:sp>
        <p:nvSpPr>
          <p:cNvPr id="40" name="Text 38"/>
          <p:cNvSpPr/>
          <p:nvPr/>
        </p:nvSpPr>
        <p:spPr>
          <a:xfrm>
            <a:off x="5961888" y="3950208"/>
            <a:ext cx="2834640" cy="320040"/>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'clientip' → 'client_ip'. Makes Kibana queries more readable.</a:t>
            </a:r>
            <a:endParaRPr lang="en-US" sz="900" dirty="0"/>
          </a:p>
        </p:txBody>
      </p:sp>
      <p:sp>
        <p:nvSpPr>
          <p:cNvPr id="41" name="Shape 39"/>
          <p:cNvSpPr/>
          <p:nvPr/>
        </p:nvSpPr>
        <p:spPr>
          <a:xfrm>
            <a:off x="5596128" y="4114800"/>
            <a:ext cx="292608" cy="292608"/>
          </a:xfrm>
          <a:prstGeom prst="ellipse">
            <a:avLst/>
          </a:prstGeom>
          <a:solidFill>
            <a:srgbClr val="F4659C"/>
          </a:solidFill>
          <a:ln w="12700">
            <a:solidFill>
              <a:srgbClr val="F4659C"/>
            </a:solidFill>
            <a:prstDash val="solid"/>
          </a:ln>
        </p:spPr>
      </p:sp>
      <p:sp>
        <p:nvSpPr>
          <p:cNvPr id="42" name="Text 40"/>
          <p:cNvSpPr/>
          <p:nvPr/>
        </p:nvSpPr>
        <p:spPr>
          <a:xfrm>
            <a:off x="5596128" y="4114800"/>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43" name="Text 41"/>
          <p:cNvSpPr/>
          <p:nvPr/>
        </p:nvSpPr>
        <p:spPr>
          <a:xfrm>
            <a:off x="5961888" y="4114800"/>
            <a:ext cx="2834640" cy="228600"/>
          </a:xfrm>
          <a:prstGeom prst="rect">
            <a:avLst/>
          </a:prstGeom>
          <a:noFill/>
          <a:ln/>
        </p:spPr>
        <p:txBody>
          <a:bodyPr wrap="square" lIns="0" tIns="0" rIns="0" bIns="0" rtlCol="0" anchor="ctr"/>
          <a:lstStyle/>
          <a:p>
            <a:pPr indent="0" marL="0">
              <a:buNone/>
            </a:pPr>
            <a:r>
              <a:rPr lang="en-US" sz="1000" b="1" dirty="0">
                <a:solidFill>
                  <a:srgbClr val="0F172A"/>
                </a:solidFill>
                <a:latin typeface="Arial" pitchFamily="34" charset="0"/>
                <a:ea typeface="Arial" pitchFamily="34" charset="-122"/>
                <a:cs typeface="Arial" pitchFamily="34" charset="-120"/>
              </a:rPr>
              <a:t>remove_field — clean up</a:t>
            </a:r>
            <a:endParaRPr lang="en-US" sz="1000" dirty="0"/>
          </a:p>
        </p:txBody>
      </p:sp>
      <p:sp>
        <p:nvSpPr>
          <p:cNvPr id="44" name="Text 42"/>
          <p:cNvSpPr/>
          <p:nvPr/>
        </p:nvSpPr>
        <p:spPr>
          <a:xfrm>
            <a:off x="5961888" y="4352544"/>
            <a:ext cx="2834640" cy="320040"/>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Remove the original message and raw timestamp — we have structured fields now.</a:t>
            </a:r>
            <a:endParaRPr lang="en-US" sz="900" dirty="0"/>
          </a:p>
        </p:txBody>
      </p:sp>
      <p:sp>
        <p:nvSpPr>
          <p:cNvPr id="45" name="Shape 43"/>
          <p:cNvSpPr/>
          <p:nvPr/>
        </p:nvSpPr>
        <p:spPr>
          <a:xfrm>
            <a:off x="0" y="4846320"/>
            <a:ext cx="9144000" cy="297180"/>
          </a:xfrm>
          <a:prstGeom prst="rect">
            <a:avLst/>
          </a:prstGeom>
          <a:solidFill>
            <a:srgbClr val="0F172A"/>
          </a:solidFill>
          <a:ln w="12700">
            <a:solidFill>
              <a:srgbClr val="0F172A"/>
            </a:solidFill>
            <a:prstDash val="solid"/>
          </a:ln>
        </p:spPr>
      </p:sp>
      <p:sp>
        <p:nvSpPr>
          <p:cNvPr id="46" name="Text 44"/>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07: Grok</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LOGSTASH INPUT PLUGINS</a:t>
            </a:r>
            <a:endParaRPr lang="en-US" sz="2000" dirty="0"/>
          </a:p>
        </p:txBody>
      </p:sp>
      <p:sp>
        <p:nvSpPr>
          <p:cNvPr id="4" name="Shape 2"/>
          <p:cNvSpPr/>
          <p:nvPr/>
        </p:nvSpPr>
        <p:spPr>
          <a:xfrm>
            <a:off x="7178040" y="109728"/>
            <a:ext cx="1600200" cy="475488"/>
          </a:xfrm>
          <a:prstGeom prst="roundRect">
            <a:avLst>
              <a:gd name="adj" fmla="val 11538"/>
            </a:avLst>
          </a:prstGeom>
          <a:solidFill>
            <a:srgbClr val="F4659C"/>
          </a:solidFill>
          <a:ln w="12700">
            <a:solidFill>
              <a:srgbClr val="F4659C"/>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08  •  Inputs</a:t>
            </a:r>
            <a:endParaRPr lang="en-US" sz="950" dirty="0"/>
          </a:p>
        </p:txBody>
      </p:sp>
      <p:sp>
        <p:nvSpPr>
          <p:cNvPr id="6" name="Shape 4"/>
          <p:cNvSpPr/>
          <p:nvPr/>
        </p:nvSpPr>
        <p:spPr>
          <a:xfrm>
            <a:off x="320040" y="868680"/>
            <a:ext cx="8503920" cy="566928"/>
          </a:xfrm>
          <a:prstGeom prst="roundRect">
            <a:avLst>
              <a:gd name="adj" fmla="val 16129"/>
            </a:avLst>
          </a:prstGeom>
          <a:solidFill>
            <a:srgbClr val="FEE2EF"/>
          </a:solidFill>
          <a:ln w="12700">
            <a:solidFill>
              <a:srgbClr val="F9A8D4"/>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475488"/>
          </a:xfrm>
          <a:prstGeom prst="rect">
            <a:avLst/>
          </a:prstGeom>
          <a:noFill/>
          <a:ln/>
        </p:spPr>
        <p:txBody>
          <a:bodyPr wrap="square" lIns="0" tIns="0" rIns="0" bIns="0" rtlCol="0" anchor="ctr"/>
          <a:lstStyle/>
          <a:p>
            <a:pPr indent="0" marL="0">
              <a:buNone/>
            </a:pPr>
            <a:r>
              <a:rPr lang="en-US" sz="1250" dirty="0">
                <a:solidFill>
                  <a:srgbClr val="0F172A"/>
                </a:solidFill>
                <a:latin typeface="Cambria" pitchFamily="34" charset="0"/>
                <a:ea typeface="Cambria" pitchFamily="34" charset="-122"/>
                <a:cs typeface="Cambria" pitchFamily="34" charset="-120"/>
              </a:rPr>
              <a:t>Input plugins define where Logstash reads data from. You can have multiple inputs in one pipeline — Logstash processes all events through the same filter and output.</a:t>
            </a:r>
            <a:endParaRPr lang="en-US" sz="1250" dirty="0"/>
          </a:p>
        </p:txBody>
      </p:sp>
      <p:sp>
        <p:nvSpPr>
          <p:cNvPr id="8" name="Shape 6"/>
          <p:cNvSpPr/>
          <p:nvPr/>
        </p:nvSpPr>
        <p:spPr>
          <a:xfrm>
            <a:off x="320040" y="1572768"/>
            <a:ext cx="2697480" cy="3246120"/>
          </a:xfrm>
          <a:prstGeom prst="roundRect">
            <a:avLst>
              <a:gd name="adj" fmla="val 3390"/>
            </a:avLst>
          </a:prstGeom>
          <a:solidFill>
            <a:srgbClr val="FEE2EF"/>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9" name="Shape 7"/>
          <p:cNvSpPr/>
          <p:nvPr/>
        </p:nvSpPr>
        <p:spPr>
          <a:xfrm>
            <a:off x="429768" y="1664208"/>
            <a:ext cx="2487168" cy="329184"/>
          </a:xfrm>
          <a:prstGeom prst="roundRect">
            <a:avLst>
              <a:gd name="adj" fmla="val 16667"/>
            </a:avLst>
          </a:prstGeom>
          <a:solidFill>
            <a:srgbClr val="F4659C"/>
          </a:solidFill>
          <a:ln w="12700">
            <a:solidFill>
              <a:srgbClr val="F4659C"/>
            </a:solidFill>
            <a:prstDash val="solid"/>
          </a:ln>
        </p:spPr>
      </p:sp>
      <p:sp>
        <p:nvSpPr>
          <p:cNvPr id="10" name="Text 8"/>
          <p:cNvSpPr/>
          <p:nvPr/>
        </p:nvSpPr>
        <p:spPr>
          <a:xfrm>
            <a:off x="429768" y="1664208"/>
            <a:ext cx="248716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input: file</a:t>
            </a:r>
            <a:endParaRPr lang="en-US" sz="1100" dirty="0"/>
          </a:p>
        </p:txBody>
      </p:sp>
      <p:sp>
        <p:nvSpPr>
          <p:cNvPr id="11" name="Text 9"/>
          <p:cNvSpPr/>
          <p:nvPr/>
        </p:nvSpPr>
        <p:spPr>
          <a:xfrm>
            <a:off x="457200" y="2066544"/>
            <a:ext cx="2423160" cy="80467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Reads from local log files. Supports wildcards, recursive paths and multiple files.</a:t>
            </a:r>
            <a:endParaRPr lang="en-US" sz="950" dirty="0"/>
          </a:p>
        </p:txBody>
      </p:sp>
      <p:sp>
        <p:nvSpPr>
          <p:cNvPr id="12" name="Shape 10"/>
          <p:cNvSpPr/>
          <p:nvPr/>
        </p:nvSpPr>
        <p:spPr>
          <a:xfrm>
            <a:off x="429768" y="2907792"/>
            <a:ext cx="2487168" cy="1755648"/>
          </a:xfrm>
          <a:prstGeom prst="roundRect">
            <a:avLst>
              <a:gd name="adj" fmla="val 5208"/>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13" name="Text 11"/>
          <p:cNvSpPr/>
          <p:nvPr/>
        </p:nvSpPr>
        <p:spPr>
          <a:xfrm>
            <a:off x="585216" y="3017520"/>
            <a:ext cx="2176272" cy="201168"/>
          </a:xfrm>
          <a:prstGeom prst="rect">
            <a:avLst/>
          </a:prstGeom>
          <a:noFill/>
          <a:ln/>
        </p:spPr>
        <p:txBody>
          <a:bodyPr wrap="square" lIns="0" tIns="0" rIns="0" bIns="0" rtlCol="0" anchor="ctr"/>
          <a:lstStyle/>
          <a:p>
            <a:pPr indent="0" marL="0">
              <a:buNone/>
            </a:pPr>
            <a:r>
              <a:rPr lang="en-US" sz="950" dirty="0">
                <a:solidFill>
                  <a:srgbClr val="F4659C"/>
                </a:solidFill>
                <a:latin typeface="Courier New" pitchFamily="34" charset="0"/>
                <a:ea typeface="Courier New" pitchFamily="34" charset="-122"/>
                <a:cs typeface="Courier New" pitchFamily="34" charset="-120"/>
              </a:rPr>
              <a:t>input {</a:t>
            </a:r>
            <a:endParaRPr lang="en-US" sz="950" dirty="0"/>
          </a:p>
        </p:txBody>
      </p:sp>
      <p:sp>
        <p:nvSpPr>
          <p:cNvPr id="14" name="Text 12"/>
          <p:cNvSpPr/>
          <p:nvPr/>
        </p:nvSpPr>
        <p:spPr>
          <a:xfrm>
            <a:off x="585216" y="3214116"/>
            <a:ext cx="2176272"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file {</a:t>
            </a:r>
            <a:endParaRPr lang="en-US" sz="950" dirty="0"/>
          </a:p>
        </p:txBody>
      </p:sp>
      <p:sp>
        <p:nvSpPr>
          <p:cNvPr id="15" name="Text 13"/>
          <p:cNvSpPr/>
          <p:nvPr/>
        </p:nvSpPr>
        <p:spPr>
          <a:xfrm>
            <a:off x="585216" y="3410712"/>
            <a:ext cx="2176272"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path =&gt; '/logs/*.log'</a:t>
            </a:r>
            <a:endParaRPr lang="en-US" sz="950" dirty="0"/>
          </a:p>
        </p:txBody>
      </p:sp>
      <p:sp>
        <p:nvSpPr>
          <p:cNvPr id="16" name="Text 14"/>
          <p:cNvSpPr/>
          <p:nvPr/>
        </p:nvSpPr>
        <p:spPr>
          <a:xfrm>
            <a:off x="585216" y="3607308"/>
            <a:ext cx="2176272"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start_position =&gt; 'beginning'</a:t>
            </a:r>
            <a:endParaRPr lang="en-US" sz="950" dirty="0"/>
          </a:p>
        </p:txBody>
      </p:sp>
      <p:sp>
        <p:nvSpPr>
          <p:cNvPr id="17" name="Text 15"/>
          <p:cNvSpPr/>
          <p:nvPr/>
        </p:nvSpPr>
        <p:spPr>
          <a:xfrm>
            <a:off x="585216" y="3803904"/>
            <a:ext cx="2176272"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sincedb_path =&gt; '/dev/null'</a:t>
            </a:r>
            <a:endParaRPr lang="en-US" sz="950" dirty="0"/>
          </a:p>
        </p:txBody>
      </p:sp>
      <p:sp>
        <p:nvSpPr>
          <p:cNvPr id="18" name="Text 16"/>
          <p:cNvSpPr/>
          <p:nvPr/>
        </p:nvSpPr>
        <p:spPr>
          <a:xfrm>
            <a:off x="585216" y="4000500"/>
            <a:ext cx="2176272"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a:t>
            </a:r>
            <a:endParaRPr lang="en-US" sz="950" dirty="0"/>
          </a:p>
        </p:txBody>
      </p:sp>
      <p:sp>
        <p:nvSpPr>
          <p:cNvPr id="19" name="Text 17"/>
          <p:cNvSpPr/>
          <p:nvPr/>
        </p:nvSpPr>
        <p:spPr>
          <a:xfrm>
            <a:off x="585216" y="4197096"/>
            <a:ext cx="2176272" cy="201168"/>
          </a:xfrm>
          <a:prstGeom prst="rect">
            <a:avLst/>
          </a:prstGeom>
          <a:noFill/>
          <a:ln/>
        </p:spPr>
        <p:txBody>
          <a:bodyPr wrap="square" lIns="0" tIns="0" rIns="0" bIns="0" rtlCol="0" anchor="ctr"/>
          <a:lstStyle/>
          <a:p>
            <a:pPr indent="0" marL="0">
              <a:buNone/>
            </a:pPr>
            <a:r>
              <a:rPr lang="en-US" sz="950" dirty="0">
                <a:solidFill>
                  <a:srgbClr val="F4659C"/>
                </a:solidFill>
                <a:latin typeface="Courier New" pitchFamily="34" charset="0"/>
                <a:ea typeface="Courier New" pitchFamily="34" charset="-122"/>
                <a:cs typeface="Courier New" pitchFamily="34" charset="-120"/>
              </a:rPr>
              <a:t>}</a:t>
            </a:r>
            <a:endParaRPr lang="en-US" sz="950" dirty="0"/>
          </a:p>
        </p:txBody>
      </p:sp>
      <p:sp>
        <p:nvSpPr>
          <p:cNvPr id="20" name="Shape 18"/>
          <p:cNvSpPr/>
          <p:nvPr/>
        </p:nvSpPr>
        <p:spPr>
          <a:xfrm>
            <a:off x="3172968" y="1572768"/>
            <a:ext cx="2697480" cy="3246120"/>
          </a:xfrm>
          <a:prstGeom prst="roundRect">
            <a:avLst>
              <a:gd name="adj" fmla="val 3390"/>
            </a:avLst>
          </a:prstGeom>
          <a:solidFill>
            <a:srgbClr val="FEF3C7"/>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1" name="Shape 19"/>
          <p:cNvSpPr/>
          <p:nvPr/>
        </p:nvSpPr>
        <p:spPr>
          <a:xfrm>
            <a:off x="3282696" y="1664208"/>
            <a:ext cx="2487168" cy="329184"/>
          </a:xfrm>
          <a:prstGeom prst="roundRect">
            <a:avLst>
              <a:gd name="adj" fmla="val 16667"/>
            </a:avLst>
          </a:prstGeom>
          <a:solidFill>
            <a:srgbClr val="F5A700"/>
          </a:solidFill>
          <a:ln w="12700">
            <a:solidFill>
              <a:srgbClr val="F5A700"/>
            </a:solidFill>
            <a:prstDash val="solid"/>
          </a:ln>
        </p:spPr>
      </p:sp>
      <p:sp>
        <p:nvSpPr>
          <p:cNvPr id="22" name="Text 20"/>
          <p:cNvSpPr/>
          <p:nvPr/>
        </p:nvSpPr>
        <p:spPr>
          <a:xfrm>
            <a:off x="3282696" y="1664208"/>
            <a:ext cx="248716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input: beats</a:t>
            </a:r>
            <a:endParaRPr lang="en-US" sz="1100" dirty="0"/>
          </a:p>
        </p:txBody>
      </p:sp>
      <p:sp>
        <p:nvSpPr>
          <p:cNvPr id="23" name="Text 21"/>
          <p:cNvSpPr/>
          <p:nvPr/>
        </p:nvSpPr>
        <p:spPr>
          <a:xfrm>
            <a:off x="3310128" y="2066544"/>
            <a:ext cx="2423160" cy="80467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Receives data from Filebeat or other Beats running on remote servers. The most common production setup.</a:t>
            </a:r>
            <a:endParaRPr lang="en-US" sz="950" dirty="0"/>
          </a:p>
        </p:txBody>
      </p:sp>
      <p:sp>
        <p:nvSpPr>
          <p:cNvPr id="24" name="Shape 22"/>
          <p:cNvSpPr/>
          <p:nvPr/>
        </p:nvSpPr>
        <p:spPr>
          <a:xfrm>
            <a:off x="3282696" y="2907792"/>
            <a:ext cx="2487168" cy="1755648"/>
          </a:xfrm>
          <a:prstGeom prst="roundRect">
            <a:avLst>
              <a:gd name="adj" fmla="val 5208"/>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25" name="Text 23"/>
          <p:cNvSpPr/>
          <p:nvPr/>
        </p:nvSpPr>
        <p:spPr>
          <a:xfrm>
            <a:off x="3438144" y="3017520"/>
            <a:ext cx="2176272" cy="201168"/>
          </a:xfrm>
          <a:prstGeom prst="rect">
            <a:avLst/>
          </a:prstGeom>
          <a:noFill/>
          <a:ln/>
        </p:spPr>
        <p:txBody>
          <a:bodyPr wrap="square" lIns="0" tIns="0" rIns="0" bIns="0" rtlCol="0" anchor="ctr"/>
          <a:lstStyle/>
          <a:p>
            <a:pPr indent="0" marL="0">
              <a:buNone/>
            </a:pPr>
            <a:r>
              <a:rPr lang="en-US" sz="950" dirty="0">
                <a:solidFill>
                  <a:srgbClr val="FCD34D"/>
                </a:solidFill>
                <a:latin typeface="Courier New" pitchFamily="34" charset="0"/>
                <a:ea typeface="Courier New" pitchFamily="34" charset="-122"/>
                <a:cs typeface="Courier New" pitchFamily="34" charset="-120"/>
              </a:rPr>
              <a:t>input {</a:t>
            </a:r>
            <a:endParaRPr lang="en-US" sz="950" dirty="0"/>
          </a:p>
        </p:txBody>
      </p:sp>
      <p:sp>
        <p:nvSpPr>
          <p:cNvPr id="26" name="Text 24"/>
          <p:cNvSpPr/>
          <p:nvPr/>
        </p:nvSpPr>
        <p:spPr>
          <a:xfrm>
            <a:off x="3438144" y="3214116"/>
            <a:ext cx="2176272"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beats {</a:t>
            </a:r>
            <a:endParaRPr lang="en-US" sz="950" dirty="0"/>
          </a:p>
        </p:txBody>
      </p:sp>
      <p:sp>
        <p:nvSpPr>
          <p:cNvPr id="27" name="Text 25"/>
          <p:cNvSpPr/>
          <p:nvPr/>
        </p:nvSpPr>
        <p:spPr>
          <a:xfrm>
            <a:off x="3438144" y="3410712"/>
            <a:ext cx="2176272"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port =&gt; 5044</a:t>
            </a:r>
            <a:endParaRPr lang="en-US" sz="950" dirty="0"/>
          </a:p>
        </p:txBody>
      </p:sp>
      <p:sp>
        <p:nvSpPr>
          <p:cNvPr id="28" name="Text 26"/>
          <p:cNvSpPr/>
          <p:nvPr/>
        </p:nvSpPr>
        <p:spPr>
          <a:xfrm>
            <a:off x="3438144" y="3607308"/>
            <a:ext cx="2176272"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a:t>
            </a:r>
            <a:endParaRPr lang="en-US" sz="950" dirty="0"/>
          </a:p>
        </p:txBody>
      </p:sp>
      <p:sp>
        <p:nvSpPr>
          <p:cNvPr id="29" name="Text 27"/>
          <p:cNvSpPr/>
          <p:nvPr/>
        </p:nvSpPr>
        <p:spPr>
          <a:xfrm>
            <a:off x="3438144" y="3803904"/>
            <a:ext cx="2176272" cy="201168"/>
          </a:xfrm>
          <a:prstGeom prst="rect">
            <a:avLst/>
          </a:prstGeom>
          <a:noFill/>
          <a:ln/>
        </p:spPr>
        <p:txBody>
          <a:bodyPr wrap="square" lIns="0" tIns="0" rIns="0" bIns="0" rtlCol="0" anchor="ctr"/>
          <a:lstStyle/>
          <a:p>
            <a:pPr indent="0" marL="0">
              <a:buNone/>
            </a:pPr>
            <a:r>
              <a:rPr lang="en-US" sz="950" dirty="0">
                <a:solidFill>
                  <a:srgbClr val="FCD34D"/>
                </a:solidFill>
                <a:latin typeface="Courier New" pitchFamily="34" charset="0"/>
                <a:ea typeface="Courier New" pitchFamily="34" charset="-122"/>
                <a:cs typeface="Courier New" pitchFamily="34" charset="-120"/>
              </a:rPr>
              <a:t>}</a:t>
            </a:r>
            <a:endParaRPr lang="en-US" sz="950" dirty="0"/>
          </a:p>
        </p:txBody>
      </p:sp>
      <p:sp>
        <p:nvSpPr>
          <p:cNvPr id="30" name="Text 28"/>
          <p:cNvSpPr/>
          <p:nvPr/>
        </p:nvSpPr>
        <p:spPr>
          <a:xfrm>
            <a:off x="3438144" y="4197096"/>
            <a:ext cx="2176272" cy="20116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Filebeat on remote servers</a:t>
            </a:r>
            <a:endParaRPr lang="en-US" sz="950" dirty="0"/>
          </a:p>
        </p:txBody>
      </p:sp>
      <p:sp>
        <p:nvSpPr>
          <p:cNvPr id="31" name="Text 29"/>
          <p:cNvSpPr/>
          <p:nvPr/>
        </p:nvSpPr>
        <p:spPr>
          <a:xfrm>
            <a:off x="3438144" y="4393692"/>
            <a:ext cx="2176272" cy="20116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ships to this port</a:t>
            </a:r>
            <a:endParaRPr lang="en-US" sz="950" dirty="0"/>
          </a:p>
        </p:txBody>
      </p:sp>
      <p:sp>
        <p:nvSpPr>
          <p:cNvPr id="32" name="Shape 30"/>
          <p:cNvSpPr/>
          <p:nvPr/>
        </p:nvSpPr>
        <p:spPr>
          <a:xfrm>
            <a:off x="6025896" y="1572768"/>
            <a:ext cx="2697480" cy="3246120"/>
          </a:xfrm>
          <a:prstGeom prst="roundRect">
            <a:avLst>
              <a:gd name="adj" fmla="val 3390"/>
            </a:avLst>
          </a:prstGeom>
          <a:solidFill>
            <a:srgbClr val="EFF6FF"/>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3" name="Shape 31"/>
          <p:cNvSpPr/>
          <p:nvPr/>
        </p:nvSpPr>
        <p:spPr>
          <a:xfrm>
            <a:off x="6135624" y="1664208"/>
            <a:ext cx="2487168" cy="329184"/>
          </a:xfrm>
          <a:prstGeom prst="roundRect">
            <a:avLst>
              <a:gd name="adj" fmla="val 16667"/>
            </a:avLst>
          </a:prstGeom>
          <a:solidFill>
            <a:srgbClr val="2563EB"/>
          </a:solidFill>
          <a:ln w="12700">
            <a:solidFill>
              <a:srgbClr val="2563EB"/>
            </a:solidFill>
            <a:prstDash val="solid"/>
          </a:ln>
        </p:spPr>
      </p:sp>
      <p:sp>
        <p:nvSpPr>
          <p:cNvPr id="34" name="Text 32"/>
          <p:cNvSpPr/>
          <p:nvPr/>
        </p:nvSpPr>
        <p:spPr>
          <a:xfrm>
            <a:off x="6135624" y="1664208"/>
            <a:ext cx="2487168"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input: http</a:t>
            </a:r>
            <a:endParaRPr lang="en-US" sz="1100" dirty="0"/>
          </a:p>
        </p:txBody>
      </p:sp>
      <p:sp>
        <p:nvSpPr>
          <p:cNvPr id="35" name="Text 33"/>
          <p:cNvSpPr/>
          <p:nvPr/>
        </p:nvSpPr>
        <p:spPr>
          <a:xfrm>
            <a:off x="6163056" y="2066544"/>
            <a:ext cx="2423160" cy="80467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Receives events via HTTP POST. Useful for webhooks from applications or third-party services.</a:t>
            </a:r>
            <a:endParaRPr lang="en-US" sz="950" dirty="0"/>
          </a:p>
        </p:txBody>
      </p:sp>
      <p:sp>
        <p:nvSpPr>
          <p:cNvPr id="36" name="Shape 34"/>
          <p:cNvSpPr/>
          <p:nvPr/>
        </p:nvSpPr>
        <p:spPr>
          <a:xfrm>
            <a:off x="6135624" y="2907792"/>
            <a:ext cx="2487168" cy="1755648"/>
          </a:xfrm>
          <a:prstGeom prst="roundRect">
            <a:avLst>
              <a:gd name="adj" fmla="val 5208"/>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37" name="Text 35"/>
          <p:cNvSpPr/>
          <p:nvPr/>
        </p:nvSpPr>
        <p:spPr>
          <a:xfrm>
            <a:off x="6291072" y="3017520"/>
            <a:ext cx="2176272"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input {</a:t>
            </a:r>
            <a:endParaRPr lang="en-US" sz="950" dirty="0"/>
          </a:p>
        </p:txBody>
      </p:sp>
      <p:sp>
        <p:nvSpPr>
          <p:cNvPr id="38" name="Text 36"/>
          <p:cNvSpPr/>
          <p:nvPr/>
        </p:nvSpPr>
        <p:spPr>
          <a:xfrm>
            <a:off x="6291072" y="3214116"/>
            <a:ext cx="2176272"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http {</a:t>
            </a:r>
            <a:endParaRPr lang="en-US" sz="950" dirty="0"/>
          </a:p>
        </p:txBody>
      </p:sp>
      <p:sp>
        <p:nvSpPr>
          <p:cNvPr id="39" name="Text 37"/>
          <p:cNvSpPr/>
          <p:nvPr/>
        </p:nvSpPr>
        <p:spPr>
          <a:xfrm>
            <a:off x="6291072" y="3410712"/>
            <a:ext cx="2176272"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host =&gt; '0.0.0.0'</a:t>
            </a:r>
            <a:endParaRPr lang="en-US" sz="950" dirty="0"/>
          </a:p>
        </p:txBody>
      </p:sp>
      <p:sp>
        <p:nvSpPr>
          <p:cNvPr id="40" name="Text 38"/>
          <p:cNvSpPr/>
          <p:nvPr/>
        </p:nvSpPr>
        <p:spPr>
          <a:xfrm>
            <a:off x="6291072" y="3607308"/>
            <a:ext cx="2176272"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port =&gt; 8080</a:t>
            </a:r>
            <a:endParaRPr lang="en-US" sz="950" dirty="0"/>
          </a:p>
        </p:txBody>
      </p:sp>
      <p:sp>
        <p:nvSpPr>
          <p:cNvPr id="41" name="Text 39"/>
          <p:cNvSpPr/>
          <p:nvPr/>
        </p:nvSpPr>
        <p:spPr>
          <a:xfrm>
            <a:off x="6291072" y="3803904"/>
            <a:ext cx="2176272"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a:t>
            </a:r>
            <a:endParaRPr lang="en-US" sz="950" dirty="0"/>
          </a:p>
        </p:txBody>
      </p:sp>
      <p:sp>
        <p:nvSpPr>
          <p:cNvPr id="42" name="Text 40"/>
          <p:cNvSpPr/>
          <p:nvPr/>
        </p:nvSpPr>
        <p:spPr>
          <a:xfrm>
            <a:off x="6291072" y="4000500"/>
            <a:ext cx="2176272"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a:t>
            </a:r>
            <a:endParaRPr lang="en-US" sz="950" dirty="0"/>
          </a:p>
        </p:txBody>
      </p:sp>
      <p:sp>
        <p:nvSpPr>
          <p:cNvPr id="43" name="Text 41"/>
          <p:cNvSpPr/>
          <p:nvPr/>
        </p:nvSpPr>
        <p:spPr>
          <a:xfrm>
            <a:off x="6291072" y="4197096"/>
            <a:ext cx="2176272" cy="20116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POST JSON to port 8080</a:t>
            </a:r>
            <a:endParaRPr lang="en-US" sz="950" dirty="0"/>
          </a:p>
        </p:txBody>
      </p:sp>
      <p:sp>
        <p:nvSpPr>
          <p:cNvPr id="44" name="Shape 42"/>
          <p:cNvSpPr/>
          <p:nvPr/>
        </p:nvSpPr>
        <p:spPr>
          <a:xfrm>
            <a:off x="0" y="4846320"/>
            <a:ext cx="9144000" cy="297180"/>
          </a:xfrm>
          <a:prstGeom prst="rect">
            <a:avLst/>
          </a:prstGeom>
          <a:solidFill>
            <a:srgbClr val="0F172A"/>
          </a:solidFill>
          <a:ln w="12700">
            <a:solidFill>
              <a:srgbClr val="0F172A"/>
            </a:solidFill>
            <a:prstDash val="solid"/>
          </a:ln>
        </p:spPr>
      </p:sp>
      <p:sp>
        <p:nvSpPr>
          <p:cNvPr id="45" name="Text 43"/>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08: Inputs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LOGSTASH OUTPUT PLUGINS</a:t>
            </a:r>
            <a:endParaRPr lang="en-US" sz="2000" dirty="0"/>
          </a:p>
        </p:txBody>
      </p:sp>
      <p:sp>
        <p:nvSpPr>
          <p:cNvPr id="4" name="Shape 2"/>
          <p:cNvSpPr/>
          <p:nvPr/>
        </p:nvSpPr>
        <p:spPr>
          <a:xfrm>
            <a:off x="7178040" y="109728"/>
            <a:ext cx="1600200" cy="475488"/>
          </a:xfrm>
          <a:prstGeom prst="roundRect">
            <a:avLst>
              <a:gd name="adj" fmla="val 11538"/>
            </a:avLst>
          </a:prstGeom>
          <a:solidFill>
            <a:srgbClr val="F4659C"/>
          </a:solidFill>
          <a:ln w="12700">
            <a:solidFill>
              <a:srgbClr val="F4659C"/>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09  •  Outputs</a:t>
            </a:r>
            <a:endParaRPr lang="en-US" sz="950" dirty="0"/>
          </a:p>
        </p:txBody>
      </p:sp>
      <p:sp>
        <p:nvSpPr>
          <p:cNvPr id="6" name="Shape 4"/>
          <p:cNvSpPr/>
          <p:nvPr/>
        </p:nvSpPr>
        <p:spPr>
          <a:xfrm>
            <a:off x="320040" y="868680"/>
            <a:ext cx="8503920" cy="566928"/>
          </a:xfrm>
          <a:prstGeom prst="roundRect">
            <a:avLst>
              <a:gd name="adj" fmla="val 16129"/>
            </a:avLst>
          </a:prstGeom>
          <a:solidFill>
            <a:srgbClr val="E6FAF9"/>
          </a:solidFill>
          <a:ln w="12700">
            <a:solidFill>
              <a:srgbClr val="5EEAD4"/>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475488"/>
          </a:xfrm>
          <a:prstGeom prst="rect">
            <a:avLst/>
          </a:prstGeom>
          <a:noFill/>
          <a:ln/>
        </p:spPr>
        <p:txBody>
          <a:bodyPr wrap="square" lIns="0" tIns="0" rIns="0" bIns="0" rtlCol="0" anchor="ctr"/>
          <a:lstStyle/>
          <a:p>
            <a:pPr indent="0" marL="0">
              <a:buNone/>
            </a:pPr>
            <a:r>
              <a:rPr lang="en-US" sz="1250" dirty="0">
                <a:solidFill>
                  <a:srgbClr val="0F172A"/>
                </a:solidFill>
                <a:latin typeface="Cambria" pitchFamily="34" charset="0"/>
                <a:ea typeface="Cambria" pitchFamily="34" charset="-122"/>
                <a:cs typeface="Cambria" pitchFamily="34" charset="-120"/>
              </a:rPr>
              <a:t>Output plugins define where Logstash sends processed events. Always include stdout during development — it lets you see exactly what Logstash is shipping before it reaches Elasticsearch.</a:t>
            </a:r>
            <a:endParaRPr lang="en-US" sz="1250" dirty="0"/>
          </a:p>
        </p:txBody>
      </p:sp>
      <p:sp>
        <p:nvSpPr>
          <p:cNvPr id="8" name="Text 6"/>
          <p:cNvSpPr/>
          <p:nvPr/>
        </p:nvSpPr>
        <p:spPr>
          <a:xfrm>
            <a:off x="320040" y="1572768"/>
            <a:ext cx="8229600" cy="292608"/>
          </a:xfrm>
          <a:prstGeom prst="rect">
            <a:avLst/>
          </a:prstGeom>
          <a:noFill/>
          <a:ln/>
        </p:spPr>
        <p:txBody>
          <a:bodyPr wrap="square" lIns="0" tIns="0" rIns="0" bIns="0" rtlCol="0" anchor="ctr"/>
          <a:lstStyle/>
          <a:p>
            <a:pPr indent="0" marL="0">
              <a:buNone/>
            </a:pPr>
            <a:r>
              <a:rPr lang="en-US" sz="1200" b="1" dirty="0">
                <a:solidFill>
                  <a:srgbClr val="0F172A"/>
                </a:solidFill>
                <a:latin typeface="Cambria" pitchFamily="34" charset="0"/>
                <a:ea typeface="Cambria" pitchFamily="34" charset="-122"/>
                <a:cs typeface="Cambria" pitchFamily="34" charset="-120"/>
              </a:rPr>
              <a:t>Elasticsearch Output — Full Configuration</a:t>
            </a:r>
            <a:endParaRPr lang="en-US" sz="1200" dirty="0"/>
          </a:p>
        </p:txBody>
      </p:sp>
      <p:sp>
        <p:nvSpPr>
          <p:cNvPr id="9" name="Shape 7"/>
          <p:cNvSpPr/>
          <p:nvPr/>
        </p:nvSpPr>
        <p:spPr>
          <a:xfrm>
            <a:off x="320040" y="1920240"/>
            <a:ext cx="5074920" cy="2670048"/>
          </a:xfrm>
          <a:prstGeom prst="roundRect">
            <a:avLst>
              <a:gd name="adj" fmla="val 3425"/>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10" name="Text 8"/>
          <p:cNvSpPr/>
          <p:nvPr/>
        </p:nvSpPr>
        <p:spPr>
          <a:xfrm>
            <a:off x="475488" y="1993392"/>
            <a:ext cx="4764024" cy="201168"/>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 output section</a:t>
            </a:r>
            <a:endParaRPr lang="en-US" sz="900" dirty="0"/>
          </a:p>
        </p:txBody>
      </p:sp>
      <p:sp>
        <p:nvSpPr>
          <p:cNvPr id="11" name="Text 9"/>
          <p:cNvSpPr/>
          <p:nvPr/>
        </p:nvSpPr>
        <p:spPr>
          <a:xfrm>
            <a:off x="475488" y="2231136"/>
            <a:ext cx="4764024" cy="201168"/>
          </a:xfrm>
          <a:prstGeom prst="rect">
            <a:avLst/>
          </a:prstGeom>
          <a:noFill/>
          <a:ln/>
        </p:spPr>
        <p:txBody>
          <a:bodyPr wrap="square" lIns="0" tIns="0" rIns="0" bIns="0" rtlCol="0" anchor="ctr"/>
          <a:lstStyle/>
          <a:p>
            <a:pPr indent="0" marL="0">
              <a:buNone/>
            </a:pPr>
            <a:r>
              <a:rPr lang="en-US" sz="950" dirty="0">
                <a:solidFill>
                  <a:srgbClr val="00BFB3"/>
                </a:solidFill>
                <a:latin typeface="Courier New" pitchFamily="34" charset="0"/>
                <a:ea typeface="Courier New" pitchFamily="34" charset="-122"/>
                <a:cs typeface="Courier New" pitchFamily="34" charset="-120"/>
              </a:rPr>
              <a:t>output {</a:t>
            </a:r>
            <a:endParaRPr lang="en-US" sz="950" dirty="0"/>
          </a:p>
        </p:txBody>
      </p:sp>
      <p:sp>
        <p:nvSpPr>
          <p:cNvPr id="12" name="Text 10"/>
          <p:cNvSpPr/>
          <p:nvPr/>
        </p:nvSpPr>
        <p:spPr>
          <a:xfrm>
            <a:off x="475488" y="2427732"/>
            <a:ext cx="4764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elasticsearch {</a:t>
            </a:r>
            <a:endParaRPr lang="en-US" sz="950" dirty="0"/>
          </a:p>
        </p:txBody>
      </p:sp>
      <p:sp>
        <p:nvSpPr>
          <p:cNvPr id="13" name="Text 11"/>
          <p:cNvSpPr/>
          <p:nvPr/>
        </p:nvSpPr>
        <p:spPr>
          <a:xfrm>
            <a:off x="475488" y="2624328"/>
            <a:ext cx="4764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hosts =&gt; ['http://elasticsearch:9200']</a:t>
            </a:r>
            <a:endParaRPr lang="en-US" sz="950" dirty="0"/>
          </a:p>
        </p:txBody>
      </p:sp>
      <p:sp>
        <p:nvSpPr>
          <p:cNvPr id="14" name="Text 12"/>
          <p:cNvSpPr/>
          <p:nvPr/>
        </p:nvSpPr>
        <p:spPr>
          <a:xfrm>
            <a:off x="475488" y="2820924"/>
            <a:ext cx="47640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index =&gt; 'apache-logs-%{+YYYY.MM.dd}'</a:t>
            </a:r>
            <a:endParaRPr lang="en-US" sz="950" dirty="0"/>
          </a:p>
        </p:txBody>
      </p:sp>
      <p:sp>
        <p:nvSpPr>
          <p:cNvPr id="15" name="Text 13"/>
          <p:cNvSpPr/>
          <p:nvPr/>
        </p:nvSpPr>
        <p:spPr>
          <a:xfrm>
            <a:off x="475488" y="3017520"/>
            <a:ext cx="4764024" cy="20116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 user =&gt; 'elastic'         # if security on</a:t>
            </a:r>
            <a:endParaRPr lang="en-US" sz="950" dirty="0"/>
          </a:p>
        </p:txBody>
      </p:sp>
      <p:sp>
        <p:nvSpPr>
          <p:cNvPr id="16" name="Text 14"/>
          <p:cNvSpPr/>
          <p:nvPr/>
        </p:nvSpPr>
        <p:spPr>
          <a:xfrm>
            <a:off x="475488" y="3214116"/>
            <a:ext cx="4764024" cy="201168"/>
          </a:xfrm>
          <a:prstGeom prst="rect">
            <a:avLst/>
          </a:prstGeom>
          <a:noFill/>
          <a:ln/>
        </p:spPr>
        <p:txBody>
          <a:bodyPr wrap="square" lIns="0" tIns="0" rIns="0" bIns="0" rtlCol="0" anchor="ctr"/>
          <a:lstStyle/>
          <a:p>
            <a:pPr indent="0" marL="0">
              <a:buNone/>
            </a:pPr>
            <a:r>
              <a:rPr lang="en-US" sz="950" dirty="0">
                <a:solidFill>
                  <a:srgbClr val="475569"/>
                </a:solidFill>
                <a:latin typeface="Courier New" pitchFamily="34" charset="0"/>
                <a:ea typeface="Courier New" pitchFamily="34" charset="-122"/>
                <a:cs typeface="Courier New" pitchFamily="34" charset="-120"/>
              </a:rPr>
              <a:t>    # password =&gt; 'changeme'    # if security on</a:t>
            </a:r>
            <a:endParaRPr lang="en-US" sz="950" dirty="0"/>
          </a:p>
        </p:txBody>
      </p:sp>
      <p:sp>
        <p:nvSpPr>
          <p:cNvPr id="17" name="Text 15"/>
          <p:cNvSpPr/>
          <p:nvPr/>
        </p:nvSpPr>
        <p:spPr>
          <a:xfrm>
            <a:off x="475488" y="3410712"/>
            <a:ext cx="4764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a:t>
            </a:r>
            <a:endParaRPr lang="en-US" sz="950" dirty="0"/>
          </a:p>
        </p:txBody>
      </p:sp>
      <p:sp>
        <p:nvSpPr>
          <p:cNvPr id="18" name="Text 16"/>
          <p:cNvSpPr/>
          <p:nvPr/>
        </p:nvSpPr>
        <p:spPr>
          <a:xfrm>
            <a:off x="475488" y="3607308"/>
            <a:ext cx="4764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stdout {</a:t>
            </a:r>
            <a:endParaRPr lang="en-US" sz="950" dirty="0"/>
          </a:p>
        </p:txBody>
      </p:sp>
      <p:sp>
        <p:nvSpPr>
          <p:cNvPr id="19" name="Text 17"/>
          <p:cNvSpPr/>
          <p:nvPr/>
        </p:nvSpPr>
        <p:spPr>
          <a:xfrm>
            <a:off x="475488" y="3803904"/>
            <a:ext cx="47640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codec =&gt; rubydebug</a:t>
            </a:r>
            <a:endParaRPr lang="en-US" sz="950" dirty="0"/>
          </a:p>
        </p:txBody>
      </p:sp>
      <p:sp>
        <p:nvSpPr>
          <p:cNvPr id="20" name="Text 18"/>
          <p:cNvSpPr/>
          <p:nvPr/>
        </p:nvSpPr>
        <p:spPr>
          <a:xfrm>
            <a:off x="475488" y="4000500"/>
            <a:ext cx="4764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a:t>
            </a:r>
            <a:endParaRPr lang="en-US" sz="950" dirty="0"/>
          </a:p>
        </p:txBody>
      </p:sp>
      <p:sp>
        <p:nvSpPr>
          <p:cNvPr id="21" name="Text 19"/>
          <p:cNvSpPr/>
          <p:nvPr/>
        </p:nvSpPr>
        <p:spPr>
          <a:xfrm>
            <a:off x="475488" y="4197096"/>
            <a:ext cx="4764024" cy="201168"/>
          </a:xfrm>
          <a:prstGeom prst="rect">
            <a:avLst/>
          </a:prstGeom>
          <a:noFill/>
          <a:ln/>
        </p:spPr>
        <p:txBody>
          <a:bodyPr wrap="square" lIns="0" tIns="0" rIns="0" bIns="0" rtlCol="0" anchor="ctr"/>
          <a:lstStyle/>
          <a:p>
            <a:pPr indent="0" marL="0">
              <a:buNone/>
            </a:pPr>
            <a:r>
              <a:rPr lang="en-US" sz="950" dirty="0">
                <a:solidFill>
                  <a:srgbClr val="00BFB3"/>
                </a:solidFill>
                <a:latin typeface="Courier New" pitchFamily="34" charset="0"/>
                <a:ea typeface="Courier New" pitchFamily="34" charset="-122"/>
                <a:cs typeface="Courier New" pitchFamily="34" charset="-120"/>
              </a:rPr>
              <a:t>}</a:t>
            </a:r>
            <a:endParaRPr lang="en-US" sz="950" dirty="0"/>
          </a:p>
        </p:txBody>
      </p:sp>
      <p:sp>
        <p:nvSpPr>
          <p:cNvPr id="22" name="Shape 20"/>
          <p:cNvSpPr/>
          <p:nvPr/>
        </p:nvSpPr>
        <p:spPr>
          <a:xfrm>
            <a:off x="5394960" y="1920240"/>
            <a:ext cx="3429000" cy="804672"/>
          </a:xfrm>
          <a:prstGeom prst="roundRect">
            <a:avLst>
              <a:gd name="adj" fmla="val 11364"/>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3" name="Text 21"/>
          <p:cNvSpPr/>
          <p:nvPr/>
        </p:nvSpPr>
        <p:spPr>
          <a:xfrm>
            <a:off x="5532120" y="1993392"/>
            <a:ext cx="3154680" cy="256032"/>
          </a:xfrm>
          <a:prstGeom prst="rect">
            <a:avLst/>
          </a:prstGeom>
          <a:noFill/>
          <a:ln/>
        </p:spPr>
        <p:txBody>
          <a:bodyPr wrap="square" lIns="0" tIns="0" rIns="0" bIns="0" rtlCol="0" anchor="ctr"/>
          <a:lstStyle/>
          <a:p>
            <a:pPr indent="0" marL="0">
              <a:buNone/>
            </a:pPr>
            <a:r>
              <a:rPr lang="en-US" sz="1100" b="1" dirty="0">
                <a:solidFill>
                  <a:srgbClr val="00BFB3"/>
                </a:solidFill>
                <a:latin typeface="Arial" pitchFamily="34" charset="0"/>
                <a:ea typeface="Arial" pitchFamily="34" charset="-122"/>
                <a:cs typeface="Arial" pitchFamily="34" charset="-120"/>
              </a:rPr>
              <a:t>📅  Daily Index Pattern</a:t>
            </a:r>
            <a:endParaRPr lang="en-US" sz="1100" dirty="0"/>
          </a:p>
        </p:txBody>
      </p:sp>
      <p:sp>
        <p:nvSpPr>
          <p:cNvPr id="24" name="Text 22"/>
          <p:cNvSpPr/>
          <p:nvPr/>
        </p:nvSpPr>
        <p:spPr>
          <a:xfrm>
            <a:off x="5532120" y="2267712"/>
            <a:ext cx="3154680" cy="402336"/>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apache-logs-%{+YYYY.MM.dd} creates apache-logs-2024.01.25. Daily indices are standard practice — easy to delete old data, easy to manage ILM policies.</a:t>
            </a:r>
            <a:endParaRPr lang="en-US" sz="950" dirty="0"/>
          </a:p>
        </p:txBody>
      </p:sp>
      <p:sp>
        <p:nvSpPr>
          <p:cNvPr id="25" name="Shape 23"/>
          <p:cNvSpPr/>
          <p:nvPr/>
        </p:nvSpPr>
        <p:spPr>
          <a:xfrm>
            <a:off x="5394960" y="2834640"/>
            <a:ext cx="3429000" cy="804672"/>
          </a:xfrm>
          <a:prstGeom prst="roundRect">
            <a:avLst>
              <a:gd name="adj" fmla="val 11364"/>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6" name="Text 24"/>
          <p:cNvSpPr/>
          <p:nvPr/>
        </p:nvSpPr>
        <p:spPr>
          <a:xfrm>
            <a:off x="5532120" y="2907792"/>
            <a:ext cx="3154680" cy="256032"/>
          </a:xfrm>
          <a:prstGeom prst="rect">
            <a:avLst/>
          </a:prstGeom>
          <a:noFill/>
          <a:ln/>
        </p:spPr>
        <p:txBody>
          <a:bodyPr wrap="square" lIns="0" tIns="0" rIns="0" bIns="0" rtlCol="0" anchor="ctr"/>
          <a:lstStyle/>
          <a:p>
            <a:pPr indent="0" marL="0">
              <a:buNone/>
            </a:pPr>
            <a:r>
              <a:rPr lang="en-US" sz="1100" b="1" dirty="0">
                <a:solidFill>
                  <a:srgbClr val="D97706"/>
                </a:solidFill>
                <a:latin typeface="Arial" pitchFamily="34" charset="0"/>
                <a:ea typeface="Arial" pitchFamily="34" charset="-122"/>
                <a:cs typeface="Arial" pitchFamily="34" charset="-120"/>
              </a:rPr>
              <a:t>🔍  stdout + rubydebug</a:t>
            </a:r>
            <a:endParaRPr lang="en-US" sz="1100" dirty="0"/>
          </a:p>
        </p:txBody>
      </p:sp>
      <p:sp>
        <p:nvSpPr>
          <p:cNvPr id="27" name="Text 25"/>
          <p:cNvSpPr/>
          <p:nvPr/>
        </p:nvSpPr>
        <p:spPr>
          <a:xfrm>
            <a:off x="5532120" y="3182112"/>
            <a:ext cx="3154680" cy="402336"/>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Prints every event as formatted JSON to the Logstash console. Essential during development. Remove or comment out when going to production — significant performance cost.</a:t>
            </a:r>
            <a:endParaRPr lang="en-US" sz="950" dirty="0"/>
          </a:p>
        </p:txBody>
      </p:sp>
      <p:sp>
        <p:nvSpPr>
          <p:cNvPr id="28" name="Shape 26"/>
          <p:cNvSpPr/>
          <p:nvPr/>
        </p:nvSpPr>
        <p:spPr>
          <a:xfrm>
            <a:off x="5394960" y="3749040"/>
            <a:ext cx="3429000" cy="804672"/>
          </a:xfrm>
          <a:prstGeom prst="roundRect">
            <a:avLst>
              <a:gd name="adj" fmla="val 11364"/>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9" name="Text 27"/>
          <p:cNvSpPr/>
          <p:nvPr/>
        </p:nvSpPr>
        <p:spPr>
          <a:xfrm>
            <a:off x="5532120" y="3822192"/>
            <a:ext cx="3154680" cy="256032"/>
          </a:xfrm>
          <a:prstGeom prst="rect">
            <a:avLst/>
          </a:prstGeom>
          <a:noFill/>
          <a:ln/>
        </p:spPr>
        <p:txBody>
          <a:bodyPr wrap="square" lIns="0" tIns="0" rIns="0" bIns="0" rtlCol="0" anchor="ctr"/>
          <a:lstStyle/>
          <a:p>
            <a:pPr indent="0" marL="0">
              <a:buNone/>
            </a:pPr>
            <a:r>
              <a:rPr lang="en-US" sz="1100" b="1" dirty="0">
                <a:solidFill>
                  <a:srgbClr val="7C3AED"/>
                </a:solidFill>
                <a:latin typeface="Arial" pitchFamily="34" charset="0"/>
                <a:ea typeface="Arial" pitchFamily="34" charset="-122"/>
                <a:cs typeface="Arial" pitchFamily="34" charset="-120"/>
              </a:rPr>
              <a:t>🔀  Conditional Outputs</a:t>
            </a:r>
            <a:endParaRPr lang="en-US" sz="1100" dirty="0"/>
          </a:p>
        </p:txBody>
      </p:sp>
      <p:sp>
        <p:nvSpPr>
          <p:cNvPr id="30" name="Text 28"/>
          <p:cNvSpPr/>
          <p:nvPr/>
        </p:nvSpPr>
        <p:spPr>
          <a:xfrm>
            <a:off x="5532120" y="4096512"/>
            <a:ext cx="3154680" cy="402336"/>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if [status_code] &gt;= 500 { output to error-index } — route events to different indices based on field values. Useful for separating errors from access logs.</a:t>
            </a:r>
            <a:endParaRPr lang="en-US" sz="950" dirty="0"/>
          </a:p>
        </p:txBody>
      </p:sp>
      <p:sp>
        <p:nvSpPr>
          <p:cNvPr id="31" name="Shape 29"/>
          <p:cNvSpPr/>
          <p:nvPr/>
        </p:nvSpPr>
        <p:spPr>
          <a:xfrm>
            <a:off x="320040" y="4681728"/>
            <a:ext cx="8503920" cy="347472"/>
          </a:xfrm>
          <a:prstGeom prst="roundRect">
            <a:avLst>
              <a:gd name="adj" fmla="val 26316"/>
            </a:avLst>
          </a:prstGeom>
          <a:solidFill>
            <a:srgbClr val="FFF7ED"/>
          </a:solidFill>
          <a:ln w="12700">
            <a:solidFill>
              <a:srgbClr val="FED7AA"/>
            </a:solidFill>
            <a:prstDash val="solid"/>
          </a:ln>
          <a:effectLst>
            <a:outerShdw sx="100000" sy="100000" kx="0" ky="0" algn="bl" rotWithShape="0" blurRad="76200" dist="38100" dir="2700000">
              <a:srgbClr val="000000">
                <a:alpha val="10000"/>
              </a:srgbClr>
            </a:outerShdw>
          </a:effectLst>
        </p:spPr>
      </p:sp>
      <p:sp>
        <p:nvSpPr>
          <p:cNvPr id="32" name="Text 30"/>
          <p:cNvSpPr/>
          <p:nvPr/>
        </p:nvSpPr>
        <p:spPr>
          <a:xfrm>
            <a:off x="457200" y="4773168"/>
            <a:ext cx="8229600" cy="274320"/>
          </a:xfrm>
          <a:prstGeom prst="rect">
            <a:avLst/>
          </a:prstGeom>
          <a:noFill/>
          <a:ln/>
        </p:spPr>
        <p:txBody>
          <a:bodyPr wrap="square" lIns="0" tIns="0" rIns="0" bIns="0" rtlCol="0" anchor="ctr"/>
          <a:lstStyle/>
          <a:p>
            <a:pPr indent="0" marL="0">
              <a:buNone/>
            </a:pPr>
            <a:r>
              <a:rPr lang="en-US" sz="1000" b="1" dirty="0">
                <a:solidFill>
                  <a:srgbClr val="C2410C"/>
                </a:solidFill>
                <a:latin typeface="Arial" pitchFamily="34" charset="0"/>
                <a:ea typeface="Arial" pitchFamily="34" charset="-122"/>
                <a:cs typeface="Arial" pitchFamily="34" charset="-120"/>
              </a:rPr>
              <a:t>🎓  TRAINER NOTE</a:t>
            </a:r>
            <a:endParaRPr lang="en-US" sz="1000" dirty="0"/>
          </a:p>
        </p:txBody>
      </p:sp>
      <p:sp>
        <p:nvSpPr>
          <p:cNvPr id="33" name="Text 31"/>
          <p:cNvSpPr/>
          <p:nvPr/>
        </p:nvSpPr>
        <p:spPr>
          <a:xfrm>
            <a:off x="457200" y="5065776"/>
            <a:ext cx="8229600" cy="-155448"/>
          </a:xfrm>
          <a:prstGeom prst="rect">
            <a:avLst/>
          </a:prstGeom>
          <a:noFill/>
          <a:ln/>
        </p:spPr>
        <p:txBody>
          <a:bodyPr wrap="square" lIns="0" tIns="0" rIns="0" bIns="0" rtlCol="0" anchor="ctr"/>
          <a:lstStyle/>
          <a:p>
            <a:pPr indent="0" marL="0">
              <a:buNone/>
            </a:pPr>
            <a:r>
              <a:rPr lang="en-US" sz="1000" dirty="0">
                <a:solidFill>
                  <a:srgbClr val="1C1917"/>
                </a:solidFill>
                <a:latin typeface="Arial" pitchFamily="34" charset="0"/>
                <a:ea typeface="Arial" pitchFamily="34" charset="-122"/>
                <a:cs typeface="Arial" pitchFamily="34" charset="-120"/>
              </a:rPr>
              <a:t>Logstash monitoring: curl http://localhost:9600/_node/stats | python -m json.tool shows events processed, failures and pipeline throughput.</a:t>
            </a:r>
            <a:endParaRPr lang="en-US" sz="1000" dirty="0"/>
          </a:p>
        </p:txBody>
      </p:sp>
      <p:sp>
        <p:nvSpPr>
          <p:cNvPr id="34" name="Shape 32"/>
          <p:cNvSpPr/>
          <p:nvPr/>
        </p:nvSpPr>
        <p:spPr>
          <a:xfrm>
            <a:off x="0" y="4846320"/>
            <a:ext cx="9144000" cy="297180"/>
          </a:xfrm>
          <a:prstGeom prst="rect">
            <a:avLst/>
          </a:prstGeom>
          <a:solidFill>
            <a:srgbClr val="0F172A"/>
          </a:solidFill>
          <a:ln w="12700">
            <a:solidFill>
              <a:srgbClr val="0F172A"/>
            </a:solidFill>
            <a:prstDash val="solid"/>
          </a:ln>
        </p:spPr>
      </p:sp>
      <p:sp>
        <p:nvSpPr>
          <p:cNvPr id="35" name="Text 33"/>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09: Outputs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F4659C"/>
          </a:solidFill>
          <a:ln w="12700">
            <a:solidFill>
              <a:srgbClr val="F4659C"/>
            </a:solidFill>
            <a:prstDash val="solid"/>
          </a:ln>
        </p:spPr>
      </p:sp>
      <p:sp>
        <p:nvSpPr>
          <p:cNvPr id="3" name="Shape 1"/>
          <p:cNvSpPr/>
          <p:nvPr/>
        </p:nvSpPr>
        <p:spPr>
          <a:xfrm>
            <a:off x="6400800" y="-731520"/>
            <a:ext cx="3840480" cy="3840480"/>
          </a:xfrm>
          <a:prstGeom prst="ellipse">
            <a:avLst/>
          </a:prstGeom>
          <a:solidFill>
            <a:srgbClr val="F4659C">
              <a:alpha val="8000"/>
            </a:srgbClr>
          </a:solidFill>
          <a:ln w="12700">
            <a:solidFill>
              <a:srgbClr val="F4659C">
                <a:alpha val="15000"/>
              </a:srgbClr>
            </a:solidFill>
            <a:prstDash val="solid"/>
          </a:ln>
        </p:spPr>
      </p:sp>
      <p:sp>
        <p:nvSpPr>
          <p:cNvPr id="4" name="Text 2"/>
          <p:cNvSpPr/>
          <p:nvPr/>
        </p:nvSpPr>
        <p:spPr>
          <a:xfrm>
            <a:off x="594360" y="365760"/>
            <a:ext cx="4572000" cy="438912"/>
          </a:xfrm>
          <a:prstGeom prst="rect">
            <a:avLst/>
          </a:prstGeom>
          <a:noFill/>
          <a:ln/>
        </p:spPr>
        <p:txBody>
          <a:bodyPr wrap="square" lIns="0" tIns="0" rIns="0" bIns="0" rtlCol="0" anchor="ctr"/>
          <a:lstStyle/>
          <a:p>
            <a:pPr indent="0" marL="0">
              <a:buNone/>
            </a:pPr>
            <a:r>
              <a:rPr lang="en-US" sz="1300" b="1" spc="200" kern="0" dirty="0">
                <a:solidFill>
                  <a:srgbClr val="F4659C"/>
                </a:solidFill>
                <a:latin typeface="Arial" pitchFamily="34" charset="0"/>
                <a:ea typeface="Arial" pitchFamily="34" charset="-122"/>
                <a:cs typeface="Arial" pitchFamily="34" charset="-120"/>
              </a:rPr>
              <a:t>🔬  LAB 1</a:t>
            </a:r>
            <a:endParaRPr lang="en-US" sz="1300" dirty="0"/>
          </a:p>
        </p:txBody>
      </p:sp>
      <p:sp>
        <p:nvSpPr>
          <p:cNvPr id="5" name="Text 3"/>
          <p:cNvSpPr/>
          <p:nvPr/>
        </p:nvSpPr>
        <p:spPr>
          <a:xfrm>
            <a:off x="594360" y="804672"/>
            <a:ext cx="822960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Apache Logs → Full ELK Pipeline</a:t>
            </a:r>
            <a:endParaRPr lang="en-US" sz="3000" dirty="0"/>
          </a:p>
        </p:txBody>
      </p:sp>
      <p:sp>
        <p:nvSpPr>
          <p:cNvPr id="6" name="Shape 4"/>
          <p:cNvSpPr/>
          <p:nvPr/>
        </p:nvSpPr>
        <p:spPr>
          <a:xfrm>
            <a:off x="594360" y="1664208"/>
            <a:ext cx="4114800" cy="27432"/>
          </a:xfrm>
          <a:prstGeom prst="rect">
            <a:avLst/>
          </a:prstGeom>
          <a:solidFill>
            <a:srgbClr val="F4659C"/>
          </a:solidFill>
          <a:ln w="12700">
            <a:solidFill>
              <a:srgbClr val="F4659C"/>
            </a:solidFill>
            <a:prstDash val="solid"/>
          </a:ln>
        </p:spPr>
      </p:sp>
      <p:sp>
        <p:nvSpPr>
          <p:cNvPr id="7" name="Shape 5"/>
          <p:cNvSpPr/>
          <p:nvPr/>
        </p:nvSpPr>
        <p:spPr>
          <a:xfrm>
            <a:off x="594360" y="1874520"/>
            <a:ext cx="292608" cy="292608"/>
          </a:xfrm>
          <a:prstGeom prst="ellipse">
            <a:avLst/>
          </a:prstGeom>
          <a:solidFill>
            <a:srgbClr val="F4659C"/>
          </a:solidFill>
          <a:ln w="12700">
            <a:solidFill>
              <a:srgbClr val="F4659C"/>
            </a:solidFill>
            <a:prstDash val="solid"/>
          </a:ln>
        </p:spPr>
      </p:sp>
      <p:sp>
        <p:nvSpPr>
          <p:cNvPr id="8" name="Text 6"/>
          <p:cNvSpPr/>
          <p:nvPr/>
        </p:nvSpPr>
        <p:spPr>
          <a:xfrm>
            <a:off x="594360" y="187452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Text 7"/>
          <p:cNvSpPr/>
          <p:nvPr/>
        </p:nvSpPr>
        <p:spPr>
          <a:xfrm>
            <a:off x="1005840" y="1874520"/>
            <a:ext cx="7498080" cy="347472"/>
          </a:xfrm>
          <a:prstGeom prst="rect">
            <a:avLst/>
          </a:prstGeom>
          <a:noFill/>
          <a:ln/>
        </p:spPr>
        <p:txBody>
          <a:bodyPr wrap="square" lIns="0" tIns="0" rIns="0" bIns="0" rtlCol="0" anchor="ctr"/>
          <a:lstStyle/>
          <a:p>
            <a:pPr indent="0" marL="0">
              <a:buNone/>
            </a:pPr>
            <a:r>
              <a:rPr lang="en-US" sz="1150" dirty="0">
                <a:solidFill>
                  <a:srgbClr val="F1F5F9"/>
                </a:solidFill>
                <a:latin typeface="Arial" pitchFamily="34" charset="0"/>
                <a:ea typeface="Arial" pitchFamily="34" charset="-122"/>
                <a:cs typeface="Arial" pitchFamily="34" charset="-120"/>
              </a:rPr>
              <a:t>Verify docker-compose is running — all 3 containers Up</a:t>
            </a:r>
            <a:endParaRPr lang="en-US" sz="1150" dirty="0"/>
          </a:p>
        </p:txBody>
      </p:sp>
      <p:sp>
        <p:nvSpPr>
          <p:cNvPr id="10" name="Shape 8"/>
          <p:cNvSpPr/>
          <p:nvPr/>
        </p:nvSpPr>
        <p:spPr>
          <a:xfrm>
            <a:off x="594360" y="2350008"/>
            <a:ext cx="292608" cy="292608"/>
          </a:xfrm>
          <a:prstGeom prst="ellipse">
            <a:avLst/>
          </a:prstGeom>
          <a:solidFill>
            <a:srgbClr val="F4659C"/>
          </a:solidFill>
          <a:ln w="12700">
            <a:solidFill>
              <a:srgbClr val="F4659C"/>
            </a:solidFill>
            <a:prstDash val="solid"/>
          </a:ln>
        </p:spPr>
      </p:sp>
      <p:sp>
        <p:nvSpPr>
          <p:cNvPr id="11" name="Text 9"/>
          <p:cNvSpPr/>
          <p:nvPr/>
        </p:nvSpPr>
        <p:spPr>
          <a:xfrm>
            <a:off x="594360" y="235000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2" name="Text 10"/>
          <p:cNvSpPr/>
          <p:nvPr/>
        </p:nvSpPr>
        <p:spPr>
          <a:xfrm>
            <a:off x="1005840" y="2350008"/>
            <a:ext cx="7498080" cy="347472"/>
          </a:xfrm>
          <a:prstGeom prst="rect">
            <a:avLst/>
          </a:prstGeom>
          <a:noFill/>
          <a:ln/>
        </p:spPr>
        <p:txBody>
          <a:bodyPr wrap="square" lIns="0" tIns="0" rIns="0" bIns="0" rtlCol="0" anchor="ctr"/>
          <a:lstStyle/>
          <a:p>
            <a:pPr indent="0" marL="0">
              <a:buNone/>
            </a:pPr>
            <a:r>
              <a:rPr lang="en-US" sz="1150" dirty="0">
                <a:solidFill>
                  <a:srgbClr val="F1F5F9"/>
                </a:solidFill>
                <a:latin typeface="Arial" pitchFamily="34" charset="0"/>
                <a:ea typeface="Arial" pitchFamily="34" charset="-122"/>
                <a:cs typeface="Arial" pitchFamily="34" charset="-120"/>
              </a:rPr>
              <a:t>Write the Logstash pipeline: input (file), filter (grok + date + mutate), output (elasticsearch + stdout)</a:t>
            </a:r>
            <a:endParaRPr lang="en-US" sz="1150" dirty="0"/>
          </a:p>
        </p:txBody>
      </p:sp>
      <p:sp>
        <p:nvSpPr>
          <p:cNvPr id="13" name="Shape 11"/>
          <p:cNvSpPr/>
          <p:nvPr/>
        </p:nvSpPr>
        <p:spPr>
          <a:xfrm>
            <a:off x="594360" y="2825496"/>
            <a:ext cx="292608" cy="292608"/>
          </a:xfrm>
          <a:prstGeom prst="ellipse">
            <a:avLst/>
          </a:prstGeom>
          <a:solidFill>
            <a:srgbClr val="F4659C"/>
          </a:solidFill>
          <a:ln w="12700">
            <a:solidFill>
              <a:srgbClr val="F4659C"/>
            </a:solidFill>
            <a:prstDash val="solid"/>
          </a:ln>
        </p:spPr>
      </p:sp>
      <p:sp>
        <p:nvSpPr>
          <p:cNvPr id="14" name="Text 12"/>
          <p:cNvSpPr/>
          <p:nvPr/>
        </p:nvSpPr>
        <p:spPr>
          <a:xfrm>
            <a:off x="594360" y="282549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Text 13"/>
          <p:cNvSpPr/>
          <p:nvPr/>
        </p:nvSpPr>
        <p:spPr>
          <a:xfrm>
            <a:off x="1005840" y="2825496"/>
            <a:ext cx="7498080" cy="347472"/>
          </a:xfrm>
          <a:prstGeom prst="rect">
            <a:avLst/>
          </a:prstGeom>
          <a:noFill/>
          <a:ln/>
        </p:spPr>
        <p:txBody>
          <a:bodyPr wrap="square" lIns="0" tIns="0" rIns="0" bIns="0" rtlCol="0" anchor="ctr"/>
          <a:lstStyle/>
          <a:p>
            <a:pPr indent="0" marL="0">
              <a:buNone/>
            </a:pPr>
            <a:r>
              <a:rPr lang="en-US" sz="1150" dirty="0">
                <a:solidFill>
                  <a:srgbClr val="F1F5F9"/>
                </a:solidFill>
                <a:latin typeface="Arial" pitchFamily="34" charset="0"/>
                <a:ea typeface="Arial" pitchFamily="34" charset="-122"/>
                <a:cs typeface="Arial" pitchFamily="34" charset="-120"/>
              </a:rPr>
              <a:t>Place the sample apache access.log file in the ./logs directory</a:t>
            </a:r>
            <a:endParaRPr lang="en-US" sz="1150" dirty="0"/>
          </a:p>
        </p:txBody>
      </p:sp>
      <p:sp>
        <p:nvSpPr>
          <p:cNvPr id="16" name="Shape 14"/>
          <p:cNvSpPr/>
          <p:nvPr/>
        </p:nvSpPr>
        <p:spPr>
          <a:xfrm>
            <a:off x="594360" y="3300984"/>
            <a:ext cx="292608" cy="292608"/>
          </a:xfrm>
          <a:prstGeom prst="ellipse">
            <a:avLst/>
          </a:prstGeom>
          <a:solidFill>
            <a:srgbClr val="F4659C"/>
          </a:solidFill>
          <a:ln w="12700">
            <a:solidFill>
              <a:srgbClr val="F4659C"/>
            </a:solidFill>
            <a:prstDash val="solid"/>
          </a:ln>
        </p:spPr>
      </p:sp>
      <p:sp>
        <p:nvSpPr>
          <p:cNvPr id="17" name="Text 15"/>
          <p:cNvSpPr/>
          <p:nvPr/>
        </p:nvSpPr>
        <p:spPr>
          <a:xfrm>
            <a:off x="594360" y="330098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8" name="Text 16"/>
          <p:cNvSpPr/>
          <p:nvPr/>
        </p:nvSpPr>
        <p:spPr>
          <a:xfrm>
            <a:off x="1005840" y="3300984"/>
            <a:ext cx="7498080" cy="347472"/>
          </a:xfrm>
          <a:prstGeom prst="rect">
            <a:avLst/>
          </a:prstGeom>
          <a:noFill/>
          <a:ln/>
        </p:spPr>
        <p:txBody>
          <a:bodyPr wrap="square" lIns="0" tIns="0" rIns="0" bIns="0" rtlCol="0" anchor="ctr"/>
          <a:lstStyle/>
          <a:p>
            <a:pPr indent="0" marL="0">
              <a:buNone/>
            </a:pPr>
            <a:r>
              <a:rPr lang="en-US" sz="1150" dirty="0">
                <a:solidFill>
                  <a:srgbClr val="F1F5F9"/>
                </a:solidFill>
                <a:latin typeface="Arial" pitchFamily="34" charset="0"/>
                <a:ea typeface="Arial" pitchFamily="34" charset="-122"/>
                <a:cs typeface="Arial" pitchFamily="34" charset="-120"/>
              </a:rPr>
              <a:t>Restart Logstash and watch events flow: docker-compose logs -f logstash</a:t>
            </a:r>
            <a:endParaRPr lang="en-US" sz="1150" dirty="0"/>
          </a:p>
        </p:txBody>
      </p:sp>
      <p:sp>
        <p:nvSpPr>
          <p:cNvPr id="19" name="Shape 17"/>
          <p:cNvSpPr/>
          <p:nvPr/>
        </p:nvSpPr>
        <p:spPr>
          <a:xfrm>
            <a:off x="594360" y="3776472"/>
            <a:ext cx="292608" cy="292608"/>
          </a:xfrm>
          <a:prstGeom prst="ellipse">
            <a:avLst/>
          </a:prstGeom>
          <a:solidFill>
            <a:srgbClr val="F4659C"/>
          </a:solidFill>
          <a:ln w="12700">
            <a:solidFill>
              <a:srgbClr val="F4659C"/>
            </a:solidFill>
            <a:prstDash val="solid"/>
          </a:ln>
        </p:spPr>
      </p:sp>
      <p:sp>
        <p:nvSpPr>
          <p:cNvPr id="20" name="Text 18"/>
          <p:cNvSpPr/>
          <p:nvPr/>
        </p:nvSpPr>
        <p:spPr>
          <a:xfrm>
            <a:off x="594360" y="377647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1" name="Text 19"/>
          <p:cNvSpPr/>
          <p:nvPr/>
        </p:nvSpPr>
        <p:spPr>
          <a:xfrm>
            <a:off x="1005840" y="3776472"/>
            <a:ext cx="7498080" cy="347472"/>
          </a:xfrm>
          <a:prstGeom prst="rect">
            <a:avLst/>
          </a:prstGeom>
          <a:noFill/>
          <a:ln/>
        </p:spPr>
        <p:txBody>
          <a:bodyPr wrap="square" lIns="0" tIns="0" rIns="0" bIns="0" rtlCol="0" anchor="ctr"/>
          <a:lstStyle/>
          <a:p>
            <a:pPr indent="0" marL="0">
              <a:buNone/>
            </a:pPr>
            <a:r>
              <a:rPr lang="en-US" sz="1150" dirty="0">
                <a:solidFill>
                  <a:srgbClr val="F1F5F9"/>
                </a:solidFill>
                <a:latin typeface="Arial" pitchFamily="34" charset="0"/>
                <a:ea typeface="Arial" pitchFamily="34" charset="-122"/>
                <a:cs typeface="Arial" pitchFamily="34" charset="-120"/>
              </a:rPr>
              <a:t>Verify data in Elasticsearch: curl http://localhost:9200/apache-logs-*/_count</a:t>
            </a:r>
            <a:endParaRPr lang="en-US" sz="1150" dirty="0"/>
          </a:p>
        </p:txBody>
      </p:sp>
      <p:sp>
        <p:nvSpPr>
          <p:cNvPr id="22" name="Shape 20"/>
          <p:cNvSpPr/>
          <p:nvPr/>
        </p:nvSpPr>
        <p:spPr>
          <a:xfrm>
            <a:off x="594360" y="4251960"/>
            <a:ext cx="292608" cy="292608"/>
          </a:xfrm>
          <a:prstGeom prst="ellipse">
            <a:avLst/>
          </a:prstGeom>
          <a:solidFill>
            <a:srgbClr val="F4659C"/>
          </a:solidFill>
          <a:ln w="12700">
            <a:solidFill>
              <a:srgbClr val="F4659C"/>
            </a:solidFill>
            <a:prstDash val="solid"/>
          </a:ln>
        </p:spPr>
      </p:sp>
      <p:sp>
        <p:nvSpPr>
          <p:cNvPr id="23" name="Text 21"/>
          <p:cNvSpPr/>
          <p:nvPr/>
        </p:nvSpPr>
        <p:spPr>
          <a:xfrm>
            <a:off x="594360" y="425196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4" name="Text 22"/>
          <p:cNvSpPr/>
          <p:nvPr/>
        </p:nvSpPr>
        <p:spPr>
          <a:xfrm>
            <a:off x="1005840" y="4251960"/>
            <a:ext cx="7498080" cy="347472"/>
          </a:xfrm>
          <a:prstGeom prst="rect">
            <a:avLst/>
          </a:prstGeom>
          <a:noFill/>
          <a:ln/>
        </p:spPr>
        <p:txBody>
          <a:bodyPr wrap="square" lIns="0" tIns="0" rIns="0" bIns="0" rtlCol="0" anchor="ctr"/>
          <a:lstStyle/>
          <a:p>
            <a:pPr indent="0" marL="0">
              <a:buNone/>
            </a:pPr>
            <a:r>
              <a:rPr lang="en-US" sz="1150" dirty="0">
                <a:solidFill>
                  <a:srgbClr val="F1F5F9"/>
                </a:solidFill>
                <a:latin typeface="Arial" pitchFamily="34" charset="0"/>
                <a:ea typeface="Arial" pitchFamily="34" charset="-122"/>
                <a:cs typeface="Arial" pitchFamily="34" charset="-120"/>
              </a:rPr>
              <a:t>Query the data: find all 500 errors, count requests by status code</a:t>
            </a:r>
            <a:endParaRPr lang="en-US" sz="1150" dirty="0"/>
          </a:p>
        </p:txBody>
      </p:sp>
      <p:sp>
        <p:nvSpPr>
          <p:cNvPr id="25" name="Shape 23"/>
          <p:cNvSpPr/>
          <p:nvPr/>
        </p:nvSpPr>
        <p:spPr>
          <a:xfrm>
            <a:off x="594360" y="4617720"/>
            <a:ext cx="4389120" cy="384048"/>
          </a:xfrm>
          <a:prstGeom prst="roundRect">
            <a:avLst>
              <a:gd name="adj" fmla="val 16667"/>
            </a:avLst>
          </a:prstGeom>
          <a:solidFill>
            <a:srgbClr val="F4659C">
              <a:alpha val="20000"/>
            </a:srgbClr>
          </a:solidFill>
          <a:ln w="12700">
            <a:solidFill>
              <a:srgbClr val="F4659C">
                <a:alpha val="40000"/>
              </a:srgbClr>
            </a:solidFill>
            <a:prstDash val="solid"/>
          </a:ln>
        </p:spPr>
      </p:sp>
      <p:sp>
        <p:nvSpPr>
          <p:cNvPr id="26" name="Text 24"/>
          <p:cNvSpPr/>
          <p:nvPr/>
        </p:nvSpPr>
        <p:spPr>
          <a:xfrm>
            <a:off x="594360" y="4626864"/>
            <a:ext cx="4389120" cy="347472"/>
          </a:xfrm>
          <a:prstGeom prst="rect">
            <a:avLst/>
          </a:prstGeom>
          <a:noFill/>
          <a:ln/>
        </p:spPr>
        <p:txBody>
          <a:bodyPr wrap="square" lIns="0" tIns="0" rIns="0" bIns="0" rtlCol="0" anchor="ctr"/>
          <a:lstStyle/>
          <a:p>
            <a:pPr algn="ctr" indent="0" marL="0">
              <a:buNone/>
            </a:pPr>
            <a:r>
              <a:rPr lang="en-US" sz="1050" dirty="0">
                <a:solidFill>
                  <a:srgbClr val="FFFFFF"/>
                </a:solidFill>
                <a:latin typeface="Arial" pitchFamily="34" charset="0"/>
                <a:ea typeface="Arial" pitchFamily="34" charset="-122"/>
                <a:cs typeface="Arial" pitchFamily="34" charset="-120"/>
              </a:rPr>
              <a:t>⏱  Duration: 14:30 – 16:00  •  Day 1 Afternoon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7C2D12"/>
          </a:solidFill>
          <a:ln w="12700">
            <a:solidFill>
              <a:srgbClr val="7C2D12"/>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LAB 1 — COMPLETE PIPELINE &amp; ANSWERS</a:t>
            </a:r>
            <a:endParaRPr lang="en-US" sz="2000" dirty="0"/>
          </a:p>
        </p:txBody>
      </p:sp>
      <p:sp>
        <p:nvSpPr>
          <p:cNvPr id="4" name="Shape 2"/>
          <p:cNvSpPr/>
          <p:nvPr/>
        </p:nvSpPr>
        <p:spPr>
          <a:xfrm>
            <a:off x="7178040" y="109728"/>
            <a:ext cx="1600200" cy="475488"/>
          </a:xfrm>
          <a:prstGeom prst="roundRect">
            <a:avLst>
              <a:gd name="adj" fmla="val 11538"/>
            </a:avLst>
          </a:prstGeom>
          <a:solidFill>
            <a:srgbClr val="EF4444"/>
          </a:solidFill>
          <a:ln w="12700">
            <a:solidFill>
              <a:srgbClr val="EF4444"/>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Trainer Only</a:t>
            </a:r>
            <a:endParaRPr lang="en-US" sz="950" dirty="0"/>
          </a:p>
        </p:txBody>
      </p:sp>
      <p:sp>
        <p:nvSpPr>
          <p:cNvPr id="6" name="Shape 4"/>
          <p:cNvSpPr/>
          <p:nvPr/>
        </p:nvSpPr>
        <p:spPr>
          <a:xfrm>
            <a:off x="320040" y="804672"/>
            <a:ext cx="2011680" cy="292608"/>
          </a:xfrm>
          <a:prstGeom prst="roundRect">
            <a:avLst>
              <a:gd name="adj" fmla="val 18750"/>
            </a:avLst>
          </a:prstGeom>
          <a:solidFill>
            <a:srgbClr val="EF4444"/>
          </a:solidFill>
          <a:ln w="12700">
            <a:solidFill>
              <a:srgbClr val="EF4444"/>
            </a:solidFill>
            <a:prstDash val="solid"/>
          </a:ln>
        </p:spPr>
      </p:sp>
      <p:sp>
        <p:nvSpPr>
          <p:cNvPr id="7" name="Text 5"/>
          <p:cNvSpPr/>
          <p:nvPr/>
        </p:nvSpPr>
        <p:spPr>
          <a:xfrm>
            <a:off x="320040" y="804672"/>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  TRAINER ONLY</a:t>
            </a:r>
            <a:endParaRPr lang="en-US" sz="900" dirty="0"/>
          </a:p>
        </p:txBody>
      </p:sp>
      <p:sp>
        <p:nvSpPr>
          <p:cNvPr id="8" name="Shape 6"/>
          <p:cNvSpPr/>
          <p:nvPr/>
        </p:nvSpPr>
        <p:spPr>
          <a:xfrm>
            <a:off x="320040" y="1170432"/>
            <a:ext cx="8503920" cy="384048"/>
          </a:xfrm>
          <a:prstGeom prst="roundRect">
            <a:avLst>
              <a:gd name="adj" fmla="val 23810"/>
            </a:avLst>
          </a:prstGeom>
          <a:solidFill>
            <a:srgbClr val="FFF7ED"/>
          </a:solidFill>
          <a:ln w="12700">
            <a:solidFill>
              <a:srgbClr val="FED7AA"/>
            </a:solidFill>
            <a:prstDash val="solid"/>
          </a:ln>
          <a:effectLst>
            <a:outerShdw sx="100000" sy="100000" kx="0" ky="0" algn="bl" rotWithShape="0" blurRad="76200" dist="38100" dir="2700000">
              <a:srgbClr val="000000">
                <a:alpha val="10000"/>
              </a:srgbClr>
            </a:outerShdw>
          </a:effectLst>
        </p:spPr>
      </p:sp>
      <p:sp>
        <p:nvSpPr>
          <p:cNvPr id="9" name="Text 7"/>
          <p:cNvSpPr/>
          <p:nvPr/>
        </p:nvSpPr>
        <p:spPr>
          <a:xfrm>
            <a:off x="475488" y="1207008"/>
            <a:ext cx="8229600" cy="292608"/>
          </a:xfrm>
          <a:prstGeom prst="rect">
            <a:avLst/>
          </a:prstGeom>
          <a:noFill/>
          <a:ln/>
        </p:spPr>
        <p:txBody>
          <a:bodyPr wrap="square" lIns="0" tIns="0" rIns="0" bIns="0" rtlCol="0" anchor="ctr"/>
          <a:lstStyle/>
          <a:p>
            <a:pPr indent="0" marL="0">
              <a:buNone/>
            </a:pPr>
            <a:r>
              <a:rPr lang="en-US" sz="1050" b="1" dirty="0">
                <a:solidFill>
                  <a:srgbClr val="C2410C"/>
                </a:solidFill>
                <a:latin typeface="Arial" pitchFamily="34" charset="0"/>
                <a:ea typeface="Arial" pitchFamily="34" charset="-122"/>
                <a:cs typeface="Arial" pitchFamily="34" charset="-120"/>
              </a:rPr>
              <a:t>🔒  Do not show to students. Share pipeline config verbally on request.</a:t>
            </a:r>
            <a:endParaRPr lang="en-US" sz="1050" dirty="0"/>
          </a:p>
        </p:txBody>
      </p:sp>
      <p:sp>
        <p:nvSpPr>
          <p:cNvPr id="10" name="Shape 8"/>
          <p:cNvSpPr/>
          <p:nvPr/>
        </p:nvSpPr>
        <p:spPr>
          <a:xfrm>
            <a:off x="320040" y="1664208"/>
            <a:ext cx="8503920" cy="2331720"/>
          </a:xfrm>
          <a:prstGeom prst="roundRect">
            <a:avLst>
              <a:gd name="adj" fmla="val 3922"/>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11" name="Text 9"/>
          <p:cNvSpPr/>
          <p:nvPr/>
        </p:nvSpPr>
        <p:spPr>
          <a:xfrm>
            <a:off x="475488" y="1737360"/>
            <a:ext cx="8193024" cy="201168"/>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 Complete working pipeline — apache.conf</a:t>
            </a:r>
            <a:endParaRPr lang="en-US" sz="900" dirty="0"/>
          </a:p>
        </p:txBody>
      </p:sp>
      <p:sp>
        <p:nvSpPr>
          <p:cNvPr id="12" name="Text 10"/>
          <p:cNvSpPr/>
          <p:nvPr/>
        </p:nvSpPr>
        <p:spPr>
          <a:xfrm>
            <a:off x="475488" y="1975104"/>
            <a:ext cx="8193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input { file { path =&gt; '/logs/access.log' start_position =&gt; 'beginning' sincedb_path =&gt; '/dev/null' } }</a:t>
            </a:r>
            <a:endParaRPr lang="en-US" sz="950" dirty="0"/>
          </a:p>
        </p:txBody>
      </p:sp>
      <p:sp>
        <p:nvSpPr>
          <p:cNvPr id="13" name="Text 11"/>
          <p:cNvSpPr/>
          <p:nvPr/>
        </p:nvSpPr>
        <p:spPr>
          <a:xfrm>
            <a:off x="475488" y="2171700"/>
            <a:ext cx="8193024" cy="201168"/>
          </a:xfrm>
          <a:prstGeom prst="rect">
            <a:avLst/>
          </a:prstGeom>
          <a:noFill/>
          <a:ln/>
        </p:spPr>
        <p:txBody>
          <a:bodyPr wrap="square" lIns="0" tIns="0" rIns="0" bIns="0" rtlCol="0" anchor="ctr"/>
          <a:lstStyle/>
          <a:p>
            <a:pPr indent="0" marL="0">
              <a:buNone/>
            </a:pPr>
            <a:r>
              <a:rPr lang="en-US" sz="950" dirty="0">
                <a:solidFill>
                  <a:srgbClr val="F4659C"/>
                </a:solidFill>
                <a:latin typeface="Courier New" pitchFamily="34" charset="0"/>
                <a:ea typeface="Courier New" pitchFamily="34" charset="-122"/>
                <a:cs typeface="Courier New" pitchFamily="34" charset="-120"/>
              </a:rPr>
              <a:t>filter {</a:t>
            </a:r>
            <a:endParaRPr lang="en-US" sz="950" dirty="0"/>
          </a:p>
        </p:txBody>
      </p:sp>
      <p:sp>
        <p:nvSpPr>
          <p:cNvPr id="14" name="Text 12"/>
          <p:cNvSpPr/>
          <p:nvPr/>
        </p:nvSpPr>
        <p:spPr>
          <a:xfrm>
            <a:off x="475488" y="2368296"/>
            <a:ext cx="8193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grok { match =&gt; { 'message' =&gt; '%{COMBINEDAPACHELOG}' } }</a:t>
            </a:r>
            <a:endParaRPr lang="en-US" sz="950" dirty="0"/>
          </a:p>
        </p:txBody>
      </p:sp>
      <p:sp>
        <p:nvSpPr>
          <p:cNvPr id="15" name="Text 13"/>
          <p:cNvSpPr/>
          <p:nvPr/>
        </p:nvSpPr>
        <p:spPr>
          <a:xfrm>
            <a:off x="475488" y="2564892"/>
            <a:ext cx="8193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  date { match =&gt; ['timestamp','dd/MMM/yyyy:HH:mm:ss Z'] target =&gt; '@timestamp' }</a:t>
            </a:r>
            <a:endParaRPr lang="en-US" sz="950" dirty="0"/>
          </a:p>
        </p:txBody>
      </p:sp>
      <p:sp>
        <p:nvSpPr>
          <p:cNvPr id="16" name="Text 14"/>
          <p:cNvSpPr/>
          <p:nvPr/>
        </p:nvSpPr>
        <p:spPr>
          <a:xfrm>
            <a:off x="475488" y="2761488"/>
            <a:ext cx="8193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mutate {</a:t>
            </a:r>
            <a:endParaRPr lang="en-US" sz="950" dirty="0"/>
          </a:p>
        </p:txBody>
      </p:sp>
      <p:sp>
        <p:nvSpPr>
          <p:cNvPr id="17" name="Text 15"/>
          <p:cNvSpPr/>
          <p:nvPr/>
        </p:nvSpPr>
        <p:spPr>
          <a:xfrm>
            <a:off x="475488" y="2958084"/>
            <a:ext cx="81930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convert =&gt; { 'response' =&gt; 'integer'  'bytes' =&gt; 'integer' }</a:t>
            </a:r>
            <a:endParaRPr lang="en-US" sz="950" dirty="0"/>
          </a:p>
        </p:txBody>
      </p:sp>
      <p:sp>
        <p:nvSpPr>
          <p:cNvPr id="18" name="Text 16"/>
          <p:cNvSpPr/>
          <p:nvPr/>
        </p:nvSpPr>
        <p:spPr>
          <a:xfrm>
            <a:off x="475488" y="3154680"/>
            <a:ext cx="81930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    rename =&gt; { 'clientip' =&gt; 'client_ip'  'verb' =&gt; 'method' }</a:t>
            </a:r>
            <a:endParaRPr lang="en-US" sz="950" dirty="0"/>
          </a:p>
        </p:txBody>
      </p:sp>
      <p:sp>
        <p:nvSpPr>
          <p:cNvPr id="19" name="Text 17"/>
          <p:cNvSpPr/>
          <p:nvPr/>
        </p:nvSpPr>
        <p:spPr>
          <a:xfrm>
            <a:off x="475488" y="3351276"/>
            <a:ext cx="8193024" cy="201168"/>
          </a:xfrm>
          <a:prstGeom prst="rect">
            <a:avLst/>
          </a:prstGeom>
          <a:noFill/>
          <a:ln/>
        </p:spPr>
        <p:txBody>
          <a:bodyPr wrap="square" lIns="0" tIns="0" rIns="0" bIns="0" rtlCol="0" anchor="ctr"/>
          <a:lstStyle/>
          <a:p>
            <a:pPr indent="0" marL="0">
              <a:buNone/>
            </a:pPr>
            <a:r>
              <a:rPr lang="en-US" sz="950" dirty="0">
                <a:solidFill>
                  <a:srgbClr val="C084FC"/>
                </a:solidFill>
                <a:latin typeface="Courier New" pitchFamily="34" charset="0"/>
                <a:ea typeface="Courier New" pitchFamily="34" charset="-122"/>
                <a:cs typeface="Courier New" pitchFamily="34" charset="-120"/>
              </a:rPr>
              <a:t>    remove_field =&gt; ['message','timestamp']</a:t>
            </a:r>
            <a:endParaRPr lang="en-US" sz="950" dirty="0"/>
          </a:p>
        </p:txBody>
      </p:sp>
      <p:sp>
        <p:nvSpPr>
          <p:cNvPr id="20" name="Text 18"/>
          <p:cNvSpPr/>
          <p:nvPr/>
        </p:nvSpPr>
        <p:spPr>
          <a:xfrm>
            <a:off x="475488" y="3547872"/>
            <a:ext cx="8193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  }</a:t>
            </a:r>
            <a:endParaRPr lang="en-US" sz="950" dirty="0"/>
          </a:p>
        </p:txBody>
      </p:sp>
      <p:sp>
        <p:nvSpPr>
          <p:cNvPr id="21" name="Text 19"/>
          <p:cNvSpPr/>
          <p:nvPr/>
        </p:nvSpPr>
        <p:spPr>
          <a:xfrm>
            <a:off x="475488" y="3744468"/>
            <a:ext cx="8193024" cy="201168"/>
          </a:xfrm>
          <a:prstGeom prst="rect">
            <a:avLst/>
          </a:prstGeom>
          <a:noFill/>
          <a:ln/>
        </p:spPr>
        <p:txBody>
          <a:bodyPr wrap="square" lIns="0" tIns="0" rIns="0" bIns="0" rtlCol="0" anchor="ctr"/>
          <a:lstStyle/>
          <a:p>
            <a:pPr indent="0" marL="0">
              <a:buNone/>
            </a:pPr>
            <a:r>
              <a:rPr lang="en-US" sz="950" dirty="0">
                <a:solidFill>
                  <a:srgbClr val="F4659C"/>
                </a:solidFill>
                <a:latin typeface="Courier New" pitchFamily="34" charset="0"/>
                <a:ea typeface="Courier New" pitchFamily="34" charset="-122"/>
                <a:cs typeface="Courier New" pitchFamily="34" charset="-120"/>
              </a:rPr>
              <a:t>}</a:t>
            </a:r>
            <a:endParaRPr lang="en-US" sz="950" dirty="0"/>
          </a:p>
        </p:txBody>
      </p:sp>
      <p:sp>
        <p:nvSpPr>
          <p:cNvPr id="22" name="Text 20"/>
          <p:cNvSpPr/>
          <p:nvPr/>
        </p:nvSpPr>
        <p:spPr>
          <a:xfrm>
            <a:off x="475488" y="3941064"/>
            <a:ext cx="8193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output { elasticsearch { hosts =&gt; ['http://elasticsearch:9200'] index =&gt; 'apache-logs-%{+YYYY.MM.dd}' } stdout { codec =&gt; rubydebug } }</a:t>
            </a:r>
            <a:endParaRPr lang="en-US" sz="950" dirty="0"/>
          </a:p>
        </p:txBody>
      </p:sp>
      <p:sp>
        <p:nvSpPr>
          <p:cNvPr id="23" name="Shape 21"/>
          <p:cNvSpPr/>
          <p:nvPr/>
        </p:nvSpPr>
        <p:spPr>
          <a:xfrm>
            <a:off x="320040" y="4069080"/>
            <a:ext cx="8503920" cy="914400"/>
          </a:xfrm>
          <a:prstGeom prst="roundRect">
            <a:avLst>
              <a:gd name="adj" fmla="val 10000"/>
            </a:avLst>
          </a:prstGeom>
          <a:solidFill>
            <a:srgbClr val="0F172A"/>
          </a:solidFill>
          <a:ln w="12700">
            <a:solidFill>
              <a:srgbClr val="334155"/>
            </a:solidFill>
            <a:prstDash val="solid"/>
          </a:ln>
          <a:effectLst>
            <a:outerShdw sx="100000" sy="100000" kx="0" ky="0" algn="bl" rotWithShape="0" blurRad="76200" dist="38100" dir="2700000">
              <a:srgbClr val="000000">
                <a:alpha val="10000"/>
              </a:srgbClr>
            </a:outerShdw>
          </a:effectLst>
        </p:spPr>
      </p:sp>
      <p:sp>
        <p:nvSpPr>
          <p:cNvPr id="24" name="Text 22"/>
          <p:cNvSpPr/>
          <p:nvPr/>
        </p:nvSpPr>
        <p:spPr>
          <a:xfrm>
            <a:off x="475488" y="4142232"/>
            <a:ext cx="8193024" cy="201168"/>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 Verification queries</a:t>
            </a:r>
            <a:endParaRPr lang="en-US" sz="900" dirty="0"/>
          </a:p>
        </p:txBody>
      </p:sp>
      <p:sp>
        <p:nvSpPr>
          <p:cNvPr id="25" name="Text 23"/>
          <p:cNvSpPr/>
          <p:nvPr/>
        </p:nvSpPr>
        <p:spPr>
          <a:xfrm>
            <a:off x="475488" y="4379976"/>
            <a:ext cx="8193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curl 'http://localhost:9200/apache-logs-*/_count'</a:t>
            </a:r>
            <a:endParaRPr lang="en-US" sz="950" dirty="0"/>
          </a:p>
        </p:txBody>
      </p:sp>
      <p:sp>
        <p:nvSpPr>
          <p:cNvPr id="26" name="Text 24"/>
          <p:cNvSpPr/>
          <p:nvPr/>
        </p:nvSpPr>
        <p:spPr>
          <a:xfrm>
            <a:off x="475488" y="4576572"/>
            <a:ext cx="8193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curl -X POST 'http://localhost:9200/apache-logs-*/_search' -H 'Content-Type: application/json' -d '{"query":{"term":{"response":500}}}'</a:t>
            </a:r>
            <a:endParaRPr lang="en-US" sz="950" dirty="0"/>
          </a:p>
        </p:txBody>
      </p:sp>
      <p:sp>
        <p:nvSpPr>
          <p:cNvPr id="27" name="Text 25"/>
          <p:cNvSpPr/>
          <p:nvPr/>
        </p:nvSpPr>
        <p:spPr>
          <a:xfrm>
            <a:off x="475488" y="4773168"/>
            <a:ext cx="8193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curl -s 'http://localhost:9200/apache-logs-*/_search?size=1' | python -m json.tool</a:t>
            </a:r>
            <a:endParaRPr lang="en-US" sz="950" dirty="0"/>
          </a:p>
        </p:txBody>
      </p:sp>
      <p:sp>
        <p:nvSpPr>
          <p:cNvPr id="28" name="Shape 26"/>
          <p:cNvSpPr/>
          <p:nvPr/>
        </p:nvSpPr>
        <p:spPr>
          <a:xfrm>
            <a:off x="0" y="4846320"/>
            <a:ext cx="9144000" cy="297180"/>
          </a:xfrm>
          <a:prstGeom prst="rect">
            <a:avLst/>
          </a:prstGeom>
          <a:solidFill>
            <a:srgbClr val="7C2D12"/>
          </a:solidFill>
          <a:ln w="12700">
            <a:solidFill>
              <a:srgbClr val="7C2D12"/>
            </a:solidFill>
            <a:prstDash val="solid"/>
          </a:ln>
        </p:spPr>
      </p:sp>
      <p:sp>
        <p:nvSpPr>
          <p:cNvPr id="29" name="Text 27"/>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Lab 1 Answers — CONFIDENTIAL</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DAY 1 SUMMARY — WHAT YOU BUILT</a:t>
            </a:r>
            <a:endParaRPr lang="en-US" sz="2000" dirty="0"/>
          </a:p>
        </p:txBody>
      </p:sp>
      <p:sp>
        <p:nvSpPr>
          <p:cNvPr id="4" name="Shape 2"/>
          <p:cNvSpPr/>
          <p:nvPr/>
        </p:nvSpPr>
        <p:spPr>
          <a:xfrm>
            <a:off x="7178040" y="109728"/>
            <a:ext cx="1600200" cy="475488"/>
          </a:xfrm>
          <a:prstGeom prst="roundRect">
            <a:avLst>
              <a:gd name="adj" fmla="val 11538"/>
            </a:avLst>
          </a:prstGeom>
          <a:solidFill>
            <a:srgbClr val="F4659C"/>
          </a:solidFill>
          <a:ln w="12700">
            <a:solidFill>
              <a:srgbClr val="F4659C"/>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Day 1 Complete</a:t>
            </a:r>
            <a:endParaRPr lang="en-US" sz="950" dirty="0"/>
          </a:p>
        </p:txBody>
      </p:sp>
      <p:sp>
        <p:nvSpPr>
          <p:cNvPr id="6" name="Shape 4"/>
          <p:cNvSpPr/>
          <p:nvPr/>
        </p:nvSpPr>
        <p:spPr>
          <a:xfrm>
            <a:off x="320040" y="868680"/>
            <a:ext cx="8503920" cy="621792"/>
          </a:xfrm>
          <a:prstGeom prst="roundRect">
            <a:avLst>
              <a:gd name="adj" fmla="val 14706"/>
            </a:avLst>
          </a:prstGeom>
          <a:solidFill>
            <a:srgbClr val="FEF3C7"/>
          </a:solidFill>
          <a:ln w="12700">
            <a:solidFill>
              <a:srgbClr val="FCD34D"/>
            </a:solidFill>
            <a:prstDash val="solid"/>
          </a:ln>
          <a:effectLst>
            <a:outerShdw sx="100000" sy="100000" kx="0" ky="0" algn="bl" rotWithShape="0" blurRad="76200" dist="38100" dir="2700000">
              <a:srgbClr val="000000">
                <a:alpha val="10000"/>
              </a:srgbClr>
            </a:outerShdw>
          </a:effectLst>
        </p:spPr>
      </p:sp>
      <p:sp>
        <p:nvSpPr>
          <p:cNvPr id="7" name="Text 5"/>
          <p:cNvSpPr/>
          <p:nvPr/>
        </p:nvSpPr>
        <p:spPr>
          <a:xfrm>
            <a:off x="475488" y="914400"/>
            <a:ext cx="8229600" cy="530352"/>
          </a:xfrm>
          <a:prstGeom prst="rect">
            <a:avLst/>
          </a:prstGeom>
          <a:noFill/>
          <a:ln/>
        </p:spPr>
        <p:txBody>
          <a:bodyPr wrap="square" lIns="0" tIns="0" rIns="0" bIns="0" rtlCol="0" anchor="ctr"/>
          <a:lstStyle/>
          <a:p>
            <a:pPr indent="0" marL="0">
              <a:buNone/>
            </a:pPr>
            <a:r>
              <a:rPr lang="en-US" sz="1200" dirty="0">
                <a:solidFill>
                  <a:srgbClr val="0F172A"/>
                </a:solidFill>
                <a:latin typeface="Arial" pitchFamily="34" charset="0"/>
                <a:ea typeface="Arial" pitchFamily="34" charset="-122"/>
                <a:cs typeface="Arial" pitchFamily="34" charset="-120"/>
              </a:rPr>
              <a:t>🎉  You have a working ELK pipeline. Real Apache logs are flowing into Elasticsearch, structured and searchable. Tomorrow you visualise everything in Kibana.</a:t>
            </a:r>
            <a:endParaRPr lang="en-US" sz="1200" dirty="0"/>
          </a:p>
        </p:txBody>
      </p:sp>
      <p:sp>
        <p:nvSpPr>
          <p:cNvPr id="8" name="Shape 6"/>
          <p:cNvSpPr/>
          <p:nvPr/>
        </p:nvSpPr>
        <p:spPr>
          <a:xfrm>
            <a:off x="320040" y="1627632"/>
            <a:ext cx="2697480" cy="1572768"/>
          </a:xfrm>
          <a:prstGeom prst="roundRect">
            <a:avLst>
              <a:gd name="adj" fmla="val 5814"/>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9" name="Shape 7"/>
          <p:cNvSpPr/>
          <p:nvPr/>
        </p:nvSpPr>
        <p:spPr>
          <a:xfrm>
            <a:off x="429768" y="1719072"/>
            <a:ext cx="475488" cy="384048"/>
          </a:xfrm>
          <a:prstGeom prst="roundRect">
            <a:avLst>
              <a:gd name="adj" fmla="val 14286"/>
            </a:avLst>
          </a:prstGeom>
          <a:solidFill>
            <a:srgbClr val="0077CC"/>
          </a:solidFill>
          <a:ln w="12700">
            <a:solidFill>
              <a:srgbClr val="0077CC"/>
            </a:solidFill>
            <a:prstDash val="solid"/>
          </a:ln>
        </p:spPr>
      </p:sp>
      <p:sp>
        <p:nvSpPr>
          <p:cNvPr id="10" name="Text 8"/>
          <p:cNvSpPr/>
          <p:nvPr/>
        </p:nvSpPr>
        <p:spPr>
          <a:xfrm>
            <a:off x="429768" y="1719072"/>
            <a:ext cx="47548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01</a:t>
            </a:r>
            <a:endParaRPr lang="en-US" sz="1000" dirty="0"/>
          </a:p>
        </p:txBody>
      </p:sp>
      <p:sp>
        <p:nvSpPr>
          <p:cNvPr id="11" name="Text 9"/>
          <p:cNvSpPr/>
          <p:nvPr/>
        </p:nvSpPr>
        <p:spPr>
          <a:xfrm>
            <a:off x="978408" y="1737360"/>
            <a:ext cx="1920240" cy="347472"/>
          </a:xfrm>
          <a:prstGeom prst="rect">
            <a:avLst/>
          </a:prstGeom>
          <a:noFill/>
          <a:ln/>
        </p:spPr>
        <p:txBody>
          <a:bodyPr wrap="square" lIns="0" tIns="0" rIns="0" bIns="0" rtlCol="0" anchor="ctr"/>
          <a:lstStyle/>
          <a:p>
            <a:pPr indent="0" marL="0">
              <a:buNone/>
            </a:pPr>
            <a:r>
              <a:rPr lang="en-US" sz="1100" b="1" dirty="0">
                <a:solidFill>
                  <a:srgbClr val="0077CC"/>
                </a:solidFill>
                <a:latin typeface="Cambria" pitchFamily="34" charset="0"/>
                <a:ea typeface="Cambria" pitchFamily="34" charset="-122"/>
                <a:cs typeface="Cambria" pitchFamily="34" charset="-120"/>
              </a:rPr>
              <a:t>What is ELK</a:t>
            </a:r>
            <a:endParaRPr lang="en-US" sz="1100" dirty="0"/>
          </a:p>
        </p:txBody>
      </p:sp>
      <p:sp>
        <p:nvSpPr>
          <p:cNvPr id="12" name="Text 10"/>
          <p:cNvSpPr/>
          <p:nvPr/>
        </p:nvSpPr>
        <p:spPr>
          <a:xfrm>
            <a:off x="457200" y="2194560"/>
            <a:ext cx="2487168" cy="274320"/>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Problem ELK solves</a:t>
            </a:r>
            <a:endParaRPr lang="en-US" sz="950" dirty="0"/>
          </a:p>
        </p:txBody>
      </p:sp>
      <p:sp>
        <p:nvSpPr>
          <p:cNvPr id="13" name="Text 11"/>
          <p:cNvSpPr/>
          <p:nvPr/>
        </p:nvSpPr>
        <p:spPr>
          <a:xfrm>
            <a:off x="457200" y="2505456"/>
            <a:ext cx="2487168" cy="274320"/>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E + L + K components</a:t>
            </a:r>
            <a:endParaRPr lang="en-US" sz="950" dirty="0"/>
          </a:p>
        </p:txBody>
      </p:sp>
      <p:sp>
        <p:nvSpPr>
          <p:cNvPr id="14" name="Text 12"/>
          <p:cNvSpPr/>
          <p:nvPr/>
        </p:nvSpPr>
        <p:spPr>
          <a:xfrm>
            <a:off x="457200" y="2816352"/>
            <a:ext cx="2487168" cy="274320"/>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Data flow architecture</a:t>
            </a:r>
            <a:endParaRPr lang="en-US" sz="950" dirty="0"/>
          </a:p>
        </p:txBody>
      </p:sp>
      <p:sp>
        <p:nvSpPr>
          <p:cNvPr id="15" name="Shape 13"/>
          <p:cNvSpPr/>
          <p:nvPr/>
        </p:nvSpPr>
        <p:spPr>
          <a:xfrm>
            <a:off x="3172968" y="1627632"/>
            <a:ext cx="2697480" cy="1572768"/>
          </a:xfrm>
          <a:prstGeom prst="roundRect">
            <a:avLst>
              <a:gd name="adj" fmla="val 5814"/>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16" name="Shape 14"/>
          <p:cNvSpPr/>
          <p:nvPr/>
        </p:nvSpPr>
        <p:spPr>
          <a:xfrm>
            <a:off x="3282696" y="1719072"/>
            <a:ext cx="475488" cy="384048"/>
          </a:xfrm>
          <a:prstGeom prst="roundRect">
            <a:avLst>
              <a:gd name="adj" fmla="val 14286"/>
            </a:avLst>
          </a:prstGeom>
          <a:solidFill>
            <a:srgbClr val="00BFB3"/>
          </a:solidFill>
          <a:ln w="12700">
            <a:solidFill>
              <a:srgbClr val="00BFB3"/>
            </a:solidFill>
            <a:prstDash val="solid"/>
          </a:ln>
        </p:spPr>
      </p:sp>
      <p:sp>
        <p:nvSpPr>
          <p:cNvPr id="17" name="Text 15"/>
          <p:cNvSpPr/>
          <p:nvPr/>
        </p:nvSpPr>
        <p:spPr>
          <a:xfrm>
            <a:off x="3282696" y="1719072"/>
            <a:ext cx="47548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02</a:t>
            </a:r>
            <a:endParaRPr lang="en-US" sz="1000" dirty="0"/>
          </a:p>
        </p:txBody>
      </p:sp>
      <p:sp>
        <p:nvSpPr>
          <p:cNvPr id="18" name="Text 16"/>
          <p:cNvSpPr/>
          <p:nvPr/>
        </p:nvSpPr>
        <p:spPr>
          <a:xfrm>
            <a:off x="3831336" y="1737360"/>
            <a:ext cx="1920240" cy="347472"/>
          </a:xfrm>
          <a:prstGeom prst="rect">
            <a:avLst/>
          </a:prstGeom>
          <a:noFill/>
          <a:ln/>
        </p:spPr>
        <p:txBody>
          <a:bodyPr wrap="square" lIns="0" tIns="0" rIns="0" bIns="0" rtlCol="0" anchor="ctr"/>
          <a:lstStyle/>
          <a:p>
            <a:pPr indent="0" marL="0">
              <a:buNone/>
            </a:pPr>
            <a:r>
              <a:rPr lang="en-US" sz="1100" b="1" dirty="0">
                <a:solidFill>
                  <a:srgbClr val="00BFB3"/>
                </a:solidFill>
                <a:latin typeface="Cambria" pitchFamily="34" charset="0"/>
                <a:ea typeface="Cambria" pitchFamily="34" charset="-122"/>
                <a:cs typeface="Cambria" pitchFamily="34" charset="-120"/>
              </a:rPr>
              <a:t>Docker Setup</a:t>
            </a:r>
            <a:endParaRPr lang="en-US" sz="1100" dirty="0"/>
          </a:p>
        </p:txBody>
      </p:sp>
      <p:sp>
        <p:nvSpPr>
          <p:cNvPr id="19" name="Text 17"/>
          <p:cNvSpPr/>
          <p:nvPr/>
        </p:nvSpPr>
        <p:spPr>
          <a:xfrm>
            <a:off x="3310128" y="2194560"/>
            <a:ext cx="2487168" cy="274320"/>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docker-compose.yml</a:t>
            </a:r>
            <a:endParaRPr lang="en-US" sz="950" dirty="0"/>
          </a:p>
        </p:txBody>
      </p:sp>
      <p:sp>
        <p:nvSpPr>
          <p:cNvPr id="20" name="Text 18"/>
          <p:cNvSpPr/>
          <p:nvPr/>
        </p:nvSpPr>
        <p:spPr>
          <a:xfrm>
            <a:off x="3310128" y="2505456"/>
            <a:ext cx="2487168" cy="274320"/>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Start &amp; verify all 3</a:t>
            </a:r>
            <a:endParaRPr lang="en-US" sz="950" dirty="0"/>
          </a:p>
        </p:txBody>
      </p:sp>
      <p:sp>
        <p:nvSpPr>
          <p:cNvPr id="21" name="Text 19"/>
          <p:cNvSpPr/>
          <p:nvPr/>
        </p:nvSpPr>
        <p:spPr>
          <a:xfrm>
            <a:off x="3310128" y="2816352"/>
            <a:ext cx="2487168" cy="274320"/>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Common errors</a:t>
            </a:r>
            <a:endParaRPr lang="en-US" sz="950" dirty="0"/>
          </a:p>
        </p:txBody>
      </p:sp>
      <p:sp>
        <p:nvSpPr>
          <p:cNvPr id="22" name="Shape 20"/>
          <p:cNvSpPr/>
          <p:nvPr/>
        </p:nvSpPr>
        <p:spPr>
          <a:xfrm>
            <a:off x="6025896" y="1627632"/>
            <a:ext cx="2697480" cy="1572768"/>
          </a:xfrm>
          <a:prstGeom prst="roundRect">
            <a:avLst>
              <a:gd name="adj" fmla="val 5814"/>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23" name="Shape 21"/>
          <p:cNvSpPr/>
          <p:nvPr/>
        </p:nvSpPr>
        <p:spPr>
          <a:xfrm>
            <a:off x="6135624" y="1719072"/>
            <a:ext cx="475488" cy="384048"/>
          </a:xfrm>
          <a:prstGeom prst="roundRect">
            <a:avLst>
              <a:gd name="adj" fmla="val 14286"/>
            </a:avLst>
          </a:prstGeom>
          <a:solidFill>
            <a:srgbClr val="00BFB3"/>
          </a:solidFill>
          <a:ln w="12700">
            <a:solidFill>
              <a:srgbClr val="00BFB3"/>
            </a:solidFill>
            <a:prstDash val="solid"/>
          </a:ln>
        </p:spPr>
      </p:sp>
      <p:sp>
        <p:nvSpPr>
          <p:cNvPr id="24" name="Text 22"/>
          <p:cNvSpPr/>
          <p:nvPr/>
        </p:nvSpPr>
        <p:spPr>
          <a:xfrm>
            <a:off x="6135624" y="1719072"/>
            <a:ext cx="47548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03</a:t>
            </a:r>
            <a:endParaRPr lang="en-US" sz="1000" dirty="0"/>
          </a:p>
        </p:txBody>
      </p:sp>
      <p:sp>
        <p:nvSpPr>
          <p:cNvPr id="25" name="Text 23"/>
          <p:cNvSpPr/>
          <p:nvPr/>
        </p:nvSpPr>
        <p:spPr>
          <a:xfrm>
            <a:off x="6684264" y="1737360"/>
            <a:ext cx="1920240" cy="347472"/>
          </a:xfrm>
          <a:prstGeom prst="rect">
            <a:avLst/>
          </a:prstGeom>
          <a:noFill/>
          <a:ln/>
        </p:spPr>
        <p:txBody>
          <a:bodyPr wrap="square" lIns="0" tIns="0" rIns="0" bIns="0" rtlCol="0" anchor="ctr"/>
          <a:lstStyle/>
          <a:p>
            <a:pPr indent="0" marL="0">
              <a:buNone/>
            </a:pPr>
            <a:r>
              <a:rPr lang="en-US" sz="1100" b="1" dirty="0">
                <a:solidFill>
                  <a:srgbClr val="00BFB3"/>
                </a:solidFill>
                <a:latin typeface="Cambria" pitchFamily="34" charset="0"/>
                <a:ea typeface="Cambria" pitchFamily="34" charset="-122"/>
                <a:cs typeface="Cambria" pitchFamily="34" charset="-120"/>
              </a:rPr>
              <a:t>Elasticsearch</a:t>
            </a:r>
            <a:endParaRPr lang="en-US" sz="1100" dirty="0"/>
          </a:p>
        </p:txBody>
      </p:sp>
      <p:sp>
        <p:nvSpPr>
          <p:cNvPr id="26" name="Text 24"/>
          <p:cNvSpPr/>
          <p:nvPr/>
        </p:nvSpPr>
        <p:spPr>
          <a:xfrm>
            <a:off x="6163056" y="2194560"/>
            <a:ext cx="2487168" cy="274320"/>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Indices &amp; documents</a:t>
            </a:r>
            <a:endParaRPr lang="en-US" sz="950" dirty="0"/>
          </a:p>
        </p:txBody>
      </p:sp>
      <p:sp>
        <p:nvSpPr>
          <p:cNvPr id="27" name="Text 25"/>
          <p:cNvSpPr/>
          <p:nvPr/>
        </p:nvSpPr>
        <p:spPr>
          <a:xfrm>
            <a:off x="6163056" y="2505456"/>
            <a:ext cx="2487168" cy="274320"/>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Mappings &amp; field types</a:t>
            </a:r>
            <a:endParaRPr lang="en-US" sz="950" dirty="0"/>
          </a:p>
        </p:txBody>
      </p:sp>
      <p:sp>
        <p:nvSpPr>
          <p:cNvPr id="28" name="Text 26"/>
          <p:cNvSpPr/>
          <p:nvPr/>
        </p:nvSpPr>
        <p:spPr>
          <a:xfrm>
            <a:off x="6163056" y="2816352"/>
            <a:ext cx="2487168" cy="274320"/>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REST API &amp; Query DSL</a:t>
            </a:r>
            <a:endParaRPr lang="en-US" sz="950" dirty="0"/>
          </a:p>
        </p:txBody>
      </p:sp>
      <p:sp>
        <p:nvSpPr>
          <p:cNvPr id="29" name="Shape 27"/>
          <p:cNvSpPr/>
          <p:nvPr/>
        </p:nvSpPr>
        <p:spPr>
          <a:xfrm>
            <a:off x="320040" y="3291840"/>
            <a:ext cx="2697480" cy="1572768"/>
          </a:xfrm>
          <a:prstGeom prst="roundRect">
            <a:avLst>
              <a:gd name="adj" fmla="val 5814"/>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0" name="Shape 28"/>
          <p:cNvSpPr/>
          <p:nvPr/>
        </p:nvSpPr>
        <p:spPr>
          <a:xfrm>
            <a:off x="429768" y="3383280"/>
            <a:ext cx="475488" cy="384048"/>
          </a:xfrm>
          <a:prstGeom prst="roundRect">
            <a:avLst>
              <a:gd name="adj" fmla="val 14286"/>
            </a:avLst>
          </a:prstGeom>
          <a:solidFill>
            <a:srgbClr val="2563EB"/>
          </a:solidFill>
          <a:ln w="12700">
            <a:solidFill>
              <a:srgbClr val="2563EB"/>
            </a:solidFill>
            <a:prstDash val="solid"/>
          </a:ln>
        </p:spPr>
      </p:sp>
      <p:sp>
        <p:nvSpPr>
          <p:cNvPr id="31" name="Text 29"/>
          <p:cNvSpPr/>
          <p:nvPr/>
        </p:nvSpPr>
        <p:spPr>
          <a:xfrm>
            <a:off x="429768" y="3383280"/>
            <a:ext cx="47548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04</a:t>
            </a:r>
            <a:endParaRPr lang="en-US" sz="1000" dirty="0"/>
          </a:p>
        </p:txBody>
      </p:sp>
      <p:sp>
        <p:nvSpPr>
          <p:cNvPr id="32" name="Text 30"/>
          <p:cNvSpPr/>
          <p:nvPr/>
        </p:nvSpPr>
        <p:spPr>
          <a:xfrm>
            <a:off x="978408" y="3401568"/>
            <a:ext cx="1920240" cy="347472"/>
          </a:xfrm>
          <a:prstGeom prst="rect">
            <a:avLst/>
          </a:prstGeom>
          <a:noFill/>
          <a:ln/>
        </p:spPr>
        <p:txBody>
          <a:bodyPr wrap="square" lIns="0" tIns="0" rIns="0" bIns="0" rtlCol="0" anchor="ctr"/>
          <a:lstStyle/>
          <a:p>
            <a:pPr indent="0" marL="0">
              <a:buNone/>
            </a:pPr>
            <a:r>
              <a:rPr lang="en-US" sz="1100" b="1" dirty="0">
                <a:solidFill>
                  <a:srgbClr val="2563EB"/>
                </a:solidFill>
                <a:latin typeface="Cambria" pitchFamily="34" charset="0"/>
                <a:ea typeface="Cambria" pitchFamily="34" charset="-122"/>
                <a:cs typeface="Cambria" pitchFamily="34" charset="-120"/>
              </a:rPr>
              <a:t>ES Architecture</a:t>
            </a:r>
            <a:endParaRPr lang="en-US" sz="1100" dirty="0"/>
          </a:p>
        </p:txBody>
      </p:sp>
      <p:sp>
        <p:nvSpPr>
          <p:cNvPr id="33" name="Text 31"/>
          <p:cNvSpPr/>
          <p:nvPr/>
        </p:nvSpPr>
        <p:spPr>
          <a:xfrm>
            <a:off x="457200" y="3858768"/>
            <a:ext cx="2487168" cy="274320"/>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Clusters &amp; nodes</a:t>
            </a:r>
            <a:endParaRPr lang="en-US" sz="950" dirty="0"/>
          </a:p>
        </p:txBody>
      </p:sp>
      <p:sp>
        <p:nvSpPr>
          <p:cNvPr id="34" name="Text 32"/>
          <p:cNvSpPr/>
          <p:nvPr/>
        </p:nvSpPr>
        <p:spPr>
          <a:xfrm>
            <a:off x="457200" y="4169664"/>
            <a:ext cx="2487168" cy="274320"/>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Shards &amp; replicas</a:t>
            </a:r>
            <a:endParaRPr lang="en-US" sz="950" dirty="0"/>
          </a:p>
        </p:txBody>
      </p:sp>
      <p:sp>
        <p:nvSpPr>
          <p:cNvPr id="35" name="Text 33"/>
          <p:cNvSpPr/>
          <p:nvPr/>
        </p:nvSpPr>
        <p:spPr>
          <a:xfrm>
            <a:off x="457200" y="4480560"/>
            <a:ext cx="2487168" cy="274320"/>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Single-node setup</a:t>
            </a:r>
            <a:endParaRPr lang="en-US" sz="950" dirty="0"/>
          </a:p>
        </p:txBody>
      </p:sp>
      <p:sp>
        <p:nvSpPr>
          <p:cNvPr id="36" name="Shape 34"/>
          <p:cNvSpPr/>
          <p:nvPr/>
        </p:nvSpPr>
        <p:spPr>
          <a:xfrm>
            <a:off x="3172968" y="3291840"/>
            <a:ext cx="2697480" cy="1572768"/>
          </a:xfrm>
          <a:prstGeom prst="roundRect">
            <a:avLst>
              <a:gd name="adj" fmla="val 5814"/>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37" name="Shape 35"/>
          <p:cNvSpPr/>
          <p:nvPr/>
        </p:nvSpPr>
        <p:spPr>
          <a:xfrm>
            <a:off x="3282696" y="3383280"/>
            <a:ext cx="475488" cy="384048"/>
          </a:xfrm>
          <a:prstGeom prst="roundRect">
            <a:avLst>
              <a:gd name="adj" fmla="val 14286"/>
            </a:avLst>
          </a:prstGeom>
          <a:solidFill>
            <a:srgbClr val="2563EB"/>
          </a:solidFill>
          <a:ln w="12700">
            <a:solidFill>
              <a:srgbClr val="2563EB"/>
            </a:solidFill>
            <a:prstDash val="solid"/>
          </a:ln>
        </p:spPr>
      </p:sp>
      <p:sp>
        <p:nvSpPr>
          <p:cNvPr id="38" name="Text 36"/>
          <p:cNvSpPr/>
          <p:nvPr/>
        </p:nvSpPr>
        <p:spPr>
          <a:xfrm>
            <a:off x="3282696" y="3383280"/>
            <a:ext cx="47548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05</a:t>
            </a:r>
            <a:endParaRPr lang="en-US" sz="1000" dirty="0"/>
          </a:p>
        </p:txBody>
      </p:sp>
      <p:sp>
        <p:nvSpPr>
          <p:cNvPr id="39" name="Text 37"/>
          <p:cNvSpPr/>
          <p:nvPr/>
        </p:nvSpPr>
        <p:spPr>
          <a:xfrm>
            <a:off x="3831336" y="3401568"/>
            <a:ext cx="1920240" cy="347472"/>
          </a:xfrm>
          <a:prstGeom prst="rect">
            <a:avLst/>
          </a:prstGeom>
          <a:noFill/>
          <a:ln/>
        </p:spPr>
        <p:txBody>
          <a:bodyPr wrap="square" lIns="0" tIns="0" rIns="0" bIns="0" rtlCol="0" anchor="ctr"/>
          <a:lstStyle/>
          <a:p>
            <a:pPr indent="0" marL="0">
              <a:buNone/>
            </a:pPr>
            <a:r>
              <a:rPr lang="en-US" sz="1100" b="1" dirty="0">
                <a:solidFill>
                  <a:srgbClr val="2563EB"/>
                </a:solidFill>
                <a:latin typeface="Cambria" pitchFamily="34" charset="0"/>
                <a:ea typeface="Cambria" pitchFamily="34" charset="-122"/>
                <a:cs typeface="Cambria" pitchFamily="34" charset="-120"/>
              </a:rPr>
              <a:t>ES Querying</a:t>
            </a:r>
            <a:endParaRPr lang="en-US" sz="1100" dirty="0"/>
          </a:p>
        </p:txBody>
      </p:sp>
      <p:sp>
        <p:nvSpPr>
          <p:cNvPr id="40" name="Text 38"/>
          <p:cNvSpPr/>
          <p:nvPr/>
        </p:nvSpPr>
        <p:spPr>
          <a:xfrm>
            <a:off x="3310128" y="3858768"/>
            <a:ext cx="2487168" cy="274320"/>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match, term, range</a:t>
            </a:r>
            <a:endParaRPr lang="en-US" sz="950" dirty="0"/>
          </a:p>
        </p:txBody>
      </p:sp>
      <p:sp>
        <p:nvSpPr>
          <p:cNvPr id="41" name="Text 39"/>
          <p:cNvSpPr/>
          <p:nvPr/>
        </p:nvSpPr>
        <p:spPr>
          <a:xfrm>
            <a:off x="3310128" y="4169664"/>
            <a:ext cx="2487168" cy="274320"/>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bool queries</a:t>
            </a:r>
            <a:endParaRPr lang="en-US" sz="950" dirty="0"/>
          </a:p>
        </p:txBody>
      </p:sp>
      <p:sp>
        <p:nvSpPr>
          <p:cNvPr id="42" name="Text 40"/>
          <p:cNvSpPr/>
          <p:nvPr/>
        </p:nvSpPr>
        <p:spPr>
          <a:xfrm>
            <a:off x="3310128" y="4480560"/>
            <a:ext cx="2487168" cy="274320"/>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Aggregations intro</a:t>
            </a:r>
            <a:endParaRPr lang="en-US" sz="950" dirty="0"/>
          </a:p>
        </p:txBody>
      </p:sp>
      <p:sp>
        <p:nvSpPr>
          <p:cNvPr id="43" name="Shape 41"/>
          <p:cNvSpPr/>
          <p:nvPr/>
        </p:nvSpPr>
        <p:spPr>
          <a:xfrm>
            <a:off x="6025896" y="3291840"/>
            <a:ext cx="2697480" cy="1572768"/>
          </a:xfrm>
          <a:prstGeom prst="roundRect">
            <a:avLst>
              <a:gd name="adj" fmla="val 5814"/>
            </a:avLst>
          </a:prstGeom>
          <a:solidFill>
            <a:srgbClr val="F8FAFC"/>
          </a:solidFill>
          <a:ln w="12700">
            <a:solidFill>
              <a:srgbClr val="E2E8F0"/>
            </a:solidFill>
            <a:prstDash val="solid"/>
          </a:ln>
          <a:effectLst>
            <a:outerShdw sx="100000" sy="100000" kx="0" ky="0" algn="bl" rotWithShape="0" blurRad="76200" dist="38100" dir="2700000">
              <a:srgbClr val="000000">
                <a:alpha val="10000"/>
              </a:srgbClr>
            </a:outerShdw>
          </a:effectLst>
        </p:spPr>
      </p:sp>
      <p:sp>
        <p:nvSpPr>
          <p:cNvPr id="44" name="Shape 42"/>
          <p:cNvSpPr/>
          <p:nvPr/>
        </p:nvSpPr>
        <p:spPr>
          <a:xfrm>
            <a:off x="6135624" y="3383280"/>
            <a:ext cx="475488" cy="384048"/>
          </a:xfrm>
          <a:prstGeom prst="roundRect">
            <a:avLst>
              <a:gd name="adj" fmla="val 14286"/>
            </a:avLst>
          </a:prstGeom>
          <a:solidFill>
            <a:srgbClr val="F4659C"/>
          </a:solidFill>
          <a:ln w="12700">
            <a:solidFill>
              <a:srgbClr val="F4659C"/>
            </a:solidFill>
            <a:prstDash val="solid"/>
          </a:ln>
        </p:spPr>
      </p:sp>
      <p:sp>
        <p:nvSpPr>
          <p:cNvPr id="45" name="Text 43"/>
          <p:cNvSpPr/>
          <p:nvPr/>
        </p:nvSpPr>
        <p:spPr>
          <a:xfrm>
            <a:off x="6135624" y="3383280"/>
            <a:ext cx="47548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06-09</a:t>
            </a:r>
            <a:endParaRPr lang="en-US" sz="1000" dirty="0"/>
          </a:p>
        </p:txBody>
      </p:sp>
      <p:sp>
        <p:nvSpPr>
          <p:cNvPr id="46" name="Text 44"/>
          <p:cNvSpPr/>
          <p:nvPr/>
        </p:nvSpPr>
        <p:spPr>
          <a:xfrm>
            <a:off x="6684264" y="3401568"/>
            <a:ext cx="1920240" cy="347472"/>
          </a:xfrm>
          <a:prstGeom prst="rect">
            <a:avLst/>
          </a:prstGeom>
          <a:noFill/>
          <a:ln/>
        </p:spPr>
        <p:txBody>
          <a:bodyPr wrap="square" lIns="0" tIns="0" rIns="0" bIns="0" rtlCol="0" anchor="ctr"/>
          <a:lstStyle/>
          <a:p>
            <a:pPr indent="0" marL="0">
              <a:buNone/>
            </a:pPr>
            <a:r>
              <a:rPr lang="en-US" sz="1100" b="1" dirty="0">
                <a:solidFill>
                  <a:srgbClr val="F4659C"/>
                </a:solidFill>
                <a:latin typeface="Cambria" pitchFamily="34" charset="0"/>
                <a:ea typeface="Cambria" pitchFamily="34" charset="-122"/>
                <a:cs typeface="Cambria" pitchFamily="34" charset="-120"/>
              </a:rPr>
              <a:t>Logstash</a:t>
            </a:r>
            <a:endParaRPr lang="en-US" sz="1100" dirty="0"/>
          </a:p>
        </p:txBody>
      </p:sp>
      <p:sp>
        <p:nvSpPr>
          <p:cNvPr id="47" name="Text 45"/>
          <p:cNvSpPr/>
          <p:nvPr/>
        </p:nvSpPr>
        <p:spPr>
          <a:xfrm>
            <a:off x="6163056" y="3858768"/>
            <a:ext cx="2487168" cy="274320"/>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Pipeline config</a:t>
            </a:r>
            <a:endParaRPr lang="en-US" sz="950" dirty="0"/>
          </a:p>
        </p:txBody>
      </p:sp>
      <p:sp>
        <p:nvSpPr>
          <p:cNvPr id="48" name="Text 46"/>
          <p:cNvSpPr/>
          <p:nvPr/>
        </p:nvSpPr>
        <p:spPr>
          <a:xfrm>
            <a:off x="6163056" y="4169664"/>
            <a:ext cx="2487168" cy="274320"/>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grok + date + mutate</a:t>
            </a:r>
            <a:endParaRPr lang="en-US" sz="950" dirty="0"/>
          </a:p>
        </p:txBody>
      </p:sp>
      <p:sp>
        <p:nvSpPr>
          <p:cNvPr id="49" name="Text 47"/>
          <p:cNvSpPr/>
          <p:nvPr/>
        </p:nvSpPr>
        <p:spPr>
          <a:xfrm>
            <a:off x="6163056" y="4480560"/>
            <a:ext cx="2487168" cy="274320"/>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file → ES output</a:t>
            </a:r>
            <a:endParaRPr lang="en-US" sz="950" dirty="0"/>
          </a:p>
        </p:txBody>
      </p:sp>
      <p:sp>
        <p:nvSpPr>
          <p:cNvPr id="50" name="Shape 48"/>
          <p:cNvSpPr/>
          <p:nvPr/>
        </p:nvSpPr>
        <p:spPr>
          <a:xfrm>
            <a:off x="0" y="4846320"/>
            <a:ext cx="9144000" cy="297180"/>
          </a:xfrm>
          <a:prstGeom prst="rect">
            <a:avLst/>
          </a:prstGeom>
          <a:solidFill>
            <a:srgbClr val="0F172A"/>
          </a:solidFill>
          <a:ln w="12700">
            <a:solidFill>
              <a:srgbClr val="0F172A"/>
            </a:solidFill>
            <a:prstDash val="solid"/>
          </a:ln>
        </p:spPr>
      </p:sp>
      <p:sp>
        <p:nvSpPr>
          <p:cNvPr id="51" name="Text 49"/>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Day 1 Complete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2026-07-02T08:45:10Z</dcterms:created>
  <dcterms:modified xsi:type="dcterms:W3CDTF">2026-07-02T08:45:10Z</dcterms:modified>
</cp:coreProperties>
</file>