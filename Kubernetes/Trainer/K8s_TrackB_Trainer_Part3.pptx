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10:35 (after break)
Say: 'Deploying a simple app takes 3 YAML files — Deployment, Service, ConfigMap. A real app might have 15-20 YAML files. Now imagine maintaining that across dev, staging and production with slightly different values in each. Helm solves this — it is the apt or npm for Kubernetes.'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10:35 – 10:50  (15 min)
LIVE DEMO — install a real chart:
helm repo add bitnami https://charts.bitnami.com/bitnami
helm repo update
helm search repo bitnami/nginx
helm install my-nginx bitnami/nginx
kubectl get pods   # shows nginx pod
helm list   # shows the release
helm uninstall my-nginx
Values demo:
helm show values bitnami/nginx | head -30   # see all configurable values
helm install my-nginx bitnami/nginx --set replicaCount=3
# Overrides the default value without editing any YAML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10:50 – 11:05  (15 min)
Create a chart from scratch:
helm create my-chart
ls my-chart/   # shows the structure
cat my-chart/values.yaml
cat my-chart/templates/deployment.yaml
The {{ .Values.xxx }} syntax is Go templating. It pulls values from values.yaml or from --set flags.
Install and override:
helm install myapp ./my-chart
helm install myapp-prod ./my-chart --set replicaCount=5 --set image.tag=1.25
This is the key insight: same chart, different values = different environments. No more maintaining 3 separate sets of YAML files.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11:05
Say: 'You have deployed your app. How do you know it is healthy? How do you know if it is using too much memory? How do you find out why a Pod crashed 3 hours ago? Observability gives you the eyes inside your cluster.'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11:05 – 11:20  (15 min)
For this training focus on built-in kubectl tools + awareness of the full stack. A deep Prometheus/Grafana setup takes a day on its own.
BUILT-IN MONITORING COMMANDS to demo:
kubectl top nodes   # CPU and memory per node
kubectl top pods -n dev   # CPU and memory per pod
kubectl get events --sort-by=.lastTimestamp   # cluster events
kubectl logs -f &lt;pod&gt; --previous   # logs from previous crashed container
'Previous' flag is extremely useful: if a Pod crashed and restarted, --previous shows you logs from the dead container before restart.
For production recommendation: kube-prometheus-stack Helm chart deploys Prometheus + Grafana + Alertmanager in one command:
helm repo add prometheus-community https://prometheus-community.github.io/helm-charts
helm install monitoring prometheus-community/kube-prometheus-stack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11:20
Say: 'Before the lab, we cover the systematic approach to debugging. Most Kubernetes problems fall into a small number of categories and each has a standard diagnostic path. Once you know the path, debugging becomes fast and methodical rather than guesswork.'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11:20 – 11:35  (15 min)
LIVE DEBUGGING DEMO — use the broken deployment prepared before training:
kubectl get pods -n dev   # shows CrashLoopBackOff
kubectl describe pod &lt;broken-pod&gt; -n dev   # shows image pull error
kubectl logs &lt;broken-pod&gt; -n dev   # shows app error
kubectl set image deployment/broken nginx=nginx:alpine -n dev   # fix it
kubectl get pods -n dev   # back to Running
Walk through every step. Let students call out what they see before you explain.
'The Events section in kubectl describe is the most underused debugging tool. It tells you: what happened, when it happened, and how many times. Start here before anything else.'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open during Lab 2. Track B students will hit RBAC errors and Helm issues most often.
Helm debug tip: helm install --dry-run --debug renders all templates without applying. Shows exactly what YAML Helm would send to the cluster. Students can catch mistakes before they happen.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2 ANSWERS:
# Task 1-2: Secret
kubectl create secret generic db-secret --from-literal=DB_PASSWORD=secure123 -n dev
# Deployment uses:
env:
- name: DB_PASSWORD
  valueFrom:
    secretKeyRef:
      name: db-secret
      key: DB_PASSWORD
# Task 3-4: RBAC
kubectl create role dev-reader --verb=get,list --resource=pods,deployments -n dev
kubectl create serviceaccount dev-sa -n dev
kubectl create rolebinding dev-reader-binding --role=dev-reader --serviceaccount=dev:dev-sa -n dev
kubectl auth can-i get pods -n dev --as=system:serviceaccount:dev:dev-sa   # yes
kubectl auth can-i delete pods -n dev --as=system:serviceaccount:dev:dev-sa   # no
# Task 5-6: Helm
helm repo add bitnami https://charts.bitnami.com/bitnami
helm repo update
helm install my-nginx bitnami/nginx --set replicaCount=3
helm upgrade my-nginx bitnami/nginx --set replicaCount=5
COMMON ERRORS:
1. Secret name mismatch in deployment
2. kubectl auth can-i needs system:serviceaccount:&lt;namespace&gt;:&lt;name&gt; format
3. helm upgrade fails if --set replicaCount typo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16:00 – 16:10
Ask: 'Who feels ready to manage a production Kubernetes cluster?' Let them assess themselves honestly.
Say: 'Track B makes you production-ready. You now have the tools to deploy securely, manage access, package apps for reuse and debug when things go wrong. These are exactly the skills platform and DevOps engineers use every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OF KUBERNETES TRAINER GUIDE — TRACK B
All 4 parts combined:
Part 1 (12 slides): Title, Prep, Agenda, Advanced Architecture, ConfigMaps, Namespaces
Part 2 (10 slides): Advanced Deployments, HPA, Lab 1 + Answers, Secrets, RBAC
Part 3+4 (11 slides): Helm, Monitoring, Troubleshooting, Lab 2 + Answers, Summary, Close
Total: 33 slides across 4 parts with speaker notes on every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365760" cy="5143500"/>
          </a:xfrm>
          <a:prstGeom prst="rect">
            <a:avLst/>
          </a:prstGeom>
          <a:solidFill>
            <a:srgbClr val="326CE5"/>
          </a:solidFill>
          <a:ln w="12700">
            <a:solidFill>
              <a:srgbClr val="326CE5"/>
            </a:solidFill>
            <a:prstDash val="solid"/>
          </a:ln>
        </p:spPr>
      </p:sp>
      <p:sp>
        <p:nvSpPr>
          <p:cNvPr id="3" name="Shape 1"/>
          <p:cNvSpPr/>
          <p:nvPr/>
        </p:nvSpPr>
        <p:spPr>
          <a:xfrm>
            <a:off x="5943600" y="-914400"/>
            <a:ext cx="4572000" cy="4572000"/>
          </a:xfrm>
          <a:prstGeom prst="ellipse">
            <a:avLst/>
          </a:prstGeom>
          <a:solidFill>
            <a:srgbClr val="326CE5">
              <a:alpha val="10000"/>
            </a:srgbClr>
          </a:solidFill>
          <a:ln w="12700">
            <a:solidFill>
              <a:srgbClr val="326CE5">
                <a:alpha val="20000"/>
              </a:srgbClr>
            </a:solidFill>
            <a:prstDash val="solid"/>
          </a:ln>
        </p:spPr>
      </p:sp>
      <p:sp>
        <p:nvSpPr>
          <p:cNvPr id="4" name="Text 2"/>
          <p:cNvSpPr/>
          <p:nvPr/>
        </p:nvSpPr>
        <p:spPr>
          <a:xfrm>
            <a:off x="640080" y="1463040"/>
            <a:ext cx="7315200" cy="365760"/>
          </a:xfrm>
          <a:prstGeom prst="rect">
            <a:avLst/>
          </a:prstGeom>
          <a:noFill/>
          <a:ln/>
        </p:spPr>
        <p:txBody>
          <a:bodyPr wrap="square" lIns="0" tIns="0" rIns="0" bIns="0" rtlCol="0" anchor="ctr"/>
          <a:lstStyle/>
          <a:p>
            <a:pPr indent="0" marL="0">
              <a:buNone/>
            </a:pPr>
            <a:r>
              <a:rPr lang="en-US" sz="1200" b="1" spc="400" kern="0" dirty="0">
                <a:solidFill>
                  <a:srgbClr val="326CE5"/>
                </a:solidFill>
                <a:latin typeface="Arial" pitchFamily="34" charset="0"/>
                <a:ea typeface="Arial" pitchFamily="34" charset="-122"/>
                <a:cs typeface="Arial" pitchFamily="34" charset="-120"/>
              </a:rPr>
              <a:t>SECTION 07</a:t>
            </a:r>
            <a:endParaRPr lang="en-US" sz="1200" dirty="0"/>
          </a:p>
        </p:txBody>
      </p:sp>
      <p:sp>
        <p:nvSpPr>
          <p:cNvPr id="5" name="Text 3"/>
          <p:cNvSpPr/>
          <p:nvPr/>
        </p:nvSpPr>
        <p:spPr>
          <a:xfrm>
            <a:off x="640080" y="1874520"/>
            <a:ext cx="7772400" cy="100584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Helm</a:t>
            </a:r>
            <a:endParaRPr lang="en-US" sz="4600" dirty="0"/>
          </a:p>
        </p:txBody>
      </p:sp>
      <p:sp>
        <p:nvSpPr>
          <p:cNvPr id="6" name="Text 4"/>
          <p:cNvSpPr/>
          <p:nvPr/>
        </p:nvSpPr>
        <p:spPr>
          <a:xfrm>
            <a:off x="640080" y="2926080"/>
            <a:ext cx="6400800" cy="411480"/>
          </a:xfrm>
          <a:prstGeom prst="rect">
            <a:avLst/>
          </a:prstGeom>
          <a:noFill/>
          <a:ln/>
        </p:spPr>
        <p:txBody>
          <a:bodyPr wrap="square" lIns="0" tIns="0" rIns="0" bIns="0" rtlCol="0" anchor="ctr"/>
          <a:lstStyle/>
          <a:p>
            <a:pPr indent="0" marL="0">
              <a:buNone/>
            </a:pPr>
            <a:r>
              <a:rPr lang="en-US" sz="1500" dirty="0">
                <a:solidFill>
                  <a:srgbClr val="94A3B8"/>
                </a:solidFill>
                <a:latin typeface="Arial" pitchFamily="34" charset="0"/>
                <a:ea typeface="Arial" pitchFamily="34" charset="-122"/>
                <a:cs typeface="Arial" pitchFamily="34" charset="-120"/>
              </a:rPr>
              <a:t>The package manager for Kubernetes</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0F172A"/>
          </a:solidFill>
          <a:ln w="12700">
            <a:solidFill>
              <a:srgbClr val="0F172A"/>
            </a:solidFill>
            <a:prstDash val="solid"/>
          </a:ln>
        </p:spPr>
      </p:sp>
      <p:sp>
        <p:nvSpPr>
          <p:cNvPr id="3" name="Text 1"/>
          <p:cNvSpPr/>
          <p:nvPr/>
        </p:nvSpPr>
        <p:spPr>
          <a:xfrm>
            <a:off x="411480" y="73152"/>
            <a:ext cx="6858000" cy="530352"/>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WHAT IS HELM?</a:t>
            </a:r>
            <a:endParaRPr lang="en-US" sz="2000" dirty="0"/>
          </a:p>
        </p:txBody>
      </p:sp>
      <p:sp>
        <p:nvSpPr>
          <p:cNvPr id="4" name="Shape 2"/>
          <p:cNvSpPr/>
          <p:nvPr/>
        </p:nvSpPr>
        <p:spPr>
          <a:xfrm>
            <a:off x="7178040" y="109728"/>
            <a:ext cx="1600200" cy="475488"/>
          </a:xfrm>
          <a:prstGeom prst="roundRect">
            <a:avLst>
              <a:gd name="adj" fmla="val 11538"/>
            </a:avLst>
          </a:prstGeom>
          <a:solidFill>
            <a:srgbClr val="326CE5"/>
          </a:solidFill>
          <a:ln w="12700">
            <a:solidFill>
              <a:srgbClr val="326CE5"/>
            </a:solidFill>
            <a:prstDash val="solid"/>
          </a:ln>
        </p:spPr>
      </p:sp>
      <p:sp>
        <p:nvSpPr>
          <p:cNvPr id="5" name="Text 3"/>
          <p:cNvSpPr/>
          <p:nvPr/>
        </p:nvSpPr>
        <p:spPr>
          <a:xfrm>
            <a:off x="7178040" y="109728"/>
            <a:ext cx="1600200" cy="475488"/>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Section 07  •  Helm</a:t>
            </a:r>
            <a:endParaRPr lang="en-US" sz="950" dirty="0"/>
          </a:p>
        </p:txBody>
      </p:sp>
      <p:sp>
        <p:nvSpPr>
          <p:cNvPr id="6" name="Shape 4"/>
          <p:cNvSpPr/>
          <p:nvPr/>
        </p:nvSpPr>
        <p:spPr>
          <a:xfrm>
            <a:off x="320040" y="868680"/>
            <a:ext cx="8503920" cy="713232"/>
          </a:xfrm>
          <a:prstGeom prst="roundRect">
            <a:avLst>
              <a:gd name="adj" fmla="val 12821"/>
            </a:avLst>
          </a:prstGeom>
          <a:solidFill>
            <a:srgbClr val="E8EFFE"/>
          </a:solidFill>
          <a:ln w="12700">
            <a:solidFill>
              <a:srgbClr val="A5B4FC"/>
            </a:solidFill>
            <a:prstDash val="solid"/>
          </a:ln>
          <a:effectLst>
            <a:outerShdw sx="100000" sy="100000" kx="0" ky="0" algn="bl" rotWithShape="0" blurRad="76200" dist="38100" dir="2700000">
              <a:srgbClr val="000000">
                <a:alpha val="10000"/>
              </a:srgbClr>
            </a:outerShdw>
          </a:effectLst>
        </p:spPr>
      </p:sp>
      <p:sp>
        <p:nvSpPr>
          <p:cNvPr id="7" name="Text 5"/>
          <p:cNvSpPr/>
          <p:nvPr/>
        </p:nvSpPr>
        <p:spPr>
          <a:xfrm>
            <a:off x="475488" y="914400"/>
            <a:ext cx="8229600" cy="621792"/>
          </a:xfrm>
          <a:prstGeom prst="rect">
            <a:avLst/>
          </a:prstGeom>
          <a:noFill/>
          <a:ln/>
        </p:spPr>
        <p:txBody>
          <a:bodyPr wrap="square" lIns="0" tIns="0" rIns="0" bIns="0" rtlCol="0" anchor="ctr"/>
          <a:lstStyle/>
          <a:p>
            <a:pPr indent="0" marL="0">
              <a:buNone/>
            </a:pPr>
            <a:r>
              <a:rPr lang="en-US" sz="1250" dirty="0">
                <a:solidFill>
                  <a:srgbClr val="0F172A"/>
                </a:solidFill>
                <a:latin typeface="Cambria" pitchFamily="34" charset="0"/>
                <a:ea typeface="Cambria" pitchFamily="34" charset="-122"/>
                <a:cs typeface="Cambria" pitchFamily="34" charset="-120"/>
              </a:rPr>
              <a:t>Helm is the package manager for Kubernetes. A Helm Chart is a collection of YAML templates with configurable values. Deploy the same chart to dev with small resources and production with large resources — same templates, different values.</a:t>
            </a:r>
            <a:endParaRPr lang="en-US" sz="1250" dirty="0"/>
          </a:p>
        </p:txBody>
      </p:sp>
      <p:sp>
        <p:nvSpPr>
          <p:cNvPr id="8" name="Shape 6"/>
          <p:cNvSpPr/>
          <p:nvPr/>
        </p:nvSpPr>
        <p:spPr>
          <a:xfrm>
            <a:off x="320040" y="1755648"/>
            <a:ext cx="4114800" cy="1115568"/>
          </a:xfrm>
          <a:prstGeom prst="roundRect">
            <a:avLst>
              <a:gd name="adj" fmla="val 8197"/>
            </a:avLst>
          </a:prstGeom>
          <a:solidFill>
            <a:srgbClr val="F8FAFC"/>
          </a:solidFill>
          <a:ln w="12700">
            <a:solidFill>
              <a:srgbClr val="E2E8F0"/>
            </a:solidFill>
            <a:prstDash val="solid"/>
          </a:ln>
          <a:effectLst>
            <a:outerShdw sx="100000" sy="100000" kx="0" ky="0" algn="bl" rotWithShape="0" blurRad="76200" dist="38100" dir="2700000">
              <a:srgbClr val="000000">
                <a:alpha val="10000"/>
              </a:srgbClr>
            </a:outerShdw>
          </a:effectLst>
        </p:spPr>
      </p:sp>
      <p:sp>
        <p:nvSpPr>
          <p:cNvPr id="9" name="Text 7"/>
          <p:cNvSpPr/>
          <p:nvPr/>
        </p:nvSpPr>
        <p:spPr>
          <a:xfrm>
            <a:off x="484632" y="1828800"/>
            <a:ext cx="3794760" cy="292608"/>
          </a:xfrm>
          <a:prstGeom prst="rect">
            <a:avLst/>
          </a:prstGeom>
          <a:noFill/>
          <a:ln/>
        </p:spPr>
        <p:txBody>
          <a:bodyPr wrap="square" lIns="0" tIns="0" rIns="0" bIns="0" rtlCol="0" anchor="ctr"/>
          <a:lstStyle/>
          <a:p>
            <a:pPr indent="0" marL="0">
              <a:buNone/>
            </a:pPr>
            <a:r>
              <a:rPr lang="en-US" sz="1250" b="1" dirty="0">
                <a:solidFill>
                  <a:srgbClr val="326CE5"/>
                </a:solidFill>
                <a:latin typeface="Arial" pitchFamily="34" charset="0"/>
                <a:ea typeface="Arial" pitchFamily="34" charset="-122"/>
                <a:cs typeface="Arial" pitchFamily="34" charset="-120"/>
              </a:rPr>
              <a:t>📦  Chart</a:t>
            </a:r>
            <a:endParaRPr lang="en-US" sz="1250" dirty="0"/>
          </a:p>
        </p:txBody>
      </p:sp>
      <p:sp>
        <p:nvSpPr>
          <p:cNvPr id="10" name="Text 8"/>
          <p:cNvSpPr/>
          <p:nvPr/>
        </p:nvSpPr>
        <p:spPr>
          <a:xfrm>
            <a:off x="484632" y="2139696"/>
            <a:ext cx="3794760" cy="658368"/>
          </a:xfrm>
          <a:prstGeom prst="rect">
            <a:avLst/>
          </a:prstGeom>
          <a:noFill/>
          <a:ln/>
        </p:spPr>
        <p:txBody>
          <a:bodyPr wrap="square" lIns="0" tIns="0" rIns="0" bIns="0" rtlCol="0" anchor="ctr"/>
          <a:lstStyle/>
          <a:p>
            <a:pPr indent="0" marL="0">
              <a:buNone/>
            </a:pPr>
            <a:r>
              <a:rPr lang="en-US" sz="1050" dirty="0">
                <a:solidFill>
                  <a:srgbClr val="475569"/>
                </a:solidFill>
                <a:latin typeface="Arial" pitchFamily="34" charset="0"/>
                <a:ea typeface="Arial" pitchFamily="34" charset="-122"/>
                <a:cs typeface="Arial" pitchFamily="34" charset="-120"/>
              </a:rPr>
              <a:t>A collection of files describing a Kubernetes application — templates, default values, and metadata. Like a Docker image but for K8s apps.</a:t>
            </a:r>
            <a:endParaRPr lang="en-US" sz="1050" dirty="0"/>
          </a:p>
        </p:txBody>
      </p:sp>
      <p:sp>
        <p:nvSpPr>
          <p:cNvPr id="11" name="Shape 9"/>
          <p:cNvSpPr/>
          <p:nvPr/>
        </p:nvSpPr>
        <p:spPr>
          <a:xfrm>
            <a:off x="4709160" y="1755648"/>
            <a:ext cx="4114800" cy="1115568"/>
          </a:xfrm>
          <a:prstGeom prst="roundRect">
            <a:avLst>
              <a:gd name="adj" fmla="val 8197"/>
            </a:avLst>
          </a:prstGeom>
          <a:solidFill>
            <a:srgbClr val="F8FAFC"/>
          </a:solidFill>
          <a:ln w="12700">
            <a:solidFill>
              <a:srgbClr val="E2E8F0"/>
            </a:solidFill>
            <a:prstDash val="solid"/>
          </a:ln>
          <a:effectLst>
            <a:outerShdw sx="100000" sy="100000" kx="0" ky="0" algn="bl" rotWithShape="0" blurRad="76200" dist="38100" dir="2700000">
              <a:srgbClr val="000000">
                <a:alpha val="10000"/>
              </a:srgbClr>
            </a:outerShdw>
          </a:effectLst>
        </p:spPr>
      </p:sp>
      <p:sp>
        <p:nvSpPr>
          <p:cNvPr id="12" name="Text 10"/>
          <p:cNvSpPr/>
          <p:nvPr/>
        </p:nvSpPr>
        <p:spPr>
          <a:xfrm>
            <a:off x="4873752" y="1828800"/>
            <a:ext cx="3794760" cy="292608"/>
          </a:xfrm>
          <a:prstGeom prst="rect">
            <a:avLst/>
          </a:prstGeom>
          <a:noFill/>
          <a:ln/>
        </p:spPr>
        <p:txBody>
          <a:bodyPr wrap="square" lIns="0" tIns="0" rIns="0" bIns="0" rtlCol="0" anchor="ctr"/>
          <a:lstStyle/>
          <a:p>
            <a:pPr indent="0" marL="0">
              <a:buNone/>
            </a:pPr>
            <a:r>
              <a:rPr lang="en-US" sz="1250" b="1" dirty="0">
                <a:solidFill>
                  <a:srgbClr val="326CE5"/>
                </a:solidFill>
                <a:latin typeface="Arial" pitchFamily="34" charset="0"/>
                <a:ea typeface="Arial" pitchFamily="34" charset="-122"/>
                <a:cs typeface="Arial" pitchFamily="34" charset="-120"/>
              </a:rPr>
              <a:t>📋  values.yaml</a:t>
            </a:r>
            <a:endParaRPr lang="en-US" sz="1250" dirty="0"/>
          </a:p>
        </p:txBody>
      </p:sp>
      <p:sp>
        <p:nvSpPr>
          <p:cNvPr id="13" name="Text 11"/>
          <p:cNvSpPr/>
          <p:nvPr/>
        </p:nvSpPr>
        <p:spPr>
          <a:xfrm>
            <a:off x="4873752" y="2139696"/>
            <a:ext cx="3794760" cy="658368"/>
          </a:xfrm>
          <a:prstGeom prst="rect">
            <a:avLst/>
          </a:prstGeom>
          <a:noFill/>
          <a:ln/>
        </p:spPr>
        <p:txBody>
          <a:bodyPr wrap="square" lIns="0" tIns="0" rIns="0" bIns="0" rtlCol="0" anchor="ctr"/>
          <a:lstStyle/>
          <a:p>
            <a:pPr indent="0" marL="0">
              <a:buNone/>
            </a:pPr>
            <a:r>
              <a:rPr lang="en-US" sz="1050" dirty="0">
                <a:solidFill>
                  <a:srgbClr val="475569"/>
                </a:solidFill>
                <a:latin typeface="Arial" pitchFamily="34" charset="0"/>
                <a:ea typeface="Arial" pitchFamily="34" charset="-122"/>
                <a:cs typeface="Arial" pitchFamily="34" charset="-120"/>
              </a:rPr>
              <a:t>Default configuration values for a chart. Override any value at install time without editing templates.</a:t>
            </a:r>
            <a:endParaRPr lang="en-US" sz="1050" dirty="0"/>
          </a:p>
        </p:txBody>
      </p:sp>
      <p:sp>
        <p:nvSpPr>
          <p:cNvPr id="14" name="Shape 12"/>
          <p:cNvSpPr/>
          <p:nvPr/>
        </p:nvSpPr>
        <p:spPr>
          <a:xfrm>
            <a:off x="320040" y="2990088"/>
            <a:ext cx="4114800" cy="1115568"/>
          </a:xfrm>
          <a:prstGeom prst="roundRect">
            <a:avLst>
              <a:gd name="adj" fmla="val 8197"/>
            </a:avLst>
          </a:prstGeom>
          <a:solidFill>
            <a:srgbClr val="F8FAFC"/>
          </a:solidFill>
          <a:ln w="12700">
            <a:solidFill>
              <a:srgbClr val="E2E8F0"/>
            </a:solidFill>
            <a:prstDash val="solid"/>
          </a:ln>
          <a:effectLst>
            <a:outerShdw sx="100000" sy="100000" kx="0" ky="0" algn="bl" rotWithShape="0" blurRad="76200" dist="38100" dir="2700000">
              <a:srgbClr val="000000">
                <a:alpha val="10000"/>
              </a:srgbClr>
            </a:outerShdw>
          </a:effectLst>
        </p:spPr>
      </p:sp>
      <p:sp>
        <p:nvSpPr>
          <p:cNvPr id="15" name="Text 13"/>
          <p:cNvSpPr/>
          <p:nvPr/>
        </p:nvSpPr>
        <p:spPr>
          <a:xfrm>
            <a:off x="484632" y="3063240"/>
            <a:ext cx="3794760" cy="292608"/>
          </a:xfrm>
          <a:prstGeom prst="rect">
            <a:avLst/>
          </a:prstGeom>
          <a:noFill/>
          <a:ln/>
        </p:spPr>
        <p:txBody>
          <a:bodyPr wrap="square" lIns="0" tIns="0" rIns="0" bIns="0" rtlCol="0" anchor="ctr"/>
          <a:lstStyle/>
          <a:p>
            <a:pPr indent="0" marL="0">
              <a:buNone/>
            </a:pPr>
            <a:r>
              <a:rPr lang="en-US" sz="1250" b="1" dirty="0">
                <a:solidFill>
                  <a:srgbClr val="326CE5"/>
                </a:solidFill>
                <a:latin typeface="Arial" pitchFamily="34" charset="0"/>
                <a:ea typeface="Arial" pitchFamily="34" charset="-122"/>
                <a:cs typeface="Arial" pitchFamily="34" charset="-120"/>
              </a:rPr>
              <a:t>🚀  Release</a:t>
            </a:r>
            <a:endParaRPr lang="en-US" sz="1250" dirty="0"/>
          </a:p>
        </p:txBody>
      </p:sp>
      <p:sp>
        <p:nvSpPr>
          <p:cNvPr id="16" name="Text 14"/>
          <p:cNvSpPr/>
          <p:nvPr/>
        </p:nvSpPr>
        <p:spPr>
          <a:xfrm>
            <a:off x="484632" y="3374136"/>
            <a:ext cx="3794760" cy="658368"/>
          </a:xfrm>
          <a:prstGeom prst="rect">
            <a:avLst/>
          </a:prstGeom>
          <a:noFill/>
          <a:ln/>
        </p:spPr>
        <p:txBody>
          <a:bodyPr wrap="square" lIns="0" tIns="0" rIns="0" bIns="0" rtlCol="0" anchor="ctr"/>
          <a:lstStyle/>
          <a:p>
            <a:pPr indent="0" marL="0">
              <a:buNone/>
            </a:pPr>
            <a:r>
              <a:rPr lang="en-US" sz="1050" dirty="0">
                <a:solidFill>
                  <a:srgbClr val="475569"/>
                </a:solidFill>
                <a:latin typeface="Arial" pitchFamily="34" charset="0"/>
                <a:ea typeface="Arial" pitchFamily="34" charset="-122"/>
                <a:cs typeface="Arial" pitchFamily="34" charset="-120"/>
              </a:rPr>
              <a:t>An installed instance of a chart. You can install the same chart multiple times with different names and values.</a:t>
            </a:r>
            <a:endParaRPr lang="en-US" sz="1050" dirty="0"/>
          </a:p>
        </p:txBody>
      </p:sp>
      <p:sp>
        <p:nvSpPr>
          <p:cNvPr id="17" name="Shape 15"/>
          <p:cNvSpPr/>
          <p:nvPr/>
        </p:nvSpPr>
        <p:spPr>
          <a:xfrm>
            <a:off x="4709160" y="2990088"/>
            <a:ext cx="4114800" cy="1115568"/>
          </a:xfrm>
          <a:prstGeom prst="roundRect">
            <a:avLst>
              <a:gd name="adj" fmla="val 8197"/>
            </a:avLst>
          </a:prstGeom>
          <a:solidFill>
            <a:srgbClr val="F8FAFC"/>
          </a:solidFill>
          <a:ln w="12700">
            <a:solidFill>
              <a:srgbClr val="E2E8F0"/>
            </a:solidFill>
            <a:prstDash val="solid"/>
          </a:ln>
          <a:effectLst>
            <a:outerShdw sx="100000" sy="100000" kx="0" ky="0" algn="bl" rotWithShape="0" blurRad="76200" dist="38100" dir="2700000">
              <a:srgbClr val="000000">
                <a:alpha val="10000"/>
              </a:srgbClr>
            </a:outerShdw>
          </a:effectLst>
        </p:spPr>
      </p:sp>
      <p:sp>
        <p:nvSpPr>
          <p:cNvPr id="18" name="Text 16"/>
          <p:cNvSpPr/>
          <p:nvPr/>
        </p:nvSpPr>
        <p:spPr>
          <a:xfrm>
            <a:off x="4873752" y="3063240"/>
            <a:ext cx="3794760" cy="292608"/>
          </a:xfrm>
          <a:prstGeom prst="rect">
            <a:avLst/>
          </a:prstGeom>
          <a:noFill/>
          <a:ln/>
        </p:spPr>
        <p:txBody>
          <a:bodyPr wrap="square" lIns="0" tIns="0" rIns="0" bIns="0" rtlCol="0" anchor="ctr"/>
          <a:lstStyle/>
          <a:p>
            <a:pPr indent="0" marL="0">
              <a:buNone/>
            </a:pPr>
            <a:r>
              <a:rPr lang="en-US" sz="1250" b="1" dirty="0">
                <a:solidFill>
                  <a:srgbClr val="326CE5"/>
                </a:solidFill>
                <a:latin typeface="Arial" pitchFamily="34" charset="0"/>
                <a:ea typeface="Arial" pitchFamily="34" charset="-122"/>
                <a:cs typeface="Arial" pitchFamily="34" charset="-120"/>
              </a:rPr>
              <a:t>🗄️  Repository</a:t>
            </a:r>
            <a:endParaRPr lang="en-US" sz="1250" dirty="0"/>
          </a:p>
        </p:txBody>
      </p:sp>
      <p:sp>
        <p:nvSpPr>
          <p:cNvPr id="19" name="Text 17"/>
          <p:cNvSpPr/>
          <p:nvPr/>
        </p:nvSpPr>
        <p:spPr>
          <a:xfrm>
            <a:off x="4873752" y="3374136"/>
            <a:ext cx="3794760" cy="658368"/>
          </a:xfrm>
          <a:prstGeom prst="rect">
            <a:avLst/>
          </a:prstGeom>
          <a:noFill/>
          <a:ln/>
        </p:spPr>
        <p:txBody>
          <a:bodyPr wrap="square" lIns="0" tIns="0" rIns="0" bIns="0" rtlCol="0" anchor="ctr"/>
          <a:lstStyle/>
          <a:p>
            <a:pPr indent="0" marL="0">
              <a:buNone/>
            </a:pPr>
            <a:r>
              <a:rPr lang="en-US" sz="1050" dirty="0">
                <a:solidFill>
                  <a:srgbClr val="475569"/>
                </a:solidFill>
                <a:latin typeface="Arial" pitchFamily="34" charset="0"/>
                <a:ea typeface="Arial" pitchFamily="34" charset="-122"/>
                <a:cs typeface="Arial" pitchFamily="34" charset="-120"/>
              </a:rPr>
              <a:t>A collection of charts, like Docker Hub for images. ArtifactHub.io is the main public Helm chart repository.</a:t>
            </a:r>
            <a:endParaRPr lang="en-US" sz="1050" dirty="0"/>
          </a:p>
        </p:txBody>
      </p:sp>
      <p:sp>
        <p:nvSpPr>
          <p:cNvPr id="20" name="Text 18"/>
          <p:cNvSpPr/>
          <p:nvPr/>
        </p:nvSpPr>
        <p:spPr>
          <a:xfrm>
            <a:off x="320040" y="4251960"/>
            <a:ext cx="2743200" cy="274320"/>
          </a:xfrm>
          <a:prstGeom prst="rect">
            <a:avLst/>
          </a:prstGeom>
          <a:noFill/>
          <a:ln/>
        </p:spPr>
        <p:txBody>
          <a:bodyPr wrap="square" lIns="0" tIns="0" rIns="0" bIns="0" rtlCol="0" anchor="ctr"/>
          <a:lstStyle/>
          <a:p>
            <a:pPr indent="0" marL="0">
              <a:buNone/>
            </a:pPr>
            <a:r>
              <a:rPr lang="en-US" sz="1100" b="1" dirty="0">
                <a:solidFill>
                  <a:srgbClr val="0F172A"/>
                </a:solidFill>
                <a:latin typeface="Cambria" pitchFamily="34" charset="0"/>
                <a:ea typeface="Cambria" pitchFamily="34" charset="-122"/>
                <a:cs typeface="Cambria" pitchFamily="34" charset="-120"/>
              </a:rPr>
              <a:t>Key Commands</a:t>
            </a:r>
            <a:endParaRPr lang="en-US" sz="1100" dirty="0"/>
          </a:p>
        </p:txBody>
      </p:sp>
      <p:sp>
        <p:nvSpPr>
          <p:cNvPr id="21" name="Shape 19"/>
          <p:cNvSpPr/>
          <p:nvPr/>
        </p:nvSpPr>
        <p:spPr>
          <a:xfrm>
            <a:off x="320040" y="4572000"/>
            <a:ext cx="8503920" cy="566928"/>
          </a:xfrm>
          <a:prstGeom prst="roundRect">
            <a:avLst>
              <a:gd name="adj" fmla="val 16129"/>
            </a:avLst>
          </a:prstGeom>
          <a:solidFill>
            <a:srgbClr val="0F172A"/>
          </a:solidFill>
          <a:ln w="12700">
            <a:solidFill>
              <a:srgbClr val="334155"/>
            </a:solidFill>
            <a:prstDash val="solid"/>
          </a:ln>
          <a:effectLst>
            <a:outerShdw sx="100000" sy="100000" kx="0" ky="0" algn="bl" rotWithShape="0" blurRad="76200" dist="38100" dir="2700000">
              <a:srgbClr val="000000">
                <a:alpha val="10000"/>
              </a:srgbClr>
            </a:outerShdw>
          </a:effectLst>
        </p:spPr>
      </p:sp>
      <p:sp>
        <p:nvSpPr>
          <p:cNvPr id="22" name="Text 20"/>
          <p:cNvSpPr/>
          <p:nvPr/>
        </p:nvSpPr>
        <p:spPr>
          <a:xfrm>
            <a:off x="475488" y="4617720"/>
            <a:ext cx="8229600" cy="438912"/>
          </a:xfrm>
          <a:prstGeom prst="rect">
            <a:avLst/>
          </a:prstGeom>
          <a:noFill/>
          <a:ln/>
        </p:spPr>
        <p:txBody>
          <a:bodyPr wrap="square" lIns="0" tIns="0" rIns="0" bIns="0" rtlCol="0" anchor="ctr"/>
          <a:lstStyle/>
          <a:p>
            <a:pPr indent="0" marL="0">
              <a:buNone/>
            </a:pPr>
            <a:r>
              <a:rPr lang="en-US" sz="950" dirty="0">
                <a:solidFill>
                  <a:srgbClr val="6EE7B7"/>
                </a:solidFill>
                <a:latin typeface="Courier New" pitchFamily="34" charset="0"/>
                <a:ea typeface="Courier New" pitchFamily="34" charset="-122"/>
                <a:cs typeface="Courier New" pitchFamily="34" charset="-120"/>
              </a:rPr>
              <a:t>helm install myapp ./chart   •   helm upgrade myapp ./chart   •   helm rollback myapp 1   •   helm list   •   helm uninstall myapp</a:t>
            </a:r>
            <a:endParaRPr lang="en-US" sz="950" dirty="0"/>
          </a:p>
        </p:txBody>
      </p:sp>
      <p:sp>
        <p:nvSpPr>
          <p:cNvPr id="23" name="Shape 21"/>
          <p:cNvSpPr/>
          <p:nvPr/>
        </p:nvSpPr>
        <p:spPr>
          <a:xfrm>
            <a:off x="0" y="4846320"/>
            <a:ext cx="9144000" cy="297180"/>
          </a:xfrm>
          <a:prstGeom prst="rect">
            <a:avLst/>
          </a:prstGeom>
          <a:solidFill>
            <a:srgbClr val="0F172A"/>
          </a:solidFill>
          <a:ln w="12700">
            <a:solidFill>
              <a:srgbClr val="0F172A"/>
            </a:solidFill>
            <a:prstDash val="solid"/>
          </a:ln>
        </p:spPr>
      </p:sp>
      <p:sp>
        <p:nvSpPr>
          <p:cNvPr id="24" name="Text 22"/>
          <p:cNvSpPr/>
          <p:nvPr/>
        </p:nvSpPr>
        <p:spPr>
          <a:xfrm>
            <a:off x="365760" y="4864608"/>
            <a:ext cx="8412480" cy="256032"/>
          </a:xfrm>
          <a:prstGeom prst="rect">
            <a:avLst/>
          </a:prstGeom>
          <a:noFill/>
          <a:ln/>
        </p:spPr>
        <p:txBody>
          <a:bodyPr wrap="square" lIns="0" tIns="0" rIns="0" bIns="0" rtlCol="0" anchor="ctr"/>
          <a:lstStyle/>
          <a:p>
            <a:pPr algn="ctr" indent="0" marL="0">
              <a:buNone/>
            </a:pPr>
            <a:r>
              <a:rPr lang="en-US" sz="900" dirty="0">
                <a:solidFill>
                  <a:srgbClr val="94A3B8"/>
                </a:solidFill>
                <a:latin typeface="Arial" pitchFamily="34" charset="0"/>
                <a:ea typeface="Arial" pitchFamily="34" charset="-122"/>
                <a:cs typeface="Arial" pitchFamily="34" charset="-120"/>
              </a:rPr>
              <a:t>Trainer Guide  —  Section 07: Helm</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0F172A"/>
          </a:solidFill>
          <a:ln w="12700">
            <a:solidFill>
              <a:srgbClr val="0F172A"/>
            </a:solidFill>
            <a:prstDash val="solid"/>
          </a:ln>
        </p:spPr>
      </p:sp>
      <p:sp>
        <p:nvSpPr>
          <p:cNvPr id="3" name="Text 1"/>
          <p:cNvSpPr/>
          <p:nvPr/>
        </p:nvSpPr>
        <p:spPr>
          <a:xfrm>
            <a:off x="411480" y="73152"/>
            <a:ext cx="6858000" cy="530352"/>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CREATING YOUR OWN HELM CHART</a:t>
            </a:r>
            <a:endParaRPr lang="en-US" sz="2000" dirty="0"/>
          </a:p>
        </p:txBody>
      </p:sp>
      <p:sp>
        <p:nvSpPr>
          <p:cNvPr id="4" name="Shape 2"/>
          <p:cNvSpPr/>
          <p:nvPr/>
        </p:nvSpPr>
        <p:spPr>
          <a:xfrm>
            <a:off x="7178040" y="109728"/>
            <a:ext cx="1600200" cy="475488"/>
          </a:xfrm>
          <a:prstGeom prst="roundRect">
            <a:avLst>
              <a:gd name="adj" fmla="val 11538"/>
            </a:avLst>
          </a:prstGeom>
          <a:solidFill>
            <a:srgbClr val="326CE5"/>
          </a:solidFill>
          <a:ln w="12700">
            <a:solidFill>
              <a:srgbClr val="326CE5"/>
            </a:solidFill>
            <a:prstDash val="solid"/>
          </a:ln>
        </p:spPr>
      </p:sp>
      <p:sp>
        <p:nvSpPr>
          <p:cNvPr id="5" name="Text 3"/>
          <p:cNvSpPr/>
          <p:nvPr/>
        </p:nvSpPr>
        <p:spPr>
          <a:xfrm>
            <a:off x="7178040" y="109728"/>
            <a:ext cx="1600200" cy="475488"/>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Section 07  •  Helm</a:t>
            </a:r>
            <a:endParaRPr lang="en-US" sz="950" dirty="0"/>
          </a:p>
        </p:txBody>
      </p:sp>
      <p:sp>
        <p:nvSpPr>
          <p:cNvPr id="6" name="Text 4"/>
          <p:cNvSpPr/>
          <p:nvPr/>
        </p:nvSpPr>
        <p:spPr>
          <a:xfrm>
            <a:off x="320040" y="868680"/>
            <a:ext cx="3657600" cy="292608"/>
          </a:xfrm>
          <a:prstGeom prst="rect">
            <a:avLst/>
          </a:prstGeom>
          <a:noFill/>
          <a:ln/>
        </p:spPr>
        <p:txBody>
          <a:bodyPr wrap="square" lIns="0" tIns="0" rIns="0" bIns="0" rtlCol="0" anchor="ctr"/>
          <a:lstStyle/>
          <a:p>
            <a:pPr indent="0" marL="0">
              <a:buNone/>
            </a:pPr>
            <a:r>
              <a:rPr lang="en-US" sz="1200" b="1" dirty="0">
                <a:solidFill>
                  <a:srgbClr val="0F172A"/>
                </a:solidFill>
                <a:latin typeface="Cambria" pitchFamily="34" charset="0"/>
                <a:ea typeface="Cambria" pitchFamily="34" charset="-122"/>
                <a:cs typeface="Cambria" pitchFamily="34" charset="-120"/>
              </a:rPr>
              <a:t>Chart Directory Structure</a:t>
            </a:r>
            <a:endParaRPr lang="en-US" sz="1200" dirty="0"/>
          </a:p>
        </p:txBody>
      </p:sp>
      <p:sp>
        <p:nvSpPr>
          <p:cNvPr id="7" name="Shape 5"/>
          <p:cNvSpPr/>
          <p:nvPr/>
        </p:nvSpPr>
        <p:spPr>
          <a:xfrm>
            <a:off x="320040" y="1234440"/>
            <a:ext cx="4160520" cy="2852928"/>
          </a:xfrm>
          <a:prstGeom prst="roundRect">
            <a:avLst>
              <a:gd name="adj" fmla="val 3205"/>
            </a:avLst>
          </a:prstGeom>
          <a:solidFill>
            <a:srgbClr val="0F172A"/>
          </a:solidFill>
          <a:ln w="12700">
            <a:solidFill>
              <a:srgbClr val="334155"/>
            </a:solidFill>
            <a:prstDash val="solid"/>
          </a:ln>
          <a:effectLst>
            <a:outerShdw sx="100000" sy="100000" kx="0" ky="0" algn="bl" rotWithShape="0" blurRad="76200" dist="38100" dir="2700000">
              <a:srgbClr val="000000">
                <a:alpha val="10000"/>
              </a:srgbClr>
            </a:outerShdw>
          </a:effectLst>
        </p:spPr>
      </p:sp>
      <p:sp>
        <p:nvSpPr>
          <p:cNvPr id="8" name="Text 6"/>
          <p:cNvSpPr/>
          <p:nvPr/>
        </p:nvSpPr>
        <p:spPr>
          <a:xfrm>
            <a:off x="475488" y="1298448"/>
            <a:ext cx="3858768" cy="256032"/>
          </a:xfrm>
          <a:prstGeom prst="rect">
            <a:avLst/>
          </a:prstGeom>
          <a:noFill/>
          <a:ln/>
        </p:spPr>
        <p:txBody>
          <a:bodyPr wrap="square" lIns="0" tIns="0" rIns="0" bIns="0" rtlCol="0" anchor="ctr"/>
          <a:lstStyle/>
          <a:p>
            <a:pPr indent="0" marL="0">
              <a:buNone/>
            </a:pPr>
            <a:r>
              <a:rPr lang="en-US" sz="950" dirty="0">
                <a:solidFill>
                  <a:srgbClr val="6EE7B7"/>
                </a:solidFill>
                <a:latin typeface="Courier New" pitchFamily="34" charset="0"/>
                <a:ea typeface="Courier New" pitchFamily="34" charset="-122"/>
                <a:cs typeface="Courier New" pitchFamily="34" charset="-120"/>
              </a:rPr>
              <a:t>my-chart/</a:t>
            </a:r>
            <a:endParaRPr lang="en-US" sz="950" dirty="0"/>
          </a:p>
        </p:txBody>
      </p:sp>
      <p:sp>
        <p:nvSpPr>
          <p:cNvPr id="9" name="Text 7"/>
          <p:cNvSpPr/>
          <p:nvPr/>
        </p:nvSpPr>
        <p:spPr>
          <a:xfrm>
            <a:off x="475488" y="1572768"/>
            <a:ext cx="3858768" cy="256032"/>
          </a:xfrm>
          <a:prstGeom prst="rect">
            <a:avLst/>
          </a:prstGeom>
          <a:noFill/>
          <a:ln/>
        </p:spPr>
        <p:txBody>
          <a:bodyPr wrap="square" lIns="0" tIns="0" rIns="0" bIns="0" rtlCol="0" anchor="ctr"/>
          <a:lstStyle/>
          <a:p>
            <a:pPr indent="0" marL="0">
              <a:buNone/>
            </a:pPr>
            <a:r>
              <a:rPr lang="en-US" sz="950" dirty="0">
                <a:solidFill>
                  <a:srgbClr val="93C5FD"/>
                </a:solidFill>
                <a:latin typeface="Courier New" pitchFamily="34" charset="0"/>
                <a:ea typeface="Courier New" pitchFamily="34" charset="-122"/>
                <a:cs typeface="Courier New" pitchFamily="34" charset="-120"/>
              </a:rPr>
              <a:t>  Chart.yaml      # chart metadata</a:t>
            </a:r>
            <a:endParaRPr lang="en-US" sz="950" dirty="0"/>
          </a:p>
        </p:txBody>
      </p:sp>
      <p:sp>
        <p:nvSpPr>
          <p:cNvPr id="10" name="Text 8"/>
          <p:cNvSpPr/>
          <p:nvPr/>
        </p:nvSpPr>
        <p:spPr>
          <a:xfrm>
            <a:off x="475488" y="1847088"/>
            <a:ext cx="3858768" cy="256032"/>
          </a:xfrm>
          <a:prstGeom prst="rect">
            <a:avLst/>
          </a:prstGeom>
          <a:noFill/>
          <a:ln/>
        </p:spPr>
        <p:txBody>
          <a:bodyPr wrap="square" lIns="0" tIns="0" rIns="0" bIns="0" rtlCol="0" anchor="ctr"/>
          <a:lstStyle/>
          <a:p>
            <a:pPr indent="0" marL="0">
              <a:buNone/>
            </a:pPr>
            <a:r>
              <a:rPr lang="en-US" sz="950" dirty="0">
                <a:solidFill>
                  <a:srgbClr val="FDE68A"/>
                </a:solidFill>
                <a:latin typeface="Courier New" pitchFamily="34" charset="0"/>
                <a:ea typeface="Courier New" pitchFamily="34" charset="-122"/>
                <a:cs typeface="Courier New" pitchFamily="34" charset="-120"/>
              </a:rPr>
              <a:t>  values.yaml     # default values</a:t>
            </a:r>
            <a:endParaRPr lang="en-US" sz="950" dirty="0"/>
          </a:p>
        </p:txBody>
      </p:sp>
      <p:sp>
        <p:nvSpPr>
          <p:cNvPr id="11" name="Text 9"/>
          <p:cNvSpPr/>
          <p:nvPr/>
        </p:nvSpPr>
        <p:spPr>
          <a:xfrm>
            <a:off x="475488" y="2121408"/>
            <a:ext cx="3858768" cy="256032"/>
          </a:xfrm>
          <a:prstGeom prst="rect">
            <a:avLst/>
          </a:prstGeom>
          <a:noFill/>
          <a:ln/>
        </p:spPr>
        <p:txBody>
          <a:bodyPr wrap="square" lIns="0" tIns="0" rIns="0" bIns="0" rtlCol="0" anchor="ctr"/>
          <a:lstStyle/>
          <a:p>
            <a:pPr indent="0" marL="0">
              <a:buNone/>
            </a:pPr>
            <a:r>
              <a:rPr lang="en-US" sz="950" dirty="0">
                <a:solidFill>
                  <a:srgbClr val="C084FC"/>
                </a:solidFill>
                <a:latin typeface="Courier New" pitchFamily="34" charset="0"/>
                <a:ea typeface="Courier New" pitchFamily="34" charset="-122"/>
                <a:cs typeface="Courier New" pitchFamily="34" charset="-120"/>
              </a:rPr>
              <a:t>  templates/      # YAML templates</a:t>
            </a:r>
            <a:endParaRPr lang="en-US" sz="950" dirty="0"/>
          </a:p>
        </p:txBody>
      </p:sp>
      <p:sp>
        <p:nvSpPr>
          <p:cNvPr id="12" name="Text 10"/>
          <p:cNvSpPr/>
          <p:nvPr/>
        </p:nvSpPr>
        <p:spPr>
          <a:xfrm>
            <a:off x="475488" y="2395728"/>
            <a:ext cx="3858768" cy="256032"/>
          </a:xfrm>
          <a:prstGeom prst="rect">
            <a:avLst/>
          </a:prstGeom>
          <a:noFill/>
          <a:ln/>
        </p:spPr>
        <p:txBody>
          <a:bodyPr wrap="square" lIns="0" tIns="0" rIns="0" bIns="0" rtlCol="0" anchor="ctr"/>
          <a:lstStyle/>
          <a:p>
            <a:pPr indent="0" marL="0">
              <a:buNone/>
            </a:pPr>
            <a:r>
              <a:rPr lang="en-US" sz="950" dirty="0">
                <a:solidFill>
                  <a:srgbClr val="E2E8F0"/>
                </a:solidFill>
                <a:latin typeface="Courier New" pitchFamily="34" charset="0"/>
                <a:ea typeface="Courier New" pitchFamily="34" charset="-122"/>
                <a:cs typeface="Courier New" pitchFamily="34" charset="-120"/>
              </a:rPr>
              <a:t>    deployment.yaml</a:t>
            </a:r>
            <a:endParaRPr lang="en-US" sz="950" dirty="0"/>
          </a:p>
        </p:txBody>
      </p:sp>
      <p:sp>
        <p:nvSpPr>
          <p:cNvPr id="13" name="Text 11"/>
          <p:cNvSpPr/>
          <p:nvPr/>
        </p:nvSpPr>
        <p:spPr>
          <a:xfrm>
            <a:off x="475488" y="2670048"/>
            <a:ext cx="3858768" cy="256032"/>
          </a:xfrm>
          <a:prstGeom prst="rect">
            <a:avLst/>
          </a:prstGeom>
          <a:noFill/>
          <a:ln/>
        </p:spPr>
        <p:txBody>
          <a:bodyPr wrap="square" lIns="0" tIns="0" rIns="0" bIns="0" rtlCol="0" anchor="ctr"/>
          <a:lstStyle/>
          <a:p>
            <a:pPr indent="0" marL="0">
              <a:buNone/>
            </a:pPr>
            <a:r>
              <a:rPr lang="en-US" sz="950" dirty="0">
                <a:solidFill>
                  <a:srgbClr val="E2E8F0"/>
                </a:solidFill>
                <a:latin typeface="Courier New" pitchFamily="34" charset="0"/>
                <a:ea typeface="Courier New" pitchFamily="34" charset="-122"/>
                <a:cs typeface="Courier New" pitchFamily="34" charset="-120"/>
              </a:rPr>
              <a:t>    service.yaml</a:t>
            </a:r>
            <a:endParaRPr lang="en-US" sz="950" dirty="0"/>
          </a:p>
        </p:txBody>
      </p:sp>
      <p:sp>
        <p:nvSpPr>
          <p:cNvPr id="14" name="Text 12"/>
          <p:cNvSpPr/>
          <p:nvPr/>
        </p:nvSpPr>
        <p:spPr>
          <a:xfrm>
            <a:off x="475488" y="2944368"/>
            <a:ext cx="3858768" cy="256032"/>
          </a:xfrm>
          <a:prstGeom prst="rect">
            <a:avLst/>
          </a:prstGeom>
          <a:noFill/>
          <a:ln/>
        </p:spPr>
        <p:txBody>
          <a:bodyPr wrap="square" lIns="0" tIns="0" rIns="0" bIns="0" rtlCol="0" anchor="ctr"/>
          <a:lstStyle/>
          <a:p>
            <a:pPr indent="0" marL="0">
              <a:buNone/>
            </a:pPr>
            <a:r>
              <a:rPr lang="en-US" sz="950" dirty="0">
                <a:solidFill>
                  <a:srgbClr val="E2E8F0"/>
                </a:solidFill>
                <a:latin typeface="Courier New" pitchFamily="34" charset="0"/>
                <a:ea typeface="Courier New" pitchFamily="34" charset="-122"/>
                <a:cs typeface="Courier New" pitchFamily="34" charset="-120"/>
              </a:rPr>
              <a:t>    configmap.yaml</a:t>
            </a:r>
            <a:endParaRPr lang="en-US" sz="950" dirty="0"/>
          </a:p>
        </p:txBody>
      </p:sp>
      <p:sp>
        <p:nvSpPr>
          <p:cNvPr id="15" name="Text 13"/>
          <p:cNvSpPr/>
          <p:nvPr/>
        </p:nvSpPr>
        <p:spPr>
          <a:xfrm>
            <a:off x="475488" y="3218688"/>
            <a:ext cx="3858768" cy="256032"/>
          </a:xfrm>
          <a:prstGeom prst="rect">
            <a:avLst/>
          </a:prstGeom>
          <a:noFill/>
          <a:ln/>
        </p:spPr>
        <p:txBody>
          <a:bodyPr wrap="square" lIns="0" tIns="0" rIns="0" bIns="0" rtlCol="0" anchor="ctr"/>
          <a:lstStyle/>
          <a:p>
            <a:pPr indent="0" marL="0">
              <a:buNone/>
            </a:pPr>
            <a:r>
              <a:rPr lang="en-US" sz="950" dirty="0">
                <a:solidFill>
                  <a:srgbClr val="475569"/>
                </a:solidFill>
                <a:latin typeface="Courier New" pitchFamily="34" charset="0"/>
                <a:ea typeface="Courier New" pitchFamily="34" charset="-122"/>
                <a:cs typeface="Courier New" pitchFamily="34" charset="-120"/>
              </a:rPr>
              <a:t>    _helpers.tpl   # shared snippets</a:t>
            </a:r>
            <a:endParaRPr lang="en-US" sz="950" dirty="0"/>
          </a:p>
        </p:txBody>
      </p:sp>
      <p:sp>
        <p:nvSpPr>
          <p:cNvPr id="16" name="Text 14"/>
          <p:cNvSpPr/>
          <p:nvPr/>
        </p:nvSpPr>
        <p:spPr>
          <a:xfrm>
            <a:off x="475488" y="3493008"/>
            <a:ext cx="3858768" cy="256032"/>
          </a:xfrm>
          <a:prstGeom prst="rect">
            <a:avLst/>
          </a:prstGeom>
          <a:noFill/>
          <a:ln/>
        </p:spPr>
        <p:txBody>
          <a:bodyPr wrap="square" lIns="0" tIns="0" rIns="0" bIns="0" rtlCol="0" anchor="ctr"/>
          <a:lstStyle/>
          <a:p>
            <a:pPr indent="0" marL="0">
              <a:buNone/>
            </a:pPr>
            <a:r>
              <a:rPr lang="en-US" sz="950" dirty="0">
                <a:solidFill>
                  <a:srgbClr val="475569"/>
                </a:solidFill>
                <a:latin typeface="Courier New" pitchFamily="34" charset="0"/>
                <a:ea typeface="Courier New" pitchFamily="34" charset="-122"/>
                <a:cs typeface="Courier New" pitchFamily="34" charset="-120"/>
              </a:rPr>
              <a:t>  charts/         # sub-charts</a:t>
            </a:r>
            <a:endParaRPr lang="en-US" sz="950" dirty="0"/>
          </a:p>
        </p:txBody>
      </p:sp>
      <p:sp>
        <p:nvSpPr>
          <p:cNvPr id="17" name="Text 15"/>
          <p:cNvSpPr/>
          <p:nvPr/>
        </p:nvSpPr>
        <p:spPr>
          <a:xfrm>
            <a:off x="475488" y="3767328"/>
            <a:ext cx="3858768" cy="256032"/>
          </a:xfrm>
          <a:prstGeom prst="rect">
            <a:avLst/>
          </a:prstGeom>
          <a:noFill/>
          <a:ln/>
        </p:spPr>
        <p:txBody>
          <a:bodyPr wrap="square" lIns="0" tIns="0" rIns="0" bIns="0" rtlCol="0" anchor="ctr"/>
          <a:lstStyle/>
          <a:p>
            <a:pPr indent="0" marL="0">
              <a:buNone/>
            </a:pPr>
            <a:r>
              <a:rPr lang="en-US" sz="950" dirty="0">
                <a:solidFill>
                  <a:srgbClr val="475569"/>
                </a:solidFill>
                <a:latin typeface="Courier New" pitchFamily="34" charset="0"/>
                <a:ea typeface="Courier New" pitchFamily="34" charset="-122"/>
                <a:cs typeface="Courier New" pitchFamily="34" charset="-120"/>
              </a:rPr>
              <a:t>  .helmignore</a:t>
            </a:r>
            <a:endParaRPr lang="en-US" sz="950" dirty="0"/>
          </a:p>
        </p:txBody>
      </p:sp>
      <p:sp>
        <p:nvSpPr>
          <p:cNvPr id="18" name="Text 16"/>
          <p:cNvSpPr/>
          <p:nvPr/>
        </p:nvSpPr>
        <p:spPr>
          <a:xfrm>
            <a:off x="4663440" y="868680"/>
            <a:ext cx="4114800" cy="292608"/>
          </a:xfrm>
          <a:prstGeom prst="rect">
            <a:avLst/>
          </a:prstGeom>
          <a:noFill/>
          <a:ln/>
        </p:spPr>
        <p:txBody>
          <a:bodyPr wrap="square" lIns="0" tIns="0" rIns="0" bIns="0" rtlCol="0" anchor="ctr"/>
          <a:lstStyle/>
          <a:p>
            <a:pPr indent="0" marL="0">
              <a:buNone/>
            </a:pPr>
            <a:r>
              <a:rPr lang="en-US" sz="1100" b="1" dirty="0">
                <a:solidFill>
                  <a:srgbClr val="D97706"/>
                </a:solidFill>
                <a:latin typeface="Cambria" pitchFamily="34" charset="0"/>
                <a:ea typeface="Cambria" pitchFamily="34" charset="-122"/>
                <a:cs typeface="Cambria" pitchFamily="34" charset="-120"/>
              </a:rPr>
              <a:t>values.yaml</a:t>
            </a:r>
            <a:endParaRPr lang="en-US" sz="1100" dirty="0"/>
          </a:p>
        </p:txBody>
      </p:sp>
      <p:sp>
        <p:nvSpPr>
          <p:cNvPr id="19" name="Shape 17"/>
          <p:cNvSpPr/>
          <p:nvPr/>
        </p:nvSpPr>
        <p:spPr>
          <a:xfrm>
            <a:off x="4663440" y="1234440"/>
            <a:ext cx="4160520" cy="1325880"/>
          </a:xfrm>
          <a:prstGeom prst="roundRect">
            <a:avLst>
              <a:gd name="adj" fmla="val 6897"/>
            </a:avLst>
          </a:prstGeom>
          <a:solidFill>
            <a:srgbClr val="0F172A"/>
          </a:solidFill>
          <a:ln w="12700">
            <a:solidFill>
              <a:srgbClr val="334155"/>
            </a:solidFill>
            <a:prstDash val="solid"/>
          </a:ln>
          <a:effectLst>
            <a:outerShdw sx="100000" sy="100000" kx="0" ky="0" algn="bl" rotWithShape="0" blurRad="76200" dist="38100" dir="2700000">
              <a:srgbClr val="000000">
                <a:alpha val="10000"/>
              </a:srgbClr>
            </a:outerShdw>
          </a:effectLst>
        </p:spPr>
      </p:sp>
      <p:sp>
        <p:nvSpPr>
          <p:cNvPr id="20" name="Text 18"/>
          <p:cNvSpPr/>
          <p:nvPr/>
        </p:nvSpPr>
        <p:spPr>
          <a:xfrm>
            <a:off x="4818888" y="1344168"/>
            <a:ext cx="3849624" cy="201168"/>
          </a:xfrm>
          <a:prstGeom prst="rect">
            <a:avLst/>
          </a:prstGeom>
          <a:noFill/>
          <a:ln/>
        </p:spPr>
        <p:txBody>
          <a:bodyPr wrap="square" lIns="0" tIns="0" rIns="0" bIns="0" rtlCol="0" anchor="ctr"/>
          <a:lstStyle/>
          <a:p>
            <a:pPr indent="0" marL="0">
              <a:buNone/>
            </a:pPr>
            <a:r>
              <a:rPr lang="en-US" sz="950" dirty="0">
                <a:solidFill>
                  <a:srgbClr val="6EE7B7"/>
                </a:solidFill>
                <a:latin typeface="Courier New" pitchFamily="34" charset="0"/>
                <a:ea typeface="Courier New" pitchFamily="34" charset="-122"/>
                <a:cs typeface="Courier New" pitchFamily="34" charset="-120"/>
              </a:rPr>
              <a:t>replicaCount: 2</a:t>
            </a:r>
            <a:endParaRPr lang="en-US" sz="950" dirty="0"/>
          </a:p>
        </p:txBody>
      </p:sp>
      <p:sp>
        <p:nvSpPr>
          <p:cNvPr id="21" name="Text 19"/>
          <p:cNvSpPr/>
          <p:nvPr/>
        </p:nvSpPr>
        <p:spPr>
          <a:xfrm>
            <a:off x="4818888" y="1540764"/>
            <a:ext cx="3849624" cy="201168"/>
          </a:xfrm>
          <a:prstGeom prst="rect">
            <a:avLst/>
          </a:prstGeom>
          <a:noFill/>
          <a:ln/>
        </p:spPr>
        <p:txBody>
          <a:bodyPr wrap="square" lIns="0" tIns="0" rIns="0" bIns="0" rtlCol="0" anchor="ctr"/>
          <a:lstStyle/>
          <a:p>
            <a:pPr indent="0" marL="0">
              <a:buNone/>
            </a:pPr>
            <a:r>
              <a:rPr lang="en-US" sz="950" dirty="0">
                <a:solidFill>
                  <a:srgbClr val="93C5FD"/>
                </a:solidFill>
                <a:latin typeface="Courier New" pitchFamily="34" charset="0"/>
                <a:ea typeface="Courier New" pitchFamily="34" charset="-122"/>
                <a:cs typeface="Courier New" pitchFamily="34" charset="-120"/>
              </a:rPr>
              <a:t>image:</a:t>
            </a:r>
            <a:endParaRPr lang="en-US" sz="950" dirty="0"/>
          </a:p>
        </p:txBody>
      </p:sp>
      <p:sp>
        <p:nvSpPr>
          <p:cNvPr id="22" name="Text 20"/>
          <p:cNvSpPr/>
          <p:nvPr/>
        </p:nvSpPr>
        <p:spPr>
          <a:xfrm>
            <a:off x="4818888" y="1737360"/>
            <a:ext cx="3849624" cy="201168"/>
          </a:xfrm>
          <a:prstGeom prst="rect">
            <a:avLst/>
          </a:prstGeom>
          <a:noFill/>
          <a:ln/>
        </p:spPr>
        <p:txBody>
          <a:bodyPr wrap="square" lIns="0" tIns="0" rIns="0" bIns="0" rtlCol="0" anchor="ctr"/>
          <a:lstStyle/>
          <a:p>
            <a:pPr indent="0" marL="0">
              <a:buNone/>
            </a:pPr>
            <a:r>
              <a:rPr lang="en-US" sz="950" dirty="0">
                <a:solidFill>
                  <a:srgbClr val="FDE68A"/>
                </a:solidFill>
                <a:latin typeface="Courier New" pitchFamily="34" charset="0"/>
                <a:ea typeface="Courier New" pitchFamily="34" charset="-122"/>
                <a:cs typeface="Courier New" pitchFamily="34" charset="-120"/>
              </a:rPr>
              <a:t>  repository: nginx</a:t>
            </a:r>
            <a:endParaRPr lang="en-US" sz="950" dirty="0"/>
          </a:p>
        </p:txBody>
      </p:sp>
      <p:sp>
        <p:nvSpPr>
          <p:cNvPr id="23" name="Text 21"/>
          <p:cNvSpPr/>
          <p:nvPr/>
        </p:nvSpPr>
        <p:spPr>
          <a:xfrm>
            <a:off x="4818888" y="1933956"/>
            <a:ext cx="3849624" cy="201168"/>
          </a:xfrm>
          <a:prstGeom prst="rect">
            <a:avLst/>
          </a:prstGeom>
          <a:noFill/>
          <a:ln/>
        </p:spPr>
        <p:txBody>
          <a:bodyPr wrap="square" lIns="0" tIns="0" rIns="0" bIns="0" rtlCol="0" anchor="ctr"/>
          <a:lstStyle/>
          <a:p>
            <a:pPr indent="0" marL="0">
              <a:buNone/>
            </a:pPr>
            <a:r>
              <a:rPr lang="en-US" sz="950" dirty="0">
                <a:solidFill>
                  <a:srgbClr val="FDE68A"/>
                </a:solidFill>
                <a:latin typeface="Courier New" pitchFamily="34" charset="0"/>
                <a:ea typeface="Courier New" pitchFamily="34" charset="-122"/>
                <a:cs typeface="Courier New" pitchFamily="34" charset="-120"/>
              </a:rPr>
              <a:t>  tag: alpine</a:t>
            </a:r>
            <a:endParaRPr lang="en-US" sz="950" dirty="0"/>
          </a:p>
        </p:txBody>
      </p:sp>
      <p:sp>
        <p:nvSpPr>
          <p:cNvPr id="24" name="Text 22"/>
          <p:cNvSpPr/>
          <p:nvPr/>
        </p:nvSpPr>
        <p:spPr>
          <a:xfrm>
            <a:off x="4818888" y="2130552"/>
            <a:ext cx="3849624" cy="201168"/>
          </a:xfrm>
          <a:prstGeom prst="rect">
            <a:avLst/>
          </a:prstGeom>
          <a:noFill/>
          <a:ln/>
        </p:spPr>
        <p:txBody>
          <a:bodyPr wrap="square" lIns="0" tIns="0" rIns="0" bIns="0" rtlCol="0" anchor="ctr"/>
          <a:lstStyle/>
          <a:p>
            <a:pPr indent="0" marL="0">
              <a:buNone/>
            </a:pPr>
            <a:r>
              <a:rPr lang="en-US" sz="950" dirty="0">
                <a:solidFill>
                  <a:srgbClr val="93C5FD"/>
                </a:solidFill>
                <a:latin typeface="Courier New" pitchFamily="34" charset="0"/>
                <a:ea typeface="Courier New" pitchFamily="34" charset="-122"/>
                <a:cs typeface="Courier New" pitchFamily="34" charset="-120"/>
              </a:rPr>
              <a:t>service:</a:t>
            </a:r>
            <a:endParaRPr lang="en-US" sz="950" dirty="0"/>
          </a:p>
        </p:txBody>
      </p:sp>
      <p:sp>
        <p:nvSpPr>
          <p:cNvPr id="25" name="Text 23"/>
          <p:cNvSpPr/>
          <p:nvPr/>
        </p:nvSpPr>
        <p:spPr>
          <a:xfrm>
            <a:off x="4818888" y="2327148"/>
            <a:ext cx="3849624" cy="201168"/>
          </a:xfrm>
          <a:prstGeom prst="rect">
            <a:avLst/>
          </a:prstGeom>
          <a:noFill/>
          <a:ln/>
        </p:spPr>
        <p:txBody>
          <a:bodyPr wrap="square" lIns="0" tIns="0" rIns="0" bIns="0" rtlCol="0" anchor="ctr"/>
          <a:lstStyle/>
          <a:p>
            <a:pPr indent="0" marL="0">
              <a:buNone/>
            </a:pPr>
            <a:r>
              <a:rPr lang="en-US" sz="950" dirty="0">
                <a:solidFill>
                  <a:srgbClr val="FDE68A"/>
                </a:solidFill>
                <a:latin typeface="Courier New" pitchFamily="34" charset="0"/>
                <a:ea typeface="Courier New" pitchFamily="34" charset="-122"/>
                <a:cs typeface="Courier New" pitchFamily="34" charset="-120"/>
              </a:rPr>
              <a:t>  type: NodePort</a:t>
            </a:r>
            <a:endParaRPr lang="en-US" sz="950" dirty="0"/>
          </a:p>
        </p:txBody>
      </p:sp>
      <p:sp>
        <p:nvSpPr>
          <p:cNvPr id="26" name="Text 24"/>
          <p:cNvSpPr/>
          <p:nvPr/>
        </p:nvSpPr>
        <p:spPr>
          <a:xfrm>
            <a:off x="4818888" y="2523744"/>
            <a:ext cx="3849624" cy="201168"/>
          </a:xfrm>
          <a:prstGeom prst="rect">
            <a:avLst/>
          </a:prstGeom>
          <a:noFill/>
          <a:ln/>
        </p:spPr>
        <p:txBody>
          <a:bodyPr wrap="square" lIns="0" tIns="0" rIns="0" bIns="0" rtlCol="0" anchor="ctr"/>
          <a:lstStyle/>
          <a:p>
            <a:pPr indent="0" marL="0">
              <a:buNone/>
            </a:pPr>
            <a:r>
              <a:rPr lang="en-US" sz="950" dirty="0">
                <a:solidFill>
                  <a:srgbClr val="FDE68A"/>
                </a:solidFill>
                <a:latin typeface="Courier New" pitchFamily="34" charset="0"/>
                <a:ea typeface="Courier New" pitchFamily="34" charset="-122"/>
                <a:cs typeface="Courier New" pitchFamily="34" charset="-120"/>
              </a:rPr>
              <a:t>  port: 80</a:t>
            </a:r>
            <a:endParaRPr lang="en-US" sz="950" dirty="0"/>
          </a:p>
        </p:txBody>
      </p:sp>
      <p:sp>
        <p:nvSpPr>
          <p:cNvPr id="27" name="Text 25"/>
          <p:cNvSpPr/>
          <p:nvPr/>
        </p:nvSpPr>
        <p:spPr>
          <a:xfrm>
            <a:off x="4663440" y="2633472"/>
            <a:ext cx="4114800" cy="292608"/>
          </a:xfrm>
          <a:prstGeom prst="rect">
            <a:avLst/>
          </a:prstGeom>
          <a:noFill/>
          <a:ln/>
        </p:spPr>
        <p:txBody>
          <a:bodyPr wrap="square" lIns="0" tIns="0" rIns="0" bIns="0" rtlCol="0" anchor="ctr"/>
          <a:lstStyle/>
          <a:p>
            <a:pPr indent="0" marL="0">
              <a:buNone/>
            </a:pPr>
            <a:r>
              <a:rPr lang="en-US" sz="1100" b="1" dirty="0">
                <a:solidFill>
                  <a:srgbClr val="326CE5"/>
                </a:solidFill>
                <a:latin typeface="Cambria" pitchFamily="34" charset="0"/>
                <a:ea typeface="Cambria" pitchFamily="34" charset="-122"/>
                <a:cs typeface="Cambria" pitchFamily="34" charset="-120"/>
              </a:rPr>
              <a:t>template/deployment.yaml (excerpt)</a:t>
            </a:r>
            <a:endParaRPr lang="en-US" sz="1100" dirty="0"/>
          </a:p>
        </p:txBody>
      </p:sp>
      <p:sp>
        <p:nvSpPr>
          <p:cNvPr id="28" name="Shape 26"/>
          <p:cNvSpPr/>
          <p:nvPr/>
        </p:nvSpPr>
        <p:spPr>
          <a:xfrm>
            <a:off x="4663440" y="2971800"/>
            <a:ext cx="4160520" cy="1463040"/>
          </a:xfrm>
          <a:prstGeom prst="roundRect">
            <a:avLst>
              <a:gd name="adj" fmla="val 6250"/>
            </a:avLst>
          </a:prstGeom>
          <a:solidFill>
            <a:srgbClr val="0F172A"/>
          </a:solidFill>
          <a:ln w="12700">
            <a:solidFill>
              <a:srgbClr val="334155"/>
            </a:solidFill>
            <a:prstDash val="solid"/>
          </a:ln>
          <a:effectLst>
            <a:outerShdw sx="100000" sy="100000" kx="0" ky="0" algn="bl" rotWithShape="0" blurRad="76200" dist="38100" dir="2700000">
              <a:srgbClr val="000000">
                <a:alpha val="10000"/>
              </a:srgbClr>
            </a:outerShdw>
          </a:effectLst>
        </p:spPr>
      </p:sp>
      <p:sp>
        <p:nvSpPr>
          <p:cNvPr id="29" name="Text 27"/>
          <p:cNvSpPr/>
          <p:nvPr/>
        </p:nvSpPr>
        <p:spPr>
          <a:xfrm>
            <a:off x="4818888" y="3081528"/>
            <a:ext cx="3849624" cy="201168"/>
          </a:xfrm>
          <a:prstGeom prst="rect">
            <a:avLst/>
          </a:prstGeom>
          <a:noFill/>
          <a:ln/>
        </p:spPr>
        <p:txBody>
          <a:bodyPr wrap="square" lIns="0" tIns="0" rIns="0" bIns="0" rtlCol="0" anchor="ctr"/>
          <a:lstStyle/>
          <a:p>
            <a:pPr indent="0" marL="0">
              <a:buNone/>
            </a:pPr>
            <a:r>
              <a:rPr lang="en-US" sz="950" dirty="0">
                <a:solidFill>
                  <a:srgbClr val="6EE7B7"/>
                </a:solidFill>
                <a:latin typeface="Courier New" pitchFamily="34" charset="0"/>
                <a:ea typeface="Courier New" pitchFamily="34" charset="-122"/>
                <a:cs typeface="Courier New" pitchFamily="34" charset="-120"/>
              </a:rPr>
              <a:t>replicas: {{ .Values.replicaCount }}</a:t>
            </a:r>
            <a:endParaRPr lang="en-US" sz="950" dirty="0"/>
          </a:p>
        </p:txBody>
      </p:sp>
      <p:sp>
        <p:nvSpPr>
          <p:cNvPr id="30" name="Text 28"/>
          <p:cNvSpPr/>
          <p:nvPr/>
        </p:nvSpPr>
        <p:spPr>
          <a:xfrm>
            <a:off x="4818888" y="3278124"/>
            <a:ext cx="3849624" cy="201168"/>
          </a:xfrm>
          <a:prstGeom prst="rect">
            <a:avLst/>
          </a:prstGeom>
          <a:noFill/>
          <a:ln/>
        </p:spPr>
        <p:txBody>
          <a:bodyPr wrap="square" lIns="0" tIns="0" rIns="0" bIns="0" rtlCol="0" anchor="ctr"/>
          <a:lstStyle/>
          <a:p>
            <a:pPr indent="0" marL="0">
              <a:buNone/>
            </a:pPr>
            <a:r>
              <a:rPr lang="en-US" sz="950" dirty="0">
                <a:solidFill>
                  <a:srgbClr val="93C5FD"/>
                </a:solidFill>
                <a:latin typeface="Courier New" pitchFamily="34" charset="0"/>
                <a:ea typeface="Courier New" pitchFamily="34" charset="-122"/>
                <a:cs typeface="Courier New" pitchFamily="34" charset="-120"/>
              </a:rPr>
              <a:t>containers:</a:t>
            </a:r>
            <a:endParaRPr lang="en-US" sz="950" dirty="0"/>
          </a:p>
        </p:txBody>
      </p:sp>
      <p:sp>
        <p:nvSpPr>
          <p:cNvPr id="31" name="Text 29"/>
          <p:cNvSpPr/>
          <p:nvPr/>
        </p:nvSpPr>
        <p:spPr>
          <a:xfrm>
            <a:off x="4818888" y="3474720"/>
            <a:ext cx="3849624" cy="201168"/>
          </a:xfrm>
          <a:prstGeom prst="rect">
            <a:avLst/>
          </a:prstGeom>
          <a:noFill/>
          <a:ln/>
        </p:spPr>
        <p:txBody>
          <a:bodyPr wrap="square" lIns="0" tIns="0" rIns="0" bIns="0" rtlCol="0" anchor="ctr"/>
          <a:lstStyle/>
          <a:p>
            <a:pPr indent="0" marL="0">
              <a:buNone/>
            </a:pPr>
            <a:r>
              <a:rPr lang="en-US" sz="950" dirty="0">
                <a:solidFill>
                  <a:srgbClr val="FDE68A"/>
                </a:solidFill>
                <a:latin typeface="Courier New" pitchFamily="34" charset="0"/>
                <a:ea typeface="Courier New" pitchFamily="34" charset="-122"/>
                <a:cs typeface="Courier New" pitchFamily="34" charset="-120"/>
              </a:rPr>
              <a:t>- name: {{ .Chart.Name }}</a:t>
            </a:r>
            <a:endParaRPr lang="en-US" sz="950" dirty="0"/>
          </a:p>
        </p:txBody>
      </p:sp>
      <p:sp>
        <p:nvSpPr>
          <p:cNvPr id="32" name="Text 30"/>
          <p:cNvSpPr/>
          <p:nvPr/>
        </p:nvSpPr>
        <p:spPr>
          <a:xfrm>
            <a:off x="4818888" y="3671316"/>
            <a:ext cx="3849624" cy="201168"/>
          </a:xfrm>
          <a:prstGeom prst="rect">
            <a:avLst/>
          </a:prstGeom>
          <a:noFill/>
          <a:ln/>
        </p:spPr>
        <p:txBody>
          <a:bodyPr wrap="square" lIns="0" tIns="0" rIns="0" bIns="0" rtlCol="0" anchor="ctr"/>
          <a:lstStyle/>
          <a:p>
            <a:pPr indent="0" marL="0">
              <a:buNone/>
            </a:pPr>
            <a:r>
              <a:rPr lang="en-US" sz="950" dirty="0">
                <a:solidFill>
                  <a:srgbClr val="FDE68A"/>
                </a:solidFill>
                <a:latin typeface="Courier New" pitchFamily="34" charset="0"/>
                <a:ea typeface="Courier New" pitchFamily="34" charset="-122"/>
                <a:cs typeface="Courier New" pitchFamily="34" charset="-120"/>
              </a:rPr>
              <a:t>  image: {{ .Values.image.repository }}</a:t>
            </a:r>
            <a:endParaRPr lang="en-US" sz="950" dirty="0"/>
          </a:p>
        </p:txBody>
      </p:sp>
      <p:sp>
        <p:nvSpPr>
          <p:cNvPr id="33" name="Text 31"/>
          <p:cNvSpPr/>
          <p:nvPr/>
        </p:nvSpPr>
        <p:spPr>
          <a:xfrm>
            <a:off x="4818888" y="3867912"/>
            <a:ext cx="3849624" cy="201168"/>
          </a:xfrm>
          <a:prstGeom prst="rect">
            <a:avLst/>
          </a:prstGeom>
          <a:noFill/>
          <a:ln/>
        </p:spPr>
        <p:txBody>
          <a:bodyPr wrap="square" lIns="0" tIns="0" rIns="0" bIns="0" rtlCol="0" anchor="ctr"/>
          <a:lstStyle/>
          <a:p>
            <a:pPr indent="0" marL="0">
              <a:buNone/>
            </a:pPr>
            <a:r>
              <a:rPr lang="en-US" sz="950" dirty="0">
                <a:solidFill>
                  <a:srgbClr val="FDE68A"/>
                </a:solidFill>
                <a:latin typeface="Courier New" pitchFamily="34" charset="0"/>
                <a:ea typeface="Courier New" pitchFamily="34" charset="-122"/>
                <a:cs typeface="Courier New" pitchFamily="34" charset="-120"/>
              </a:rPr>
              <a:t>    :{{ .Values.image.tag }}</a:t>
            </a:r>
            <a:endParaRPr lang="en-US" sz="950" dirty="0"/>
          </a:p>
        </p:txBody>
      </p:sp>
      <p:sp>
        <p:nvSpPr>
          <p:cNvPr id="34" name="Text 32"/>
          <p:cNvSpPr/>
          <p:nvPr/>
        </p:nvSpPr>
        <p:spPr>
          <a:xfrm>
            <a:off x="4818888" y="4261104"/>
            <a:ext cx="3849624" cy="201168"/>
          </a:xfrm>
          <a:prstGeom prst="rect">
            <a:avLst/>
          </a:prstGeom>
          <a:noFill/>
          <a:ln/>
        </p:spPr>
        <p:txBody>
          <a:bodyPr wrap="square" lIns="0" tIns="0" rIns="0" bIns="0" rtlCol="0" anchor="ctr"/>
          <a:lstStyle/>
          <a:p>
            <a:pPr indent="0" marL="0">
              <a:buNone/>
            </a:pPr>
            <a:r>
              <a:rPr lang="en-US" sz="950" dirty="0">
                <a:solidFill>
                  <a:srgbClr val="475569"/>
                </a:solidFill>
                <a:latin typeface="Courier New" pitchFamily="34" charset="0"/>
                <a:ea typeface="Courier New" pitchFamily="34" charset="-122"/>
                <a:cs typeface="Courier New" pitchFamily="34" charset="-120"/>
              </a:rPr>
              <a:t># Override at install:</a:t>
            </a:r>
            <a:endParaRPr lang="en-US" sz="950" dirty="0"/>
          </a:p>
        </p:txBody>
      </p:sp>
      <p:sp>
        <p:nvSpPr>
          <p:cNvPr id="35" name="Text 33"/>
          <p:cNvSpPr/>
          <p:nvPr/>
        </p:nvSpPr>
        <p:spPr>
          <a:xfrm>
            <a:off x="4818888" y="4457700"/>
            <a:ext cx="3849624" cy="201168"/>
          </a:xfrm>
          <a:prstGeom prst="rect">
            <a:avLst/>
          </a:prstGeom>
          <a:noFill/>
          <a:ln/>
        </p:spPr>
        <p:txBody>
          <a:bodyPr wrap="square" lIns="0" tIns="0" rIns="0" bIns="0" rtlCol="0" anchor="ctr"/>
          <a:lstStyle/>
          <a:p>
            <a:pPr indent="0" marL="0">
              <a:buNone/>
            </a:pPr>
            <a:r>
              <a:rPr lang="en-US" sz="950" dirty="0">
                <a:solidFill>
                  <a:srgbClr val="475569"/>
                </a:solidFill>
                <a:latin typeface="Courier New" pitchFamily="34" charset="0"/>
                <a:ea typeface="Courier New" pitchFamily="34" charset="-122"/>
                <a:cs typeface="Courier New" pitchFamily="34" charset="-120"/>
              </a:rPr>
              <a:t># helm install app ./chart --set replicaCount=5</a:t>
            </a:r>
            <a:endParaRPr lang="en-US" sz="950" dirty="0"/>
          </a:p>
        </p:txBody>
      </p:sp>
      <p:sp>
        <p:nvSpPr>
          <p:cNvPr id="36" name="Shape 34"/>
          <p:cNvSpPr/>
          <p:nvPr/>
        </p:nvSpPr>
        <p:spPr>
          <a:xfrm>
            <a:off x="0" y="4846320"/>
            <a:ext cx="9144000" cy="297180"/>
          </a:xfrm>
          <a:prstGeom prst="rect">
            <a:avLst/>
          </a:prstGeom>
          <a:solidFill>
            <a:srgbClr val="0F172A"/>
          </a:solidFill>
          <a:ln w="12700">
            <a:solidFill>
              <a:srgbClr val="0F172A"/>
            </a:solidFill>
            <a:prstDash val="solid"/>
          </a:ln>
        </p:spPr>
      </p:sp>
      <p:sp>
        <p:nvSpPr>
          <p:cNvPr id="37" name="Text 35"/>
          <p:cNvSpPr/>
          <p:nvPr/>
        </p:nvSpPr>
        <p:spPr>
          <a:xfrm>
            <a:off x="365760" y="4864608"/>
            <a:ext cx="8412480" cy="256032"/>
          </a:xfrm>
          <a:prstGeom prst="rect">
            <a:avLst/>
          </a:prstGeom>
          <a:noFill/>
          <a:ln/>
        </p:spPr>
        <p:txBody>
          <a:bodyPr wrap="square" lIns="0" tIns="0" rIns="0" bIns="0" rtlCol="0" anchor="ctr"/>
          <a:lstStyle/>
          <a:p>
            <a:pPr algn="ctr" indent="0" marL="0">
              <a:buNone/>
            </a:pPr>
            <a:r>
              <a:rPr lang="en-US" sz="900" dirty="0">
                <a:solidFill>
                  <a:srgbClr val="94A3B8"/>
                </a:solidFill>
                <a:latin typeface="Arial" pitchFamily="34" charset="0"/>
                <a:ea typeface="Arial" pitchFamily="34" charset="-122"/>
                <a:cs typeface="Arial" pitchFamily="34" charset="-120"/>
              </a:rPr>
              <a:t>Trainer Guide  —  Section 07: Helm</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365760" cy="5143500"/>
          </a:xfrm>
          <a:prstGeom prst="rect">
            <a:avLst/>
          </a:prstGeom>
          <a:solidFill>
            <a:srgbClr val="326CE5"/>
          </a:solidFill>
          <a:ln w="12700">
            <a:solidFill>
              <a:srgbClr val="326CE5"/>
            </a:solidFill>
            <a:prstDash val="solid"/>
          </a:ln>
        </p:spPr>
      </p:sp>
      <p:sp>
        <p:nvSpPr>
          <p:cNvPr id="3" name="Shape 1"/>
          <p:cNvSpPr/>
          <p:nvPr/>
        </p:nvSpPr>
        <p:spPr>
          <a:xfrm>
            <a:off x="5943600" y="-914400"/>
            <a:ext cx="4572000" cy="4572000"/>
          </a:xfrm>
          <a:prstGeom prst="ellipse">
            <a:avLst/>
          </a:prstGeom>
          <a:solidFill>
            <a:srgbClr val="326CE5">
              <a:alpha val="10000"/>
            </a:srgbClr>
          </a:solidFill>
          <a:ln w="12700">
            <a:solidFill>
              <a:srgbClr val="326CE5">
                <a:alpha val="20000"/>
              </a:srgbClr>
            </a:solidFill>
            <a:prstDash val="solid"/>
          </a:ln>
        </p:spPr>
      </p:sp>
      <p:sp>
        <p:nvSpPr>
          <p:cNvPr id="4" name="Text 2"/>
          <p:cNvSpPr/>
          <p:nvPr/>
        </p:nvSpPr>
        <p:spPr>
          <a:xfrm>
            <a:off x="640080" y="1463040"/>
            <a:ext cx="7315200" cy="365760"/>
          </a:xfrm>
          <a:prstGeom prst="rect">
            <a:avLst/>
          </a:prstGeom>
          <a:noFill/>
          <a:ln/>
        </p:spPr>
        <p:txBody>
          <a:bodyPr wrap="square" lIns="0" tIns="0" rIns="0" bIns="0" rtlCol="0" anchor="ctr"/>
          <a:lstStyle/>
          <a:p>
            <a:pPr indent="0" marL="0">
              <a:buNone/>
            </a:pPr>
            <a:r>
              <a:rPr lang="en-US" sz="1200" b="1" spc="400" kern="0" dirty="0">
                <a:solidFill>
                  <a:srgbClr val="326CE5"/>
                </a:solidFill>
                <a:latin typeface="Arial" pitchFamily="34" charset="0"/>
                <a:ea typeface="Arial" pitchFamily="34" charset="-122"/>
                <a:cs typeface="Arial" pitchFamily="34" charset="-120"/>
              </a:rPr>
              <a:t>SECTION 08</a:t>
            </a:r>
            <a:endParaRPr lang="en-US" sz="1200" dirty="0"/>
          </a:p>
        </p:txBody>
      </p:sp>
      <p:sp>
        <p:nvSpPr>
          <p:cNvPr id="5" name="Text 3"/>
          <p:cNvSpPr/>
          <p:nvPr/>
        </p:nvSpPr>
        <p:spPr>
          <a:xfrm>
            <a:off x="640080" y="1874520"/>
            <a:ext cx="7772400" cy="100584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Monitoring &amp; Observability</a:t>
            </a:r>
            <a:endParaRPr lang="en-US" sz="4600" dirty="0"/>
          </a:p>
        </p:txBody>
      </p:sp>
      <p:sp>
        <p:nvSpPr>
          <p:cNvPr id="6" name="Text 4"/>
          <p:cNvSpPr/>
          <p:nvPr/>
        </p:nvSpPr>
        <p:spPr>
          <a:xfrm>
            <a:off x="640080" y="2926080"/>
            <a:ext cx="6400800" cy="411480"/>
          </a:xfrm>
          <a:prstGeom prst="rect">
            <a:avLst/>
          </a:prstGeom>
          <a:noFill/>
          <a:ln/>
        </p:spPr>
        <p:txBody>
          <a:bodyPr wrap="square" lIns="0" tIns="0" rIns="0" bIns="0" rtlCol="0" anchor="ctr"/>
          <a:lstStyle/>
          <a:p>
            <a:pPr indent="0" marL="0">
              <a:buNone/>
            </a:pPr>
            <a:r>
              <a:rPr lang="en-US" sz="1500" dirty="0">
                <a:solidFill>
                  <a:srgbClr val="94A3B8"/>
                </a:solidFill>
                <a:latin typeface="Arial" pitchFamily="34" charset="0"/>
                <a:ea typeface="Arial" pitchFamily="34" charset="-122"/>
                <a:cs typeface="Arial" pitchFamily="34" charset="-120"/>
              </a:rPr>
              <a:t>Metrics, logs and visibility into your cluster</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0F172A"/>
          </a:solidFill>
          <a:ln w="12700">
            <a:solidFill>
              <a:srgbClr val="0F172A"/>
            </a:solidFill>
            <a:prstDash val="solid"/>
          </a:ln>
        </p:spPr>
      </p:sp>
      <p:sp>
        <p:nvSpPr>
          <p:cNvPr id="3" name="Text 1"/>
          <p:cNvSpPr/>
          <p:nvPr/>
        </p:nvSpPr>
        <p:spPr>
          <a:xfrm>
            <a:off x="411480" y="73152"/>
            <a:ext cx="6858000" cy="530352"/>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MONITORING — THE THREE PILLARS</a:t>
            </a:r>
            <a:endParaRPr lang="en-US" sz="2000" dirty="0"/>
          </a:p>
        </p:txBody>
      </p:sp>
      <p:sp>
        <p:nvSpPr>
          <p:cNvPr id="4" name="Shape 2"/>
          <p:cNvSpPr/>
          <p:nvPr/>
        </p:nvSpPr>
        <p:spPr>
          <a:xfrm>
            <a:off x="7178040" y="109728"/>
            <a:ext cx="1600200" cy="475488"/>
          </a:xfrm>
          <a:prstGeom prst="roundRect">
            <a:avLst>
              <a:gd name="adj" fmla="val 11538"/>
            </a:avLst>
          </a:prstGeom>
          <a:solidFill>
            <a:srgbClr val="326CE5"/>
          </a:solidFill>
          <a:ln w="12700">
            <a:solidFill>
              <a:srgbClr val="326CE5"/>
            </a:solidFill>
            <a:prstDash val="solid"/>
          </a:ln>
        </p:spPr>
      </p:sp>
      <p:sp>
        <p:nvSpPr>
          <p:cNvPr id="5" name="Text 3"/>
          <p:cNvSpPr/>
          <p:nvPr/>
        </p:nvSpPr>
        <p:spPr>
          <a:xfrm>
            <a:off x="7178040" y="109728"/>
            <a:ext cx="1600200" cy="475488"/>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Section 08  •  Monitoring</a:t>
            </a:r>
            <a:endParaRPr lang="en-US" sz="950" dirty="0"/>
          </a:p>
        </p:txBody>
      </p:sp>
      <p:sp>
        <p:nvSpPr>
          <p:cNvPr id="6" name="Shape 4"/>
          <p:cNvSpPr/>
          <p:nvPr/>
        </p:nvSpPr>
        <p:spPr>
          <a:xfrm>
            <a:off x="320040" y="868680"/>
            <a:ext cx="8503920" cy="658368"/>
          </a:xfrm>
          <a:prstGeom prst="roundRect">
            <a:avLst>
              <a:gd name="adj" fmla="val 13889"/>
            </a:avLst>
          </a:prstGeom>
          <a:solidFill>
            <a:srgbClr val="E8EFFE"/>
          </a:solidFill>
          <a:ln w="12700">
            <a:solidFill>
              <a:srgbClr val="A5B4FC"/>
            </a:solidFill>
            <a:prstDash val="solid"/>
          </a:ln>
          <a:effectLst>
            <a:outerShdw sx="100000" sy="100000" kx="0" ky="0" algn="bl" rotWithShape="0" blurRad="76200" dist="38100" dir="2700000">
              <a:srgbClr val="000000">
                <a:alpha val="10000"/>
              </a:srgbClr>
            </a:outerShdw>
          </a:effectLst>
        </p:spPr>
      </p:sp>
      <p:sp>
        <p:nvSpPr>
          <p:cNvPr id="7" name="Text 5"/>
          <p:cNvSpPr/>
          <p:nvPr/>
        </p:nvSpPr>
        <p:spPr>
          <a:xfrm>
            <a:off x="475488" y="914400"/>
            <a:ext cx="8229600" cy="566928"/>
          </a:xfrm>
          <a:prstGeom prst="rect">
            <a:avLst/>
          </a:prstGeom>
          <a:noFill/>
          <a:ln/>
        </p:spPr>
        <p:txBody>
          <a:bodyPr wrap="square" lIns="0" tIns="0" rIns="0" bIns="0" rtlCol="0" anchor="ctr"/>
          <a:lstStyle/>
          <a:p>
            <a:pPr indent="0" marL="0">
              <a:buNone/>
            </a:pPr>
            <a:r>
              <a:rPr lang="en-US" sz="1250" dirty="0">
                <a:solidFill>
                  <a:srgbClr val="0F172A"/>
                </a:solidFill>
                <a:latin typeface="Cambria" pitchFamily="34" charset="0"/>
                <a:ea typeface="Cambria" pitchFamily="34" charset="-122"/>
                <a:cs typeface="Cambria" pitchFamily="34" charset="-120"/>
              </a:rPr>
              <a:t>Observability in Kubernetes has three pillars: Metrics (numbers over time), Logs (event records from containers) and Traces (request paths through services).</a:t>
            </a:r>
            <a:endParaRPr lang="en-US" sz="1250" dirty="0"/>
          </a:p>
        </p:txBody>
      </p:sp>
      <p:sp>
        <p:nvSpPr>
          <p:cNvPr id="8" name="Shape 6"/>
          <p:cNvSpPr/>
          <p:nvPr/>
        </p:nvSpPr>
        <p:spPr>
          <a:xfrm>
            <a:off x="320040" y="1664208"/>
            <a:ext cx="2697480" cy="2816352"/>
          </a:xfrm>
          <a:prstGeom prst="roundRect">
            <a:avLst>
              <a:gd name="adj" fmla="val 3390"/>
            </a:avLst>
          </a:prstGeom>
          <a:solidFill>
            <a:srgbClr val="E8EFFE"/>
          </a:solidFill>
          <a:ln w="12700">
            <a:solidFill>
              <a:srgbClr val="E2E8F0"/>
            </a:solidFill>
            <a:prstDash val="solid"/>
          </a:ln>
          <a:effectLst>
            <a:outerShdw sx="100000" sy="100000" kx="0" ky="0" algn="bl" rotWithShape="0" blurRad="76200" dist="38100" dir="2700000">
              <a:srgbClr val="000000">
                <a:alpha val="10000"/>
              </a:srgbClr>
            </a:outerShdw>
          </a:effectLst>
        </p:spPr>
      </p:sp>
      <p:sp>
        <p:nvSpPr>
          <p:cNvPr id="9" name="Text 7"/>
          <p:cNvSpPr/>
          <p:nvPr/>
        </p:nvSpPr>
        <p:spPr>
          <a:xfrm>
            <a:off x="475488" y="1783080"/>
            <a:ext cx="548640" cy="548640"/>
          </a:xfrm>
          <a:prstGeom prst="rect">
            <a:avLst/>
          </a:prstGeom>
          <a:noFill/>
          <a:ln/>
        </p:spPr>
        <p:txBody>
          <a:bodyPr wrap="square" lIns="0" tIns="0" rIns="0" bIns="0" rtlCol="0" anchor="ctr"/>
          <a:lstStyle/>
          <a:p>
            <a:pPr indent="0" marL="0">
              <a:buNone/>
            </a:pPr>
            <a:r>
              <a:rPr lang="en-US" sz="2800" dirty="0">
                <a:solidFill>
                  <a:srgbClr val="000000"/>
                </a:solidFill>
              </a:rPr>
              <a:t>📊</a:t>
            </a:r>
            <a:endParaRPr lang="en-US" sz="2800" dirty="0"/>
          </a:p>
        </p:txBody>
      </p:sp>
      <p:sp>
        <p:nvSpPr>
          <p:cNvPr id="10" name="Text 8"/>
          <p:cNvSpPr/>
          <p:nvPr/>
        </p:nvSpPr>
        <p:spPr>
          <a:xfrm>
            <a:off x="475488" y="2359152"/>
            <a:ext cx="2423160" cy="329184"/>
          </a:xfrm>
          <a:prstGeom prst="rect">
            <a:avLst/>
          </a:prstGeom>
          <a:noFill/>
          <a:ln/>
        </p:spPr>
        <p:txBody>
          <a:bodyPr wrap="square" lIns="0" tIns="0" rIns="0" bIns="0" rtlCol="0" anchor="ctr"/>
          <a:lstStyle/>
          <a:p>
            <a:pPr indent="0" marL="0">
              <a:buNone/>
            </a:pPr>
            <a:r>
              <a:rPr lang="en-US" sz="1400" b="1" dirty="0">
                <a:solidFill>
                  <a:srgbClr val="326CE5"/>
                </a:solidFill>
                <a:latin typeface="Cambria" pitchFamily="34" charset="0"/>
                <a:ea typeface="Cambria" pitchFamily="34" charset="-122"/>
                <a:cs typeface="Cambria" pitchFamily="34" charset="-120"/>
              </a:rPr>
              <a:t>Metrics</a:t>
            </a:r>
            <a:endParaRPr lang="en-US" sz="1400" dirty="0"/>
          </a:p>
        </p:txBody>
      </p:sp>
      <p:sp>
        <p:nvSpPr>
          <p:cNvPr id="11" name="Shape 9"/>
          <p:cNvSpPr/>
          <p:nvPr/>
        </p:nvSpPr>
        <p:spPr>
          <a:xfrm>
            <a:off x="475488" y="2724912"/>
            <a:ext cx="2423160" cy="256032"/>
          </a:xfrm>
          <a:prstGeom prst="roundRect">
            <a:avLst>
              <a:gd name="adj" fmla="val 17857"/>
            </a:avLst>
          </a:prstGeom>
          <a:solidFill>
            <a:srgbClr val="326CE5"/>
          </a:solidFill>
          <a:ln w="12700">
            <a:solidFill>
              <a:srgbClr val="326CE5"/>
            </a:solidFill>
            <a:prstDash val="solid"/>
          </a:ln>
        </p:spPr>
      </p:sp>
      <p:sp>
        <p:nvSpPr>
          <p:cNvPr id="12" name="Text 10"/>
          <p:cNvSpPr/>
          <p:nvPr/>
        </p:nvSpPr>
        <p:spPr>
          <a:xfrm>
            <a:off x="475488" y="2724912"/>
            <a:ext cx="2423160" cy="256032"/>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Prometheus + Grafana</a:t>
            </a:r>
            <a:endParaRPr lang="en-US" sz="950" dirty="0"/>
          </a:p>
        </p:txBody>
      </p:sp>
      <p:sp>
        <p:nvSpPr>
          <p:cNvPr id="13" name="Text 11"/>
          <p:cNvSpPr/>
          <p:nvPr/>
        </p:nvSpPr>
        <p:spPr>
          <a:xfrm>
            <a:off x="475488" y="3035808"/>
            <a:ext cx="2423160" cy="1353312"/>
          </a:xfrm>
          <a:prstGeom prst="rect">
            <a:avLst/>
          </a:prstGeom>
          <a:noFill/>
          <a:ln/>
        </p:spPr>
        <p:txBody>
          <a:bodyPr wrap="square" lIns="0" tIns="0" rIns="0" bIns="0" rtlCol="0" anchor="ctr"/>
          <a:lstStyle/>
          <a:p>
            <a:pPr indent="0" marL="0">
              <a:buNone/>
            </a:pPr>
            <a:r>
              <a:rPr lang="en-US" sz="1000" dirty="0">
                <a:solidFill>
                  <a:srgbClr val="475569"/>
                </a:solidFill>
                <a:latin typeface="Arial" pitchFamily="34" charset="0"/>
                <a:ea typeface="Arial" pitchFamily="34" charset="-122"/>
                <a:cs typeface="Arial" pitchFamily="34" charset="-120"/>
              </a:rPr>
              <a:t>Collects CPU, memory, request rate, error rate. Prometheus scrapes metrics from Pods. Grafana visualises them as dashboards.</a:t>
            </a:r>
            <a:endParaRPr lang="en-US" sz="1000" dirty="0"/>
          </a:p>
        </p:txBody>
      </p:sp>
      <p:sp>
        <p:nvSpPr>
          <p:cNvPr id="14" name="Shape 12"/>
          <p:cNvSpPr/>
          <p:nvPr/>
        </p:nvSpPr>
        <p:spPr>
          <a:xfrm>
            <a:off x="3172968" y="1664208"/>
            <a:ext cx="2697480" cy="2816352"/>
          </a:xfrm>
          <a:prstGeom prst="roundRect">
            <a:avLst>
              <a:gd name="adj" fmla="val 3390"/>
            </a:avLst>
          </a:prstGeom>
          <a:solidFill>
            <a:srgbClr val="D1FAE5"/>
          </a:solidFill>
          <a:ln w="12700">
            <a:solidFill>
              <a:srgbClr val="E2E8F0"/>
            </a:solidFill>
            <a:prstDash val="solid"/>
          </a:ln>
          <a:effectLst>
            <a:outerShdw sx="100000" sy="100000" kx="0" ky="0" algn="bl" rotWithShape="0" blurRad="76200" dist="38100" dir="2700000">
              <a:srgbClr val="000000">
                <a:alpha val="10000"/>
              </a:srgbClr>
            </a:outerShdw>
          </a:effectLst>
        </p:spPr>
      </p:sp>
      <p:sp>
        <p:nvSpPr>
          <p:cNvPr id="15" name="Text 13"/>
          <p:cNvSpPr/>
          <p:nvPr/>
        </p:nvSpPr>
        <p:spPr>
          <a:xfrm>
            <a:off x="3328416" y="1783080"/>
            <a:ext cx="548640" cy="548640"/>
          </a:xfrm>
          <a:prstGeom prst="rect">
            <a:avLst/>
          </a:prstGeom>
          <a:noFill/>
          <a:ln/>
        </p:spPr>
        <p:txBody>
          <a:bodyPr wrap="square" lIns="0" tIns="0" rIns="0" bIns="0" rtlCol="0" anchor="ctr"/>
          <a:lstStyle/>
          <a:p>
            <a:pPr indent="0" marL="0">
              <a:buNone/>
            </a:pPr>
            <a:r>
              <a:rPr lang="en-US" sz="2800" dirty="0">
                <a:solidFill>
                  <a:srgbClr val="000000"/>
                </a:solidFill>
              </a:rPr>
              <a:t>📋</a:t>
            </a:r>
            <a:endParaRPr lang="en-US" sz="2800" dirty="0"/>
          </a:p>
        </p:txBody>
      </p:sp>
      <p:sp>
        <p:nvSpPr>
          <p:cNvPr id="16" name="Text 14"/>
          <p:cNvSpPr/>
          <p:nvPr/>
        </p:nvSpPr>
        <p:spPr>
          <a:xfrm>
            <a:off x="3328416" y="2359152"/>
            <a:ext cx="2423160" cy="329184"/>
          </a:xfrm>
          <a:prstGeom prst="rect">
            <a:avLst/>
          </a:prstGeom>
          <a:noFill/>
          <a:ln/>
        </p:spPr>
        <p:txBody>
          <a:bodyPr wrap="square" lIns="0" tIns="0" rIns="0" bIns="0" rtlCol="0" anchor="ctr"/>
          <a:lstStyle/>
          <a:p>
            <a:pPr indent="0" marL="0">
              <a:buNone/>
            </a:pPr>
            <a:r>
              <a:rPr lang="en-US" sz="1400" b="1" dirty="0">
                <a:solidFill>
                  <a:srgbClr val="059669"/>
                </a:solidFill>
                <a:latin typeface="Cambria" pitchFamily="34" charset="0"/>
                <a:ea typeface="Cambria" pitchFamily="34" charset="-122"/>
                <a:cs typeface="Cambria" pitchFamily="34" charset="-120"/>
              </a:rPr>
              <a:t>Logs</a:t>
            </a:r>
            <a:endParaRPr lang="en-US" sz="1400" dirty="0"/>
          </a:p>
        </p:txBody>
      </p:sp>
      <p:sp>
        <p:nvSpPr>
          <p:cNvPr id="17" name="Shape 15"/>
          <p:cNvSpPr/>
          <p:nvPr/>
        </p:nvSpPr>
        <p:spPr>
          <a:xfrm>
            <a:off x="3328416" y="2724912"/>
            <a:ext cx="2423160" cy="256032"/>
          </a:xfrm>
          <a:prstGeom prst="roundRect">
            <a:avLst>
              <a:gd name="adj" fmla="val 17857"/>
            </a:avLst>
          </a:prstGeom>
          <a:solidFill>
            <a:srgbClr val="059669"/>
          </a:solidFill>
          <a:ln w="12700">
            <a:solidFill>
              <a:srgbClr val="059669"/>
            </a:solidFill>
            <a:prstDash val="solid"/>
          </a:ln>
        </p:spPr>
      </p:sp>
      <p:sp>
        <p:nvSpPr>
          <p:cNvPr id="18" name="Text 16"/>
          <p:cNvSpPr/>
          <p:nvPr/>
        </p:nvSpPr>
        <p:spPr>
          <a:xfrm>
            <a:off x="3328416" y="2724912"/>
            <a:ext cx="2423160" cy="256032"/>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kubectl logs / Loki / ELK</a:t>
            </a:r>
            <a:endParaRPr lang="en-US" sz="950" dirty="0"/>
          </a:p>
        </p:txBody>
      </p:sp>
      <p:sp>
        <p:nvSpPr>
          <p:cNvPr id="19" name="Text 17"/>
          <p:cNvSpPr/>
          <p:nvPr/>
        </p:nvSpPr>
        <p:spPr>
          <a:xfrm>
            <a:off x="3328416" y="3035808"/>
            <a:ext cx="2423160" cy="1353312"/>
          </a:xfrm>
          <a:prstGeom prst="rect">
            <a:avLst/>
          </a:prstGeom>
          <a:noFill/>
          <a:ln/>
        </p:spPr>
        <p:txBody>
          <a:bodyPr wrap="square" lIns="0" tIns="0" rIns="0" bIns="0" rtlCol="0" anchor="ctr"/>
          <a:lstStyle/>
          <a:p>
            <a:pPr indent="0" marL="0">
              <a:buNone/>
            </a:pPr>
            <a:r>
              <a:rPr lang="en-US" sz="1000" dirty="0">
                <a:solidFill>
                  <a:srgbClr val="475569"/>
                </a:solidFill>
                <a:latin typeface="Arial" pitchFamily="34" charset="0"/>
                <a:ea typeface="Arial" pitchFamily="34" charset="-122"/>
                <a:cs typeface="Arial" pitchFamily="34" charset="-120"/>
              </a:rPr>
              <a:t>Every container writes to stdout/stderr. kubectl logs for simple debugging. Loki or Elasticsearch for aggregated log search across all Pods.</a:t>
            </a:r>
            <a:endParaRPr lang="en-US" sz="1000" dirty="0"/>
          </a:p>
        </p:txBody>
      </p:sp>
      <p:sp>
        <p:nvSpPr>
          <p:cNvPr id="20" name="Shape 18"/>
          <p:cNvSpPr/>
          <p:nvPr/>
        </p:nvSpPr>
        <p:spPr>
          <a:xfrm>
            <a:off x="6025896" y="1664208"/>
            <a:ext cx="2697480" cy="2816352"/>
          </a:xfrm>
          <a:prstGeom prst="roundRect">
            <a:avLst>
              <a:gd name="adj" fmla="val 3390"/>
            </a:avLst>
          </a:prstGeom>
          <a:solidFill>
            <a:srgbClr val="EDE9FE"/>
          </a:solidFill>
          <a:ln w="12700">
            <a:solidFill>
              <a:srgbClr val="E2E8F0"/>
            </a:solidFill>
            <a:prstDash val="solid"/>
          </a:ln>
          <a:effectLst>
            <a:outerShdw sx="100000" sy="100000" kx="0" ky="0" algn="bl" rotWithShape="0" blurRad="76200" dist="38100" dir="2700000">
              <a:srgbClr val="000000">
                <a:alpha val="10000"/>
              </a:srgbClr>
            </a:outerShdw>
          </a:effectLst>
        </p:spPr>
      </p:sp>
      <p:sp>
        <p:nvSpPr>
          <p:cNvPr id="21" name="Text 19"/>
          <p:cNvSpPr/>
          <p:nvPr/>
        </p:nvSpPr>
        <p:spPr>
          <a:xfrm>
            <a:off x="6181344" y="1783080"/>
            <a:ext cx="548640" cy="548640"/>
          </a:xfrm>
          <a:prstGeom prst="rect">
            <a:avLst/>
          </a:prstGeom>
          <a:noFill/>
          <a:ln/>
        </p:spPr>
        <p:txBody>
          <a:bodyPr wrap="square" lIns="0" tIns="0" rIns="0" bIns="0" rtlCol="0" anchor="ctr"/>
          <a:lstStyle/>
          <a:p>
            <a:pPr indent="0" marL="0">
              <a:buNone/>
            </a:pPr>
            <a:r>
              <a:rPr lang="en-US" sz="2800" dirty="0">
                <a:solidFill>
                  <a:srgbClr val="000000"/>
                </a:solidFill>
              </a:rPr>
              <a:t>🔍</a:t>
            </a:r>
            <a:endParaRPr lang="en-US" sz="2800" dirty="0"/>
          </a:p>
        </p:txBody>
      </p:sp>
      <p:sp>
        <p:nvSpPr>
          <p:cNvPr id="22" name="Text 20"/>
          <p:cNvSpPr/>
          <p:nvPr/>
        </p:nvSpPr>
        <p:spPr>
          <a:xfrm>
            <a:off x="6181344" y="2359152"/>
            <a:ext cx="2423160" cy="329184"/>
          </a:xfrm>
          <a:prstGeom prst="rect">
            <a:avLst/>
          </a:prstGeom>
          <a:noFill/>
          <a:ln/>
        </p:spPr>
        <p:txBody>
          <a:bodyPr wrap="square" lIns="0" tIns="0" rIns="0" bIns="0" rtlCol="0" anchor="ctr"/>
          <a:lstStyle/>
          <a:p>
            <a:pPr indent="0" marL="0">
              <a:buNone/>
            </a:pPr>
            <a:r>
              <a:rPr lang="en-US" sz="1400" b="1" dirty="0">
                <a:solidFill>
                  <a:srgbClr val="7C3AED"/>
                </a:solidFill>
                <a:latin typeface="Cambria" pitchFamily="34" charset="0"/>
                <a:ea typeface="Cambria" pitchFamily="34" charset="-122"/>
                <a:cs typeface="Cambria" pitchFamily="34" charset="-120"/>
              </a:rPr>
              <a:t>Traces</a:t>
            </a:r>
            <a:endParaRPr lang="en-US" sz="1400" dirty="0"/>
          </a:p>
        </p:txBody>
      </p:sp>
      <p:sp>
        <p:nvSpPr>
          <p:cNvPr id="23" name="Shape 21"/>
          <p:cNvSpPr/>
          <p:nvPr/>
        </p:nvSpPr>
        <p:spPr>
          <a:xfrm>
            <a:off x="6181344" y="2724912"/>
            <a:ext cx="2423160" cy="256032"/>
          </a:xfrm>
          <a:prstGeom prst="roundRect">
            <a:avLst>
              <a:gd name="adj" fmla="val 17857"/>
            </a:avLst>
          </a:prstGeom>
          <a:solidFill>
            <a:srgbClr val="7C3AED"/>
          </a:solidFill>
          <a:ln w="12700">
            <a:solidFill>
              <a:srgbClr val="7C3AED"/>
            </a:solidFill>
            <a:prstDash val="solid"/>
          </a:ln>
        </p:spPr>
      </p:sp>
      <p:sp>
        <p:nvSpPr>
          <p:cNvPr id="24" name="Text 22"/>
          <p:cNvSpPr/>
          <p:nvPr/>
        </p:nvSpPr>
        <p:spPr>
          <a:xfrm>
            <a:off x="6181344" y="2724912"/>
            <a:ext cx="2423160" cy="256032"/>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Jaeger / OpenTelemetry</a:t>
            </a:r>
            <a:endParaRPr lang="en-US" sz="950" dirty="0"/>
          </a:p>
        </p:txBody>
      </p:sp>
      <p:sp>
        <p:nvSpPr>
          <p:cNvPr id="25" name="Text 23"/>
          <p:cNvSpPr/>
          <p:nvPr/>
        </p:nvSpPr>
        <p:spPr>
          <a:xfrm>
            <a:off x="6181344" y="3035808"/>
            <a:ext cx="2423160" cy="1353312"/>
          </a:xfrm>
          <a:prstGeom prst="rect">
            <a:avLst/>
          </a:prstGeom>
          <a:noFill/>
          <a:ln/>
        </p:spPr>
        <p:txBody>
          <a:bodyPr wrap="square" lIns="0" tIns="0" rIns="0" bIns="0" rtlCol="0" anchor="ctr"/>
          <a:lstStyle/>
          <a:p>
            <a:pPr indent="0" marL="0">
              <a:buNone/>
            </a:pPr>
            <a:r>
              <a:rPr lang="en-US" sz="1000" dirty="0">
                <a:solidFill>
                  <a:srgbClr val="475569"/>
                </a:solidFill>
                <a:latin typeface="Arial" pitchFamily="34" charset="0"/>
                <a:ea typeface="Arial" pitchFamily="34" charset="-122"/>
                <a:cs typeface="Arial" pitchFamily="34" charset="-120"/>
              </a:rPr>
              <a:t>Tracks a request as it flows through multiple microservices. Identifies which service is slow or causing errors in a distributed system.</a:t>
            </a:r>
            <a:endParaRPr lang="en-US" sz="1000" dirty="0"/>
          </a:p>
        </p:txBody>
      </p:sp>
      <p:sp>
        <p:nvSpPr>
          <p:cNvPr id="26" name="Text 24"/>
          <p:cNvSpPr/>
          <p:nvPr/>
        </p:nvSpPr>
        <p:spPr>
          <a:xfrm>
            <a:off x="320040" y="4617720"/>
            <a:ext cx="8503920" cy="256032"/>
          </a:xfrm>
          <a:prstGeom prst="rect">
            <a:avLst/>
          </a:prstGeom>
          <a:noFill/>
          <a:ln/>
        </p:spPr>
        <p:txBody>
          <a:bodyPr wrap="square" lIns="0" tIns="0" rIns="0" bIns="0" rtlCol="0" anchor="ctr"/>
          <a:lstStyle/>
          <a:p>
            <a:pPr indent="0" marL="0">
              <a:buNone/>
            </a:pPr>
            <a:r>
              <a:rPr lang="en-US" sz="1100" b="1" dirty="0">
                <a:solidFill>
                  <a:srgbClr val="0F172A"/>
                </a:solidFill>
                <a:latin typeface="Cambria" pitchFamily="34" charset="0"/>
                <a:ea typeface="Cambria" pitchFamily="34" charset="-122"/>
                <a:cs typeface="Cambria" pitchFamily="34" charset="-120"/>
              </a:rPr>
              <a:t>Built-in kubectl Commands for Monitoring</a:t>
            </a:r>
            <a:endParaRPr lang="en-US" sz="1100" dirty="0"/>
          </a:p>
        </p:txBody>
      </p:sp>
      <p:sp>
        <p:nvSpPr>
          <p:cNvPr id="27" name="Shape 25"/>
          <p:cNvSpPr/>
          <p:nvPr/>
        </p:nvSpPr>
        <p:spPr>
          <a:xfrm>
            <a:off x="0" y="4846320"/>
            <a:ext cx="9144000" cy="297180"/>
          </a:xfrm>
          <a:prstGeom prst="rect">
            <a:avLst/>
          </a:prstGeom>
          <a:solidFill>
            <a:srgbClr val="0F172A"/>
          </a:solidFill>
          <a:ln w="12700">
            <a:solidFill>
              <a:srgbClr val="0F172A"/>
            </a:solidFill>
            <a:prstDash val="solid"/>
          </a:ln>
        </p:spPr>
      </p:sp>
      <p:sp>
        <p:nvSpPr>
          <p:cNvPr id="28" name="Text 26"/>
          <p:cNvSpPr/>
          <p:nvPr/>
        </p:nvSpPr>
        <p:spPr>
          <a:xfrm>
            <a:off x="365760" y="4864608"/>
            <a:ext cx="8412480" cy="256032"/>
          </a:xfrm>
          <a:prstGeom prst="rect">
            <a:avLst/>
          </a:prstGeom>
          <a:noFill/>
          <a:ln/>
        </p:spPr>
        <p:txBody>
          <a:bodyPr wrap="square" lIns="0" tIns="0" rIns="0" bIns="0" rtlCol="0" anchor="ctr"/>
          <a:lstStyle/>
          <a:p>
            <a:pPr algn="ctr" indent="0" marL="0">
              <a:buNone/>
            </a:pPr>
            <a:r>
              <a:rPr lang="en-US" sz="900" dirty="0">
                <a:solidFill>
                  <a:srgbClr val="94A3B8"/>
                </a:solidFill>
                <a:latin typeface="Arial" pitchFamily="34" charset="0"/>
                <a:ea typeface="Arial" pitchFamily="34" charset="-122"/>
                <a:cs typeface="Arial" pitchFamily="34" charset="-120"/>
              </a:rPr>
              <a:t>Trainer Guide  —  Section 08: Monitoring</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365760" cy="5143500"/>
          </a:xfrm>
          <a:prstGeom prst="rect">
            <a:avLst/>
          </a:prstGeom>
          <a:solidFill>
            <a:srgbClr val="326CE5"/>
          </a:solidFill>
          <a:ln w="12700">
            <a:solidFill>
              <a:srgbClr val="326CE5"/>
            </a:solidFill>
            <a:prstDash val="solid"/>
          </a:ln>
        </p:spPr>
      </p:sp>
      <p:sp>
        <p:nvSpPr>
          <p:cNvPr id="3" name="Shape 1"/>
          <p:cNvSpPr/>
          <p:nvPr/>
        </p:nvSpPr>
        <p:spPr>
          <a:xfrm>
            <a:off x="5943600" y="-914400"/>
            <a:ext cx="4572000" cy="4572000"/>
          </a:xfrm>
          <a:prstGeom prst="ellipse">
            <a:avLst/>
          </a:prstGeom>
          <a:solidFill>
            <a:srgbClr val="326CE5">
              <a:alpha val="10000"/>
            </a:srgbClr>
          </a:solidFill>
          <a:ln w="12700">
            <a:solidFill>
              <a:srgbClr val="326CE5">
                <a:alpha val="20000"/>
              </a:srgbClr>
            </a:solidFill>
            <a:prstDash val="solid"/>
          </a:ln>
        </p:spPr>
      </p:sp>
      <p:sp>
        <p:nvSpPr>
          <p:cNvPr id="4" name="Text 2"/>
          <p:cNvSpPr/>
          <p:nvPr/>
        </p:nvSpPr>
        <p:spPr>
          <a:xfrm>
            <a:off x="640080" y="1463040"/>
            <a:ext cx="7315200" cy="365760"/>
          </a:xfrm>
          <a:prstGeom prst="rect">
            <a:avLst/>
          </a:prstGeom>
          <a:noFill/>
          <a:ln/>
        </p:spPr>
        <p:txBody>
          <a:bodyPr wrap="square" lIns="0" tIns="0" rIns="0" bIns="0" rtlCol="0" anchor="ctr"/>
          <a:lstStyle/>
          <a:p>
            <a:pPr indent="0" marL="0">
              <a:buNone/>
            </a:pPr>
            <a:r>
              <a:rPr lang="en-US" sz="1200" b="1" spc="400" kern="0" dirty="0">
                <a:solidFill>
                  <a:srgbClr val="326CE5"/>
                </a:solidFill>
                <a:latin typeface="Arial" pitchFamily="34" charset="0"/>
                <a:ea typeface="Arial" pitchFamily="34" charset="-122"/>
                <a:cs typeface="Arial" pitchFamily="34" charset="-120"/>
              </a:rPr>
              <a:t>SECTION 09</a:t>
            </a:r>
            <a:endParaRPr lang="en-US" sz="1200" dirty="0"/>
          </a:p>
        </p:txBody>
      </p:sp>
      <p:sp>
        <p:nvSpPr>
          <p:cNvPr id="5" name="Text 3"/>
          <p:cNvSpPr/>
          <p:nvPr/>
        </p:nvSpPr>
        <p:spPr>
          <a:xfrm>
            <a:off x="640080" y="1874520"/>
            <a:ext cx="7772400" cy="100584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Troubleshooting</a:t>
            </a:r>
            <a:endParaRPr lang="en-US" sz="4600" dirty="0"/>
          </a:p>
        </p:txBody>
      </p:sp>
      <p:sp>
        <p:nvSpPr>
          <p:cNvPr id="6" name="Text 4"/>
          <p:cNvSpPr/>
          <p:nvPr/>
        </p:nvSpPr>
        <p:spPr>
          <a:xfrm>
            <a:off x="640080" y="2926080"/>
            <a:ext cx="6400800" cy="411480"/>
          </a:xfrm>
          <a:prstGeom prst="rect">
            <a:avLst/>
          </a:prstGeom>
          <a:noFill/>
          <a:ln/>
        </p:spPr>
        <p:txBody>
          <a:bodyPr wrap="square" lIns="0" tIns="0" rIns="0" bIns="0" rtlCol="0" anchor="ctr"/>
          <a:lstStyle/>
          <a:p>
            <a:pPr indent="0" marL="0">
              <a:buNone/>
            </a:pPr>
            <a:r>
              <a:rPr lang="en-US" sz="1500" dirty="0">
                <a:solidFill>
                  <a:srgbClr val="94A3B8"/>
                </a:solidFill>
                <a:latin typeface="Arial" pitchFamily="34" charset="0"/>
                <a:ea typeface="Arial" pitchFamily="34" charset="-122"/>
                <a:cs typeface="Arial" pitchFamily="34" charset="-120"/>
              </a:rPr>
              <a:t>Diagnosing and fixing the most common Kubernetes problems</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0F172A"/>
          </a:solidFill>
          <a:ln w="12700">
            <a:solidFill>
              <a:srgbClr val="0F172A"/>
            </a:solidFill>
            <a:prstDash val="solid"/>
          </a:ln>
        </p:spPr>
      </p:sp>
      <p:sp>
        <p:nvSpPr>
          <p:cNvPr id="3" name="Text 1"/>
          <p:cNvSpPr/>
          <p:nvPr/>
        </p:nvSpPr>
        <p:spPr>
          <a:xfrm>
            <a:off x="411480" y="73152"/>
            <a:ext cx="6858000" cy="530352"/>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DEBUGGING METHODOLOGY</a:t>
            </a:r>
            <a:endParaRPr lang="en-US" sz="2000" dirty="0"/>
          </a:p>
        </p:txBody>
      </p:sp>
      <p:sp>
        <p:nvSpPr>
          <p:cNvPr id="4" name="Shape 2"/>
          <p:cNvSpPr/>
          <p:nvPr/>
        </p:nvSpPr>
        <p:spPr>
          <a:xfrm>
            <a:off x="7178040" y="109728"/>
            <a:ext cx="1600200" cy="475488"/>
          </a:xfrm>
          <a:prstGeom prst="roundRect">
            <a:avLst>
              <a:gd name="adj" fmla="val 11538"/>
            </a:avLst>
          </a:prstGeom>
          <a:solidFill>
            <a:srgbClr val="326CE5"/>
          </a:solidFill>
          <a:ln w="12700">
            <a:solidFill>
              <a:srgbClr val="326CE5"/>
            </a:solidFill>
            <a:prstDash val="solid"/>
          </a:ln>
        </p:spPr>
      </p:sp>
      <p:sp>
        <p:nvSpPr>
          <p:cNvPr id="5" name="Text 3"/>
          <p:cNvSpPr/>
          <p:nvPr/>
        </p:nvSpPr>
        <p:spPr>
          <a:xfrm>
            <a:off x="7178040" y="109728"/>
            <a:ext cx="1600200" cy="475488"/>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Section 09  •  Troubleshooting</a:t>
            </a:r>
            <a:endParaRPr lang="en-US" sz="950" dirty="0"/>
          </a:p>
        </p:txBody>
      </p:sp>
      <p:sp>
        <p:nvSpPr>
          <p:cNvPr id="6" name="Shape 4"/>
          <p:cNvSpPr/>
          <p:nvPr/>
        </p:nvSpPr>
        <p:spPr>
          <a:xfrm>
            <a:off x="320040" y="868680"/>
            <a:ext cx="8503920" cy="658368"/>
          </a:xfrm>
          <a:prstGeom prst="roundRect">
            <a:avLst>
              <a:gd name="adj" fmla="val 13889"/>
            </a:avLst>
          </a:prstGeom>
          <a:solidFill>
            <a:srgbClr val="E8EFFE"/>
          </a:solidFill>
          <a:ln w="12700">
            <a:solidFill>
              <a:srgbClr val="A5B4FC"/>
            </a:solidFill>
            <a:prstDash val="solid"/>
          </a:ln>
          <a:effectLst>
            <a:outerShdw sx="100000" sy="100000" kx="0" ky="0" algn="bl" rotWithShape="0" blurRad="76200" dist="38100" dir="2700000">
              <a:srgbClr val="000000">
                <a:alpha val="10000"/>
              </a:srgbClr>
            </a:outerShdw>
          </a:effectLst>
        </p:spPr>
      </p:sp>
      <p:sp>
        <p:nvSpPr>
          <p:cNvPr id="7" name="Text 5"/>
          <p:cNvSpPr/>
          <p:nvPr/>
        </p:nvSpPr>
        <p:spPr>
          <a:xfrm>
            <a:off x="475488" y="914400"/>
            <a:ext cx="8229600" cy="566928"/>
          </a:xfrm>
          <a:prstGeom prst="rect">
            <a:avLst/>
          </a:prstGeom>
          <a:noFill/>
          <a:ln/>
        </p:spPr>
        <p:txBody>
          <a:bodyPr wrap="square" lIns="0" tIns="0" rIns="0" bIns="0" rtlCol="0" anchor="ctr"/>
          <a:lstStyle/>
          <a:p>
            <a:pPr indent="0" marL="0">
              <a:buNone/>
            </a:pPr>
            <a:r>
              <a:rPr lang="en-US" sz="1250" dirty="0">
                <a:solidFill>
                  <a:srgbClr val="0F172A"/>
                </a:solidFill>
                <a:latin typeface="Cambria" pitchFamily="34" charset="0"/>
                <a:ea typeface="Cambria" pitchFamily="34" charset="-122"/>
                <a:cs typeface="Cambria" pitchFamily="34" charset="-120"/>
              </a:rPr>
              <a:t>Always follow the same diagnostic path: check the Pod status, read the events, read the logs, inspect the object, then fix.</a:t>
            </a:r>
            <a:endParaRPr lang="en-US" sz="1250" dirty="0"/>
          </a:p>
        </p:txBody>
      </p:sp>
      <p:sp>
        <p:nvSpPr>
          <p:cNvPr id="8" name="Shape 6"/>
          <p:cNvSpPr/>
          <p:nvPr/>
        </p:nvSpPr>
        <p:spPr>
          <a:xfrm>
            <a:off x="320040" y="1664208"/>
            <a:ext cx="8503920" cy="566928"/>
          </a:xfrm>
          <a:prstGeom prst="roundRect">
            <a:avLst>
              <a:gd name="adj" fmla="val 16129"/>
            </a:avLst>
          </a:prstGeom>
          <a:solidFill>
            <a:srgbClr val="F8FAFC"/>
          </a:solidFill>
          <a:ln w="12700">
            <a:solidFill>
              <a:srgbClr val="E2E8F0"/>
            </a:solidFill>
            <a:prstDash val="solid"/>
          </a:ln>
          <a:effectLst>
            <a:outerShdw sx="100000" sy="100000" kx="0" ky="0" algn="bl" rotWithShape="0" blurRad="76200" dist="38100" dir="2700000">
              <a:srgbClr val="000000">
                <a:alpha val="10000"/>
              </a:srgbClr>
            </a:outerShdw>
          </a:effectLst>
        </p:spPr>
      </p:sp>
      <p:sp>
        <p:nvSpPr>
          <p:cNvPr id="9" name="Shape 7"/>
          <p:cNvSpPr/>
          <p:nvPr/>
        </p:nvSpPr>
        <p:spPr>
          <a:xfrm>
            <a:off x="475488" y="1783080"/>
            <a:ext cx="320040" cy="320040"/>
          </a:xfrm>
          <a:prstGeom prst="ellipse">
            <a:avLst/>
          </a:prstGeom>
          <a:solidFill>
            <a:srgbClr val="326CE5"/>
          </a:solidFill>
          <a:ln w="12700">
            <a:solidFill>
              <a:srgbClr val="326CE5"/>
            </a:solidFill>
            <a:prstDash val="solid"/>
          </a:ln>
        </p:spPr>
      </p:sp>
      <p:sp>
        <p:nvSpPr>
          <p:cNvPr id="10" name="Text 8"/>
          <p:cNvSpPr/>
          <p:nvPr/>
        </p:nvSpPr>
        <p:spPr>
          <a:xfrm>
            <a:off x="475488" y="1783080"/>
            <a:ext cx="320040"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1</a:t>
            </a:r>
            <a:endParaRPr lang="en-US" sz="1200" dirty="0"/>
          </a:p>
        </p:txBody>
      </p:sp>
      <p:sp>
        <p:nvSpPr>
          <p:cNvPr id="11" name="Text 9"/>
          <p:cNvSpPr/>
          <p:nvPr/>
        </p:nvSpPr>
        <p:spPr>
          <a:xfrm>
            <a:off x="932688" y="1719072"/>
            <a:ext cx="3566160" cy="256032"/>
          </a:xfrm>
          <a:prstGeom prst="rect">
            <a:avLst/>
          </a:prstGeom>
          <a:noFill/>
          <a:ln/>
        </p:spPr>
        <p:txBody>
          <a:bodyPr wrap="square" lIns="0" tIns="0" rIns="0" bIns="0" rtlCol="0" anchor="ctr"/>
          <a:lstStyle/>
          <a:p>
            <a:pPr indent="0" marL="0">
              <a:buNone/>
            </a:pPr>
            <a:r>
              <a:rPr lang="en-US" sz="1050" b="1" dirty="0">
                <a:solidFill>
                  <a:srgbClr val="326CE5"/>
                </a:solidFill>
                <a:latin typeface="Courier New" pitchFamily="34" charset="0"/>
                <a:ea typeface="Courier New" pitchFamily="34" charset="-122"/>
                <a:cs typeface="Courier New" pitchFamily="34" charset="-120"/>
              </a:rPr>
              <a:t>kubectl get pods -n &lt;ns&gt;</a:t>
            </a:r>
            <a:endParaRPr lang="en-US" sz="1050" dirty="0"/>
          </a:p>
        </p:txBody>
      </p:sp>
      <p:sp>
        <p:nvSpPr>
          <p:cNvPr id="12" name="Text 10"/>
          <p:cNvSpPr/>
          <p:nvPr/>
        </p:nvSpPr>
        <p:spPr>
          <a:xfrm>
            <a:off x="4590288" y="1719072"/>
            <a:ext cx="4160520" cy="438912"/>
          </a:xfrm>
          <a:prstGeom prst="rect">
            <a:avLst/>
          </a:prstGeom>
          <a:noFill/>
          <a:ln/>
        </p:spPr>
        <p:txBody>
          <a:bodyPr wrap="square" lIns="0" tIns="0" rIns="0" bIns="0" rtlCol="0" anchor="ctr"/>
          <a:lstStyle/>
          <a:p>
            <a:pPr indent="0" marL="0">
              <a:buNone/>
            </a:pPr>
            <a:r>
              <a:rPr lang="en-US" sz="950" dirty="0">
                <a:solidFill>
                  <a:srgbClr val="475569"/>
                </a:solidFill>
                <a:latin typeface="Arial" pitchFamily="34" charset="0"/>
                <a:ea typeface="Arial" pitchFamily="34" charset="-122"/>
                <a:cs typeface="Arial" pitchFamily="34" charset="-120"/>
              </a:rPr>
              <a:t>Find which Pod is not Running. Look for: Pending, CrashLoopBackOff, Error, OOMKilled, ImagePullBackOff.</a:t>
            </a:r>
            <a:endParaRPr lang="en-US" sz="950" dirty="0"/>
          </a:p>
        </p:txBody>
      </p:sp>
      <p:sp>
        <p:nvSpPr>
          <p:cNvPr id="13" name="Shape 11"/>
          <p:cNvSpPr/>
          <p:nvPr/>
        </p:nvSpPr>
        <p:spPr>
          <a:xfrm>
            <a:off x="320040" y="2286000"/>
            <a:ext cx="8503920" cy="566928"/>
          </a:xfrm>
          <a:prstGeom prst="roundRect">
            <a:avLst>
              <a:gd name="adj" fmla="val 16129"/>
            </a:avLst>
          </a:prstGeom>
          <a:solidFill>
            <a:srgbClr val="F8FAFC"/>
          </a:solidFill>
          <a:ln w="12700">
            <a:solidFill>
              <a:srgbClr val="E2E8F0"/>
            </a:solidFill>
            <a:prstDash val="solid"/>
          </a:ln>
          <a:effectLst>
            <a:outerShdw sx="100000" sy="100000" kx="0" ky="0" algn="bl" rotWithShape="0" blurRad="76200" dist="38100" dir="2700000">
              <a:srgbClr val="000000">
                <a:alpha val="10000"/>
              </a:srgbClr>
            </a:outerShdw>
          </a:effectLst>
        </p:spPr>
      </p:sp>
      <p:sp>
        <p:nvSpPr>
          <p:cNvPr id="14" name="Shape 12"/>
          <p:cNvSpPr/>
          <p:nvPr/>
        </p:nvSpPr>
        <p:spPr>
          <a:xfrm>
            <a:off x="475488" y="2404872"/>
            <a:ext cx="320040" cy="320040"/>
          </a:xfrm>
          <a:prstGeom prst="ellipse">
            <a:avLst/>
          </a:prstGeom>
          <a:solidFill>
            <a:srgbClr val="2563EB"/>
          </a:solidFill>
          <a:ln w="12700">
            <a:solidFill>
              <a:srgbClr val="2563EB"/>
            </a:solidFill>
            <a:prstDash val="solid"/>
          </a:ln>
        </p:spPr>
      </p:sp>
      <p:sp>
        <p:nvSpPr>
          <p:cNvPr id="15" name="Text 13"/>
          <p:cNvSpPr/>
          <p:nvPr/>
        </p:nvSpPr>
        <p:spPr>
          <a:xfrm>
            <a:off x="475488" y="2404872"/>
            <a:ext cx="320040"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2</a:t>
            </a:r>
            <a:endParaRPr lang="en-US" sz="1200" dirty="0"/>
          </a:p>
        </p:txBody>
      </p:sp>
      <p:sp>
        <p:nvSpPr>
          <p:cNvPr id="16" name="Text 14"/>
          <p:cNvSpPr/>
          <p:nvPr/>
        </p:nvSpPr>
        <p:spPr>
          <a:xfrm>
            <a:off x="932688" y="2340864"/>
            <a:ext cx="3566160" cy="256032"/>
          </a:xfrm>
          <a:prstGeom prst="rect">
            <a:avLst/>
          </a:prstGeom>
          <a:noFill/>
          <a:ln/>
        </p:spPr>
        <p:txBody>
          <a:bodyPr wrap="square" lIns="0" tIns="0" rIns="0" bIns="0" rtlCol="0" anchor="ctr"/>
          <a:lstStyle/>
          <a:p>
            <a:pPr indent="0" marL="0">
              <a:buNone/>
            </a:pPr>
            <a:r>
              <a:rPr lang="en-US" sz="1050" b="1" dirty="0">
                <a:solidFill>
                  <a:srgbClr val="2563EB"/>
                </a:solidFill>
                <a:latin typeface="Courier New" pitchFamily="34" charset="0"/>
                <a:ea typeface="Courier New" pitchFamily="34" charset="-122"/>
                <a:cs typeface="Courier New" pitchFamily="34" charset="-120"/>
              </a:rPr>
              <a:t>kubectl describe pod &lt;name&gt;</a:t>
            </a:r>
            <a:endParaRPr lang="en-US" sz="1050" dirty="0"/>
          </a:p>
        </p:txBody>
      </p:sp>
      <p:sp>
        <p:nvSpPr>
          <p:cNvPr id="17" name="Text 15"/>
          <p:cNvSpPr/>
          <p:nvPr/>
        </p:nvSpPr>
        <p:spPr>
          <a:xfrm>
            <a:off x="4590288" y="2340864"/>
            <a:ext cx="4160520" cy="438912"/>
          </a:xfrm>
          <a:prstGeom prst="rect">
            <a:avLst/>
          </a:prstGeom>
          <a:noFill/>
          <a:ln/>
        </p:spPr>
        <p:txBody>
          <a:bodyPr wrap="square" lIns="0" tIns="0" rIns="0" bIns="0" rtlCol="0" anchor="ctr"/>
          <a:lstStyle/>
          <a:p>
            <a:pPr indent="0" marL="0">
              <a:buNone/>
            </a:pPr>
            <a:r>
              <a:rPr lang="en-US" sz="950" dirty="0">
                <a:solidFill>
                  <a:srgbClr val="475569"/>
                </a:solidFill>
                <a:latin typeface="Arial" pitchFamily="34" charset="0"/>
                <a:ea typeface="Arial" pitchFamily="34" charset="-122"/>
                <a:cs typeface="Arial" pitchFamily="34" charset="-120"/>
              </a:rPr>
              <a:t>Read the Events section at the bottom. This tells you exactly what went wrong — failed scheduling, image pull error, probe failure.</a:t>
            </a:r>
            <a:endParaRPr lang="en-US" sz="950" dirty="0"/>
          </a:p>
        </p:txBody>
      </p:sp>
      <p:sp>
        <p:nvSpPr>
          <p:cNvPr id="18" name="Shape 16"/>
          <p:cNvSpPr/>
          <p:nvPr/>
        </p:nvSpPr>
        <p:spPr>
          <a:xfrm>
            <a:off x="320040" y="2907792"/>
            <a:ext cx="8503920" cy="566928"/>
          </a:xfrm>
          <a:prstGeom prst="roundRect">
            <a:avLst>
              <a:gd name="adj" fmla="val 16129"/>
            </a:avLst>
          </a:prstGeom>
          <a:solidFill>
            <a:srgbClr val="F8FAFC"/>
          </a:solidFill>
          <a:ln w="12700">
            <a:solidFill>
              <a:srgbClr val="E2E8F0"/>
            </a:solidFill>
            <a:prstDash val="solid"/>
          </a:ln>
          <a:effectLst>
            <a:outerShdw sx="100000" sy="100000" kx="0" ky="0" algn="bl" rotWithShape="0" blurRad="76200" dist="38100" dir="2700000">
              <a:srgbClr val="000000">
                <a:alpha val="10000"/>
              </a:srgbClr>
            </a:outerShdw>
          </a:effectLst>
        </p:spPr>
      </p:sp>
      <p:sp>
        <p:nvSpPr>
          <p:cNvPr id="19" name="Shape 17"/>
          <p:cNvSpPr/>
          <p:nvPr/>
        </p:nvSpPr>
        <p:spPr>
          <a:xfrm>
            <a:off x="475488" y="3026664"/>
            <a:ext cx="320040" cy="320040"/>
          </a:xfrm>
          <a:prstGeom prst="ellipse">
            <a:avLst/>
          </a:prstGeom>
          <a:solidFill>
            <a:srgbClr val="059669"/>
          </a:solidFill>
          <a:ln w="12700">
            <a:solidFill>
              <a:srgbClr val="059669"/>
            </a:solidFill>
            <a:prstDash val="solid"/>
          </a:ln>
        </p:spPr>
      </p:sp>
      <p:sp>
        <p:nvSpPr>
          <p:cNvPr id="20" name="Text 18"/>
          <p:cNvSpPr/>
          <p:nvPr/>
        </p:nvSpPr>
        <p:spPr>
          <a:xfrm>
            <a:off x="475488" y="3026664"/>
            <a:ext cx="320040"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3</a:t>
            </a:r>
            <a:endParaRPr lang="en-US" sz="1200" dirty="0"/>
          </a:p>
        </p:txBody>
      </p:sp>
      <p:sp>
        <p:nvSpPr>
          <p:cNvPr id="21" name="Text 19"/>
          <p:cNvSpPr/>
          <p:nvPr/>
        </p:nvSpPr>
        <p:spPr>
          <a:xfrm>
            <a:off x="932688" y="2962656"/>
            <a:ext cx="3566160" cy="256032"/>
          </a:xfrm>
          <a:prstGeom prst="rect">
            <a:avLst/>
          </a:prstGeom>
          <a:noFill/>
          <a:ln/>
        </p:spPr>
        <p:txBody>
          <a:bodyPr wrap="square" lIns="0" tIns="0" rIns="0" bIns="0" rtlCol="0" anchor="ctr"/>
          <a:lstStyle/>
          <a:p>
            <a:pPr indent="0" marL="0">
              <a:buNone/>
            </a:pPr>
            <a:r>
              <a:rPr lang="en-US" sz="1050" b="1" dirty="0">
                <a:solidFill>
                  <a:srgbClr val="059669"/>
                </a:solidFill>
                <a:latin typeface="Courier New" pitchFamily="34" charset="0"/>
                <a:ea typeface="Courier New" pitchFamily="34" charset="-122"/>
                <a:cs typeface="Courier New" pitchFamily="34" charset="-120"/>
              </a:rPr>
              <a:t>kubectl logs &lt;name&gt; --previous</a:t>
            </a:r>
            <a:endParaRPr lang="en-US" sz="1050" dirty="0"/>
          </a:p>
        </p:txBody>
      </p:sp>
      <p:sp>
        <p:nvSpPr>
          <p:cNvPr id="22" name="Text 20"/>
          <p:cNvSpPr/>
          <p:nvPr/>
        </p:nvSpPr>
        <p:spPr>
          <a:xfrm>
            <a:off x="4590288" y="2962656"/>
            <a:ext cx="4160520" cy="438912"/>
          </a:xfrm>
          <a:prstGeom prst="rect">
            <a:avLst/>
          </a:prstGeom>
          <a:noFill/>
          <a:ln/>
        </p:spPr>
        <p:txBody>
          <a:bodyPr wrap="square" lIns="0" tIns="0" rIns="0" bIns="0" rtlCol="0" anchor="ctr"/>
          <a:lstStyle/>
          <a:p>
            <a:pPr indent="0" marL="0">
              <a:buNone/>
            </a:pPr>
            <a:r>
              <a:rPr lang="en-US" sz="950" dirty="0">
                <a:solidFill>
                  <a:srgbClr val="475569"/>
                </a:solidFill>
                <a:latin typeface="Arial" pitchFamily="34" charset="0"/>
                <a:ea typeface="Arial" pitchFamily="34" charset="-122"/>
                <a:cs typeface="Arial" pitchFamily="34" charset="-120"/>
              </a:rPr>
              <a:t>Read the container logs. --previous shows logs from a crashed container before restart. This is where app errors appear.</a:t>
            </a:r>
            <a:endParaRPr lang="en-US" sz="950" dirty="0"/>
          </a:p>
        </p:txBody>
      </p:sp>
      <p:sp>
        <p:nvSpPr>
          <p:cNvPr id="23" name="Shape 21"/>
          <p:cNvSpPr/>
          <p:nvPr/>
        </p:nvSpPr>
        <p:spPr>
          <a:xfrm>
            <a:off x="320040" y="3529584"/>
            <a:ext cx="8503920" cy="566928"/>
          </a:xfrm>
          <a:prstGeom prst="roundRect">
            <a:avLst>
              <a:gd name="adj" fmla="val 16129"/>
            </a:avLst>
          </a:prstGeom>
          <a:solidFill>
            <a:srgbClr val="F8FAFC"/>
          </a:solidFill>
          <a:ln w="12700">
            <a:solidFill>
              <a:srgbClr val="E2E8F0"/>
            </a:solidFill>
            <a:prstDash val="solid"/>
          </a:ln>
          <a:effectLst>
            <a:outerShdw sx="100000" sy="100000" kx="0" ky="0" algn="bl" rotWithShape="0" blurRad="76200" dist="38100" dir="2700000">
              <a:srgbClr val="000000">
                <a:alpha val="10000"/>
              </a:srgbClr>
            </a:outerShdw>
          </a:effectLst>
        </p:spPr>
      </p:sp>
      <p:sp>
        <p:nvSpPr>
          <p:cNvPr id="24" name="Shape 22"/>
          <p:cNvSpPr/>
          <p:nvPr/>
        </p:nvSpPr>
        <p:spPr>
          <a:xfrm>
            <a:off x="475488" y="3648456"/>
            <a:ext cx="320040" cy="320040"/>
          </a:xfrm>
          <a:prstGeom prst="ellipse">
            <a:avLst/>
          </a:prstGeom>
          <a:solidFill>
            <a:srgbClr val="D97706"/>
          </a:solidFill>
          <a:ln w="12700">
            <a:solidFill>
              <a:srgbClr val="D97706"/>
            </a:solidFill>
            <a:prstDash val="solid"/>
          </a:ln>
        </p:spPr>
      </p:sp>
      <p:sp>
        <p:nvSpPr>
          <p:cNvPr id="25" name="Text 23"/>
          <p:cNvSpPr/>
          <p:nvPr/>
        </p:nvSpPr>
        <p:spPr>
          <a:xfrm>
            <a:off x="475488" y="3648456"/>
            <a:ext cx="320040"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4</a:t>
            </a:r>
            <a:endParaRPr lang="en-US" sz="1200" dirty="0"/>
          </a:p>
        </p:txBody>
      </p:sp>
      <p:sp>
        <p:nvSpPr>
          <p:cNvPr id="26" name="Text 24"/>
          <p:cNvSpPr/>
          <p:nvPr/>
        </p:nvSpPr>
        <p:spPr>
          <a:xfrm>
            <a:off x="932688" y="3584448"/>
            <a:ext cx="3566160" cy="256032"/>
          </a:xfrm>
          <a:prstGeom prst="rect">
            <a:avLst/>
          </a:prstGeom>
          <a:noFill/>
          <a:ln/>
        </p:spPr>
        <p:txBody>
          <a:bodyPr wrap="square" lIns="0" tIns="0" rIns="0" bIns="0" rtlCol="0" anchor="ctr"/>
          <a:lstStyle/>
          <a:p>
            <a:pPr indent="0" marL="0">
              <a:buNone/>
            </a:pPr>
            <a:r>
              <a:rPr lang="en-US" sz="1050" b="1" dirty="0">
                <a:solidFill>
                  <a:srgbClr val="D97706"/>
                </a:solidFill>
                <a:latin typeface="Courier New" pitchFamily="34" charset="0"/>
                <a:ea typeface="Courier New" pitchFamily="34" charset="-122"/>
                <a:cs typeface="Courier New" pitchFamily="34" charset="-120"/>
              </a:rPr>
              <a:t>kubectl get events --sort-by=.lastTimestamp</a:t>
            </a:r>
            <a:endParaRPr lang="en-US" sz="1050" dirty="0"/>
          </a:p>
        </p:txBody>
      </p:sp>
      <p:sp>
        <p:nvSpPr>
          <p:cNvPr id="27" name="Text 25"/>
          <p:cNvSpPr/>
          <p:nvPr/>
        </p:nvSpPr>
        <p:spPr>
          <a:xfrm>
            <a:off x="4590288" y="3584448"/>
            <a:ext cx="4160520" cy="438912"/>
          </a:xfrm>
          <a:prstGeom prst="rect">
            <a:avLst/>
          </a:prstGeom>
          <a:noFill/>
          <a:ln/>
        </p:spPr>
        <p:txBody>
          <a:bodyPr wrap="square" lIns="0" tIns="0" rIns="0" bIns="0" rtlCol="0" anchor="ctr"/>
          <a:lstStyle/>
          <a:p>
            <a:pPr indent="0" marL="0">
              <a:buNone/>
            </a:pPr>
            <a:r>
              <a:rPr lang="en-US" sz="950" dirty="0">
                <a:solidFill>
                  <a:srgbClr val="475569"/>
                </a:solidFill>
                <a:latin typeface="Arial" pitchFamily="34" charset="0"/>
                <a:ea typeface="Arial" pitchFamily="34" charset="-122"/>
                <a:cs typeface="Arial" pitchFamily="34" charset="-120"/>
              </a:rPr>
              <a:t>Cluster-wide events sorted by time. Useful when multiple things are failing or when the issue is at the cluster level.</a:t>
            </a:r>
            <a:endParaRPr lang="en-US" sz="950" dirty="0"/>
          </a:p>
        </p:txBody>
      </p:sp>
      <p:sp>
        <p:nvSpPr>
          <p:cNvPr id="28" name="Shape 26"/>
          <p:cNvSpPr/>
          <p:nvPr/>
        </p:nvSpPr>
        <p:spPr>
          <a:xfrm>
            <a:off x="320040" y="4151376"/>
            <a:ext cx="8503920" cy="566928"/>
          </a:xfrm>
          <a:prstGeom prst="roundRect">
            <a:avLst>
              <a:gd name="adj" fmla="val 16129"/>
            </a:avLst>
          </a:prstGeom>
          <a:solidFill>
            <a:srgbClr val="F8FAFC"/>
          </a:solidFill>
          <a:ln w="12700">
            <a:solidFill>
              <a:srgbClr val="E2E8F0"/>
            </a:solidFill>
            <a:prstDash val="solid"/>
          </a:ln>
          <a:effectLst>
            <a:outerShdw sx="100000" sy="100000" kx="0" ky="0" algn="bl" rotWithShape="0" blurRad="76200" dist="38100" dir="2700000">
              <a:srgbClr val="000000">
                <a:alpha val="10000"/>
              </a:srgbClr>
            </a:outerShdw>
          </a:effectLst>
        </p:spPr>
      </p:sp>
      <p:sp>
        <p:nvSpPr>
          <p:cNvPr id="29" name="Shape 27"/>
          <p:cNvSpPr/>
          <p:nvPr/>
        </p:nvSpPr>
        <p:spPr>
          <a:xfrm>
            <a:off x="475488" y="4270248"/>
            <a:ext cx="320040" cy="320040"/>
          </a:xfrm>
          <a:prstGeom prst="ellipse">
            <a:avLst/>
          </a:prstGeom>
          <a:solidFill>
            <a:srgbClr val="7C3AED"/>
          </a:solidFill>
          <a:ln w="12700">
            <a:solidFill>
              <a:srgbClr val="7C3AED"/>
            </a:solidFill>
            <a:prstDash val="solid"/>
          </a:ln>
        </p:spPr>
      </p:sp>
      <p:sp>
        <p:nvSpPr>
          <p:cNvPr id="30" name="Text 28"/>
          <p:cNvSpPr/>
          <p:nvPr/>
        </p:nvSpPr>
        <p:spPr>
          <a:xfrm>
            <a:off x="475488" y="4270248"/>
            <a:ext cx="320040"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5</a:t>
            </a:r>
            <a:endParaRPr lang="en-US" sz="1200" dirty="0"/>
          </a:p>
        </p:txBody>
      </p:sp>
      <p:sp>
        <p:nvSpPr>
          <p:cNvPr id="31" name="Text 29"/>
          <p:cNvSpPr/>
          <p:nvPr/>
        </p:nvSpPr>
        <p:spPr>
          <a:xfrm>
            <a:off x="932688" y="4206240"/>
            <a:ext cx="3566160" cy="256032"/>
          </a:xfrm>
          <a:prstGeom prst="rect">
            <a:avLst/>
          </a:prstGeom>
          <a:noFill/>
          <a:ln/>
        </p:spPr>
        <p:txBody>
          <a:bodyPr wrap="square" lIns="0" tIns="0" rIns="0" bIns="0" rtlCol="0" anchor="ctr"/>
          <a:lstStyle/>
          <a:p>
            <a:pPr indent="0" marL="0">
              <a:buNone/>
            </a:pPr>
            <a:r>
              <a:rPr lang="en-US" sz="1050" b="1" dirty="0">
                <a:solidFill>
                  <a:srgbClr val="7C3AED"/>
                </a:solidFill>
                <a:latin typeface="Courier New" pitchFamily="34" charset="0"/>
                <a:ea typeface="Courier New" pitchFamily="34" charset="-122"/>
                <a:cs typeface="Courier New" pitchFamily="34" charset="-120"/>
              </a:rPr>
              <a:t>kubectl exec -it &lt;name&gt; -- sh</a:t>
            </a:r>
            <a:endParaRPr lang="en-US" sz="1050" dirty="0"/>
          </a:p>
        </p:txBody>
      </p:sp>
      <p:sp>
        <p:nvSpPr>
          <p:cNvPr id="32" name="Text 30"/>
          <p:cNvSpPr/>
          <p:nvPr/>
        </p:nvSpPr>
        <p:spPr>
          <a:xfrm>
            <a:off x="4590288" y="4206240"/>
            <a:ext cx="4160520" cy="438912"/>
          </a:xfrm>
          <a:prstGeom prst="rect">
            <a:avLst/>
          </a:prstGeom>
          <a:noFill/>
          <a:ln/>
        </p:spPr>
        <p:txBody>
          <a:bodyPr wrap="square" lIns="0" tIns="0" rIns="0" bIns="0" rtlCol="0" anchor="ctr"/>
          <a:lstStyle/>
          <a:p>
            <a:pPr indent="0" marL="0">
              <a:buNone/>
            </a:pPr>
            <a:r>
              <a:rPr lang="en-US" sz="950" dirty="0">
                <a:solidFill>
                  <a:srgbClr val="475569"/>
                </a:solidFill>
                <a:latin typeface="Arial" pitchFamily="34" charset="0"/>
                <a:ea typeface="Arial" pitchFamily="34" charset="-122"/>
                <a:cs typeface="Arial" pitchFamily="34" charset="-120"/>
              </a:rPr>
              <a:t>Get inside the container and debug interactively — check env vars, test network connectivity, verify file mounts.</a:t>
            </a:r>
            <a:endParaRPr lang="en-US" sz="950" dirty="0"/>
          </a:p>
        </p:txBody>
      </p:sp>
      <p:sp>
        <p:nvSpPr>
          <p:cNvPr id="33" name="Shape 31"/>
          <p:cNvSpPr/>
          <p:nvPr/>
        </p:nvSpPr>
        <p:spPr>
          <a:xfrm>
            <a:off x="0" y="4846320"/>
            <a:ext cx="9144000" cy="297180"/>
          </a:xfrm>
          <a:prstGeom prst="rect">
            <a:avLst/>
          </a:prstGeom>
          <a:solidFill>
            <a:srgbClr val="0F172A"/>
          </a:solidFill>
          <a:ln w="12700">
            <a:solidFill>
              <a:srgbClr val="0F172A"/>
            </a:solidFill>
            <a:prstDash val="solid"/>
          </a:ln>
        </p:spPr>
      </p:sp>
      <p:sp>
        <p:nvSpPr>
          <p:cNvPr id="34" name="Text 32"/>
          <p:cNvSpPr/>
          <p:nvPr/>
        </p:nvSpPr>
        <p:spPr>
          <a:xfrm>
            <a:off x="365760" y="4864608"/>
            <a:ext cx="8412480" cy="256032"/>
          </a:xfrm>
          <a:prstGeom prst="rect">
            <a:avLst/>
          </a:prstGeom>
          <a:noFill/>
          <a:ln/>
        </p:spPr>
        <p:txBody>
          <a:bodyPr wrap="square" lIns="0" tIns="0" rIns="0" bIns="0" rtlCol="0" anchor="ctr"/>
          <a:lstStyle/>
          <a:p>
            <a:pPr algn="ctr" indent="0" marL="0">
              <a:buNone/>
            </a:pPr>
            <a:r>
              <a:rPr lang="en-US" sz="900" dirty="0">
                <a:solidFill>
                  <a:srgbClr val="94A3B8"/>
                </a:solidFill>
                <a:latin typeface="Arial" pitchFamily="34" charset="0"/>
                <a:ea typeface="Arial" pitchFamily="34" charset="-122"/>
                <a:cs typeface="Arial" pitchFamily="34" charset="-120"/>
              </a:rPr>
              <a:t>Trainer Guide  —  Section 09: Troubleshooting</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7C2D12"/>
          </a:solidFill>
          <a:ln w="12700">
            <a:solidFill>
              <a:srgbClr val="7C2D12"/>
            </a:solidFill>
            <a:prstDash val="solid"/>
          </a:ln>
        </p:spPr>
      </p:sp>
      <p:sp>
        <p:nvSpPr>
          <p:cNvPr id="3" name="Text 1"/>
          <p:cNvSpPr/>
          <p:nvPr/>
        </p:nvSpPr>
        <p:spPr>
          <a:xfrm>
            <a:off x="411480" y="73152"/>
            <a:ext cx="6858000" cy="530352"/>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TRACK B COMMON ERRORS — QUICK REFERENCE</a:t>
            </a:r>
            <a:endParaRPr lang="en-US" sz="2000" dirty="0"/>
          </a:p>
        </p:txBody>
      </p:sp>
      <p:sp>
        <p:nvSpPr>
          <p:cNvPr id="4" name="Shape 2"/>
          <p:cNvSpPr/>
          <p:nvPr/>
        </p:nvSpPr>
        <p:spPr>
          <a:xfrm>
            <a:off x="7178040" y="109728"/>
            <a:ext cx="1600200" cy="475488"/>
          </a:xfrm>
          <a:prstGeom prst="roundRect">
            <a:avLst>
              <a:gd name="adj" fmla="val 11538"/>
            </a:avLst>
          </a:prstGeom>
          <a:solidFill>
            <a:srgbClr val="EF4444"/>
          </a:solidFill>
          <a:ln w="12700">
            <a:solidFill>
              <a:srgbClr val="EF4444"/>
            </a:solidFill>
            <a:prstDash val="solid"/>
          </a:ln>
        </p:spPr>
      </p:sp>
      <p:sp>
        <p:nvSpPr>
          <p:cNvPr id="5" name="Text 3"/>
          <p:cNvSpPr/>
          <p:nvPr/>
        </p:nvSpPr>
        <p:spPr>
          <a:xfrm>
            <a:off x="7178040" y="109728"/>
            <a:ext cx="1600200" cy="475488"/>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Trainer Only</a:t>
            </a:r>
            <a:endParaRPr lang="en-US" sz="950" dirty="0"/>
          </a:p>
        </p:txBody>
      </p:sp>
      <p:sp>
        <p:nvSpPr>
          <p:cNvPr id="6" name="Shape 4"/>
          <p:cNvSpPr/>
          <p:nvPr/>
        </p:nvSpPr>
        <p:spPr>
          <a:xfrm>
            <a:off x="320040" y="804672"/>
            <a:ext cx="2011680" cy="292608"/>
          </a:xfrm>
          <a:prstGeom prst="roundRect">
            <a:avLst>
              <a:gd name="adj" fmla="val 18750"/>
            </a:avLst>
          </a:prstGeom>
          <a:solidFill>
            <a:srgbClr val="EF4444"/>
          </a:solidFill>
          <a:ln w="12700">
            <a:solidFill>
              <a:srgbClr val="EF4444"/>
            </a:solidFill>
            <a:prstDash val="solid"/>
          </a:ln>
        </p:spPr>
      </p:sp>
      <p:sp>
        <p:nvSpPr>
          <p:cNvPr id="7" name="Text 5"/>
          <p:cNvSpPr/>
          <p:nvPr/>
        </p:nvSpPr>
        <p:spPr>
          <a:xfrm>
            <a:off x="320040" y="804672"/>
            <a:ext cx="201168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  TRAINER ONLY</a:t>
            </a:r>
            <a:endParaRPr lang="en-US" sz="900" dirty="0"/>
          </a:p>
        </p:txBody>
      </p:sp>
      <p:sp>
        <p:nvSpPr>
          <p:cNvPr id="8" name="Shape 6"/>
          <p:cNvSpPr/>
          <p:nvPr/>
        </p:nvSpPr>
        <p:spPr>
          <a:xfrm>
            <a:off x="320040" y="1207008"/>
            <a:ext cx="8503920" cy="329184"/>
          </a:xfrm>
          <a:prstGeom prst="rect">
            <a:avLst/>
          </a:prstGeom>
          <a:solidFill>
            <a:srgbClr val="0F172A"/>
          </a:solidFill>
          <a:ln w="12700">
            <a:solidFill>
              <a:srgbClr val="0F172A"/>
            </a:solidFill>
            <a:prstDash val="solid"/>
          </a:ln>
        </p:spPr>
      </p:sp>
      <p:sp>
        <p:nvSpPr>
          <p:cNvPr id="9" name="Text 7"/>
          <p:cNvSpPr/>
          <p:nvPr/>
        </p:nvSpPr>
        <p:spPr>
          <a:xfrm>
            <a:off x="411480" y="1234440"/>
            <a:ext cx="2011680" cy="256032"/>
          </a:xfrm>
          <a:prstGeom prst="rect">
            <a:avLst/>
          </a:prstGeom>
          <a:noFill/>
          <a:ln/>
        </p:spPr>
        <p:txBody>
          <a:bodyPr wrap="square" lIns="0" tIns="0" rIns="0" bIns="0" rtlCol="0" anchor="ctr"/>
          <a:lstStyle/>
          <a:p>
            <a:pPr indent="0" marL="0">
              <a:buNone/>
            </a:pPr>
            <a:r>
              <a:rPr lang="en-US" sz="1000" b="1" dirty="0">
                <a:solidFill>
                  <a:srgbClr val="FFFFFF"/>
                </a:solidFill>
                <a:latin typeface="Arial" pitchFamily="34" charset="0"/>
                <a:ea typeface="Arial" pitchFamily="34" charset="-122"/>
                <a:cs typeface="Arial" pitchFamily="34" charset="-120"/>
              </a:rPr>
              <a:t>Error</a:t>
            </a:r>
            <a:endParaRPr lang="en-US" sz="1000" dirty="0"/>
          </a:p>
        </p:txBody>
      </p:sp>
      <p:sp>
        <p:nvSpPr>
          <p:cNvPr id="10" name="Text 8"/>
          <p:cNvSpPr/>
          <p:nvPr/>
        </p:nvSpPr>
        <p:spPr>
          <a:xfrm>
            <a:off x="2487168" y="1234440"/>
            <a:ext cx="2514600" cy="256032"/>
          </a:xfrm>
          <a:prstGeom prst="rect">
            <a:avLst/>
          </a:prstGeom>
          <a:noFill/>
          <a:ln/>
        </p:spPr>
        <p:txBody>
          <a:bodyPr wrap="square" lIns="0" tIns="0" rIns="0" bIns="0" rtlCol="0" anchor="ctr"/>
          <a:lstStyle/>
          <a:p>
            <a:pPr indent="0" marL="0">
              <a:buNone/>
            </a:pPr>
            <a:r>
              <a:rPr lang="en-US" sz="1000" b="1" dirty="0">
                <a:solidFill>
                  <a:srgbClr val="FFFFFF"/>
                </a:solidFill>
                <a:latin typeface="Arial" pitchFamily="34" charset="0"/>
                <a:ea typeface="Arial" pitchFamily="34" charset="-122"/>
                <a:cs typeface="Arial" pitchFamily="34" charset="-120"/>
              </a:rPr>
              <a:t>Cause</a:t>
            </a:r>
            <a:endParaRPr lang="en-US" sz="1000" dirty="0"/>
          </a:p>
        </p:txBody>
      </p:sp>
      <p:sp>
        <p:nvSpPr>
          <p:cNvPr id="11" name="Text 9"/>
          <p:cNvSpPr/>
          <p:nvPr/>
        </p:nvSpPr>
        <p:spPr>
          <a:xfrm>
            <a:off x="5074920" y="1234440"/>
            <a:ext cx="3675888" cy="256032"/>
          </a:xfrm>
          <a:prstGeom prst="rect">
            <a:avLst/>
          </a:prstGeom>
          <a:noFill/>
          <a:ln/>
        </p:spPr>
        <p:txBody>
          <a:bodyPr wrap="square" lIns="0" tIns="0" rIns="0" bIns="0" rtlCol="0" anchor="ctr"/>
          <a:lstStyle/>
          <a:p>
            <a:pPr indent="0" marL="0">
              <a:buNone/>
            </a:pPr>
            <a:r>
              <a:rPr lang="en-US" sz="1000" b="1" dirty="0">
                <a:solidFill>
                  <a:srgbClr val="FFFFFF"/>
                </a:solidFill>
                <a:latin typeface="Arial" pitchFamily="34" charset="0"/>
                <a:ea typeface="Arial" pitchFamily="34" charset="-122"/>
                <a:cs typeface="Arial" pitchFamily="34" charset="-120"/>
              </a:rPr>
              <a:t>Quick Fix</a:t>
            </a:r>
            <a:endParaRPr lang="en-US" sz="1000" dirty="0"/>
          </a:p>
        </p:txBody>
      </p:sp>
      <p:sp>
        <p:nvSpPr>
          <p:cNvPr id="12" name="Shape 10"/>
          <p:cNvSpPr/>
          <p:nvPr/>
        </p:nvSpPr>
        <p:spPr>
          <a:xfrm>
            <a:off x="320040" y="1572768"/>
            <a:ext cx="8503920" cy="429768"/>
          </a:xfrm>
          <a:prstGeom prst="rect">
            <a:avLst/>
          </a:prstGeom>
          <a:solidFill>
            <a:srgbClr val="FFFFFF"/>
          </a:solidFill>
          <a:ln w="12700">
            <a:solidFill>
              <a:srgbClr val="E2E8F0"/>
            </a:solidFill>
            <a:prstDash val="solid"/>
          </a:ln>
        </p:spPr>
      </p:sp>
      <p:sp>
        <p:nvSpPr>
          <p:cNvPr id="13" name="Text 11"/>
          <p:cNvSpPr/>
          <p:nvPr/>
        </p:nvSpPr>
        <p:spPr>
          <a:xfrm>
            <a:off x="411480" y="1627632"/>
            <a:ext cx="2011680" cy="310896"/>
          </a:xfrm>
          <a:prstGeom prst="rect">
            <a:avLst/>
          </a:prstGeom>
          <a:noFill/>
          <a:ln/>
        </p:spPr>
        <p:txBody>
          <a:bodyPr wrap="square" lIns="0" tIns="0" rIns="0" bIns="0" rtlCol="0" anchor="ctr"/>
          <a:lstStyle/>
          <a:p>
            <a:pPr indent="0" marL="0">
              <a:buNone/>
            </a:pPr>
            <a:r>
              <a:rPr lang="en-US" sz="900" dirty="0">
                <a:solidFill>
                  <a:srgbClr val="EF4444"/>
                </a:solidFill>
                <a:latin typeface="Courier New" pitchFamily="34" charset="0"/>
                <a:ea typeface="Courier New" pitchFamily="34" charset="-122"/>
                <a:cs typeface="Courier New" pitchFamily="34" charset="-120"/>
              </a:rPr>
              <a:t>CrashLoopBackOff</a:t>
            </a:r>
            <a:endParaRPr lang="en-US" sz="900" dirty="0"/>
          </a:p>
        </p:txBody>
      </p:sp>
      <p:sp>
        <p:nvSpPr>
          <p:cNvPr id="14" name="Text 12"/>
          <p:cNvSpPr/>
          <p:nvPr/>
        </p:nvSpPr>
        <p:spPr>
          <a:xfrm>
            <a:off x="2487168" y="1627632"/>
            <a:ext cx="2514600" cy="310896"/>
          </a:xfrm>
          <a:prstGeom prst="rect">
            <a:avLst/>
          </a:prstGeom>
          <a:noFill/>
          <a:ln/>
        </p:spPr>
        <p:txBody>
          <a:bodyPr wrap="square" lIns="0" tIns="0" rIns="0" bIns="0" rtlCol="0" anchor="ctr"/>
          <a:lstStyle/>
          <a:p>
            <a:pPr indent="0" marL="0">
              <a:buNone/>
            </a:pPr>
            <a:r>
              <a:rPr lang="en-US" sz="900" dirty="0">
                <a:solidFill>
                  <a:srgbClr val="475569"/>
                </a:solidFill>
                <a:latin typeface="Arial" pitchFamily="34" charset="0"/>
                <a:ea typeface="Arial" pitchFamily="34" charset="-122"/>
                <a:cs typeface="Arial" pitchFamily="34" charset="-120"/>
              </a:rPr>
              <a:t>Container starts and immediately crashes</a:t>
            </a:r>
            <a:endParaRPr lang="en-US" sz="900" dirty="0"/>
          </a:p>
        </p:txBody>
      </p:sp>
      <p:sp>
        <p:nvSpPr>
          <p:cNvPr id="15" name="Text 13"/>
          <p:cNvSpPr/>
          <p:nvPr/>
        </p:nvSpPr>
        <p:spPr>
          <a:xfrm>
            <a:off x="5074920" y="1627632"/>
            <a:ext cx="3675888" cy="310896"/>
          </a:xfrm>
          <a:prstGeom prst="rect">
            <a:avLst/>
          </a:prstGeom>
          <a:noFill/>
          <a:ln/>
        </p:spPr>
        <p:txBody>
          <a:bodyPr wrap="square" lIns="0" tIns="0" rIns="0" bIns="0" rtlCol="0" anchor="ctr"/>
          <a:lstStyle/>
          <a:p>
            <a:pPr indent="0" marL="0">
              <a:buNone/>
            </a:pPr>
            <a:r>
              <a:rPr lang="en-US" sz="900" dirty="0">
                <a:solidFill>
                  <a:srgbClr val="059669"/>
                </a:solidFill>
                <a:latin typeface="Arial" pitchFamily="34" charset="0"/>
                <a:ea typeface="Arial" pitchFamily="34" charset="-122"/>
                <a:cs typeface="Arial" pitchFamily="34" charset="-120"/>
              </a:rPr>
              <a:t>kubectl logs &lt;pod&gt; --previous to see crash reason</a:t>
            </a:r>
            <a:endParaRPr lang="en-US" sz="900" dirty="0"/>
          </a:p>
        </p:txBody>
      </p:sp>
      <p:sp>
        <p:nvSpPr>
          <p:cNvPr id="16" name="Shape 14"/>
          <p:cNvSpPr/>
          <p:nvPr/>
        </p:nvSpPr>
        <p:spPr>
          <a:xfrm>
            <a:off x="320040" y="2029968"/>
            <a:ext cx="8503920" cy="429768"/>
          </a:xfrm>
          <a:prstGeom prst="rect">
            <a:avLst/>
          </a:prstGeom>
          <a:solidFill>
            <a:srgbClr val="F1F5F9"/>
          </a:solidFill>
          <a:ln w="12700">
            <a:solidFill>
              <a:srgbClr val="E2E8F0"/>
            </a:solidFill>
            <a:prstDash val="solid"/>
          </a:ln>
        </p:spPr>
      </p:sp>
      <p:sp>
        <p:nvSpPr>
          <p:cNvPr id="17" name="Text 15"/>
          <p:cNvSpPr/>
          <p:nvPr/>
        </p:nvSpPr>
        <p:spPr>
          <a:xfrm>
            <a:off x="411480" y="2084832"/>
            <a:ext cx="2011680" cy="310896"/>
          </a:xfrm>
          <a:prstGeom prst="rect">
            <a:avLst/>
          </a:prstGeom>
          <a:noFill/>
          <a:ln/>
        </p:spPr>
        <p:txBody>
          <a:bodyPr wrap="square" lIns="0" tIns="0" rIns="0" bIns="0" rtlCol="0" anchor="ctr"/>
          <a:lstStyle/>
          <a:p>
            <a:pPr indent="0" marL="0">
              <a:buNone/>
            </a:pPr>
            <a:r>
              <a:rPr lang="en-US" sz="900" dirty="0">
                <a:solidFill>
                  <a:srgbClr val="EF4444"/>
                </a:solidFill>
                <a:latin typeface="Courier New" pitchFamily="34" charset="0"/>
                <a:ea typeface="Courier New" pitchFamily="34" charset="-122"/>
                <a:cs typeface="Courier New" pitchFamily="34" charset="-120"/>
              </a:rPr>
              <a:t>OOMKilled</a:t>
            </a:r>
            <a:endParaRPr lang="en-US" sz="900" dirty="0"/>
          </a:p>
        </p:txBody>
      </p:sp>
      <p:sp>
        <p:nvSpPr>
          <p:cNvPr id="18" name="Text 16"/>
          <p:cNvSpPr/>
          <p:nvPr/>
        </p:nvSpPr>
        <p:spPr>
          <a:xfrm>
            <a:off x="2487168" y="2084832"/>
            <a:ext cx="2514600" cy="310896"/>
          </a:xfrm>
          <a:prstGeom prst="rect">
            <a:avLst/>
          </a:prstGeom>
          <a:noFill/>
          <a:ln/>
        </p:spPr>
        <p:txBody>
          <a:bodyPr wrap="square" lIns="0" tIns="0" rIns="0" bIns="0" rtlCol="0" anchor="ctr"/>
          <a:lstStyle/>
          <a:p>
            <a:pPr indent="0" marL="0">
              <a:buNone/>
            </a:pPr>
            <a:r>
              <a:rPr lang="en-US" sz="900" dirty="0">
                <a:solidFill>
                  <a:srgbClr val="475569"/>
                </a:solidFill>
                <a:latin typeface="Arial" pitchFamily="34" charset="0"/>
                <a:ea typeface="Arial" pitchFamily="34" charset="-122"/>
                <a:cs typeface="Arial" pitchFamily="34" charset="-120"/>
              </a:rPr>
              <a:t>Container exceeded memory limit</a:t>
            </a:r>
            <a:endParaRPr lang="en-US" sz="900" dirty="0"/>
          </a:p>
        </p:txBody>
      </p:sp>
      <p:sp>
        <p:nvSpPr>
          <p:cNvPr id="19" name="Text 17"/>
          <p:cNvSpPr/>
          <p:nvPr/>
        </p:nvSpPr>
        <p:spPr>
          <a:xfrm>
            <a:off x="5074920" y="2084832"/>
            <a:ext cx="3675888" cy="310896"/>
          </a:xfrm>
          <a:prstGeom prst="rect">
            <a:avLst/>
          </a:prstGeom>
          <a:noFill/>
          <a:ln/>
        </p:spPr>
        <p:txBody>
          <a:bodyPr wrap="square" lIns="0" tIns="0" rIns="0" bIns="0" rtlCol="0" anchor="ctr"/>
          <a:lstStyle/>
          <a:p>
            <a:pPr indent="0" marL="0">
              <a:buNone/>
            </a:pPr>
            <a:r>
              <a:rPr lang="en-US" sz="900" dirty="0">
                <a:solidFill>
                  <a:srgbClr val="059669"/>
                </a:solidFill>
                <a:latin typeface="Arial" pitchFamily="34" charset="0"/>
                <a:ea typeface="Arial" pitchFamily="34" charset="-122"/>
                <a:cs typeface="Arial" pitchFamily="34" charset="-120"/>
              </a:rPr>
              <a:t>Increase memory limit or fix memory leak in app</a:t>
            </a:r>
            <a:endParaRPr lang="en-US" sz="900" dirty="0"/>
          </a:p>
        </p:txBody>
      </p:sp>
      <p:sp>
        <p:nvSpPr>
          <p:cNvPr id="20" name="Shape 18"/>
          <p:cNvSpPr/>
          <p:nvPr/>
        </p:nvSpPr>
        <p:spPr>
          <a:xfrm>
            <a:off x="320040" y="2487168"/>
            <a:ext cx="8503920" cy="429768"/>
          </a:xfrm>
          <a:prstGeom prst="rect">
            <a:avLst/>
          </a:prstGeom>
          <a:solidFill>
            <a:srgbClr val="FFFFFF"/>
          </a:solidFill>
          <a:ln w="12700">
            <a:solidFill>
              <a:srgbClr val="E2E8F0"/>
            </a:solidFill>
            <a:prstDash val="solid"/>
          </a:ln>
        </p:spPr>
      </p:sp>
      <p:sp>
        <p:nvSpPr>
          <p:cNvPr id="21" name="Text 19"/>
          <p:cNvSpPr/>
          <p:nvPr/>
        </p:nvSpPr>
        <p:spPr>
          <a:xfrm>
            <a:off x="411480" y="2542032"/>
            <a:ext cx="2011680" cy="310896"/>
          </a:xfrm>
          <a:prstGeom prst="rect">
            <a:avLst/>
          </a:prstGeom>
          <a:noFill/>
          <a:ln/>
        </p:spPr>
        <p:txBody>
          <a:bodyPr wrap="square" lIns="0" tIns="0" rIns="0" bIns="0" rtlCol="0" anchor="ctr"/>
          <a:lstStyle/>
          <a:p>
            <a:pPr indent="0" marL="0">
              <a:buNone/>
            </a:pPr>
            <a:r>
              <a:rPr lang="en-US" sz="900" dirty="0">
                <a:solidFill>
                  <a:srgbClr val="EF4444"/>
                </a:solidFill>
                <a:latin typeface="Courier New" pitchFamily="34" charset="0"/>
                <a:ea typeface="Courier New" pitchFamily="34" charset="-122"/>
                <a:cs typeface="Courier New" pitchFamily="34" charset="-120"/>
              </a:rPr>
              <a:t>Pending — Insufficient resources</a:t>
            </a:r>
            <a:endParaRPr lang="en-US" sz="900" dirty="0"/>
          </a:p>
        </p:txBody>
      </p:sp>
      <p:sp>
        <p:nvSpPr>
          <p:cNvPr id="22" name="Text 20"/>
          <p:cNvSpPr/>
          <p:nvPr/>
        </p:nvSpPr>
        <p:spPr>
          <a:xfrm>
            <a:off x="2487168" y="2542032"/>
            <a:ext cx="2514600" cy="310896"/>
          </a:xfrm>
          <a:prstGeom prst="rect">
            <a:avLst/>
          </a:prstGeom>
          <a:noFill/>
          <a:ln/>
        </p:spPr>
        <p:txBody>
          <a:bodyPr wrap="square" lIns="0" tIns="0" rIns="0" bIns="0" rtlCol="0" anchor="ctr"/>
          <a:lstStyle/>
          <a:p>
            <a:pPr indent="0" marL="0">
              <a:buNone/>
            </a:pPr>
            <a:r>
              <a:rPr lang="en-US" sz="900" dirty="0">
                <a:solidFill>
                  <a:srgbClr val="475569"/>
                </a:solidFill>
                <a:latin typeface="Arial" pitchFamily="34" charset="0"/>
                <a:ea typeface="Arial" pitchFamily="34" charset="-122"/>
                <a:cs typeface="Arial" pitchFamily="34" charset="-120"/>
              </a:rPr>
              <a:t>No node has enough CPU/memory</a:t>
            </a:r>
            <a:endParaRPr lang="en-US" sz="900" dirty="0"/>
          </a:p>
        </p:txBody>
      </p:sp>
      <p:sp>
        <p:nvSpPr>
          <p:cNvPr id="23" name="Text 21"/>
          <p:cNvSpPr/>
          <p:nvPr/>
        </p:nvSpPr>
        <p:spPr>
          <a:xfrm>
            <a:off x="5074920" y="2542032"/>
            <a:ext cx="3675888" cy="310896"/>
          </a:xfrm>
          <a:prstGeom prst="rect">
            <a:avLst/>
          </a:prstGeom>
          <a:noFill/>
          <a:ln/>
        </p:spPr>
        <p:txBody>
          <a:bodyPr wrap="square" lIns="0" tIns="0" rIns="0" bIns="0" rtlCol="0" anchor="ctr"/>
          <a:lstStyle/>
          <a:p>
            <a:pPr indent="0" marL="0">
              <a:buNone/>
            </a:pPr>
            <a:r>
              <a:rPr lang="en-US" sz="900" dirty="0">
                <a:solidFill>
                  <a:srgbClr val="059669"/>
                </a:solidFill>
                <a:latin typeface="Arial" pitchFamily="34" charset="0"/>
                <a:ea typeface="Arial" pitchFamily="34" charset="-122"/>
                <a:cs typeface="Arial" pitchFamily="34" charset="-120"/>
              </a:rPr>
              <a:t>kubectl describe pod → Events shows 'Insufficient'. Scale cluster or reduce requests.</a:t>
            </a:r>
            <a:endParaRPr lang="en-US" sz="900" dirty="0"/>
          </a:p>
        </p:txBody>
      </p:sp>
      <p:sp>
        <p:nvSpPr>
          <p:cNvPr id="24" name="Shape 22"/>
          <p:cNvSpPr/>
          <p:nvPr/>
        </p:nvSpPr>
        <p:spPr>
          <a:xfrm>
            <a:off x="320040" y="2944368"/>
            <a:ext cx="8503920" cy="429768"/>
          </a:xfrm>
          <a:prstGeom prst="rect">
            <a:avLst/>
          </a:prstGeom>
          <a:solidFill>
            <a:srgbClr val="F1F5F9"/>
          </a:solidFill>
          <a:ln w="12700">
            <a:solidFill>
              <a:srgbClr val="E2E8F0"/>
            </a:solidFill>
            <a:prstDash val="solid"/>
          </a:ln>
        </p:spPr>
      </p:sp>
      <p:sp>
        <p:nvSpPr>
          <p:cNvPr id="25" name="Text 23"/>
          <p:cNvSpPr/>
          <p:nvPr/>
        </p:nvSpPr>
        <p:spPr>
          <a:xfrm>
            <a:off x="411480" y="2999232"/>
            <a:ext cx="2011680" cy="310896"/>
          </a:xfrm>
          <a:prstGeom prst="rect">
            <a:avLst/>
          </a:prstGeom>
          <a:noFill/>
          <a:ln/>
        </p:spPr>
        <p:txBody>
          <a:bodyPr wrap="square" lIns="0" tIns="0" rIns="0" bIns="0" rtlCol="0" anchor="ctr"/>
          <a:lstStyle/>
          <a:p>
            <a:pPr indent="0" marL="0">
              <a:buNone/>
            </a:pPr>
            <a:r>
              <a:rPr lang="en-US" sz="900" dirty="0">
                <a:solidFill>
                  <a:srgbClr val="EF4444"/>
                </a:solidFill>
                <a:latin typeface="Courier New" pitchFamily="34" charset="0"/>
                <a:ea typeface="Courier New" pitchFamily="34" charset="-122"/>
                <a:cs typeface="Courier New" pitchFamily="34" charset="-120"/>
              </a:rPr>
              <a:t>ConfigMap not found</a:t>
            </a:r>
            <a:endParaRPr lang="en-US" sz="900" dirty="0"/>
          </a:p>
        </p:txBody>
      </p:sp>
      <p:sp>
        <p:nvSpPr>
          <p:cNvPr id="26" name="Text 24"/>
          <p:cNvSpPr/>
          <p:nvPr/>
        </p:nvSpPr>
        <p:spPr>
          <a:xfrm>
            <a:off x="2487168" y="2999232"/>
            <a:ext cx="2514600" cy="310896"/>
          </a:xfrm>
          <a:prstGeom prst="rect">
            <a:avLst/>
          </a:prstGeom>
          <a:noFill/>
          <a:ln/>
        </p:spPr>
        <p:txBody>
          <a:bodyPr wrap="square" lIns="0" tIns="0" rIns="0" bIns="0" rtlCol="0" anchor="ctr"/>
          <a:lstStyle/>
          <a:p>
            <a:pPr indent="0" marL="0">
              <a:buNone/>
            </a:pPr>
            <a:r>
              <a:rPr lang="en-US" sz="900" dirty="0">
                <a:solidFill>
                  <a:srgbClr val="475569"/>
                </a:solidFill>
                <a:latin typeface="Arial" pitchFamily="34" charset="0"/>
                <a:ea typeface="Arial" pitchFamily="34" charset="-122"/>
                <a:cs typeface="Arial" pitchFamily="34" charset="-120"/>
              </a:rPr>
              <a:t>Name or namespace mismatch</a:t>
            </a:r>
            <a:endParaRPr lang="en-US" sz="900" dirty="0"/>
          </a:p>
        </p:txBody>
      </p:sp>
      <p:sp>
        <p:nvSpPr>
          <p:cNvPr id="27" name="Text 25"/>
          <p:cNvSpPr/>
          <p:nvPr/>
        </p:nvSpPr>
        <p:spPr>
          <a:xfrm>
            <a:off x="5074920" y="2999232"/>
            <a:ext cx="3675888" cy="310896"/>
          </a:xfrm>
          <a:prstGeom prst="rect">
            <a:avLst/>
          </a:prstGeom>
          <a:noFill/>
          <a:ln/>
        </p:spPr>
        <p:txBody>
          <a:bodyPr wrap="square" lIns="0" tIns="0" rIns="0" bIns="0" rtlCol="0" anchor="ctr"/>
          <a:lstStyle/>
          <a:p>
            <a:pPr indent="0" marL="0">
              <a:buNone/>
            </a:pPr>
            <a:r>
              <a:rPr lang="en-US" sz="900" dirty="0">
                <a:solidFill>
                  <a:srgbClr val="059669"/>
                </a:solidFill>
                <a:latin typeface="Arial" pitchFamily="34" charset="0"/>
                <a:ea typeface="Arial" pitchFamily="34" charset="-122"/>
                <a:cs typeface="Arial" pitchFamily="34" charset="-120"/>
              </a:rPr>
              <a:t>ConfigMap must be in same namespace as Pod. kubectl get cm -n &lt;ns&gt;</a:t>
            </a:r>
            <a:endParaRPr lang="en-US" sz="900" dirty="0"/>
          </a:p>
        </p:txBody>
      </p:sp>
      <p:sp>
        <p:nvSpPr>
          <p:cNvPr id="28" name="Shape 26"/>
          <p:cNvSpPr/>
          <p:nvPr/>
        </p:nvSpPr>
        <p:spPr>
          <a:xfrm>
            <a:off x="320040" y="3401568"/>
            <a:ext cx="8503920" cy="429768"/>
          </a:xfrm>
          <a:prstGeom prst="rect">
            <a:avLst/>
          </a:prstGeom>
          <a:solidFill>
            <a:srgbClr val="FFFFFF"/>
          </a:solidFill>
          <a:ln w="12700">
            <a:solidFill>
              <a:srgbClr val="E2E8F0"/>
            </a:solidFill>
            <a:prstDash val="solid"/>
          </a:ln>
        </p:spPr>
      </p:sp>
      <p:sp>
        <p:nvSpPr>
          <p:cNvPr id="29" name="Text 27"/>
          <p:cNvSpPr/>
          <p:nvPr/>
        </p:nvSpPr>
        <p:spPr>
          <a:xfrm>
            <a:off x="411480" y="3456432"/>
            <a:ext cx="2011680" cy="310896"/>
          </a:xfrm>
          <a:prstGeom prst="rect">
            <a:avLst/>
          </a:prstGeom>
          <a:noFill/>
          <a:ln/>
        </p:spPr>
        <p:txBody>
          <a:bodyPr wrap="square" lIns="0" tIns="0" rIns="0" bIns="0" rtlCol="0" anchor="ctr"/>
          <a:lstStyle/>
          <a:p>
            <a:pPr indent="0" marL="0">
              <a:buNone/>
            </a:pPr>
            <a:r>
              <a:rPr lang="en-US" sz="900" dirty="0">
                <a:solidFill>
                  <a:srgbClr val="EF4444"/>
                </a:solidFill>
                <a:latin typeface="Courier New" pitchFamily="34" charset="0"/>
                <a:ea typeface="Courier New" pitchFamily="34" charset="-122"/>
                <a:cs typeface="Courier New" pitchFamily="34" charset="-120"/>
              </a:rPr>
              <a:t>Secret decode error</a:t>
            </a:r>
            <a:endParaRPr lang="en-US" sz="900" dirty="0"/>
          </a:p>
        </p:txBody>
      </p:sp>
      <p:sp>
        <p:nvSpPr>
          <p:cNvPr id="30" name="Text 28"/>
          <p:cNvSpPr/>
          <p:nvPr/>
        </p:nvSpPr>
        <p:spPr>
          <a:xfrm>
            <a:off x="2487168" y="3456432"/>
            <a:ext cx="2514600" cy="310896"/>
          </a:xfrm>
          <a:prstGeom prst="rect">
            <a:avLst/>
          </a:prstGeom>
          <a:noFill/>
          <a:ln/>
        </p:spPr>
        <p:txBody>
          <a:bodyPr wrap="square" lIns="0" tIns="0" rIns="0" bIns="0" rtlCol="0" anchor="ctr"/>
          <a:lstStyle/>
          <a:p>
            <a:pPr indent="0" marL="0">
              <a:buNone/>
            </a:pPr>
            <a:r>
              <a:rPr lang="en-US" sz="900" dirty="0">
                <a:solidFill>
                  <a:srgbClr val="475569"/>
                </a:solidFill>
                <a:latin typeface="Arial" pitchFamily="34" charset="0"/>
                <a:ea typeface="Arial" pitchFamily="34" charset="-122"/>
                <a:cs typeface="Arial" pitchFamily="34" charset="-120"/>
              </a:rPr>
              <a:t>Base64 encoding incorrect</a:t>
            </a:r>
            <a:endParaRPr lang="en-US" sz="900" dirty="0"/>
          </a:p>
        </p:txBody>
      </p:sp>
      <p:sp>
        <p:nvSpPr>
          <p:cNvPr id="31" name="Text 29"/>
          <p:cNvSpPr/>
          <p:nvPr/>
        </p:nvSpPr>
        <p:spPr>
          <a:xfrm>
            <a:off x="5074920" y="3456432"/>
            <a:ext cx="3675888" cy="310896"/>
          </a:xfrm>
          <a:prstGeom prst="rect">
            <a:avLst/>
          </a:prstGeom>
          <a:noFill/>
          <a:ln/>
        </p:spPr>
        <p:txBody>
          <a:bodyPr wrap="square" lIns="0" tIns="0" rIns="0" bIns="0" rtlCol="0" anchor="ctr"/>
          <a:lstStyle/>
          <a:p>
            <a:pPr indent="0" marL="0">
              <a:buNone/>
            </a:pPr>
            <a:r>
              <a:rPr lang="en-US" sz="900" dirty="0">
                <a:solidFill>
                  <a:srgbClr val="059669"/>
                </a:solidFill>
                <a:latin typeface="Arial" pitchFamily="34" charset="0"/>
                <a:ea typeface="Arial" pitchFamily="34" charset="-122"/>
                <a:cs typeface="Arial" pitchFamily="34" charset="-120"/>
              </a:rPr>
              <a:t>Always use kubectl create secret. Don't manually base64-encode YAML values.</a:t>
            </a:r>
            <a:endParaRPr lang="en-US" sz="900" dirty="0"/>
          </a:p>
        </p:txBody>
      </p:sp>
      <p:sp>
        <p:nvSpPr>
          <p:cNvPr id="32" name="Shape 30"/>
          <p:cNvSpPr/>
          <p:nvPr/>
        </p:nvSpPr>
        <p:spPr>
          <a:xfrm>
            <a:off x="320040" y="3858768"/>
            <a:ext cx="8503920" cy="429768"/>
          </a:xfrm>
          <a:prstGeom prst="rect">
            <a:avLst/>
          </a:prstGeom>
          <a:solidFill>
            <a:srgbClr val="F1F5F9"/>
          </a:solidFill>
          <a:ln w="12700">
            <a:solidFill>
              <a:srgbClr val="E2E8F0"/>
            </a:solidFill>
            <a:prstDash val="solid"/>
          </a:ln>
        </p:spPr>
      </p:sp>
      <p:sp>
        <p:nvSpPr>
          <p:cNvPr id="33" name="Text 31"/>
          <p:cNvSpPr/>
          <p:nvPr/>
        </p:nvSpPr>
        <p:spPr>
          <a:xfrm>
            <a:off x="411480" y="3913632"/>
            <a:ext cx="2011680" cy="310896"/>
          </a:xfrm>
          <a:prstGeom prst="rect">
            <a:avLst/>
          </a:prstGeom>
          <a:noFill/>
          <a:ln/>
        </p:spPr>
        <p:txBody>
          <a:bodyPr wrap="square" lIns="0" tIns="0" rIns="0" bIns="0" rtlCol="0" anchor="ctr"/>
          <a:lstStyle/>
          <a:p>
            <a:pPr indent="0" marL="0">
              <a:buNone/>
            </a:pPr>
            <a:r>
              <a:rPr lang="en-US" sz="900" dirty="0">
                <a:solidFill>
                  <a:srgbClr val="EF4444"/>
                </a:solidFill>
                <a:latin typeface="Courier New" pitchFamily="34" charset="0"/>
                <a:ea typeface="Courier New" pitchFamily="34" charset="-122"/>
                <a:cs typeface="Courier New" pitchFamily="34" charset="-120"/>
              </a:rPr>
              <a:t>RBAC: forbidden</a:t>
            </a:r>
            <a:endParaRPr lang="en-US" sz="900" dirty="0"/>
          </a:p>
        </p:txBody>
      </p:sp>
      <p:sp>
        <p:nvSpPr>
          <p:cNvPr id="34" name="Text 32"/>
          <p:cNvSpPr/>
          <p:nvPr/>
        </p:nvSpPr>
        <p:spPr>
          <a:xfrm>
            <a:off x="2487168" y="3913632"/>
            <a:ext cx="2514600" cy="310896"/>
          </a:xfrm>
          <a:prstGeom prst="rect">
            <a:avLst/>
          </a:prstGeom>
          <a:noFill/>
          <a:ln/>
        </p:spPr>
        <p:txBody>
          <a:bodyPr wrap="square" lIns="0" tIns="0" rIns="0" bIns="0" rtlCol="0" anchor="ctr"/>
          <a:lstStyle/>
          <a:p>
            <a:pPr indent="0" marL="0">
              <a:buNone/>
            </a:pPr>
            <a:r>
              <a:rPr lang="en-US" sz="900" dirty="0">
                <a:solidFill>
                  <a:srgbClr val="475569"/>
                </a:solidFill>
                <a:latin typeface="Arial" pitchFamily="34" charset="0"/>
                <a:ea typeface="Arial" pitchFamily="34" charset="-122"/>
                <a:cs typeface="Arial" pitchFamily="34" charset="-120"/>
              </a:rPr>
              <a:t>ServiceAccount lacks required permissions</a:t>
            </a:r>
            <a:endParaRPr lang="en-US" sz="900" dirty="0"/>
          </a:p>
        </p:txBody>
      </p:sp>
      <p:sp>
        <p:nvSpPr>
          <p:cNvPr id="35" name="Text 33"/>
          <p:cNvSpPr/>
          <p:nvPr/>
        </p:nvSpPr>
        <p:spPr>
          <a:xfrm>
            <a:off x="5074920" y="3913632"/>
            <a:ext cx="3675888" cy="310896"/>
          </a:xfrm>
          <a:prstGeom prst="rect">
            <a:avLst/>
          </a:prstGeom>
          <a:noFill/>
          <a:ln/>
        </p:spPr>
        <p:txBody>
          <a:bodyPr wrap="square" lIns="0" tIns="0" rIns="0" bIns="0" rtlCol="0" anchor="ctr"/>
          <a:lstStyle/>
          <a:p>
            <a:pPr indent="0" marL="0">
              <a:buNone/>
            </a:pPr>
            <a:r>
              <a:rPr lang="en-US" sz="900" dirty="0">
                <a:solidFill>
                  <a:srgbClr val="059669"/>
                </a:solidFill>
                <a:latin typeface="Arial" pitchFamily="34" charset="0"/>
                <a:ea typeface="Arial" pitchFamily="34" charset="-122"/>
                <a:cs typeface="Arial" pitchFamily="34" charset="-120"/>
              </a:rPr>
              <a:t>kubectl auth can-i &lt;verb&gt; &lt;resource&gt; --as=&lt;sa&gt; to diagnose. Add missing Role/RoleBinding.</a:t>
            </a:r>
            <a:endParaRPr lang="en-US" sz="900" dirty="0"/>
          </a:p>
        </p:txBody>
      </p:sp>
      <p:sp>
        <p:nvSpPr>
          <p:cNvPr id="36" name="Shape 34"/>
          <p:cNvSpPr/>
          <p:nvPr/>
        </p:nvSpPr>
        <p:spPr>
          <a:xfrm>
            <a:off x="320040" y="4315968"/>
            <a:ext cx="8503920" cy="429768"/>
          </a:xfrm>
          <a:prstGeom prst="rect">
            <a:avLst/>
          </a:prstGeom>
          <a:solidFill>
            <a:srgbClr val="FFFFFF"/>
          </a:solidFill>
          <a:ln w="12700">
            <a:solidFill>
              <a:srgbClr val="E2E8F0"/>
            </a:solidFill>
            <a:prstDash val="solid"/>
          </a:ln>
        </p:spPr>
      </p:sp>
      <p:sp>
        <p:nvSpPr>
          <p:cNvPr id="37" name="Text 35"/>
          <p:cNvSpPr/>
          <p:nvPr/>
        </p:nvSpPr>
        <p:spPr>
          <a:xfrm>
            <a:off x="411480" y="4370832"/>
            <a:ext cx="2011680" cy="310896"/>
          </a:xfrm>
          <a:prstGeom prst="rect">
            <a:avLst/>
          </a:prstGeom>
          <a:noFill/>
          <a:ln/>
        </p:spPr>
        <p:txBody>
          <a:bodyPr wrap="square" lIns="0" tIns="0" rIns="0" bIns="0" rtlCol="0" anchor="ctr"/>
          <a:lstStyle/>
          <a:p>
            <a:pPr indent="0" marL="0">
              <a:buNone/>
            </a:pPr>
            <a:r>
              <a:rPr lang="en-US" sz="900" dirty="0">
                <a:solidFill>
                  <a:srgbClr val="EF4444"/>
                </a:solidFill>
                <a:latin typeface="Courier New" pitchFamily="34" charset="0"/>
                <a:ea typeface="Courier New" pitchFamily="34" charset="-122"/>
                <a:cs typeface="Courier New" pitchFamily="34" charset="-120"/>
              </a:rPr>
              <a:t>Helm install fails</a:t>
            </a:r>
            <a:endParaRPr lang="en-US" sz="900" dirty="0"/>
          </a:p>
        </p:txBody>
      </p:sp>
      <p:sp>
        <p:nvSpPr>
          <p:cNvPr id="38" name="Text 36"/>
          <p:cNvSpPr/>
          <p:nvPr/>
        </p:nvSpPr>
        <p:spPr>
          <a:xfrm>
            <a:off x="2487168" y="4370832"/>
            <a:ext cx="2514600" cy="310896"/>
          </a:xfrm>
          <a:prstGeom prst="rect">
            <a:avLst/>
          </a:prstGeom>
          <a:noFill/>
          <a:ln/>
        </p:spPr>
        <p:txBody>
          <a:bodyPr wrap="square" lIns="0" tIns="0" rIns="0" bIns="0" rtlCol="0" anchor="ctr"/>
          <a:lstStyle/>
          <a:p>
            <a:pPr indent="0" marL="0">
              <a:buNone/>
            </a:pPr>
            <a:r>
              <a:rPr lang="en-US" sz="900" dirty="0">
                <a:solidFill>
                  <a:srgbClr val="475569"/>
                </a:solidFill>
                <a:latin typeface="Arial" pitchFamily="34" charset="0"/>
                <a:ea typeface="Arial" pitchFamily="34" charset="-122"/>
                <a:cs typeface="Arial" pitchFamily="34" charset="-120"/>
              </a:rPr>
              <a:t>Chart values error or resource conflict</a:t>
            </a:r>
            <a:endParaRPr lang="en-US" sz="900" dirty="0"/>
          </a:p>
        </p:txBody>
      </p:sp>
      <p:sp>
        <p:nvSpPr>
          <p:cNvPr id="39" name="Text 37"/>
          <p:cNvSpPr/>
          <p:nvPr/>
        </p:nvSpPr>
        <p:spPr>
          <a:xfrm>
            <a:off x="5074920" y="4370832"/>
            <a:ext cx="3675888" cy="310896"/>
          </a:xfrm>
          <a:prstGeom prst="rect">
            <a:avLst/>
          </a:prstGeom>
          <a:noFill/>
          <a:ln/>
        </p:spPr>
        <p:txBody>
          <a:bodyPr wrap="square" lIns="0" tIns="0" rIns="0" bIns="0" rtlCol="0" anchor="ctr"/>
          <a:lstStyle/>
          <a:p>
            <a:pPr indent="0" marL="0">
              <a:buNone/>
            </a:pPr>
            <a:r>
              <a:rPr lang="en-US" sz="900" dirty="0">
                <a:solidFill>
                  <a:srgbClr val="059669"/>
                </a:solidFill>
                <a:latin typeface="Arial" pitchFamily="34" charset="0"/>
                <a:ea typeface="Arial" pitchFamily="34" charset="-122"/>
                <a:cs typeface="Arial" pitchFamily="34" charset="-120"/>
              </a:rPr>
              <a:t>helm install --debug --dry-run to see rendered YAML before applying</a:t>
            </a:r>
            <a:endParaRPr lang="en-US" sz="900" dirty="0"/>
          </a:p>
        </p:txBody>
      </p:sp>
      <p:sp>
        <p:nvSpPr>
          <p:cNvPr id="40" name="Shape 38"/>
          <p:cNvSpPr/>
          <p:nvPr/>
        </p:nvSpPr>
        <p:spPr>
          <a:xfrm>
            <a:off x="0" y="4846320"/>
            <a:ext cx="9144000" cy="297180"/>
          </a:xfrm>
          <a:prstGeom prst="rect">
            <a:avLst/>
          </a:prstGeom>
          <a:solidFill>
            <a:srgbClr val="7C2D12"/>
          </a:solidFill>
          <a:ln w="12700">
            <a:solidFill>
              <a:srgbClr val="7C2D12"/>
            </a:solidFill>
            <a:prstDash val="solid"/>
          </a:ln>
        </p:spPr>
      </p:sp>
      <p:sp>
        <p:nvSpPr>
          <p:cNvPr id="41" name="Text 39"/>
          <p:cNvSpPr/>
          <p:nvPr/>
        </p:nvSpPr>
        <p:spPr>
          <a:xfrm>
            <a:off x="365760" y="4864608"/>
            <a:ext cx="8412480" cy="256032"/>
          </a:xfrm>
          <a:prstGeom prst="rect">
            <a:avLst/>
          </a:prstGeom>
          <a:noFill/>
          <a:ln/>
        </p:spPr>
        <p:txBody>
          <a:bodyPr wrap="square" lIns="0" tIns="0" rIns="0" bIns="0" rtlCol="0" anchor="ctr"/>
          <a:lstStyle/>
          <a:p>
            <a:pPr algn="ctr" indent="0" marL="0">
              <a:buNone/>
            </a:pPr>
            <a:r>
              <a:rPr lang="en-US" sz="900" dirty="0">
                <a:solidFill>
                  <a:srgbClr val="94A3B8"/>
                </a:solidFill>
                <a:latin typeface="Arial" pitchFamily="34" charset="0"/>
                <a:ea typeface="Arial" pitchFamily="34" charset="-122"/>
                <a:cs typeface="Arial" pitchFamily="34" charset="-120"/>
              </a:rPr>
              <a:t>Trainer Guide  —  Error Reference — CONFIDENTIAL</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347472" cy="5143500"/>
          </a:xfrm>
          <a:prstGeom prst="rect">
            <a:avLst/>
          </a:prstGeom>
          <a:solidFill>
            <a:srgbClr val="7C3AED"/>
          </a:solidFill>
          <a:ln w="12700">
            <a:solidFill>
              <a:srgbClr val="7C3AED"/>
            </a:solidFill>
            <a:prstDash val="solid"/>
          </a:ln>
        </p:spPr>
      </p:sp>
      <p:sp>
        <p:nvSpPr>
          <p:cNvPr id="3" name="Shape 1"/>
          <p:cNvSpPr/>
          <p:nvPr/>
        </p:nvSpPr>
        <p:spPr>
          <a:xfrm>
            <a:off x="6400800" y="-731520"/>
            <a:ext cx="3840480" cy="3840480"/>
          </a:xfrm>
          <a:prstGeom prst="ellipse">
            <a:avLst/>
          </a:prstGeom>
          <a:solidFill>
            <a:srgbClr val="7C3AED">
              <a:alpha val="8000"/>
            </a:srgbClr>
          </a:solidFill>
          <a:ln w="12700">
            <a:solidFill>
              <a:srgbClr val="7C3AED">
                <a:alpha val="15000"/>
              </a:srgbClr>
            </a:solidFill>
            <a:prstDash val="solid"/>
          </a:ln>
        </p:spPr>
      </p:sp>
      <p:sp>
        <p:nvSpPr>
          <p:cNvPr id="4" name="Text 2"/>
          <p:cNvSpPr/>
          <p:nvPr/>
        </p:nvSpPr>
        <p:spPr>
          <a:xfrm>
            <a:off x="594360" y="365760"/>
            <a:ext cx="4572000" cy="438912"/>
          </a:xfrm>
          <a:prstGeom prst="rect">
            <a:avLst/>
          </a:prstGeom>
          <a:noFill/>
          <a:ln/>
        </p:spPr>
        <p:txBody>
          <a:bodyPr wrap="square" lIns="0" tIns="0" rIns="0" bIns="0" rtlCol="0" anchor="ctr"/>
          <a:lstStyle/>
          <a:p>
            <a:pPr indent="0" marL="0">
              <a:buNone/>
            </a:pPr>
            <a:r>
              <a:rPr lang="en-US" sz="1300" b="1" spc="200" kern="0" dirty="0">
                <a:solidFill>
                  <a:srgbClr val="7C3AED"/>
                </a:solidFill>
                <a:latin typeface="Arial" pitchFamily="34" charset="0"/>
                <a:ea typeface="Arial" pitchFamily="34" charset="-122"/>
                <a:cs typeface="Arial" pitchFamily="34" charset="-120"/>
              </a:rPr>
              <a:t>🔬  LAB 2</a:t>
            </a:r>
            <a:endParaRPr lang="en-US" sz="1300" dirty="0"/>
          </a:p>
        </p:txBody>
      </p:sp>
      <p:sp>
        <p:nvSpPr>
          <p:cNvPr id="5" name="Text 3"/>
          <p:cNvSpPr/>
          <p:nvPr/>
        </p:nvSpPr>
        <p:spPr>
          <a:xfrm>
            <a:off x="594360" y="804672"/>
            <a:ext cx="8229600" cy="7772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Secrets, RBAC &amp; Helm</a:t>
            </a:r>
            <a:endParaRPr lang="en-US" sz="3200" dirty="0"/>
          </a:p>
        </p:txBody>
      </p:sp>
      <p:sp>
        <p:nvSpPr>
          <p:cNvPr id="6" name="Shape 4"/>
          <p:cNvSpPr/>
          <p:nvPr/>
        </p:nvSpPr>
        <p:spPr>
          <a:xfrm>
            <a:off x="594360" y="1664208"/>
            <a:ext cx="4114800" cy="27432"/>
          </a:xfrm>
          <a:prstGeom prst="rect">
            <a:avLst/>
          </a:prstGeom>
          <a:solidFill>
            <a:srgbClr val="7C3AED"/>
          </a:solidFill>
          <a:ln w="12700">
            <a:solidFill>
              <a:srgbClr val="7C3AED"/>
            </a:solidFill>
            <a:prstDash val="solid"/>
          </a:ln>
        </p:spPr>
      </p:sp>
      <p:sp>
        <p:nvSpPr>
          <p:cNvPr id="7" name="Shape 5"/>
          <p:cNvSpPr/>
          <p:nvPr/>
        </p:nvSpPr>
        <p:spPr>
          <a:xfrm>
            <a:off x="594360" y="1874520"/>
            <a:ext cx="292608" cy="292608"/>
          </a:xfrm>
          <a:prstGeom prst="ellipse">
            <a:avLst/>
          </a:prstGeom>
          <a:solidFill>
            <a:srgbClr val="7C3AED"/>
          </a:solidFill>
          <a:ln w="12700">
            <a:solidFill>
              <a:srgbClr val="7C3AED"/>
            </a:solidFill>
            <a:prstDash val="solid"/>
          </a:ln>
        </p:spPr>
      </p:sp>
      <p:sp>
        <p:nvSpPr>
          <p:cNvPr id="8" name="Text 6"/>
          <p:cNvSpPr/>
          <p:nvPr/>
        </p:nvSpPr>
        <p:spPr>
          <a:xfrm>
            <a:off x="594360" y="1874520"/>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9" name="Text 7"/>
          <p:cNvSpPr/>
          <p:nvPr/>
        </p:nvSpPr>
        <p:spPr>
          <a:xfrm>
            <a:off x="1005840" y="1874520"/>
            <a:ext cx="7498080" cy="347472"/>
          </a:xfrm>
          <a:prstGeom prst="rect">
            <a:avLst/>
          </a:prstGeom>
          <a:noFill/>
          <a:ln/>
        </p:spPr>
        <p:txBody>
          <a:bodyPr wrap="square" lIns="0" tIns="0" rIns="0" bIns="0" rtlCol="0" anchor="ctr"/>
          <a:lstStyle/>
          <a:p>
            <a:pPr indent="0" marL="0">
              <a:buNone/>
            </a:pPr>
            <a:r>
              <a:rPr lang="en-US" sz="1200" dirty="0">
                <a:solidFill>
                  <a:srgbClr val="F1F5F9"/>
                </a:solidFill>
                <a:latin typeface="Arial" pitchFamily="34" charset="0"/>
                <a:ea typeface="Arial" pitchFamily="34" charset="-122"/>
                <a:cs typeface="Arial" pitchFamily="34" charset="-120"/>
              </a:rPr>
              <a:t>Create a Secret with database credentials using kubectl create secret</a:t>
            </a:r>
            <a:endParaRPr lang="en-US" sz="1200" dirty="0"/>
          </a:p>
        </p:txBody>
      </p:sp>
      <p:sp>
        <p:nvSpPr>
          <p:cNvPr id="10" name="Shape 8"/>
          <p:cNvSpPr/>
          <p:nvPr/>
        </p:nvSpPr>
        <p:spPr>
          <a:xfrm>
            <a:off x="594360" y="2350008"/>
            <a:ext cx="292608" cy="292608"/>
          </a:xfrm>
          <a:prstGeom prst="ellipse">
            <a:avLst/>
          </a:prstGeom>
          <a:solidFill>
            <a:srgbClr val="7C3AED"/>
          </a:solidFill>
          <a:ln w="12700">
            <a:solidFill>
              <a:srgbClr val="7C3AED"/>
            </a:solidFill>
            <a:prstDash val="solid"/>
          </a:ln>
        </p:spPr>
      </p:sp>
      <p:sp>
        <p:nvSpPr>
          <p:cNvPr id="11" name="Text 9"/>
          <p:cNvSpPr/>
          <p:nvPr/>
        </p:nvSpPr>
        <p:spPr>
          <a:xfrm>
            <a:off x="594360" y="2350008"/>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2" name="Text 10"/>
          <p:cNvSpPr/>
          <p:nvPr/>
        </p:nvSpPr>
        <p:spPr>
          <a:xfrm>
            <a:off x="1005840" y="2350008"/>
            <a:ext cx="7498080" cy="347472"/>
          </a:xfrm>
          <a:prstGeom prst="rect">
            <a:avLst/>
          </a:prstGeom>
          <a:noFill/>
          <a:ln/>
        </p:spPr>
        <p:txBody>
          <a:bodyPr wrap="square" lIns="0" tIns="0" rIns="0" bIns="0" rtlCol="0" anchor="ctr"/>
          <a:lstStyle/>
          <a:p>
            <a:pPr indent="0" marL="0">
              <a:buNone/>
            </a:pPr>
            <a:r>
              <a:rPr lang="en-US" sz="1200" dirty="0">
                <a:solidFill>
                  <a:srgbClr val="F1F5F9"/>
                </a:solidFill>
                <a:latin typeface="Arial" pitchFamily="34" charset="0"/>
                <a:ea typeface="Arial" pitchFamily="34" charset="-122"/>
                <a:cs typeface="Arial" pitchFamily="34" charset="-120"/>
              </a:rPr>
              <a:t>Deploy an app that consumes the Secret as environment variables</a:t>
            </a:r>
            <a:endParaRPr lang="en-US" sz="1200" dirty="0"/>
          </a:p>
        </p:txBody>
      </p:sp>
      <p:sp>
        <p:nvSpPr>
          <p:cNvPr id="13" name="Shape 11"/>
          <p:cNvSpPr/>
          <p:nvPr/>
        </p:nvSpPr>
        <p:spPr>
          <a:xfrm>
            <a:off x="594360" y="2825496"/>
            <a:ext cx="292608" cy="292608"/>
          </a:xfrm>
          <a:prstGeom prst="ellipse">
            <a:avLst/>
          </a:prstGeom>
          <a:solidFill>
            <a:srgbClr val="7C3AED"/>
          </a:solidFill>
          <a:ln w="12700">
            <a:solidFill>
              <a:srgbClr val="7C3AED"/>
            </a:solidFill>
            <a:prstDash val="solid"/>
          </a:ln>
        </p:spPr>
      </p:sp>
      <p:sp>
        <p:nvSpPr>
          <p:cNvPr id="14" name="Text 12"/>
          <p:cNvSpPr/>
          <p:nvPr/>
        </p:nvSpPr>
        <p:spPr>
          <a:xfrm>
            <a:off x="594360" y="282549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5" name="Text 13"/>
          <p:cNvSpPr/>
          <p:nvPr/>
        </p:nvSpPr>
        <p:spPr>
          <a:xfrm>
            <a:off x="1005840" y="2825496"/>
            <a:ext cx="7498080" cy="347472"/>
          </a:xfrm>
          <a:prstGeom prst="rect">
            <a:avLst/>
          </a:prstGeom>
          <a:noFill/>
          <a:ln/>
        </p:spPr>
        <p:txBody>
          <a:bodyPr wrap="square" lIns="0" tIns="0" rIns="0" bIns="0" rtlCol="0" anchor="ctr"/>
          <a:lstStyle/>
          <a:p>
            <a:pPr indent="0" marL="0">
              <a:buNone/>
            </a:pPr>
            <a:r>
              <a:rPr lang="en-US" sz="1200" dirty="0">
                <a:solidFill>
                  <a:srgbClr val="F1F5F9"/>
                </a:solidFill>
                <a:latin typeface="Arial" pitchFamily="34" charset="0"/>
                <a:ea typeface="Arial" pitchFamily="34" charset="-122"/>
                <a:cs typeface="Arial" pitchFamily="34" charset="-120"/>
              </a:rPr>
              <a:t>Create a dev-reader Role: get/list pods and deployments in dev namespace</a:t>
            </a:r>
            <a:endParaRPr lang="en-US" sz="1200" dirty="0"/>
          </a:p>
        </p:txBody>
      </p:sp>
      <p:sp>
        <p:nvSpPr>
          <p:cNvPr id="16" name="Shape 14"/>
          <p:cNvSpPr/>
          <p:nvPr/>
        </p:nvSpPr>
        <p:spPr>
          <a:xfrm>
            <a:off x="594360" y="3300984"/>
            <a:ext cx="292608" cy="292608"/>
          </a:xfrm>
          <a:prstGeom prst="ellipse">
            <a:avLst/>
          </a:prstGeom>
          <a:solidFill>
            <a:srgbClr val="7C3AED"/>
          </a:solidFill>
          <a:ln w="12700">
            <a:solidFill>
              <a:srgbClr val="7C3AED"/>
            </a:solidFill>
            <a:prstDash val="solid"/>
          </a:ln>
        </p:spPr>
      </p:sp>
      <p:sp>
        <p:nvSpPr>
          <p:cNvPr id="17" name="Text 15"/>
          <p:cNvSpPr/>
          <p:nvPr/>
        </p:nvSpPr>
        <p:spPr>
          <a:xfrm>
            <a:off x="594360" y="330098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18" name="Text 16"/>
          <p:cNvSpPr/>
          <p:nvPr/>
        </p:nvSpPr>
        <p:spPr>
          <a:xfrm>
            <a:off x="1005840" y="3300984"/>
            <a:ext cx="7498080" cy="347472"/>
          </a:xfrm>
          <a:prstGeom prst="rect">
            <a:avLst/>
          </a:prstGeom>
          <a:noFill/>
          <a:ln/>
        </p:spPr>
        <p:txBody>
          <a:bodyPr wrap="square" lIns="0" tIns="0" rIns="0" bIns="0" rtlCol="0" anchor="ctr"/>
          <a:lstStyle/>
          <a:p>
            <a:pPr indent="0" marL="0">
              <a:buNone/>
            </a:pPr>
            <a:r>
              <a:rPr lang="en-US" sz="1200" dirty="0">
                <a:solidFill>
                  <a:srgbClr val="F1F5F9"/>
                </a:solidFill>
                <a:latin typeface="Arial" pitchFamily="34" charset="0"/>
                <a:ea typeface="Arial" pitchFamily="34" charset="-122"/>
                <a:cs typeface="Arial" pitchFamily="34" charset="-120"/>
              </a:rPr>
              <a:t>Bind the Role to a ServiceAccount and verify with kubectl auth can-i</a:t>
            </a:r>
            <a:endParaRPr lang="en-US" sz="1200" dirty="0"/>
          </a:p>
        </p:txBody>
      </p:sp>
      <p:sp>
        <p:nvSpPr>
          <p:cNvPr id="19" name="Shape 17"/>
          <p:cNvSpPr/>
          <p:nvPr/>
        </p:nvSpPr>
        <p:spPr>
          <a:xfrm>
            <a:off x="594360" y="3776472"/>
            <a:ext cx="292608" cy="292608"/>
          </a:xfrm>
          <a:prstGeom prst="ellipse">
            <a:avLst/>
          </a:prstGeom>
          <a:solidFill>
            <a:srgbClr val="7C3AED"/>
          </a:solidFill>
          <a:ln w="12700">
            <a:solidFill>
              <a:srgbClr val="7C3AED"/>
            </a:solidFill>
            <a:prstDash val="solid"/>
          </a:ln>
        </p:spPr>
      </p:sp>
      <p:sp>
        <p:nvSpPr>
          <p:cNvPr id="20" name="Text 18"/>
          <p:cNvSpPr/>
          <p:nvPr/>
        </p:nvSpPr>
        <p:spPr>
          <a:xfrm>
            <a:off x="594360" y="377647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5</a:t>
            </a:r>
            <a:endParaRPr lang="en-US" sz="1000" dirty="0"/>
          </a:p>
        </p:txBody>
      </p:sp>
      <p:sp>
        <p:nvSpPr>
          <p:cNvPr id="21" name="Text 19"/>
          <p:cNvSpPr/>
          <p:nvPr/>
        </p:nvSpPr>
        <p:spPr>
          <a:xfrm>
            <a:off x="1005840" y="3776472"/>
            <a:ext cx="7498080" cy="347472"/>
          </a:xfrm>
          <a:prstGeom prst="rect">
            <a:avLst/>
          </a:prstGeom>
          <a:noFill/>
          <a:ln/>
        </p:spPr>
        <p:txBody>
          <a:bodyPr wrap="square" lIns="0" tIns="0" rIns="0" bIns="0" rtlCol="0" anchor="ctr"/>
          <a:lstStyle/>
          <a:p>
            <a:pPr indent="0" marL="0">
              <a:buNone/>
            </a:pPr>
            <a:r>
              <a:rPr lang="en-US" sz="1200" dirty="0">
                <a:solidFill>
                  <a:srgbClr val="F1F5F9"/>
                </a:solidFill>
                <a:latin typeface="Arial" pitchFamily="34" charset="0"/>
                <a:ea typeface="Arial" pitchFamily="34" charset="-122"/>
                <a:cs typeface="Arial" pitchFamily="34" charset="-120"/>
              </a:rPr>
              <a:t>Install the bitnami/nginx chart using Helm with 3 replicas</a:t>
            </a:r>
            <a:endParaRPr lang="en-US" sz="1200" dirty="0"/>
          </a:p>
        </p:txBody>
      </p:sp>
      <p:sp>
        <p:nvSpPr>
          <p:cNvPr id="22" name="Shape 20"/>
          <p:cNvSpPr/>
          <p:nvPr/>
        </p:nvSpPr>
        <p:spPr>
          <a:xfrm>
            <a:off x="594360" y="4251960"/>
            <a:ext cx="292608" cy="292608"/>
          </a:xfrm>
          <a:prstGeom prst="ellipse">
            <a:avLst/>
          </a:prstGeom>
          <a:solidFill>
            <a:srgbClr val="7C3AED"/>
          </a:solidFill>
          <a:ln w="12700">
            <a:solidFill>
              <a:srgbClr val="7C3AED"/>
            </a:solidFill>
            <a:prstDash val="solid"/>
          </a:ln>
        </p:spPr>
      </p:sp>
      <p:sp>
        <p:nvSpPr>
          <p:cNvPr id="23" name="Text 21"/>
          <p:cNvSpPr/>
          <p:nvPr/>
        </p:nvSpPr>
        <p:spPr>
          <a:xfrm>
            <a:off x="594360" y="4251960"/>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6</a:t>
            </a:r>
            <a:endParaRPr lang="en-US" sz="1000" dirty="0"/>
          </a:p>
        </p:txBody>
      </p:sp>
      <p:sp>
        <p:nvSpPr>
          <p:cNvPr id="24" name="Text 22"/>
          <p:cNvSpPr/>
          <p:nvPr/>
        </p:nvSpPr>
        <p:spPr>
          <a:xfrm>
            <a:off x="1005840" y="4251960"/>
            <a:ext cx="7498080" cy="347472"/>
          </a:xfrm>
          <a:prstGeom prst="rect">
            <a:avLst/>
          </a:prstGeom>
          <a:noFill/>
          <a:ln/>
        </p:spPr>
        <p:txBody>
          <a:bodyPr wrap="square" lIns="0" tIns="0" rIns="0" bIns="0" rtlCol="0" anchor="ctr"/>
          <a:lstStyle/>
          <a:p>
            <a:pPr indent="0" marL="0">
              <a:buNone/>
            </a:pPr>
            <a:r>
              <a:rPr lang="en-US" sz="1200" dirty="0">
                <a:solidFill>
                  <a:srgbClr val="F1F5F9"/>
                </a:solidFill>
                <a:latin typeface="Arial" pitchFamily="34" charset="0"/>
                <a:ea typeface="Arial" pitchFamily="34" charset="-122"/>
                <a:cs typeface="Arial" pitchFamily="34" charset="-120"/>
              </a:rPr>
              <a:t>Upgrade the release to change the replica count to 5</a:t>
            </a:r>
            <a:endParaRPr lang="en-US" sz="1200" dirty="0"/>
          </a:p>
        </p:txBody>
      </p:sp>
      <p:sp>
        <p:nvSpPr>
          <p:cNvPr id="25" name="Shape 23"/>
          <p:cNvSpPr/>
          <p:nvPr/>
        </p:nvSpPr>
        <p:spPr>
          <a:xfrm>
            <a:off x="594360" y="4617720"/>
            <a:ext cx="4389120" cy="384048"/>
          </a:xfrm>
          <a:prstGeom prst="roundRect">
            <a:avLst>
              <a:gd name="adj" fmla="val 16667"/>
            </a:avLst>
          </a:prstGeom>
          <a:solidFill>
            <a:srgbClr val="7C3AED">
              <a:alpha val="20000"/>
            </a:srgbClr>
          </a:solidFill>
          <a:ln w="12700">
            <a:solidFill>
              <a:srgbClr val="7C3AED">
                <a:alpha val="40000"/>
              </a:srgbClr>
            </a:solidFill>
            <a:prstDash val="solid"/>
          </a:ln>
        </p:spPr>
      </p:sp>
      <p:sp>
        <p:nvSpPr>
          <p:cNvPr id="26" name="Text 24"/>
          <p:cNvSpPr/>
          <p:nvPr/>
        </p:nvSpPr>
        <p:spPr>
          <a:xfrm>
            <a:off x="594360" y="4626864"/>
            <a:ext cx="4389120" cy="347472"/>
          </a:xfrm>
          <a:prstGeom prst="rect">
            <a:avLst/>
          </a:prstGeom>
          <a:noFill/>
          <a:ln/>
        </p:spPr>
        <p:txBody>
          <a:bodyPr wrap="square" lIns="0" tIns="0" rIns="0" bIns="0" rtlCol="0" anchor="ctr"/>
          <a:lstStyle/>
          <a:p>
            <a:pPr algn="ctr" indent="0" marL="0">
              <a:buNone/>
            </a:pPr>
            <a:r>
              <a:rPr lang="en-US" sz="1050" dirty="0">
                <a:solidFill>
                  <a:srgbClr val="FFFFFF"/>
                </a:solidFill>
                <a:latin typeface="Arial" pitchFamily="34" charset="0"/>
                <a:ea typeface="Arial" pitchFamily="34" charset="-122"/>
                <a:cs typeface="Arial" pitchFamily="34" charset="-120"/>
              </a:rPr>
              <a:t>⏱  Duration: 13:00 – 16:00  •  Day 2 Afternoon</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0F172A"/>
          </a:solidFill>
          <a:ln w="12700">
            <a:solidFill>
              <a:srgbClr val="0F172A"/>
            </a:solidFill>
            <a:prstDash val="solid"/>
          </a:ln>
        </p:spPr>
      </p:sp>
      <p:sp>
        <p:nvSpPr>
          <p:cNvPr id="3" name="Text 1"/>
          <p:cNvSpPr/>
          <p:nvPr/>
        </p:nvSpPr>
        <p:spPr>
          <a:xfrm>
            <a:off x="411480" y="73152"/>
            <a:ext cx="6858000" cy="530352"/>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WHAT YOU HAVE LEARNED — TRACK B</a:t>
            </a:r>
            <a:endParaRPr lang="en-US" sz="2000" dirty="0"/>
          </a:p>
        </p:txBody>
      </p:sp>
      <p:sp>
        <p:nvSpPr>
          <p:cNvPr id="4" name="Shape 2"/>
          <p:cNvSpPr/>
          <p:nvPr/>
        </p:nvSpPr>
        <p:spPr>
          <a:xfrm>
            <a:off x="7178040" y="109728"/>
            <a:ext cx="1600200" cy="475488"/>
          </a:xfrm>
          <a:prstGeom prst="roundRect">
            <a:avLst>
              <a:gd name="adj" fmla="val 11538"/>
            </a:avLst>
          </a:prstGeom>
          <a:solidFill>
            <a:srgbClr val="326CE5"/>
          </a:solidFill>
          <a:ln w="12700">
            <a:solidFill>
              <a:srgbClr val="326CE5"/>
            </a:solidFill>
            <a:prstDash val="solid"/>
          </a:ln>
        </p:spPr>
      </p:sp>
      <p:sp>
        <p:nvSpPr>
          <p:cNvPr id="5" name="Text 3"/>
          <p:cNvSpPr/>
          <p:nvPr/>
        </p:nvSpPr>
        <p:spPr>
          <a:xfrm>
            <a:off x="7178040" y="109728"/>
            <a:ext cx="1600200" cy="475488"/>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Course Summary</a:t>
            </a:r>
            <a:endParaRPr lang="en-US" sz="950" dirty="0"/>
          </a:p>
        </p:txBody>
      </p:sp>
      <p:sp>
        <p:nvSpPr>
          <p:cNvPr id="6" name="Shape 4"/>
          <p:cNvSpPr/>
          <p:nvPr/>
        </p:nvSpPr>
        <p:spPr>
          <a:xfrm>
            <a:off x="320040" y="868680"/>
            <a:ext cx="2011680" cy="1901952"/>
          </a:xfrm>
          <a:prstGeom prst="roundRect">
            <a:avLst>
              <a:gd name="adj" fmla="val 4808"/>
            </a:avLst>
          </a:prstGeom>
          <a:solidFill>
            <a:srgbClr val="E8EFFE"/>
          </a:solidFill>
          <a:ln w="12700">
            <a:solidFill>
              <a:srgbClr val="E2E8F0"/>
            </a:solidFill>
            <a:prstDash val="solid"/>
          </a:ln>
          <a:effectLst>
            <a:outerShdw sx="100000" sy="100000" kx="0" ky="0" algn="bl" rotWithShape="0" blurRad="76200" dist="38100" dir="2700000">
              <a:srgbClr val="000000">
                <a:alpha val="10000"/>
              </a:srgbClr>
            </a:outerShdw>
          </a:effectLst>
        </p:spPr>
      </p:sp>
      <p:sp>
        <p:nvSpPr>
          <p:cNvPr id="7" name="Shape 5"/>
          <p:cNvSpPr/>
          <p:nvPr/>
        </p:nvSpPr>
        <p:spPr>
          <a:xfrm>
            <a:off x="411480" y="960120"/>
            <a:ext cx="384048" cy="384048"/>
          </a:xfrm>
          <a:prstGeom prst="roundRect">
            <a:avLst>
              <a:gd name="adj" fmla="val 14286"/>
            </a:avLst>
          </a:prstGeom>
          <a:solidFill>
            <a:srgbClr val="326CE5"/>
          </a:solidFill>
          <a:ln w="12700">
            <a:solidFill>
              <a:srgbClr val="326CE5"/>
            </a:solidFill>
            <a:prstDash val="solid"/>
          </a:ln>
        </p:spPr>
      </p:sp>
      <p:sp>
        <p:nvSpPr>
          <p:cNvPr id="8" name="Text 6"/>
          <p:cNvSpPr/>
          <p:nvPr/>
        </p:nvSpPr>
        <p:spPr>
          <a:xfrm>
            <a:off x="411480" y="960120"/>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01</a:t>
            </a:r>
            <a:endParaRPr lang="en-US" sz="1100" dirty="0"/>
          </a:p>
        </p:txBody>
      </p:sp>
      <p:sp>
        <p:nvSpPr>
          <p:cNvPr id="9" name="Text 7"/>
          <p:cNvSpPr/>
          <p:nvPr/>
        </p:nvSpPr>
        <p:spPr>
          <a:xfrm>
            <a:off x="850392" y="978408"/>
            <a:ext cx="1389888" cy="347472"/>
          </a:xfrm>
          <a:prstGeom prst="rect">
            <a:avLst/>
          </a:prstGeom>
          <a:noFill/>
          <a:ln/>
        </p:spPr>
        <p:txBody>
          <a:bodyPr wrap="square" lIns="0" tIns="0" rIns="0" bIns="0" rtlCol="0" anchor="ctr"/>
          <a:lstStyle/>
          <a:p>
            <a:pPr indent="0" marL="0">
              <a:buNone/>
            </a:pPr>
            <a:r>
              <a:rPr lang="en-US" sz="1000" b="1" dirty="0">
                <a:solidFill>
                  <a:srgbClr val="326CE5"/>
                </a:solidFill>
                <a:latin typeface="Cambria" pitchFamily="34" charset="0"/>
                <a:ea typeface="Cambria" pitchFamily="34" charset="-122"/>
                <a:cs typeface="Cambria" pitchFamily="34" charset="-120"/>
              </a:rPr>
              <a:t>Adv. Architecture</a:t>
            </a:r>
            <a:endParaRPr lang="en-US" sz="1000" dirty="0"/>
          </a:p>
        </p:txBody>
      </p:sp>
      <p:sp>
        <p:nvSpPr>
          <p:cNvPr id="10" name="Text 8"/>
          <p:cNvSpPr/>
          <p:nvPr/>
        </p:nvSpPr>
        <p:spPr>
          <a:xfrm>
            <a:off x="411480" y="1435608"/>
            <a:ext cx="1828800" cy="329184"/>
          </a:xfrm>
          <a:prstGeom prst="rect">
            <a:avLst/>
          </a:prstGeom>
          <a:noFill/>
          <a:ln/>
        </p:spPr>
        <p:txBody>
          <a:bodyPr wrap="square" lIns="0" tIns="0" rIns="0" bIns="0" rtlCol="0" anchor="ctr"/>
          <a:lstStyle/>
          <a:p>
            <a:pPr indent="0" marL="0">
              <a:buNone/>
            </a:pPr>
            <a:r>
              <a:rPr lang="en-US" sz="850" dirty="0">
                <a:solidFill>
                  <a:srgbClr val="0F172A"/>
                </a:solidFill>
                <a:latin typeface="Arial" pitchFamily="34" charset="0"/>
                <a:ea typeface="Arial" pitchFamily="34" charset="-122"/>
                <a:cs typeface="Arial" pitchFamily="34" charset="-120"/>
              </a:rPr>
              <a:t>→  Resource requests &amp; limits</a:t>
            </a:r>
            <a:endParaRPr lang="en-US" sz="850" dirty="0"/>
          </a:p>
        </p:txBody>
      </p:sp>
      <p:sp>
        <p:nvSpPr>
          <p:cNvPr id="11" name="Text 9"/>
          <p:cNvSpPr/>
          <p:nvPr/>
        </p:nvSpPr>
        <p:spPr>
          <a:xfrm>
            <a:off x="411480" y="1801368"/>
            <a:ext cx="1828800" cy="329184"/>
          </a:xfrm>
          <a:prstGeom prst="rect">
            <a:avLst/>
          </a:prstGeom>
          <a:noFill/>
          <a:ln/>
        </p:spPr>
        <p:txBody>
          <a:bodyPr wrap="square" lIns="0" tIns="0" rIns="0" bIns="0" rtlCol="0" anchor="ctr"/>
          <a:lstStyle/>
          <a:p>
            <a:pPr indent="0" marL="0">
              <a:buNone/>
            </a:pPr>
            <a:r>
              <a:rPr lang="en-US" sz="850" dirty="0">
                <a:solidFill>
                  <a:srgbClr val="0F172A"/>
                </a:solidFill>
                <a:latin typeface="Arial" pitchFamily="34" charset="0"/>
                <a:ea typeface="Arial" pitchFamily="34" charset="-122"/>
                <a:cs typeface="Arial" pitchFamily="34" charset="-120"/>
              </a:rPr>
              <a:t>→  Liveness &amp; readiness probes</a:t>
            </a:r>
            <a:endParaRPr lang="en-US" sz="850" dirty="0"/>
          </a:p>
        </p:txBody>
      </p:sp>
      <p:sp>
        <p:nvSpPr>
          <p:cNvPr id="12" name="Text 10"/>
          <p:cNvSpPr/>
          <p:nvPr/>
        </p:nvSpPr>
        <p:spPr>
          <a:xfrm>
            <a:off x="411480" y="2167128"/>
            <a:ext cx="1828800" cy="329184"/>
          </a:xfrm>
          <a:prstGeom prst="rect">
            <a:avLst/>
          </a:prstGeom>
          <a:noFill/>
          <a:ln/>
        </p:spPr>
        <p:txBody>
          <a:bodyPr wrap="square" lIns="0" tIns="0" rIns="0" bIns="0" rtlCol="0" anchor="ctr"/>
          <a:lstStyle/>
          <a:p>
            <a:pPr indent="0" marL="0">
              <a:buNone/>
            </a:pPr>
            <a:r>
              <a:rPr lang="en-US" sz="850" dirty="0">
                <a:solidFill>
                  <a:srgbClr val="0F172A"/>
                </a:solidFill>
                <a:latin typeface="Arial" pitchFamily="34" charset="0"/>
                <a:ea typeface="Arial" pitchFamily="34" charset="-122"/>
                <a:cs typeface="Arial" pitchFamily="34" charset="-120"/>
              </a:rPr>
              <a:t>→  Pod scheduling</a:t>
            </a:r>
            <a:endParaRPr lang="en-US" sz="850" dirty="0"/>
          </a:p>
        </p:txBody>
      </p:sp>
      <p:sp>
        <p:nvSpPr>
          <p:cNvPr id="13" name="Shape 11"/>
          <p:cNvSpPr/>
          <p:nvPr/>
        </p:nvSpPr>
        <p:spPr>
          <a:xfrm>
            <a:off x="2496312" y="868680"/>
            <a:ext cx="2011680" cy="1901952"/>
          </a:xfrm>
          <a:prstGeom prst="roundRect">
            <a:avLst>
              <a:gd name="adj" fmla="val 4808"/>
            </a:avLst>
          </a:prstGeom>
          <a:solidFill>
            <a:srgbClr val="EFF6FF"/>
          </a:solidFill>
          <a:ln w="12700">
            <a:solidFill>
              <a:srgbClr val="E2E8F0"/>
            </a:solidFill>
            <a:prstDash val="solid"/>
          </a:ln>
          <a:effectLst>
            <a:outerShdw sx="100000" sy="100000" kx="0" ky="0" algn="bl" rotWithShape="0" blurRad="76200" dist="38100" dir="2700000">
              <a:srgbClr val="000000">
                <a:alpha val="10000"/>
              </a:srgbClr>
            </a:outerShdw>
          </a:effectLst>
        </p:spPr>
      </p:sp>
      <p:sp>
        <p:nvSpPr>
          <p:cNvPr id="14" name="Shape 12"/>
          <p:cNvSpPr/>
          <p:nvPr/>
        </p:nvSpPr>
        <p:spPr>
          <a:xfrm>
            <a:off x="2587752" y="960120"/>
            <a:ext cx="384048" cy="384048"/>
          </a:xfrm>
          <a:prstGeom prst="roundRect">
            <a:avLst>
              <a:gd name="adj" fmla="val 14286"/>
            </a:avLst>
          </a:prstGeom>
          <a:solidFill>
            <a:srgbClr val="2563EB"/>
          </a:solidFill>
          <a:ln w="12700">
            <a:solidFill>
              <a:srgbClr val="2563EB"/>
            </a:solidFill>
            <a:prstDash val="solid"/>
          </a:ln>
        </p:spPr>
      </p:sp>
      <p:sp>
        <p:nvSpPr>
          <p:cNvPr id="15" name="Text 13"/>
          <p:cNvSpPr/>
          <p:nvPr/>
        </p:nvSpPr>
        <p:spPr>
          <a:xfrm>
            <a:off x="2587752" y="960120"/>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02</a:t>
            </a:r>
            <a:endParaRPr lang="en-US" sz="1100" dirty="0"/>
          </a:p>
        </p:txBody>
      </p:sp>
      <p:sp>
        <p:nvSpPr>
          <p:cNvPr id="16" name="Text 14"/>
          <p:cNvSpPr/>
          <p:nvPr/>
        </p:nvSpPr>
        <p:spPr>
          <a:xfrm>
            <a:off x="3026664" y="978408"/>
            <a:ext cx="1389888" cy="347472"/>
          </a:xfrm>
          <a:prstGeom prst="rect">
            <a:avLst/>
          </a:prstGeom>
          <a:noFill/>
          <a:ln/>
        </p:spPr>
        <p:txBody>
          <a:bodyPr wrap="square" lIns="0" tIns="0" rIns="0" bIns="0" rtlCol="0" anchor="ctr"/>
          <a:lstStyle/>
          <a:p>
            <a:pPr indent="0" marL="0">
              <a:buNone/>
            </a:pPr>
            <a:r>
              <a:rPr lang="en-US" sz="1000" b="1" dirty="0">
                <a:solidFill>
                  <a:srgbClr val="2563EB"/>
                </a:solidFill>
                <a:latin typeface="Cambria" pitchFamily="34" charset="0"/>
                <a:ea typeface="Cambria" pitchFamily="34" charset="-122"/>
                <a:cs typeface="Cambria" pitchFamily="34" charset="-120"/>
              </a:rPr>
              <a:t>ConfigMaps</a:t>
            </a:r>
            <a:endParaRPr lang="en-US" sz="1000" dirty="0"/>
          </a:p>
        </p:txBody>
      </p:sp>
      <p:sp>
        <p:nvSpPr>
          <p:cNvPr id="17" name="Text 15"/>
          <p:cNvSpPr/>
          <p:nvPr/>
        </p:nvSpPr>
        <p:spPr>
          <a:xfrm>
            <a:off x="2587752" y="1435608"/>
            <a:ext cx="1828800" cy="329184"/>
          </a:xfrm>
          <a:prstGeom prst="rect">
            <a:avLst/>
          </a:prstGeom>
          <a:noFill/>
          <a:ln/>
        </p:spPr>
        <p:txBody>
          <a:bodyPr wrap="square" lIns="0" tIns="0" rIns="0" bIns="0" rtlCol="0" anchor="ctr"/>
          <a:lstStyle/>
          <a:p>
            <a:pPr indent="0" marL="0">
              <a:buNone/>
            </a:pPr>
            <a:r>
              <a:rPr lang="en-US" sz="850" dirty="0">
                <a:solidFill>
                  <a:srgbClr val="0F172A"/>
                </a:solidFill>
                <a:latin typeface="Arial" pitchFamily="34" charset="0"/>
                <a:ea typeface="Arial" pitchFamily="34" charset="-122"/>
                <a:cs typeface="Arial" pitchFamily="34" charset="-120"/>
              </a:rPr>
              <a:t>→  Externalise configuration</a:t>
            </a:r>
            <a:endParaRPr lang="en-US" sz="850" dirty="0"/>
          </a:p>
        </p:txBody>
      </p:sp>
      <p:sp>
        <p:nvSpPr>
          <p:cNvPr id="18" name="Text 16"/>
          <p:cNvSpPr/>
          <p:nvPr/>
        </p:nvSpPr>
        <p:spPr>
          <a:xfrm>
            <a:off x="2587752" y="1801368"/>
            <a:ext cx="1828800" cy="329184"/>
          </a:xfrm>
          <a:prstGeom prst="rect">
            <a:avLst/>
          </a:prstGeom>
          <a:noFill/>
          <a:ln/>
        </p:spPr>
        <p:txBody>
          <a:bodyPr wrap="square" lIns="0" tIns="0" rIns="0" bIns="0" rtlCol="0" anchor="ctr"/>
          <a:lstStyle/>
          <a:p>
            <a:pPr indent="0" marL="0">
              <a:buNone/>
            </a:pPr>
            <a:r>
              <a:rPr lang="en-US" sz="850" dirty="0">
                <a:solidFill>
                  <a:srgbClr val="0F172A"/>
                </a:solidFill>
                <a:latin typeface="Arial" pitchFamily="34" charset="0"/>
                <a:ea typeface="Arial" pitchFamily="34" charset="-122"/>
                <a:cs typeface="Arial" pitchFamily="34" charset="-120"/>
              </a:rPr>
              <a:t>→  Env vars &amp; volume mounts</a:t>
            </a:r>
            <a:endParaRPr lang="en-US" sz="850" dirty="0"/>
          </a:p>
        </p:txBody>
      </p:sp>
      <p:sp>
        <p:nvSpPr>
          <p:cNvPr id="19" name="Text 17"/>
          <p:cNvSpPr/>
          <p:nvPr/>
        </p:nvSpPr>
        <p:spPr>
          <a:xfrm>
            <a:off x="2587752" y="2167128"/>
            <a:ext cx="1828800" cy="329184"/>
          </a:xfrm>
          <a:prstGeom prst="rect">
            <a:avLst/>
          </a:prstGeom>
          <a:noFill/>
          <a:ln/>
        </p:spPr>
        <p:txBody>
          <a:bodyPr wrap="square" lIns="0" tIns="0" rIns="0" bIns="0" rtlCol="0" anchor="ctr"/>
          <a:lstStyle/>
          <a:p>
            <a:pPr indent="0" marL="0">
              <a:buNone/>
            </a:pPr>
            <a:r>
              <a:rPr lang="en-US" sz="850" dirty="0">
                <a:solidFill>
                  <a:srgbClr val="0F172A"/>
                </a:solidFill>
                <a:latin typeface="Arial" pitchFamily="34" charset="0"/>
                <a:ea typeface="Arial" pitchFamily="34" charset="-122"/>
                <a:cs typeface="Arial" pitchFamily="34" charset="-120"/>
              </a:rPr>
              <a:t>→  Separation from images</a:t>
            </a:r>
            <a:endParaRPr lang="en-US" sz="850" dirty="0"/>
          </a:p>
        </p:txBody>
      </p:sp>
      <p:sp>
        <p:nvSpPr>
          <p:cNvPr id="20" name="Shape 18"/>
          <p:cNvSpPr/>
          <p:nvPr/>
        </p:nvSpPr>
        <p:spPr>
          <a:xfrm>
            <a:off x="4672584" y="868680"/>
            <a:ext cx="2011680" cy="1901952"/>
          </a:xfrm>
          <a:prstGeom prst="roundRect">
            <a:avLst>
              <a:gd name="adj" fmla="val 4808"/>
            </a:avLst>
          </a:prstGeom>
          <a:solidFill>
            <a:srgbClr val="CCFBF1"/>
          </a:solidFill>
          <a:ln w="12700">
            <a:solidFill>
              <a:srgbClr val="E2E8F0"/>
            </a:solidFill>
            <a:prstDash val="solid"/>
          </a:ln>
          <a:effectLst>
            <a:outerShdw sx="100000" sy="100000" kx="0" ky="0" algn="bl" rotWithShape="0" blurRad="76200" dist="38100" dir="2700000">
              <a:srgbClr val="000000">
                <a:alpha val="10000"/>
              </a:srgbClr>
            </a:outerShdw>
          </a:effectLst>
        </p:spPr>
      </p:sp>
      <p:sp>
        <p:nvSpPr>
          <p:cNvPr id="21" name="Shape 19"/>
          <p:cNvSpPr/>
          <p:nvPr/>
        </p:nvSpPr>
        <p:spPr>
          <a:xfrm>
            <a:off x="4764024" y="960120"/>
            <a:ext cx="384048" cy="384048"/>
          </a:xfrm>
          <a:prstGeom prst="roundRect">
            <a:avLst>
              <a:gd name="adj" fmla="val 14286"/>
            </a:avLst>
          </a:prstGeom>
          <a:solidFill>
            <a:srgbClr val="0D9488"/>
          </a:solidFill>
          <a:ln w="12700">
            <a:solidFill>
              <a:srgbClr val="0D9488"/>
            </a:solidFill>
            <a:prstDash val="solid"/>
          </a:ln>
        </p:spPr>
      </p:sp>
      <p:sp>
        <p:nvSpPr>
          <p:cNvPr id="22" name="Text 20"/>
          <p:cNvSpPr/>
          <p:nvPr/>
        </p:nvSpPr>
        <p:spPr>
          <a:xfrm>
            <a:off x="4764024" y="960120"/>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03</a:t>
            </a:r>
            <a:endParaRPr lang="en-US" sz="1100" dirty="0"/>
          </a:p>
        </p:txBody>
      </p:sp>
      <p:sp>
        <p:nvSpPr>
          <p:cNvPr id="23" name="Text 21"/>
          <p:cNvSpPr/>
          <p:nvPr/>
        </p:nvSpPr>
        <p:spPr>
          <a:xfrm>
            <a:off x="5202936" y="978408"/>
            <a:ext cx="1389888" cy="347472"/>
          </a:xfrm>
          <a:prstGeom prst="rect">
            <a:avLst/>
          </a:prstGeom>
          <a:noFill/>
          <a:ln/>
        </p:spPr>
        <p:txBody>
          <a:bodyPr wrap="square" lIns="0" tIns="0" rIns="0" bIns="0" rtlCol="0" anchor="ctr"/>
          <a:lstStyle/>
          <a:p>
            <a:pPr indent="0" marL="0">
              <a:buNone/>
            </a:pPr>
            <a:r>
              <a:rPr lang="en-US" sz="1000" b="1" dirty="0">
                <a:solidFill>
                  <a:srgbClr val="0D9488"/>
                </a:solidFill>
                <a:latin typeface="Cambria" pitchFamily="34" charset="0"/>
                <a:ea typeface="Cambria" pitchFamily="34" charset="-122"/>
                <a:cs typeface="Cambria" pitchFamily="34" charset="-120"/>
              </a:rPr>
              <a:t>Namespaces &amp; Quotas</a:t>
            </a:r>
            <a:endParaRPr lang="en-US" sz="1000" dirty="0"/>
          </a:p>
        </p:txBody>
      </p:sp>
      <p:sp>
        <p:nvSpPr>
          <p:cNvPr id="24" name="Text 22"/>
          <p:cNvSpPr/>
          <p:nvPr/>
        </p:nvSpPr>
        <p:spPr>
          <a:xfrm>
            <a:off x="4764024" y="1435608"/>
            <a:ext cx="1828800" cy="329184"/>
          </a:xfrm>
          <a:prstGeom prst="rect">
            <a:avLst/>
          </a:prstGeom>
          <a:noFill/>
          <a:ln/>
        </p:spPr>
        <p:txBody>
          <a:bodyPr wrap="square" lIns="0" tIns="0" rIns="0" bIns="0" rtlCol="0" anchor="ctr"/>
          <a:lstStyle/>
          <a:p>
            <a:pPr indent="0" marL="0">
              <a:buNone/>
            </a:pPr>
            <a:r>
              <a:rPr lang="en-US" sz="850" dirty="0">
                <a:solidFill>
                  <a:srgbClr val="0F172A"/>
                </a:solidFill>
                <a:latin typeface="Arial" pitchFamily="34" charset="0"/>
                <a:ea typeface="Arial" pitchFamily="34" charset="-122"/>
                <a:cs typeface="Arial" pitchFamily="34" charset="-120"/>
              </a:rPr>
              <a:t>→  Multi-environment clusters</a:t>
            </a:r>
            <a:endParaRPr lang="en-US" sz="850" dirty="0"/>
          </a:p>
        </p:txBody>
      </p:sp>
      <p:sp>
        <p:nvSpPr>
          <p:cNvPr id="25" name="Text 23"/>
          <p:cNvSpPr/>
          <p:nvPr/>
        </p:nvSpPr>
        <p:spPr>
          <a:xfrm>
            <a:off x="4764024" y="1801368"/>
            <a:ext cx="1828800" cy="329184"/>
          </a:xfrm>
          <a:prstGeom prst="rect">
            <a:avLst/>
          </a:prstGeom>
          <a:noFill/>
          <a:ln/>
        </p:spPr>
        <p:txBody>
          <a:bodyPr wrap="square" lIns="0" tIns="0" rIns="0" bIns="0" rtlCol="0" anchor="ctr"/>
          <a:lstStyle/>
          <a:p>
            <a:pPr indent="0" marL="0">
              <a:buNone/>
            </a:pPr>
            <a:r>
              <a:rPr lang="en-US" sz="850" dirty="0">
                <a:solidFill>
                  <a:srgbClr val="0F172A"/>
                </a:solidFill>
                <a:latin typeface="Arial" pitchFamily="34" charset="0"/>
                <a:ea typeface="Arial" pitchFamily="34" charset="-122"/>
                <a:cs typeface="Arial" pitchFamily="34" charset="-120"/>
              </a:rPr>
              <a:t>→  ResourceQuotas</a:t>
            </a:r>
            <a:endParaRPr lang="en-US" sz="850" dirty="0"/>
          </a:p>
        </p:txBody>
      </p:sp>
      <p:sp>
        <p:nvSpPr>
          <p:cNvPr id="26" name="Text 24"/>
          <p:cNvSpPr/>
          <p:nvPr/>
        </p:nvSpPr>
        <p:spPr>
          <a:xfrm>
            <a:off x="4764024" y="2167128"/>
            <a:ext cx="1828800" cy="329184"/>
          </a:xfrm>
          <a:prstGeom prst="rect">
            <a:avLst/>
          </a:prstGeom>
          <a:noFill/>
          <a:ln/>
        </p:spPr>
        <p:txBody>
          <a:bodyPr wrap="square" lIns="0" tIns="0" rIns="0" bIns="0" rtlCol="0" anchor="ctr"/>
          <a:lstStyle/>
          <a:p>
            <a:pPr indent="0" marL="0">
              <a:buNone/>
            </a:pPr>
            <a:r>
              <a:rPr lang="en-US" sz="850" dirty="0">
                <a:solidFill>
                  <a:srgbClr val="0F172A"/>
                </a:solidFill>
                <a:latin typeface="Arial" pitchFamily="34" charset="0"/>
                <a:ea typeface="Arial" pitchFamily="34" charset="-122"/>
                <a:cs typeface="Arial" pitchFamily="34" charset="-120"/>
              </a:rPr>
              <a:t>→  LimitRanges</a:t>
            </a:r>
            <a:endParaRPr lang="en-US" sz="850" dirty="0"/>
          </a:p>
        </p:txBody>
      </p:sp>
      <p:sp>
        <p:nvSpPr>
          <p:cNvPr id="27" name="Shape 25"/>
          <p:cNvSpPr/>
          <p:nvPr/>
        </p:nvSpPr>
        <p:spPr>
          <a:xfrm>
            <a:off x="6848856" y="868680"/>
            <a:ext cx="2011680" cy="1901952"/>
          </a:xfrm>
          <a:prstGeom prst="roundRect">
            <a:avLst>
              <a:gd name="adj" fmla="val 4808"/>
            </a:avLst>
          </a:prstGeom>
          <a:solidFill>
            <a:srgbClr val="D1FAE5"/>
          </a:solidFill>
          <a:ln w="12700">
            <a:solidFill>
              <a:srgbClr val="E2E8F0"/>
            </a:solidFill>
            <a:prstDash val="solid"/>
          </a:ln>
          <a:effectLst>
            <a:outerShdw sx="100000" sy="100000" kx="0" ky="0" algn="bl" rotWithShape="0" blurRad="76200" dist="38100" dir="2700000">
              <a:srgbClr val="000000">
                <a:alpha val="10000"/>
              </a:srgbClr>
            </a:outerShdw>
          </a:effectLst>
        </p:spPr>
      </p:sp>
      <p:sp>
        <p:nvSpPr>
          <p:cNvPr id="28" name="Shape 26"/>
          <p:cNvSpPr/>
          <p:nvPr/>
        </p:nvSpPr>
        <p:spPr>
          <a:xfrm>
            <a:off x="6940296" y="960120"/>
            <a:ext cx="384048" cy="384048"/>
          </a:xfrm>
          <a:prstGeom prst="roundRect">
            <a:avLst>
              <a:gd name="adj" fmla="val 14286"/>
            </a:avLst>
          </a:prstGeom>
          <a:solidFill>
            <a:srgbClr val="059669"/>
          </a:solidFill>
          <a:ln w="12700">
            <a:solidFill>
              <a:srgbClr val="059669"/>
            </a:solidFill>
            <a:prstDash val="solid"/>
          </a:ln>
        </p:spPr>
      </p:sp>
      <p:sp>
        <p:nvSpPr>
          <p:cNvPr id="29" name="Text 27"/>
          <p:cNvSpPr/>
          <p:nvPr/>
        </p:nvSpPr>
        <p:spPr>
          <a:xfrm>
            <a:off x="6940296" y="960120"/>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04</a:t>
            </a:r>
            <a:endParaRPr lang="en-US" sz="1100" dirty="0"/>
          </a:p>
        </p:txBody>
      </p:sp>
      <p:sp>
        <p:nvSpPr>
          <p:cNvPr id="30" name="Text 28"/>
          <p:cNvSpPr/>
          <p:nvPr/>
        </p:nvSpPr>
        <p:spPr>
          <a:xfrm>
            <a:off x="7379208" y="978408"/>
            <a:ext cx="1389888" cy="347472"/>
          </a:xfrm>
          <a:prstGeom prst="rect">
            <a:avLst/>
          </a:prstGeom>
          <a:noFill/>
          <a:ln/>
        </p:spPr>
        <p:txBody>
          <a:bodyPr wrap="square" lIns="0" tIns="0" rIns="0" bIns="0" rtlCol="0" anchor="ctr"/>
          <a:lstStyle/>
          <a:p>
            <a:pPr indent="0" marL="0">
              <a:buNone/>
            </a:pPr>
            <a:r>
              <a:rPr lang="en-US" sz="1000" b="1" dirty="0">
                <a:solidFill>
                  <a:srgbClr val="059669"/>
                </a:solidFill>
                <a:latin typeface="Cambria" pitchFamily="34" charset="0"/>
                <a:ea typeface="Cambria" pitchFamily="34" charset="-122"/>
                <a:cs typeface="Cambria" pitchFamily="34" charset="-120"/>
              </a:rPr>
              <a:t>Adv. Deployments</a:t>
            </a:r>
            <a:endParaRPr lang="en-US" sz="1000" dirty="0"/>
          </a:p>
        </p:txBody>
      </p:sp>
      <p:sp>
        <p:nvSpPr>
          <p:cNvPr id="31" name="Text 29"/>
          <p:cNvSpPr/>
          <p:nvPr/>
        </p:nvSpPr>
        <p:spPr>
          <a:xfrm>
            <a:off x="6940296" y="1435608"/>
            <a:ext cx="1828800" cy="329184"/>
          </a:xfrm>
          <a:prstGeom prst="rect">
            <a:avLst/>
          </a:prstGeom>
          <a:noFill/>
          <a:ln/>
        </p:spPr>
        <p:txBody>
          <a:bodyPr wrap="square" lIns="0" tIns="0" rIns="0" bIns="0" rtlCol="0" anchor="ctr"/>
          <a:lstStyle/>
          <a:p>
            <a:pPr indent="0" marL="0">
              <a:buNone/>
            </a:pPr>
            <a:r>
              <a:rPr lang="en-US" sz="850" dirty="0">
                <a:solidFill>
                  <a:srgbClr val="0F172A"/>
                </a:solidFill>
                <a:latin typeface="Arial" pitchFamily="34" charset="0"/>
                <a:ea typeface="Arial" pitchFamily="34" charset="-122"/>
                <a:cs typeface="Arial" pitchFamily="34" charset="-120"/>
              </a:rPr>
              <a:t>→  Update strategies</a:t>
            </a:r>
            <a:endParaRPr lang="en-US" sz="850" dirty="0"/>
          </a:p>
        </p:txBody>
      </p:sp>
      <p:sp>
        <p:nvSpPr>
          <p:cNvPr id="32" name="Text 30"/>
          <p:cNvSpPr/>
          <p:nvPr/>
        </p:nvSpPr>
        <p:spPr>
          <a:xfrm>
            <a:off x="6940296" y="1801368"/>
            <a:ext cx="1828800" cy="329184"/>
          </a:xfrm>
          <a:prstGeom prst="rect">
            <a:avLst/>
          </a:prstGeom>
          <a:noFill/>
          <a:ln/>
        </p:spPr>
        <p:txBody>
          <a:bodyPr wrap="square" lIns="0" tIns="0" rIns="0" bIns="0" rtlCol="0" anchor="ctr"/>
          <a:lstStyle/>
          <a:p>
            <a:pPr indent="0" marL="0">
              <a:buNone/>
            </a:pPr>
            <a:r>
              <a:rPr lang="en-US" sz="850" dirty="0">
                <a:solidFill>
                  <a:srgbClr val="0F172A"/>
                </a:solidFill>
                <a:latin typeface="Arial" pitchFamily="34" charset="0"/>
                <a:ea typeface="Arial" pitchFamily="34" charset="-122"/>
                <a:cs typeface="Arial" pitchFamily="34" charset="-120"/>
              </a:rPr>
              <a:t>→  Rollout control</a:t>
            </a:r>
            <a:endParaRPr lang="en-US" sz="850" dirty="0"/>
          </a:p>
        </p:txBody>
      </p:sp>
      <p:sp>
        <p:nvSpPr>
          <p:cNvPr id="33" name="Text 31"/>
          <p:cNvSpPr/>
          <p:nvPr/>
        </p:nvSpPr>
        <p:spPr>
          <a:xfrm>
            <a:off x="6940296" y="2167128"/>
            <a:ext cx="1828800" cy="329184"/>
          </a:xfrm>
          <a:prstGeom prst="rect">
            <a:avLst/>
          </a:prstGeom>
          <a:noFill/>
          <a:ln/>
        </p:spPr>
        <p:txBody>
          <a:bodyPr wrap="square" lIns="0" tIns="0" rIns="0" bIns="0" rtlCol="0" anchor="ctr"/>
          <a:lstStyle/>
          <a:p>
            <a:pPr indent="0" marL="0">
              <a:buNone/>
            </a:pPr>
            <a:r>
              <a:rPr lang="en-US" sz="850" dirty="0">
                <a:solidFill>
                  <a:srgbClr val="0F172A"/>
                </a:solidFill>
                <a:latin typeface="Arial" pitchFamily="34" charset="0"/>
                <a:ea typeface="Arial" pitchFamily="34" charset="-122"/>
                <a:cs typeface="Arial" pitchFamily="34" charset="-120"/>
              </a:rPr>
              <a:t>→  HPA autoscaling</a:t>
            </a:r>
            <a:endParaRPr lang="en-US" sz="850" dirty="0"/>
          </a:p>
        </p:txBody>
      </p:sp>
      <p:sp>
        <p:nvSpPr>
          <p:cNvPr id="34" name="Shape 32"/>
          <p:cNvSpPr/>
          <p:nvPr/>
        </p:nvSpPr>
        <p:spPr>
          <a:xfrm>
            <a:off x="320040" y="2880360"/>
            <a:ext cx="2011680" cy="1901952"/>
          </a:xfrm>
          <a:prstGeom prst="roundRect">
            <a:avLst>
              <a:gd name="adj" fmla="val 4808"/>
            </a:avLst>
          </a:prstGeom>
          <a:solidFill>
            <a:srgbClr val="FEF2F2"/>
          </a:solidFill>
          <a:ln w="12700">
            <a:solidFill>
              <a:srgbClr val="E2E8F0"/>
            </a:solidFill>
            <a:prstDash val="solid"/>
          </a:ln>
          <a:effectLst>
            <a:outerShdw sx="100000" sy="100000" kx="0" ky="0" algn="bl" rotWithShape="0" blurRad="76200" dist="38100" dir="2700000">
              <a:srgbClr val="000000">
                <a:alpha val="10000"/>
              </a:srgbClr>
            </a:outerShdw>
          </a:effectLst>
        </p:spPr>
      </p:sp>
      <p:sp>
        <p:nvSpPr>
          <p:cNvPr id="35" name="Shape 33"/>
          <p:cNvSpPr/>
          <p:nvPr/>
        </p:nvSpPr>
        <p:spPr>
          <a:xfrm>
            <a:off x="411480" y="2971800"/>
            <a:ext cx="384048" cy="384048"/>
          </a:xfrm>
          <a:prstGeom prst="roundRect">
            <a:avLst>
              <a:gd name="adj" fmla="val 14286"/>
            </a:avLst>
          </a:prstGeom>
          <a:solidFill>
            <a:srgbClr val="DC2626"/>
          </a:solidFill>
          <a:ln w="12700">
            <a:solidFill>
              <a:srgbClr val="DC2626"/>
            </a:solidFill>
            <a:prstDash val="solid"/>
          </a:ln>
        </p:spPr>
      </p:sp>
      <p:sp>
        <p:nvSpPr>
          <p:cNvPr id="36" name="Text 34"/>
          <p:cNvSpPr/>
          <p:nvPr/>
        </p:nvSpPr>
        <p:spPr>
          <a:xfrm>
            <a:off x="411480" y="2971800"/>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05</a:t>
            </a:r>
            <a:endParaRPr lang="en-US" sz="1100" dirty="0"/>
          </a:p>
        </p:txBody>
      </p:sp>
      <p:sp>
        <p:nvSpPr>
          <p:cNvPr id="37" name="Text 35"/>
          <p:cNvSpPr/>
          <p:nvPr/>
        </p:nvSpPr>
        <p:spPr>
          <a:xfrm>
            <a:off x="850392" y="2990088"/>
            <a:ext cx="1389888" cy="347472"/>
          </a:xfrm>
          <a:prstGeom prst="rect">
            <a:avLst/>
          </a:prstGeom>
          <a:noFill/>
          <a:ln/>
        </p:spPr>
        <p:txBody>
          <a:bodyPr wrap="square" lIns="0" tIns="0" rIns="0" bIns="0" rtlCol="0" anchor="ctr"/>
          <a:lstStyle/>
          <a:p>
            <a:pPr indent="0" marL="0">
              <a:buNone/>
            </a:pPr>
            <a:r>
              <a:rPr lang="en-US" sz="1000" b="1" dirty="0">
                <a:solidFill>
                  <a:srgbClr val="DC2626"/>
                </a:solidFill>
                <a:latin typeface="Cambria" pitchFamily="34" charset="0"/>
                <a:ea typeface="Cambria" pitchFamily="34" charset="-122"/>
                <a:cs typeface="Cambria" pitchFamily="34" charset="-120"/>
              </a:rPr>
              <a:t>Secrets</a:t>
            </a:r>
            <a:endParaRPr lang="en-US" sz="1000" dirty="0"/>
          </a:p>
        </p:txBody>
      </p:sp>
      <p:sp>
        <p:nvSpPr>
          <p:cNvPr id="38" name="Text 36"/>
          <p:cNvSpPr/>
          <p:nvPr/>
        </p:nvSpPr>
        <p:spPr>
          <a:xfrm>
            <a:off x="411480" y="3447288"/>
            <a:ext cx="1828800" cy="329184"/>
          </a:xfrm>
          <a:prstGeom prst="rect">
            <a:avLst/>
          </a:prstGeom>
          <a:noFill/>
          <a:ln/>
        </p:spPr>
        <p:txBody>
          <a:bodyPr wrap="square" lIns="0" tIns="0" rIns="0" bIns="0" rtlCol="0" anchor="ctr"/>
          <a:lstStyle/>
          <a:p>
            <a:pPr indent="0" marL="0">
              <a:buNone/>
            </a:pPr>
            <a:r>
              <a:rPr lang="en-US" sz="850" dirty="0">
                <a:solidFill>
                  <a:srgbClr val="0F172A"/>
                </a:solidFill>
                <a:latin typeface="Arial" pitchFamily="34" charset="0"/>
                <a:ea typeface="Arial" pitchFamily="34" charset="-122"/>
                <a:cs typeface="Arial" pitchFamily="34" charset="-120"/>
              </a:rPr>
              <a:t>→  Sensitive data handling</a:t>
            </a:r>
            <a:endParaRPr lang="en-US" sz="850" dirty="0"/>
          </a:p>
        </p:txBody>
      </p:sp>
      <p:sp>
        <p:nvSpPr>
          <p:cNvPr id="39" name="Text 37"/>
          <p:cNvSpPr/>
          <p:nvPr/>
        </p:nvSpPr>
        <p:spPr>
          <a:xfrm>
            <a:off x="411480" y="3813048"/>
            <a:ext cx="1828800" cy="329184"/>
          </a:xfrm>
          <a:prstGeom prst="rect">
            <a:avLst/>
          </a:prstGeom>
          <a:noFill/>
          <a:ln/>
        </p:spPr>
        <p:txBody>
          <a:bodyPr wrap="square" lIns="0" tIns="0" rIns="0" bIns="0" rtlCol="0" anchor="ctr"/>
          <a:lstStyle/>
          <a:p>
            <a:pPr indent="0" marL="0">
              <a:buNone/>
            </a:pPr>
            <a:r>
              <a:rPr lang="en-US" sz="850" dirty="0">
                <a:solidFill>
                  <a:srgbClr val="0F172A"/>
                </a:solidFill>
                <a:latin typeface="Arial" pitchFamily="34" charset="0"/>
                <a:ea typeface="Arial" pitchFamily="34" charset="-122"/>
                <a:cs typeface="Arial" pitchFamily="34" charset="-120"/>
              </a:rPr>
              <a:t>→  base64 encoding</a:t>
            </a:r>
            <a:endParaRPr lang="en-US" sz="850" dirty="0"/>
          </a:p>
        </p:txBody>
      </p:sp>
      <p:sp>
        <p:nvSpPr>
          <p:cNvPr id="40" name="Text 38"/>
          <p:cNvSpPr/>
          <p:nvPr/>
        </p:nvSpPr>
        <p:spPr>
          <a:xfrm>
            <a:off x="411480" y="4178808"/>
            <a:ext cx="1828800" cy="329184"/>
          </a:xfrm>
          <a:prstGeom prst="rect">
            <a:avLst/>
          </a:prstGeom>
          <a:noFill/>
          <a:ln/>
        </p:spPr>
        <p:txBody>
          <a:bodyPr wrap="square" lIns="0" tIns="0" rIns="0" bIns="0" rtlCol="0" anchor="ctr"/>
          <a:lstStyle/>
          <a:p>
            <a:pPr indent="0" marL="0">
              <a:buNone/>
            </a:pPr>
            <a:r>
              <a:rPr lang="en-US" sz="850" dirty="0">
                <a:solidFill>
                  <a:srgbClr val="0F172A"/>
                </a:solidFill>
                <a:latin typeface="Arial" pitchFamily="34" charset="0"/>
                <a:ea typeface="Arial" pitchFamily="34" charset="-122"/>
                <a:cs typeface="Arial" pitchFamily="34" charset="-120"/>
              </a:rPr>
              <a:t>→  External vault awareness</a:t>
            </a:r>
            <a:endParaRPr lang="en-US" sz="850" dirty="0"/>
          </a:p>
        </p:txBody>
      </p:sp>
      <p:sp>
        <p:nvSpPr>
          <p:cNvPr id="41" name="Shape 39"/>
          <p:cNvSpPr/>
          <p:nvPr/>
        </p:nvSpPr>
        <p:spPr>
          <a:xfrm>
            <a:off x="2496312" y="2880360"/>
            <a:ext cx="2011680" cy="1901952"/>
          </a:xfrm>
          <a:prstGeom prst="roundRect">
            <a:avLst>
              <a:gd name="adj" fmla="val 4808"/>
            </a:avLst>
          </a:prstGeom>
          <a:solidFill>
            <a:srgbClr val="EDE9FE"/>
          </a:solidFill>
          <a:ln w="12700">
            <a:solidFill>
              <a:srgbClr val="E2E8F0"/>
            </a:solidFill>
            <a:prstDash val="solid"/>
          </a:ln>
          <a:effectLst>
            <a:outerShdw sx="100000" sy="100000" kx="0" ky="0" algn="bl" rotWithShape="0" blurRad="76200" dist="38100" dir="2700000">
              <a:srgbClr val="000000">
                <a:alpha val="10000"/>
              </a:srgbClr>
            </a:outerShdw>
          </a:effectLst>
        </p:spPr>
      </p:sp>
      <p:sp>
        <p:nvSpPr>
          <p:cNvPr id="42" name="Shape 40"/>
          <p:cNvSpPr/>
          <p:nvPr/>
        </p:nvSpPr>
        <p:spPr>
          <a:xfrm>
            <a:off x="2587752" y="2971800"/>
            <a:ext cx="384048" cy="384048"/>
          </a:xfrm>
          <a:prstGeom prst="roundRect">
            <a:avLst>
              <a:gd name="adj" fmla="val 14286"/>
            </a:avLst>
          </a:prstGeom>
          <a:solidFill>
            <a:srgbClr val="7C3AED"/>
          </a:solidFill>
          <a:ln w="12700">
            <a:solidFill>
              <a:srgbClr val="7C3AED"/>
            </a:solidFill>
            <a:prstDash val="solid"/>
          </a:ln>
        </p:spPr>
      </p:sp>
      <p:sp>
        <p:nvSpPr>
          <p:cNvPr id="43" name="Text 41"/>
          <p:cNvSpPr/>
          <p:nvPr/>
        </p:nvSpPr>
        <p:spPr>
          <a:xfrm>
            <a:off x="2587752" y="2971800"/>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06</a:t>
            </a:r>
            <a:endParaRPr lang="en-US" sz="1100" dirty="0"/>
          </a:p>
        </p:txBody>
      </p:sp>
      <p:sp>
        <p:nvSpPr>
          <p:cNvPr id="44" name="Text 42"/>
          <p:cNvSpPr/>
          <p:nvPr/>
        </p:nvSpPr>
        <p:spPr>
          <a:xfrm>
            <a:off x="3026664" y="2990088"/>
            <a:ext cx="1389888" cy="347472"/>
          </a:xfrm>
          <a:prstGeom prst="rect">
            <a:avLst/>
          </a:prstGeom>
          <a:noFill/>
          <a:ln/>
        </p:spPr>
        <p:txBody>
          <a:bodyPr wrap="square" lIns="0" tIns="0" rIns="0" bIns="0" rtlCol="0" anchor="ctr"/>
          <a:lstStyle/>
          <a:p>
            <a:pPr indent="0" marL="0">
              <a:buNone/>
            </a:pPr>
            <a:r>
              <a:rPr lang="en-US" sz="1000" b="1" dirty="0">
                <a:solidFill>
                  <a:srgbClr val="7C3AED"/>
                </a:solidFill>
                <a:latin typeface="Cambria" pitchFamily="34" charset="0"/>
                <a:ea typeface="Cambria" pitchFamily="34" charset="-122"/>
                <a:cs typeface="Cambria" pitchFamily="34" charset="-120"/>
              </a:rPr>
              <a:t>RBAC</a:t>
            </a:r>
            <a:endParaRPr lang="en-US" sz="1000" dirty="0"/>
          </a:p>
        </p:txBody>
      </p:sp>
      <p:sp>
        <p:nvSpPr>
          <p:cNvPr id="45" name="Text 43"/>
          <p:cNvSpPr/>
          <p:nvPr/>
        </p:nvSpPr>
        <p:spPr>
          <a:xfrm>
            <a:off x="2587752" y="3447288"/>
            <a:ext cx="1828800" cy="329184"/>
          </a:xfrm>
          <a:prstGeom prst="rect">
            <a:avLst/>
          </a:prstGeom>
          <a:noFill/>
          <a:ln/>
        </p:spPr>
        <p:txBody>
          <a:bodyPr wrap="square" lIns="0" tIns="0" rIns="0" bIns="0" rtlCol="0" anchor="ctr"/>
          <a:lstStyle/>
          <a:p>
            <a:pPr indent="0" marL="0">
              <a:buNone/>
            </a:pPr>
            <a:r>
              <a:rPr lang="en-US" sz="850" dirty="0">
                <a:solidFill>
                  <a:srgbClr val="0F172A"/>
                </a:solidFill>
                <a:latin typeface="Arial" pitchFamily="34" charset="0"/>
                <a:ea typeface="Arial" pitchFamily="34" charset="-122"/>
                <a:cs typeface="Arial" pitchFamily="34" charset="-120"/>
              </a:rPr>
              <a:t>→  Roles &amp; RoleBindings</a:t>
            </a:r>
            <a:endParaRPr lang="en-US" sz="850" dirty="0"/>
          </a:p>
        </p:txBody>
      </p:sp>
      <p:sp>
        <p:nvSpPr>
          <p:cNvPr id="46" name="Text 44"/>
          <p:cNvSpPr/>
          <p:nvPr/>
        </p:nvSpPr>
        <p:spPr>
          <a:xfrm>
            <a:off x="2587752" y="3813048"/>
            <a:ext cx="1828800" cy="329184"/>
          </a:xfrm>
          <a:prstGeom prst="rect">
            <a:avLst/>
          </a:prstGeom>
          <a:noFill/>
          <a:ln/>
        </p:spPr>
        <p:txBody>
          <a:bodyPr wrap="square" lIns="0" tIns="0" rIns="0" bIns="0" rtlCol="0" anchor="ctr"/>
          <a:lstStyle/>
          <a:p>
            <a:pPr indent="0" marL="0">
              <a:buNone/>
            </a:pPr>
            <a:r>
              <a:rPr lang="en-US" sz="850" dirty="0">
                <a:solidFill>
                  <a:srgbClr val="0F172A"/>
                </a:solidFill>
                <a:latin typeface="Arial" pitchFamily="34" charset="0"/>
                <a:ea typeface="Arial" pitchFamily="34" charset="-122"/>
                <a:cs typeface="Arial" pitchFamily="34" charset="-120"/>
              </a:rPr>
              <a:t>→  ServiceAccounts</a:t>
            </a:r>
            <a:endParaRPr lang="en-US" sz="850" dirty="0"/>
          </a:p>
        </p:txBody>
      </p:sp>
      <p:sp>
        <p:nvSpPr>
          <p:cNvPr id="47" name="Text 45"/>
          <p:cNvSpPr/>
          <p:nvPr/>
        </p:nvSpPr>
        <p:spPr>
          <a:xfrm>
            <a:off x="2587752" y="4178808"/>
            <a:ext cx="1828800" cy="329184"/>
          </a:xfrm>
          <a:prstGeom prst="rect">
            <a:avLst/>
          </a:prstGeom>
          <a:noFill/>
          <a:ln/>
        </p:spPr>
        <p:txBody>
          <a:bodyPr wrap="square" lIns="0" tIns="0" rIns="0" bIns="0" rtlCol="0" anchor="ctr"/>
          <a:lstStyle/>
          <a:p>
            <a:pPr indent="0" marL="0">
              <a:buNone/>
            </a:pPr>
            <a:r>
              <a:rPr lang="en-US" sz="850" dirty="0">
                <a:solidFill>
                  <a:srgbClr val="0F172A"/>
                </a:solidFill>
                <a:latin typeface="Arial" pitchFamily="34" charset="0"/>
                <a:ea typeface="Arial" pitchFamily="34" charset="-122"/>
                <a:cs typeface="Arial" pitchFamily="34" charset="-120"/>
              </a:rPr>
              <a:t>→  Least privilege</a:t>
            </a:r>
            <a:endParaRPr lang="en-US" sz="850" dirty="0"/>
          </a:p>
        </p:txBody>
      </p:sp>
      <p:sp>
        <p:nvSpPr>
          <p:cNvPr id="48" name="Shape 46"/>
          <p:cNvSpPr/>
          <p:nvPr/>
        </p:nvSpPr>
        <p:spPr>
          <a:xfrm>
            <a:off x="4672584" y="2880360"/>
            <a:ext cx="2011680" cy="1901952"/>
          </a:xfrm>
          <a:prstGeom prst="roundRect">
            <a:avLst>
              <a:gd name="adj" fmla="val 4808"/>
            </a:avLst>
          </a:prstGeom>
          <a:solidFill>
            <a:srgbClr val="FEF3C7"/>
          </a:solidFill>
          <a:ln w="12700">
            <a:solidFill>
              <a:srgbClr val="E2E8F0"/>
            </a:solidFill>
            <a:prstDash val="solid"/>
          </a:ln>
          <a:effectLst>
            <a:outerShdw sx="100000" sy="100000" kx="0" ky="0" algn="bl" rotWithShape="0" blurRad="76200" dist="38100" dir="2700000">
              <a:srgbClr val="000000">
                <a:alpha val="10000"/>
              </a:srgbClr>
            </a:outerShdw>
          </a:effectLst>
        </p:spPr>
      </p:sp>
      <p:sp>
        <p:nvSpPr>
          <p:cNvPr id="49" name="Shape 47"/>
          <p:cNvSpPr/>
          <p:nvPr/>
        </p:nvSpPr>
        <p:spPr>
          <a:xfrm>
            <a:off x="4764024" y="2971800"/>
            <a:ext cx="384048" cy="384048"/>
          </a:xfrm>
          <a:prstGeom prst="roundRect">
            <a:avLst>
              <a:gd name="adj" fmla="val 14286"/>
            </a:avLst>
          </a:prstGeom>
          <a:solidFill>
            <a:srgbClr val="D97706"/>
          </a:solidFill>
          <a:ln w="12700">
            <a:solidFill>
              <a:srgbClr val="D97706"/>
            </a:solidFill>
            <a:prstDash val="solid"/>
          </a:ln>
        </p:spPr>
      </p:sp>
      <p:sp>
        <p:nvSpPr>
          <p:cNvPr id="50" name="Text 48"/>
          <p:cNvSpPr/>
          <p:nvPr/>
        </p:nvSpPr>
        <p:spPr>
          <a:xfrm>
            <a:off x="4764024" y="2971800"/>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07</a:t>
            </a:r>
            <a:endParaRPr lang="en-US" sz="1100" dirty="0"/>
          </a:p>
        </p:txBody>
      </p:sp>
      <p:sp>
        <p:nvSpPr>
          <p:cNvPr id="51" name="Text 49"/>
          <p:cNvSpPr/>
          <p:nvPr/>
        </p:nvSpPr>
        <p:spPr>
          <a:xfrm>
            <a:off x="5202936" y="2990088"/>
            <a:ext cx="1389888" cy="347472"/>
          </a:xfrm>
          <a:prstGeom prst="rect">
            <a:avLst/>
          </a:prstGeom>
          <a:noFill/>
          <a:ln/>
        </p:spPr>
        <p:txBody>
          <a:bodyPr wrap="square" lIns="0" tIns="0" rIns="0" bIns="0" rtlCol="0" anchor="ctr"/>
          <a:lstStyle/>
          <a:p>
            <a:pPr indent="0" marL="0">
              <a:buNone/>
            </a:pPr>
            <a:r>
              <a:rPr lang="en-US" sz="1000" b="1" dirty="0">
                <a:solidFill>
                  <a:srgbClr val="D97706"/>
                </a:solidFill>
                <a:latin typeface="Cambria" pitchFamily="34" charset="0"/>
                <a:ea typeface="Cambria" pitchFamily="34" charset="-122"/>
                <a:cs typeface="Cambria" pitchFamily="34" charset="-120"/>
              </a:rPr>
              <a:t>Helm</a:t>
            </a:r>
            <a:endParaRPr lang="en-US" sz="1000" dirty="0"/>
          </a:p>
        </p:txBody>
      </p:sp>
      <p:sp>
        <p:nvSpPr>
          <p:cNvPr id="52" name="Text 50"/>
          <p:cNvSpPr/>
          <p:nvPr/>
        </p:nvSpPr>
        <p:spPr>
          <a:xfrm>
            <a:off x="4764024" y="3447288"/>
            <a:ext cx="1828800" cy="329184"/>
          </a:xfrm>
          <a:prstGeom prst="rect">
            <a:avLst/>
          </a:prstGeom>
          <a:noFill/>
          <a:ln/>
        </p:spPr>
        <p:txBody>
          <a:bodyPr wrap="square" lIns="0" tIns="0" rIns="0" bIns="0" rtlCol="0" anchor="ctr"/>
          <a:lstStyle/>
          <a:p>
            <a:pPr indent="0" marL="0">
              <a:buNone/>
            </a:pPr>
            <a:r>
              <a:rPr lang="en-US" sz="850" dirty="0">
                <a:solidFill>
                  <a:srgbClr val="0F172A"/>
                </a:solidFill>
                <a:latin typeface="Arial" pitchFamily="34" charset="0"/>
                <a:ea typeface="Arial" pitchFamily="34" charset="-122"/>
                <a:cs typeface="Arial" pitchFamily="34" charset="-120"/>
              </a:rPr>
              <a:t>→  Charts &amp; values</a:t>
            </a:r>
            <a:endParaRPr lang="en-US" sz="850" dirty="0"/>
          </a:p>
        </p:txBody>
      </p:sp>
      <p:sp>
        <p:nvSpPr>
          <p:cNvPr id="53" name="Text 51"/>
          <p:cNvSpPr/>
          <p:nvPr/>
        </p:nvSpPr>
        <p:spPr>
          <a:xfrm>
            <a:off x="4764024" y="3813048"/>
            <a:ext cx="1828800" cy="329184"/>
          </a:xfrm>
          <a:prstGeom prst="rect">
            <a:avLst/>
          </a:prstGeom>
          <a:noFill/>
          <a:ln/>
        </p:spPr>
        <p:txBody>
          <a:bodyPr wrap="square" lIns="0" tIns="0" rIns="0" bIns="0" rtlCol="0" anchor="ctr"/>
          <a:lstStyle/>
          <a:p>
            <a:pPr indent="0" marL="0">
              <a:buNone/>
            </a:pPr>
            <a:r>
              <a:rPr lang="en-US" sz="850" dirty="0">
                <a:solidFill>
                  <a:srgbClr val="0F172A"/>
                </a:solidFill>
                <a:latin typeface="Arial" pitchFamily="34" charset="0"/>
                <a:ea typeface="Arial" pitchFamily="34" charset="-122"/>
                <a:cs typeface="Arial" pitchFamily="34" charset="-120"/>
              </a:rPr>
              <a:t>→  helm install/upgrade</a:t>
            </a:r>
            <a:endParaRPr lang="en-US" sz="850" dirty="0"/>
          </a:p>
        </p:txBody>
      </p:sp>
      <p:sp>
        <p:nvSpPr>
          <p:cNvPr id="54" name="Text 52"/>
          <p:cNvSpPr/>
          <p:nvPr/>
        </p:nvSpPr>
        <p:spPr>
          <a:xfrm>
            <a:off x="4764024" y="4178808"/>
            <a:ext cx="1828800" cy="329184"/>
          </a:xfrm>
          <a:prstGeom prst="rect">
            <a:avLst/>
          </a:prstGeom>
          <a:noFill/>
          <a:ln/>
        </p:spPr>
        <p:txBody>
          <a:bodyPr wrap="square" lIns="0" tIns="0" rIns="0" bIns="0" rtlCol="0" anchor="ctr"/>
          <a:lstStyle/>
          <a:p>
            <a:pPr indent="0" marL="0">
              <a:buNone/>
            </a:pPr>
            <a:r>
              <a:rPr lang="en-US" sz="850" dirty="0">
                <a:solidFill>
                  <a:srgbClr val="0F172A"/>
                </a:solidFill>
                <a:latin typeface="Arial" pitchFamily="34" charset="0"/>
                <a:ea typeface="Arial" pitchFamily="34" charset="-122"/>
                <a:cs typeface="Arial" pitchFamily="34" charset="-120"/>
              </a:rPr>
              <a:t>→  Creating your own chart</a:t>
            </a:r>
            <a:endParaRPr lang="en-US" sz="850" dirty="0"/>
          </a:p>
        </p:txBody>
      </p:sp>
      <p:sp>
        <p:nvSpPr>
          <p:cNvPr id="55" name="Shape 53"/>
          <p:cNvSpPr/>
          <p:nvPr/>
        </p:nvSpPr>
        <p:spPr>
          <a:xfrm>
            <a:off x="6848856" y="2880360"/>
            <a:ext cx="2011680" cy="1901952"/>
          </a:xfrm>
          <a:prstGeom prst="roundRect">
            <a:avLst>
              <a:gd name="adj" fmla="val 4808"/>
            </a:avLst>
          </a:prstGeom>
          <a:solidFill>
            <a:srgbClr val="CCFBF1"/>
          </a:solidFill>
          <a:ln w="12700">
            <a:solidFill>
              <a:srgbClr val="E2E8F0"/>
            </a:solidFill>
            <a:prstDash val="solid"/>
          </a:ln>
          <a:effectLst>
            <a:outerShdw sx="100000" sy="100000" kx="0" ky="0" algn="bl" rotWithShape="0" blurRad="76200" dist="38100" dir="2700000">
              <a:srgbClr val="000000">
                <a:alpha val="10000"/>
              </a:srgbClr>
            </a:outerShdw>
          </a:effectLst>
        </p:spPr>
      </p:sp>
      <p:sp>
        <p:nvSpPr>
          <p:cNvPr id="56" name="Shape 54"/>
          <p:cNvSpPr/>
          <p:nvPr/>
        </p:nvSpPr>
        <p:spPr>
          <a:xfrm>
            <a:off x="6940296" y="2971800"/>
            <a:ext cx="384048" cy="384048"/>
          </a:xfrm>
          <a:prstGeom prst="roundRect">
            <a:avLst>
              <a:gd name="adj" fmla="val 14286"/>
            </a:avLst>
          </a:prstGeom>
          <a:solidFill>
            <a:srgbClr val="0D9488"/>
          </a:solidFill>
          <a:ln w="12700">
            <a:solidFill>
              <a:srgbClr val="0D9488"/>
            </a:solidFill>
            <a:prstDash val="solid"/>
          </a:ln>
        </p:spPr>
      </p:sp>
      <p:sp>
        <p:nvSpPr>
          <p:cNvPr id="57" name="Text 55"/>
          <p:cNvSpPr/>
          <p:nvPr/>
        </p:nvSpPr>
        <p:spPr>
          <a:xfrm>
            <a:off x="6940296" y="2971800"/>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08</a:t>
            </a:r>
            <a:endParaRPr lang="en-US" sz="1100" dirty="0"/>
          </a:p>
        </p:txBody>
      </p:sp>
      <p:sp>
        <p:nvSpPr>
          <p:cNvPr id="58" name="Text 56"/>
          <p:cNvSpPr/>
          <p:nvPr/>
        </p:nvSpPr>
        <p:spPr>
          <a:xfrm>
            <a:off x="7379208" y="2990088"/>
            <a:ext cx="1389888" cy="347472"/>
          </a:xfrm>
          <a:prstGeom prst="rect">
            <a:avLst/>
          </a:prstGeom>
          <a:noFill/>
          <a:ln/>
        </p:spPr>
        <p:txBody>
          <a:bodyPr wrap="square" lIns="0" tIns="0" rIns="0" bIns="0" rtlCol="0" anchor="ctr"/>
          <a:lstStyle/>
          <a:p>
            <a:pPr indent="0" marL="0">
              <a:buNone/>
            </a:pPr>
            <a:r>
              <a:rPr lang="en-US" sz="1000" b="1" dirty="0">
                <a:solidFill>
                  <a:srgbClr val="0D9488"/>
                </a:solidFill>
                <a:latin typeface="Cambria" pitchFamily="34" charset="0"/>
                <a:ea typeface="Cambria" pitchFamily="34" charset="-122"/>
                <a:cs typeface="Cambria" pitchFamily="34" charset="-120"/>
              </a:rPr>
              <a:t>Monitoring &amp; Debug</a:t>
            </a:r>
            <a:endParaRPr lang="en-US" sz="1000" dirty="0"/>
          </a:p>
        </p:txBody>
      </p:sp>
      <p:sp>
        <p:nvSpPr>
          <p:cNvPr id="59" name="Text 57"/>
          <p:cNvSpPr/>
          <p:nvPr/>
        </p:nvSpPr>
        <p:spPr>
          <a:xfrm>
            <a:off x="6940296" y="3447288"/>
            <a:ext cx="1828800" cy="329184"/>
          </a:xfrm>
          <a:prstGeom prst="rect">
            <a:avLst/>
          </a:prstGeom>
          <a:noFill/>
          <a:ln/>
        </p:spPr>
        <p:txBody>
          <a:bodyPr wrap="square" lIns="0" tIns="0" rIns="0" bIns="0" rtlCol="0" anchor="ctr"/>
          <a:lstStyle/>
          <a:p>
            <a:pPr indent="0" marL="0">
              <a:buNone/>
            </a:pPr>
            <a:r>
              <a:rPr lang="en-US" sz="850" dirty="0">
                <a:solidFill>
                  <a:srgbClr val="0F172A"/>
                </a:solidFill>
                <a:latin typeface="Arial" pitchFamily="34" charset="0"/>
                <a:ea typeface="Arial" pitchFamily="34" charset="-122"/>
                <a:cs typeface="Arial" pitchFamily="34" charset="-120"/>
              </a:rPr>
              <a:t>→  kubectl top / logs</a:t>
            </a:r>
            <a:endParaRPr lang="en-US" sz="850" dirty="0"/>
          </a:p>
        </p:txBody>
      </p:sp>
      <p:sp>
        <p:nvSpPr>
          <p:cNvPr id="60" name="Text 58"/>
          <p:cNvSpPr/>
          <p:nvPr/>
        </p:nvSpPr>
        <p:spPr>
          <a:xfrm>
            <a:off x="6940296" y="3813048"/>
            <a:ext cx="1828800" cy="329184"/>
          </a:xfrm>
          <a:prstGeom prst="rect">
            <a:avLst/>
          </a:prstGeom>
          <a:noFill/>
          <a:ln/>
        </p:spPr>
        <p:txBody>
          <a:bodyPr wrap="square" lIns="0" tIns="0" rIns="0" bIns="0" rtlCol="0" anchor="ctr"/>
          <a:lstStyle/>
          <a:p>
            <a:pPr indent="0" marL="0">
              <a:buNone/>
            </a:pPr>
            <a:r>
              <a:rPr lang="en-US" sz="850" dirty="0">
                <a:solidFill>
                  <a:srgbClr val="0F172A"/>
                </a:solidFill>
                <a:latin typeface="Arial" pitchFamily="34" charset="0"/>
                <a:ea typeface="Arial" pitchFamily="34" charset="-122"/>
                <a:cs typeface="Arial" pitchFamily="34" charset="-120"/>
              </a:rPr>
              <a:t>→  3 pillars of observability</a:t>
            </a:r>
            <a:endParaRPr lang="en-US" sz="850" dirty="0"/>
          </a:p>
        </p:txBody>
      </p:sp>
      <p:sp>
        <p:nvSpPr>
          <p:cNvPr id="61" name="Text 59"/>
          <p:cNvSpPr/>
          <p:nvPr/>
        </p:nvSpPr>
        <p:spPr>
          <a:xfrm>
            <a:off x="6940296" y="4178808"/>
            <a:ext cx="1828800" cy="329184"/>
          </a:xfrm>
          <a:prstGeom prst="rect">
            <a:avLst/>
          </a:prstGeom>
          <a:noFill/>
          <a:ln/>
        </p:spPr>
        <p:txBody>
          <a:bodyPr wrap="square" lIns="0" tIns="0" rIns="0" bIns="0" rtlCol="0" anchor="ctr"/>
          <a:lstStyle/>
          <a:p>
            <a:pPr indent="0" marL="0">
              <a:buNone/>
            </a:pPr>
            <a:r>
              <a:rPr lang="en-US" sz="850" dirty="0">
                <a:solidFill>
                  <a:srgbClr val="0F172A"/>
                </a:solidFill>
                <a:latin typeface="Arial" pitchFamily="34" charset="0"/>
                <a:ea typeface="Arial" pitchFamily="34" charset="-122"/>
                <a:cs typeface="Arial" pitchFamily="34" charset="-120"/>
              </a:rPr>
              <a:t>→  5-step debug methodology</a:t>
            </a:r>
            <a:endParaRPr lang="en-US" sz="850" dirty="0"/>
          </a:p>
        </p:txBody>
      </p:sp>
      <p:sp>
        <p:nvSpPr>
          <p:cNvPr id="62" name="Shape 60"/>
          <p:cNvSpPr/>
          <p:nvPr/>
        </p:nvSpPr>
        <p:spPr>
          <a:xfrm>
            <a:off x="0" y="4846320"/>
            <a:ext cx="9144000" cy="297180"/>
          </a:xfrm>
          <a:prstGeom prst="rect">
            <a:avLst/>
          </a:prstGeom>
          <a:solidFill>
            <a:srgbClr val="0F172A"/>
          </a:solidFill>
          <a:ln w="12700">
            <a:solidFill>
              <a:srgbClr val="0F172A"/>
            </a:solidFill>
            <a:prstDash val="solid"/>
          </a:ln>
        </p:spPr>
      </p:sp>
      <p:sp>
        <p:nvSpPr>
          <p:cNvPr id="63" name="Text 61"/>
          <p:cNvSpPr/>
          <p:nvPr/>
        </p:nvSpPr>
        <p:spPr>
          <a:xfrm>
            <a:off x="365760" y="4864608"/>
            <a:ext cx="8412480" cy="256032"/>
          </a:xfrm>
          <a:prstGeom prst="rect">
            <a:avLst/>
          </a:prstGeom>
          <a:noFill/>
          <a:ln/>
        </p:spPr>
        <p:txBody>
          <a:bodyPr wrap="square" lIns="0" tIns="0" rIns="0" bIns="0" rtlCol="0" anchor="ctr"/>
          <a:lstStyle/>
          <a:p>
            <a:pPr algn="ctr" indent="0" marL="0">
              <a:buNone/>
            </a:pPr>
            <a:r>
              <a:rPr lang="en-US" sz="900" dirty="0">
                <a:solidFill>
                  <a:srgbClr val="94A3B8"/>
                </a:solidFill>
                <a:latin typeface="Arial" pitchFamily="34" charset="0"/>
                <a:ea typeface="Arial" pitchFamily="34" charset="-122"/>
                <a:cs typeface="Arial" pitchFamily="34" charset="-120"/>
              </a:rPr>
              <a:t>Trainer Guide  —  Track B Complete</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7C2D12"/>
        </a:solidFill>
      </p:bgPr>
    </p:bg>
    <p:spTree>
      <p:nvGrpSpPr>
        <p:cNvPr id="1" name=""/>
        <p:cNvGrpSpPr/>
        <p:nvPr/>
      </p:nvGrpSpPr>
      <p:grpSpPr>
        <a:xfrm>
          <a:off x="0" y="0"/>
          <a:ext cx="0" cy="0"/>
          <a:chOff x="0" y="0"/>
          <a:chExt cx="0" cy="0"/>
        </a:xfrm>
      </p:grpSpPr>
      <p:sp>
        <p:nvSpPr>
          <p:cNvPr id="2" name="Shape 0"/>
          <p:cNvSpPr/>
          <p:nvPr/>
        </p:nvSpPr>
        <p:spPr>
          <a:xfrm>
            <a:off x="0" y="0"/>
            <a:ext cx="347472" cy="5143500"/>
          </a:xfrm>
          <a:prstGeom prst="rect">
            <a:avLst/>
          </a:prstGeom>
          <a:solidFill>
            <a:srgbClr val="EF4444"/>
          </a:solidFill>
          <a:ln w="12700">
            <a:solidFill>
              <a:srgbClr val="EF4444"/>
            </a:solidFill>
            <a:prstDash val="solid"/>
          </a:ln>
        </p:spPr>
      </p:sp>
      <p:sp>
        <p:nvSpPr>
          <p:cNvPr id="3" name="Shape 1"/>
          <p:cNvSpPr/>
          <p:nvPr/>
        </p:nvSpPr>
        <p:spPr>
          <a:xfrm>
            <a:off x="6217920" y="-914400"/>
            <a:ext cx="4389120" cy="4389120"/>
          </a:xfrm>
          <a:prstGeom prst="ellipse">
            <a:avLst/>
          </a:prstGeom>
          <a:solidFill>
            <a:srgbClr val="EF4444">
              <a:alpha val="10000"/>
            </a:srgbClr>
          </a:solidFill>
          <a:ln w="12700">
            <a:solidFill>
              <a:srgbClr val="EF4444">
                <a:alpha val="18000"/>
              </a:srgbClr>
            </a:solidFill>
            <a:prstDash val="solid"/>
          </a:ln>
        </p:spPr>
      </p:sp>
      <p:sp>
        <p:nvSpPr>
          <p:cNvPr id="4" name="Text 2"/>
          <p:cNvSpPr/>
          <p:nvPr/>
        </p:nvSpPr>
        <p:spPr>
          <a:xfrm>
            <a:off x="594360" y="914400"/>
            <a:ext cx="7315200" cy="91440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Training Complete.</a:t>
            </a:r>
            <a:endParaRPr lang="en-US" sz="4800" dirty="0"/>
          </a:p>
        </p:txBody>
      </p:sp>
      <p:sp>
        <p:nvSpPr>
          <p:cNvPr id="5" name="Shape 3"/>
          <p:cNvSpPr/>
          <p:nvPr/>
        </p:nvSpPr>
        <p:spPr>
          <a:xfrm>
            <a:off x="594360" y="1920240"/>
            <a:ext cx="4114800" cy="27432"/>
          </a:xfrm>
          <a:prstGeom prst="rect">
            <a:avLst/>
          </a:prstGeom>
          <a:solidFill>
            <a:srgbClr val="EF4444"/>
          </a:solidFill>
          <a:ln w="12700">
            <a:solidFill>
              <a:srgbClr val="EF4444"/>
            </a:solidFill>
            <a:prstDash val="solid"/>
          </a:ln>
        </p:spPr>
      </p:sp>
      <p:sp>
        <p:nvSpPr>
          <p:cNvPr id="6" name="Text 4"/>
          <p:cNvSpPr/>
          <p:nvPr/>
        </p:nvSpPr>
        <p:spPr>
          <a:xfrm>
            <a:off x="594360" y="2084832"/>
            <a:ext cx="7315200" cy="384048"/>
          </a:xfrm>
          <a:prstGeom prst="rect">
            <a:avLst/>
          </a:prstGeom>
          <a:noFill/>
          <a:ln/>
        </p:spPr>
        <p:txBody>
          <a:bodyPr wrap="square" lIns="0" tIns="0" rIns="0" bIns="0" rtlCol="0" anchor="ctr"/>
          <a:lstStyle/>
          <a:p>
            <a:pPr indent="0" marL="0">
              <a:buNone/>
            </a:pPr>
            <a:r>
              <a:rPr lang="en-US" sz="1400" dirty="0">
                <a:solidFill>
                  <a:srgbClr val="FCA5A5"/>
                </a:solidFill>
                <a:latin typeface="Arial" pitchFamily="34" charset="0"/>
                <a:ea typeface="Arial" pitchFamily="34" charset="-122"/>
                <a:cs typeface="Arial" pitchFamily="34" charset="-120"/>
              </a:rPr>
              <a:t>Track B — Kubernetes Mid-Level Programme</a:t>
            </a:r>
            <a:endParaRPr lang="en-US" sz="1400" dirty="0"/>
          </a:p>
        </p:txBody>
      </p:sp>
      <p:sp>
        <p:nvSpPr>
          <p:cNvPr id="7" name="Text 5"/>
          <p:cNvSpPr/>
          <p:nvPr/>
        </p:nvSpPr>
        <p:spPr>
          <a:xfrm>
            <a:off x="594360" y="2633472"/>
            <a:ext cx="8046720" cy="475488"/>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Post-training:  </a:t>
            </a:r>
            <a:pPr indent="0" marL="0">
              <a:buNone/>
            </a:pPr>
            <a:r>
              <a:rPr lang="en-US" sz="1100" dirty="0">
                <a:solidFill>
                  <a:srgbClr val="FCA5A5"/>
                </a:solidFill>
                <a:latin typeface="Arial" pitchFamily="34" charset="0"/>
                <a:ea typeface="Arial" pitchFamily="34" charset="-122"/>
                <a:cs typeface="Arial" pitchFamily="34" charset="-120"/>
              </a:rPr>
              <a:t>Share lab YAML files  •  Share Helm chart templates  •  Send further reading on RBAC and Secrets encryption  •  Complete trainer feedback</a:t>
            </a:r>
            <a:endParaRPr lang="en-US" sz="1100" dirty="0"/>
          </a:p>
        </p:txBody>
      </p:sp>
      <p:sp>
        <p:nvSpPr>
          <p:cNvPr id="8" name="Shape 6"/>
          <p:cNvSpPr/>
          <p:nvPr/>
        </p:nvSpPr>
        <p:spPr>
          <a:xfrm>
            <a:off x="594360" y="3337560"/>
            <a:ext cx="3474720" cy="530352"/>
          </a:xfrm>
          <a:prstGeom prst="roundRect">
            <a:avLst>
              <a:gd name="adj" fmla="val 13793"/>
            </a:avLst>
          </a:prstGeom>
          <a:solidFill>
            <a:srgbClr val="EF4444"/>
          </a:solidFill>
          <a:ln w="12700">
            <a:solidFill>
              <a:srgbClr val="EF4444"/>
            </a:solidFill>
            <a:prstDash val="solid"/>
          </a:ln>
          <a:effectLst>
            <a:outerShdw sx="100000" sy="100000" kx="0" ky="0" algn="bl" rotWithShape="0" blurRad="76200" dist="38100" dir="2700000">
              <a:srgbClr val="000000">
                <a:alpha val="10000"/>
              </a:srgbClr>
            </a:outerShdw>
          </a:effectLst>
        </p:spPr>
      </p:sp>
      <p:sp>
        <p:nvSpPr>
          <p:cNvPr id="9" name="Text 7"/>
          <p:cNvSpPr/>
          <p:nvPr/>
        </p:nvSpPr>
        <p:spPr>
          <a:xfrm>
            <a:off x="594360" y="3337560"/>
            <a:ext cx="3474720" cy="530352"/>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CONFIDENTIAL — Do Not Distribute</a:t>
            </a:r>
            <a:endParaRPr lang="en-US" sz="1300" dirty="0"/>
          </a:p>
        </p:txBody>
      </p:sp>
      <p:sp>
        <p:nvSpPr>
          <p:cNvPr id="10" name="Shape 8"/>
          <p:cNvSpPr/>
          <p:nvPr/>
        </p:nvSpPr>
        <p:spPr>
          <a:xfrm>
            <a:off x="0" y="4754880"/>
            <a:ext cx="9144000" cy="388620"/>
          </a:xfrm>
          <a:prstGeom prst="rect">
            <a:avLst/>
          </a:prstGeom>
          <a:solidFill>
            <a:srgbClr val="450A0A"/>
          </a:solidFill>
          <a:ln w="12700">
            <a:solidFill>
              <a:srgbClr val="450A0A"/>
            </a:solidFill>
            <a:prstDash val="solid"/>
          </a:ln>
        </p:spPr>
      </p:sp>
      <p:sp>
        <p:nvSpPr>
          <p:cNvPr id="11" name="Text 9"/>
          <p:cNvSpPr/>
          <p:nvPr/>
        </p:nvSpPr>
        <p:spPr>
          <a:xfrm>
            <a:off x="457200" y="4773168"/>
            <a:ext cx="8229600" cy="320040"/>
          </a:xfrm>
          <a:prstGeom prst="rect">
            <a:avLst/>
          </a:prstGeom>
          <a:noFill/>
          <a:ln/>
        </p:spPr>
        <p:txBody>
          <a:bodyPr wrap="square" lIns="0" tIns="0" rIns="0" bIns="0" rtlCol="0" anchor="ctr"/>
          <a:lstStyle/>
          <a:p>
            <a:pPr algn="ctr" indent="0" marL="0">
              <a:buNone/>
            </a:pPr>
            <a:r>
              <a:rPr lang="en-US" sz="1000" dirty="0">
                <a:solidFill>
                  <a:srgbClr val="FCA5A5"/>
                </a:solidFill>
                <a:latin typeface="Arial" pitchFamily="34" charset="0"/>
                <a:ea typeface="Arial" pitchFamily="34" charset="-122"/>
                <a:cs typeface="Arial" pitchFamily="34" charset="-120"/>
              </a:rPr>
              <a:t>TRAINER GUIDE — TRACK B — PARTS 3 &amp; 4 OF 4  —  CONFIDENTIAL</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2026-07-01T19:02:59Z</dcterms:created>
  <dcterms:modified xsi:type="dcterms:W3CDTF">2026-07-01T19:02:59Z</dcterms:modified>
</cp:coreProperties>
</file>