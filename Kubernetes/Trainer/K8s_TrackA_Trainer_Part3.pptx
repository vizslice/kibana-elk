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0440F9-D4BD-4BC4-B284-5D48FBF704A2}" type="datetimeFigureOut">
              <a:t>7/14/2026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433801-EA64-4D8C-99CE-13CAAC81E88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5260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13:00 (after lunch)
Say: 'kubectl is your main tool for talking to Kubernetes. You will use about 10 commands for 90% of your work. We are going to cover exactly those commands — fast, practical, no fluff.'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13:00 – 13:12  (12 min)
The pattern kubectl [verb] [resource] [name] is the key to demystifying kubectl. Once students see the pattern, every command makes sense.
Run these live to show the pattern:
kubectl get pods
kubectl get deployments
kubectl get services
kubectl get all   (shows everything at once)
Shorthand tip: 'Kubernetes provides short aliases — po, deploy, svc, ns. Saves typing when you are in the terminal all day.'
Context: 'kubectl always talks to whatever cluster you are currently connected to. Check which cluster: kubectl config current-context'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13:12 – 13:22  (10 min)
This is a reference slide — do not read every command. Students will use it during the lab.
Highlight the most important ones:
1. kubectl get all   — first thing you run to understand what is deployed
2. kubectl describe pod &lt;name&gt;   — first debugging step when something is wrong
3. kubectl logs -f &lt;name&gt;   — see what your app is doing
4. kubectl exec -it &lt;name&gt; -- bash   — get inside the Pod
5. kubectl rollout undo   — the safety net
Port-forward tip: 'kubectl port-forward is great for testing a Pod locally without creating a Service. Very useful for debugging.'
Common mistake: kubectl exec -it &lt;name&gt; -- bash fails on Alpine containers — Alpine has no bash. Use sh instead: kubectl exec -it &lt;name&gt; -- 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tips during the lab when students ask 'how do I...' questions.
The most useful one for debugging: kubectl describe pod &lt;name&gt; → scroll to Events section at the bottom. The Events section tells you exactly why a Pod is failing — ImagePullBackOff, CrashLoopBackOff, OOMKilled etc.
For fast students who finish the lab early: challenge them with -o yaml and kubectl explain to explore the full object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1 TRAINER GUIDE
TIMING: 13:30 – 16:00 (2.5 hours for Track A — extra time allows for exploration)
Walk the room from minute 1. Students get stuck on different things. Don't wait at the front.
Task 2 — fastest path with kubectl create (imperative). They will use YAML files in Track B.
Task 3 — expected: NAME READY STATUS RESTARTS AGE shown 3 times with Running status.
Task 4 — delete a Pod by copying its full name from kubectl get pods. Run kubectl get pods immediately after — the Deployment creates a replacement within seconds.
Task 5 — kubectl expose creates a Service automatically. Equivalent to writing the Service YAML manually.
Task 6 — on minikube: minikube service webapp --url gives the NodePort URL. Open it in browser.
Tasks 7-10 are the most impressive sequence. Scale up, update image, watch rollout, roll back. Students should run kubectl get pods -w in a second terminal to watch live.
COMMON ERRORS:
1. kubectl get nodes shows NotReady — minikube has stopped. Fix: minikube start
2. ErrImagePull / ImagePullBackOff — image name typo. Fix: kubectl set image deployment/webapp nginx=nginx:alpine
3. Service shows no EXTERNAL-IP (LoadBalancer) — expected with minikube. Use NodePort instead.
4. Browser shows connection refused — use minikube service webapp --url to get the correct address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self-heal demo (Task 4) is always the most memorable moment. Make sure students watch kubectl get pods immediately after deleting — the new Pod appears within 5-10 seconds.
Rolling update (Task 8): run kubectl get pods -w in a second terminal window before running the set image command. Students see old Pods terminating and new Pods starting one by one. Very visual and impactful.
Rollback (Task 10): if you deployed a bad image intentionally (Task 8 with a broken tag), rollback is even more impressive — the app comes back to life in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open during the lab. These 6 errors cover 95% of what students will hit.
CrashLoopBackOff is the most confusing for students because they see Pods starting and stopping rapidly. Reassure them: 'This just means your app is crashing. Look at the logs — they will tell you exactly why.'
Service has no Endpoints is subtle — the Service exists and looks healthy, but the selector doesn't match any Pods. Always check kubectl describe service &lt;name&gt; and look at the Endpoints field. If it says 'none', labels are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16:00 – 16:10
Ask: 'Who feels confident they could deploy an application to Kubernetes this week?' Show of hands.
Acknowledge hesitation: 'You did this once today. The concepts will become natural with repetition. The lab exercises you can take home give you more practice with the same workflow.'
Bridge to Track B: 'Track B adds ConfigMaps for configuration, Secrets for sensitive data, RBAC for access control, Helm for packaging and Monitoring. All built on exactly what you learned today.'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'Everything on the left — you have done. Docker day and Kubernetes Track A. Track B is available for teams that need deeper K8s knowledge — ConfigMaps for app configuration, Secrets for passwords and tokens, RBAC for access control, Helm for packaging apps, and Monitoring to see what is happening inside your cluster.'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OF KUBERNETES TRAINER GUIDE — TRACK A
All 3 parts combined:
Part 1: Title, Prep, Agenda, What is K8s, Architecture (10 slides)
Part 2: Pods, Deployments, Services (13 slides)
Part 3: kubectl, Lab, Answers, Summary, Roadmap, Close (10 slides)
Total: 33 slides with speaker notes on every slide.
Post-training:
1. minikube stop
2. Share lab YAML files with students for home practice
3. If group qualifies for Track B, send Track B schedule
4. Complete trainer feedback form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326CE5">
              <a:alpha val="10000"/>
            </a:srgbClr>
          </a:solidFill>
          <a:ln w="12700">
            <a:solidFill>
              <a:srgbClr val="326CE5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kubectl Essentials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commands you need every single day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KUBECTL — YOUR KUBERNETES CLI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06  •  kubectl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713232"/>
          </a:xfrm>
          <a:prstGeom prst="roundRect">
            <a:avLst>
              <a:gd name="adj" fmla="val 12821"/>
            </a:avLst>
          </a:prstGeom>
          <a:solidFill>
            <a:srgbClr val="E8EFFE"/>
          </a:solidFill>
          <a:ln w="12700">
            <a:solidFill>
              <a:srgbClr val="A5B4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1440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kubectl is the command-line tool for interacting with a Kubernetes cluster. Every command follows the same pattern: kubectl [verb] [resource] [name]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691640"/>
            <a:ext cx="8503920" cy="621792"/>
          </a:xfrm>
          <a:prstGeom prst="roundRect">
            <a:avLst>
              <a:gd name="adj" fmla="val 1470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8470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18470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[verb]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97480" y="18470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[resource]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51960" y="18470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[name]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0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e.g.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91072" y="18470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  get   pods   my-nginx-pod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0040" y="2450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Verbs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450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Resources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788920"/>
            <a:ext cx="4160520" cy="32918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8163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91640" y="281635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163824"/>
            <a:ext cx="4160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19125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91640" y="3191256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resources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456432"/>
            <a:ext cx="41605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4838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691640" y="3483864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info about a resource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3749040"/>
            <a:ext cx="4160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77647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691640" y="377647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or update from YAML file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4041648"/>
            <a:ext cx="41605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0690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691640" y="4069080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a resource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4334256"/>
            <a:ext cx="4160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436168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691640" y="436168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container logs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4626864"/>
            <a:ext cx="41605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465429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691640" y="4654296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command inside a Pod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2788920"/>
            <a:ext cx="4069080" cy="32918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28163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3163824"/>
            <a:ext cx="40690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64608" y="31912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pods (po)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662672" y="3191256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54880" y="3456432"/>
            <a:ext cx="406908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64608" y="34838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deployments (deploy)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662672" y="3483864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54880" y="3749040"/>
            <a:ext cx="40690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64608" y="37764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 (svc)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662672" y="3776472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54880" y="4041648"/>
            <a:ext cx="406908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64608" y="40690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namespaces (ns)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662672" y="4069080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754880" y="4334256"/>
            <a:ext cx="40690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64608" y="43616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nodes (no)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662672" y="4361688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754880" y="4626864"/>
            <a:ext cx="406908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64608" y="46542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662672" y="4654296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Section 06: kubectl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ESSENTIAL KUBECTL COMMANDS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06  •  kubectl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26C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&amp; Inspect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4114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344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pods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971800" y="12344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all pods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1572768"/>
            <a:ext cx="411480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6184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pods -o wide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971800" y="161848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node and IP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1956816"/>
            <a:ext cx="4114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00253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all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971800" y="200253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pods, services, deployments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340864"/>
            <a:ext cx="411480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38658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describe pod &lt;name&gt;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971800" y="238658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details and events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0040" y="24871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&amp; Delete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807208"/>
            <a:ext cx="4114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8529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apply -f app.yaml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971800" y="285292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or update from YAML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3191256"/>
            <a:ext cx="411480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23697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delete -f app.yaml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971800" y="323697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from YAML file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3575304"/>
            <a:ext cx="4114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62102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delete pod &lt;name&gt;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971800" y="362102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a specific Pod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3959352"/>
            <a:ext cx="411480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0050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delete deployment &lt;n&gt;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971800" y="400507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deployment + Pods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0" y="8686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1188720"/>
            <a:ext cx="4069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12344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logs &lt;pod-name&gt;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406640" y="123444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container logs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54880" y="1572768"/>
            <a:ext cx="406908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16184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logs -f &lt;pod-name&gt;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406640" y="161848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logs live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54880" y="1956816"/>
            <a:ext cx="4069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200253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exec -it &lt;pod&gt; -- sh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406640" y="2002536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 inside a Pod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54880" y="2340864"/>
            <a:ext cx="406908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238658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port-forward pod/&lt;n&gt; 8080:80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406640" y="2386584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port locally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754880" y="248716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&amp; Update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754880" y="2807208"/>
            <a:ext cx="4069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28529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scale deploy/&lt;n&gt; --replicas=5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406640" y="285292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to 5 replicas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754880" y="3191256"/>
            <a:ext cx="406908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46320" y="323697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set image deploy/&lt;n&gt; nginx=nginx:1.25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406640" y="3236976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image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754880" y="3575304"/>
            <a:ext cx="4069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46320" y="362102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rollout status deploy/&lt;n&gt;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406640" y="3621024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rollout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754880" y="3959352"/>
            <a:ext cx="406908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46320" y="40050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rollout undo deploy/&lt;n&gt;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406640" y="400507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back instantly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Section 06: kubectl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KUBECTL TIPS &amp; TRICKS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Only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046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TRAINER ONLY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207008"/>
            <a:ext cx="8503920" cy="32918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3444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/ Command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48840" y="1234440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897880" y="1234440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572768"/>
            <a:ext cx="8503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62763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-n &lt;namespace&gt;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48840" y="1627632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Specify namespace. Default is 'default'. Production apps often live in different namespaces.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97880" y="1627632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pods -n production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011680"/>
            <a:ext cx="850392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066544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-o yaml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148840" y="2066544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the full YAML of any resource. Great for learning and debugging.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97880" y="2066544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deployment nginx -o yaml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2450592"/>
            <a:ext cx="8503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50545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-o json | jq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148840" y="2505456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as JSON and filter with jq. Powerful for scripting.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97880" y="2505456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pods -o json | jq '.items[].metadata.name'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2889504"/>
            <a:ext cx="850392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94436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--watch (-w)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48840" y="29443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a resource for changes in real time. Press Ctrl+C to stop.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97880" y="2944368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pods -w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" y="3328416"/>
            <a:ext cx="8503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38328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explain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148840" y="3383280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help on any YAML field directly from the terminal.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897880" y="3383280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explain deployment.spec.replicas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3767328"/>
            <a:ext cx="850392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82219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config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148840" y="3822192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cluster connections and contexts.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97880" y="3822192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config get-contexts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0040" y="4206240"/>
            <a:ext cx="8503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261104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dry-run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148840" y="4261104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 command without making changes. Safe way to validate YAML.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897880" y="4261104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apply -f app.yaml --dry-run=client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kubectl Tips —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731520"/>
            <a:ext cx="3840480" cy="3840480"/>
          </a:xfrm>
          <a:prstGeom prst="ellipse">
            <a:avLst/>
          </a:prstGeom>
          <a:solidFill>
            <a:srgbClr val="326CE5">
              <a:alpha val="8000"/>
            </a:srgbClr>
          </a:solidFill>
          <a:ln w="12700">
            <a:solidFill>
              <a:srgbClr val="326CE5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657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 LAB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Deploy, Scale &amp; Expose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4114800" cy="27432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874520"/>
            <a:ext cx="292608" cy="292608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187452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cluster: kubectl get nodes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350008"/>
            <a:ext cx="292608" cy="292608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50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35000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Deployment: kubectl create deployment webapp --image=nginx:alpine --replicas=3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2825496"/>
            <a:ext cx="292608" cy="292608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825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2825496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one Pod, watch it self-heal: kubectl delete pod &lt;name&gt;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3300984"/>
            <a:ext cx="292608" cy="292608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300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3300984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 with a Service: kubectl expose deployment webapp --type=NodePort --port=80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3776472"/>
            <a:ext cx="292608" cy="292608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776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377647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to 5: kubectl scale deployment webapp --replicas=5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" y="4251960"/>
            <a:ext cx="292608" cy="292608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251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" y="425196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image, watch rollout, roll back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4360" y="4617720"/>
            <a:ext cx="4389120" cy="384048"/>
          </a:xfrm>
          <a:prstGeom prst="roundRect">
            <a:avLst>
              <a:gd name="adj" fmla="val 16667"/>
            </a:avLst>
          </a:prstGeom>
          <a:solidFill>
            <a:srgbClr val="326CE5">
              <a:alpha val="20000"/>
            </a:srgbClr>
          </a:solidFill>
          <a:ln w="12700">
            <a:solidFill>
              <a:srgbClr val="326CE5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62686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Duration: 13:30 – 16:00  •  Day 2 Afternoon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1 — ANSWERS &amp; COMMON ERRORS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Only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046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TRAINER ONLY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8503920" cy="384048"/>
          </a:xfrm>
          <a:prstGeom prst="roundRect">
            <a:avLst>
              <a:gd name="adj" fmla="val 2381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Do not show to students. Share answers verbally on request only.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664208"/>
            <a:ext cx="8503920" cy="1207008"/>
          </a:xfrm>
          <a:prstGeom prst="roundRect">
            <a:avLst>
              <a:gd name="adj" fmla="val 757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" y="17190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1-4 — Verify, Deploy, Check, Self-heal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19842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nodes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5488" y="218541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create deployment webapp --image=nginx:alpine --replicas=3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" y="238658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pods   # expect 3 pods Running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5488" y="258775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delete pod &lt;pod-name&gt;   # copy name from above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" y="27889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pods   # new pod appears within seconds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944368"/>
            <a:ext cx="8503920" cy="841248"/>
          </a:xfrm>
          <a:prstGeom prst="roundRect">
            <a:avLst>
              <a:gd name="adj" fmla="val 1087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" y="29992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5-6 — Expose and Access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" y="32644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expose deployment webapp --type=NodePort --port=80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" y="346557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services   # shows webapp with NodePort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5488" y="366674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minikube service webapp --url   # get the browser URL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858768"/>
            <a:ext cx="8503920" cy="896112"/>
          </a:xfrm>
          <a:prstGeom prst="roundRect">
            <a:avLst>
              <a:gd name="adj" fmla="val 1020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" y="39136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7-10 — Scale, Update, Watch, Roll Back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" y="41788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scale deployment webapp --replicas=5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5488" y="437997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set image deployment/webapp nginx=nginx:1.25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" y="458114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rollout status deployment/webapp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" y="478231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rollout undo deployment/webapp   # instant rollback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4828032"/>
            <a:ext cx="8503920" cy="365760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4919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 TRAINER NOTE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5212080"/>
            <a:ext cx="8229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ImagePullBackOff = image name wrong or registry unreachable. CrashLoopBackOff = container starts then crashes — check kubectl logs &lt;pod&gt;.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Lab 1 Answers —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K8s ERRORS — QUICK REFERENCE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Only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046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TRAINER ONLY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207008"/>
            <a:ext cx="8503920" cy="32918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3444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0" y="123444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76672" y="12344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Fix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572768"/>
            <a:ext cx="8503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627632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ErrImagePull / ImagePullBackOff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0" y="1627632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name wrong or registry unreachable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76672" y="16276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 describe pod &lt;name&gt; → check image name. Fix with kubectl set image.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084832"/>
            <a:ext cx="850392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13969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CrashLoopBackOff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0" y="2139696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starts then crashes repeatedly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76672" y="213969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 logs &lt;pod-name&gt; to see why app crashed. Usually an app error.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596896"/>
            <a:ext cx="8503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651760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Pending (no resources)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0" y="265176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node has enough CPU/memory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76672" y="26517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 describe pod &lt;name&gt; → Events section shows 'Insufficient cpu/memory'.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3108960"/>
            <a:ext cx="850392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163824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OOMKilled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0" y="3163824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used more memory than its limit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76672" y="316382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memory limit in Deployment YAML or fix memory leak in app.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3621024"/>
            <a:ext cx="8503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675888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has no Endpoints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0" y="367588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 labels don't match Pod labels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76672" y="36758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 describe service &lt;name&gt; → Endpoints shows 'none'. Fix labels.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" y="4133088"/>
            <a:ext cx="850392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4187952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 refused (browser)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0" y="4187952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URL or wrong port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76672" y="41879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minikube: use minikube service &lt;name&gt; --url to get correct address.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K8s Error Reference —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HAVE LEARNED TODAY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Summary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2697480" cy="1901952"/>
          </a:xfrm>
          <a:prstGeom prst="roundRect">
            <a:avLst>
              <a:gd name="adj" fmla="val 4808"/>
            </a:avLst>
          </a:prstGeom>
          <a:solidFill>
            <a:srgbClr val="E8EFFE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9768" y="9601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960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97840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26C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Kubernetes?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43560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The problem K8s solves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9768" y="181965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Containers vs Orchestration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9768" y="220370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Docker + K8s relationship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72968" y="868680"/>
            <a:ext cx="2697480" cy="1901952"/>
          </a:xfrm>
          <a:prstGeom prst="roundRect">
            <a:avLst>
              <a:gd name="adj" fmla="val 4808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82696" y="9601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2696" y="960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67328" y="97840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82696" y="143560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Control Plane &amp; Worker Nodes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82696" y="181965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API Server, Scheduler, etcd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82696" y="220370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Pods, Deployments, Services, Namespaces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25896" y="868680"/>
            <a:ext cx="2697480" cy="1901952"/>
          </a:xfrm>
          <a:prstGeom prst="roundRect">
            <a:avLst>
              <a:gd name="adj" fmla="val 4808"/>
            </a:avLst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35624" y="9601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35624" y="960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20256" y="97840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35624" y="143560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Smallest deployable unit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35624" y="181965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YAML manifests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35624" y="220370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Ephemeral — managed by Deployments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2880360"/>
            <a:ext cx="2697480" cy="1901952"/>
          </a:xfrm>
          <a:prstGeom prst="roundRect">
            <a:avLst>
              <a:gd name="adj" fmla="val 4808"/>
            </a:avLst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9768" y="29718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299008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9768" y="344728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Self-healing replicas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29768" y="383133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Rolling updates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29768" y="421538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Rollback in seconds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172968" y="2880360"/>
            <a:ext cx="2697480" cy="1901952"/>
          </a:xfrm>
          <a:prstGeom prst="roundRect">
            <a:avLst>
              <a:gd name="adj" fmla="val 4808"/>
            </a:avLst>
          </a:prstGeom>
          <a:solidFill>
            <a:srgbClr val="EDE9FE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82696" y="29718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82696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767328" y="299008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282696" y="344728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Stable network address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282696" y="383133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ClusterIP, NodePort, LoadBalancer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282696" y="421538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Labels connect everything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025896" y="2880360"/>
            <a:ext cx="2697480" cy="1901952"/>
          </a:xfrm>
          <a:prstGeom prst="roundRect">
            <a:avLst>
              <a:gd name="adj" fmla="val 4808"/>
            </a:avLst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35624" y="29718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35624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620256" y="299008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kubectl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135624" y="344728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get, describe, apply, delete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135624" y="383133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logs, exec, port-forward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135624" y="421538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scale, set image, rollout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Course Complete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LEARNING ROADMAP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Comes Next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2606040" cy="3913632"/>
          </a:xfrm>
          <a:prstGeom prst="roundRect">
            <a:avLst>
              <a:gd name="adj" fmla="val 3509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987552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9875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DOCKER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481328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1901952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Images &amp; containers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219456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Dockerfile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248716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Volumes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" y="2779776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docker run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99232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520440" y="868680"/>
            <a:ext cx="2606040" cy="3913632"/>
          </a:xfrm>
          <a:prstGeom prst="roundRect">
            <a:avLst>
              <a:gd name="adj" fmla="val 3509"/>
            </a:avLst>
          </a:prstGeom>
          <a:solidFill>
            <a:srgbClr val="E8EFFE"/>
          </a:solidFill>
          <a:ln w="12700">
            <a:solidFill>
              <a:srgbClr val="A5B4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75888" y="987552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75888" y="9875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K8S TRACK 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75888" y="1481328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75888" y="1901952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What is Kubernetes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75888" y="219456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Architecture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75888" y="248716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Pods &amp; Deployments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75888" y="2779776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Services &amp; kubectl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99632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720840" y="868680"/>
            <a:ext cx="2057400" cy="3913632"/>
          </a:xfrm>
          <a:prstGeom prst="roundRect">
            <a:avLst>
              <a:gd name="adj" fmla="val 444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76288" y="987552"/>
            <a:ext cx="1572768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76288" y="98755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 K8S TRACK B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876288" y="1481328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 Level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76288" y="190195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ConfigMaps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76288" y="219456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Secrets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876288" y="248716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RBAC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876288" y="277977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Helm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876288" y="3072384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Monitoring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876288" y="336499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Advanced K8s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Your Next Steps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7C2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914400"/>
            <a:ext cx="4389120" cy="4389120"/>
          </a:xfrm>
          <a:prstGeom prst="ellipse">
            <a:avLst/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9144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Complete.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4114800" cy="274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08483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notes, lab answers and error guides are in this deck.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54203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followed on the shared screen — no separate student file for Track A.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310896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Post-training:  </a:t>
            </a:r>
            <a:r>
              <a:rPr lang="en-US" sz="11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take-home lab YAML files  •  Send Track B info if applicable  •  Stop minikube: minikube stop  •  Complete trainer feedback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3767328"/>
            <a:ext cx="3474720" cy="530352"/>
          </a:xfrm>
          <a:prstGeom prst="roundRect">
            <a:avLst>
              <a:gd name="adj" fmla="val 1379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3767328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CONFIDENTIAL — Do Not Distribute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450A0A"/>
          </a:solidFill>
          <a:ln w="12700">
            <a:solidFill>
              <a:srgbClr val="450A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773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— TRACK A — PART 3 OF 3  —  CONFIDENTIAL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Kubernetes Training - Track A - Trainer Guide Part 3</dc:title>
  <dc:subject>PptxGenJS Presentation</dc:subject>
  <dc:creator>PptxGenJS</dc:creator>
  <cp:lastModifiedBy>PptxGenJS</cp:lastModifiedBy>
  <cp:revision>4</cp:revision>
  <dcterms:created xsi:type="dcterms:W3CDTF">2026-07-01T18:46:21Z</dcterms:created>
  <dcterms:modified xsi:type="dcterms:W3CDTF">2026-07-14T17:50:17Z</dcterms:modified>
</cp:coreProperties>
</file>