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9EDDC461-5B24-4F98-A904-70E1E2E4A611}" type="datetimeFigureOut">
              <a:t>7/14/2026</a:t>
            </a:fld>
            <a:endParaRPr lang="en-GB"/>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B66D440C-A404-4FDD-B220-9EA6F3744343}" type="slidenum">
              <a:t>‹#›</a:t>
            </a:fld>
            <a:endParaRPr lang="en-GB"/>
          </a:p>
        </p:txBody>
      </p:sp>
    </p:spTree>
    <p:extLst>
      <p:ext uri="{BB962C8B-B14F-4D97-AF65-F5344CB8AC3E}">
        <p14:creationId xmlns:p14="http://schemas.microsoft.com/office/powerpoint/2010/main" val="2888285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TRAINER GUIDE — TRACK A — PART 1 OF 3
Track A = students who did Docker Foundation yesterday. They know: images, containers, Dockerfile, volumes.
Do NOT project this file. Keep on second monitor or printed.
Part 1 covers: Title, Prep, Agenda, What is Kubernetes, Architecture.
Part 2 covers: Pods, Deployments, Services.
Part 3 covers: kubectl essentials, Lab, Answers, Summary, Close.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BIGGEST RISK: Cluster not running. Always start minikube the night before and leave it running.
minikube start can take 3-5 minutes on first run. Do not start it live in front of students.
If minikube fails: fall back to Play With Kubernetes at labs.play-with-k8s.com — no install required, browser-based, free.
Kubectl install:
Windows: winget install Kubernetes.kubectl
macOS: brew install kubectl
Linux: snap install kubectl --classic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09:00 – 09:10
Key bridge from Docker day: everything they did with docker run yesterday, Kubernetes does automatically and at scale. Connect every new concept back to something they already know from Docker.
If students look nervous about Kubernetes: 'If you understand Docker images and containers from yesterday, you already understand 40% of Kubernetes. The rest is just new vocabulary.'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Say: 'Yesterday you ran one container on one machine. What happens when you need to run 50 containers across 10 machines, keep them all healthy, and update them without downtime? That is exactly what Kubernetes solves.'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09:10 – 09:22  (12 min)
The self-healing story is the most powerful one. Tell it clearly:
'Imagine you have 10 containers running your app. One crashes at 3am. With plain Docker, it stays dead until someone manually restarts it. With Kubernetes, it detects the crash within seconds and restarts it automatically. Nobody wakes up. Nobody calls anyone. It just heals itself.'
Connect each problem back to Docker day:
- Containers crash: 'You saw yesterday that docker rm removes a container permanently. Kubernetes never lets that happen in production.'
- Traffic spikes: 'Yesterday docker run started one container. Kubernetes can start 50 with one command change.'
- Updating: 'Yesterday you stopped a container and started a new one — users saw downtime. Kubernetes does rolling updates with zero downtime.'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09:22 – 09:34  (12 min)
K8s is the abbreviation — K, then 8 letters, then s. Tell students this so they understand why it's written K8s everywhere.
Air traffic control analogy works very well for non-technical audiences too.
Key point: 'Kubernetes does not replace Docker. Your containers are still Docker containers. Kubernetes is the manager that decides where they run, how many copies run, and what happens when they fail.'
Docker vs K8s relationship:
docker run = running one container manually
Kubernetes = running thousands automatically, with rules
Common question: 'Do I still need Docker if I use Kubernetes?' Answer: Yes — Kubernetes runs Docker containers (or other container formats). Docker builds the image. Kubernetes runs it at scale.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09:34 – 09:44  (10 min)
The flow diagram at the top is the full CI/CD pipeline in miniature. Walk through it: 'You write code. Docker packages it into an image. You push it to a registry. Kubernetes pulls it from the registry and runs it.'
Table: walk through quickly — 2 minutes. Point out self-healing and rolling updates as the two most impactful differences.
Common question: 'So do I need to know Docker to use Kubernetes?' Answer: Yes — and you already do, from yesterday. Every Kubernetes workload is a Docker image. That is why Docker day comes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09:44
Say: 'Now we understand what Kubernetes does. Let's look at how it is built — what the pieces are and how they fit together. There are some new words here but the concepts are straightforward.'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09:44 – 10:02  (18 min)
Draw this on the whiteboard while explaining. It sticks better as a drawing than as a slide.
Control Plane analogy: 'Think of the control plane as the management office. It doesn't do the actual work — it makes decisions about who does the work and watches to make sure it gets done.'
API Server: 'Every kubectl command you type goes to the API server. It is the single front door into Kubernetes.'
etcd: 'This is the brain's memory. If etcd goes down, the cluster forgets its entire state. This is why etcd is always backed up in production.'
Scheduler: 'When you say run 3 copies of my app, the scheduler looks at all the nodes, sees which ones have spare capacity, and assigns one Pod to each node.'
Worker Nodes: 'The actual machines doing the work. Each node runs an agent called kubelet that talks to the control plane and manages the Pods on that node.'
Pods: 'The smallest unit in Kubernetes. Coming up next.'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10:02 – 10:12  (10 min)
This is the vocabulary slide. Students need these 4 words before they can follow the rest of the day.
For each object, say the Docker equivalent first then the K8s version:
- Pod: 'You know a Docker container. A Pod is basically a container with a Kubernetes wrapper around it — its own IP, its own storage mounts.'
- Deployment: 'You know docker run. A Deployment is like docker run but Kubernetes keeps the right number of copies running always.'
- Service: 'You know -p 8080:80. A Service is like port mapping but it works across all nodes and load balances automatically.'
- Namespace: 'Docker has no equivalent. It is a way to separate environments — dev and production can share a cluster but stay isolated.'
BREAK: 10:12 – 10:22
During break: check everyone can run kubectl get nodes successfully.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C2D12"/>
        </a:solidFill>
        <a:effectLst/>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EF4444"/>
          </a:solidFill>
          <a:ln w="12700">
            <a:solidFill>
              <a:srgbClr val="EF4444"/>
            </a:solidFill>
            <a:prstDash val="solid"/>
          </a:ln>
        </p:spPr>
      </p:sp>
      <p:sp>
        <p:nvSpPr>
          <p:cNvPr id="3" name="Shape 1"/>
          <p:cNvSpPr/>
          <p:nvPr/>
        </p:nvSpPr>
        <p:spPr>
          <a:xfrm>
            <a:off x="6583680" y="-1097280"/>
            <a:ext cx="4114800" cy="4114800"/>
          </a:xfrm>
          <a:prstGeom prst="ellipse">
            <a:avLst/>
          </a:prstGeom>
          <a:solidFill>
            <a:srgbClr val="EF4444">
              <a:alpha val="12000"/>
            </a:srgbClr>
          </a:solidFill>
          <a:ln w="12700">
            <a:solidFill>
              <a:srgbClr val="EF4444">
                <a:alpha val="22000"/>
              </a:srgbClr>
            </a:solidFill>
            <a:prstDash val="solid"/>
          </a:ln>
        </p:spPr>
      </p:sp>
      <p:sp>
        <p:nvSpPr>
          <p:cNvPr id="4" name="Text 2"/>
          <p:cNvSpPr/>
          <p:nvPr/>
        </p:nvSpPr>
        <p:spPr>
          <a:xfrm>
            <a:off x="594360" y="822960"/>
            <a:ext cx="82296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KUBERNETES</a:t>
            </a:r>
            <a:endParaRPr lang="en-US" sz="4800" dirty="0"/>
          </a:p>
        </p:txBody>
      </p:sp>
      <p:sp>
        <p:nvSpPr>
          <p:cNvPr id="5" name="Text 3"/>
          <p:cNvSpPr/>
          <p:nvPr/>
        </p:nvSpPr>
        <p:spPr>
          <a:xfrm>
            <a:off x="594360" y="1691640"/>
            <a:ext cx="7315200" cy="594360"/>
          </a:xfrm>
          <a:prstGeom prst="rect">
            <a:avLst/>
          </a:prstGeom>
          <a:noFill/>
          <a:ln/>
        </p:spPr>
        <p:txBody>
          <a:bodyPr wrap="square" lIns="0" tIns="0" rIns="0" bIns="0" rtlCol="0" anchor="ctr"/>
          <a:lstStyle/>
          <a:p>
            <a:pPr marL="0" indent="0">
              <a:buNone/>
            </a:pPr>
            <a:r>
              <a:rPr lang="en-US" sz="2200" dirty="0">
                <a:solidFill>
                  <a:srgbClr val="FCA5A5"/>
                </a:solidFill>
                <a:latin typeface="Cambria" pitchFamily="34" charset="0"/>
                <a:ea typeface="Cambria" pitchFamily="34" charset="-122"/>
                <a:cs typeface="Cambria" pitchFamily="34" charset="-120"/>
              </a:rPr>
              <a:t>Trainer Guide  —  Track A  —  Part 1 of 3</a:t>
            </a:r>
            <a:endParaRPr lang="en-US" sz="2200" dirty="0"/>
          </a:p>
        </p:txBody>
      </p:sp>
      <p:sp>
        <p:nvSpPr>
          <p:cNvPr id="6" name="Shape 4"/>
          <p:cNvSpPr/>
          <p:nvPr/>
        </p:nvSpPr>
        <p:spPr>
          <a:xfrm>
            <a:off x="594360" y="2395728"/>
            <a:ext cx="4572000" cy="27432"/>
          </a:xfrm>
          <a:prstGeom prst="rect">
            <a:avLst/>
          </a:prstGeom>
          <a:solidFill>
            <a:srgbClr val="EF4444"/>
          </a:solidFill>
          <a:ln w="12700">
            <a:solidFill>
              <a:srgbClr val="EF4444"/>
            </a:solidFill>
            <a:prstDash val="solid"/>
          </a:ln>
        </p:spPr>
      </p:sp>
      <p:sp>
        <p:nvSpPr>
          <p:cNvPr id="7" name="Text 5"/>
          <p:cNvSpPr/>
          <p:nvPr/>
        </p:nvSpPr>
        <p:spPr>
          <a:xfrm>
            <a:off x="594360" y="2560320"/>
            <a:ext cx="7772400" cy="329184"/>
          </a:xfrm>
          <a:prstGeom prst="rect">
            <a:avLst/>
          </a:prstGeom>
          <a:noFill/>
          <a:ln/>
        </p:spPr>
        <p:txBody>
          <a:bodyPr wrap="square" lIns="0" tIns="0" rIns="0" bIns="0" rtlCol="0" anchor="ctr"/>
          <a:lstStyle/>
          <a:p>
            <a:pPr marL="0" indent="0">
              <a:buNone/>
            </a:pPr>
            <a:r>
              <a:rPr lang="en-US" sz="1200" b="1" dirty="0">
                <a:solidFill>
                  <a:srgbClr val="FCA5A5"/>
                </a:solidFill>
                <a:latin typeface="Arial" pitchFamily="34" charset="0"/>
                <a:ea typeface="Arial" pitchFamily="34" charset="-122"/>
                <a:cs typeface="Arial" pitchFamily="34" charset="-120"/>
              </a:rPr>
              <a:t>🔒  This deck is for the trainer only — not for distribution to students.</a:t>
            </a:r>
            <a:endParaRPr lang="en-US" sz="1200" dirty="0"/>
          </a:p>
        </p:txBody>
      </p:sp>
      <p:sp>
        <p:nvSpPr>
          <p:cNvPr id="8" name="Text 6"/>
          <p:cNvSpPr/>
          <p:nvPr/>
        </p:nvSpPr>
        <p:spPr>
          <a:xfrm>
            <a:off x="594360" y="2944368"/>
            <a:ext cx="8229600" cy="32918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Track A  </a:t>
            </a:r>
            <a:r>
              <a:rPr lang="en-US" sz="1150" dirty="0">
                <a:solidFill>
                  <a:srgbClr val="FCA5A5"/>
                </a:solidFill>
                <a:latin typeface="Arial" pitchFamily="34" charset="0"/>
                <a:ea typeface="Arial" pitchFamily="34" charset="-122"/>
                <a:cs typeface="Arial" pitchFamily="34" charset="-120"/>
              </a:rPr>
              <a:t>For students who completed the Docker Foundation day (Track A, Day 2)</a:t>
            </a:r>
            <a:endParaRPr lang="en-US" sz="1150" dirty="0"/>
          </a:p>
        </p:txBody>
      </p:sp>
      <p:sp>
        <p:nvSpPr>
          <p:cNvPr id="9" name="Text 7"/>
          <p:cNvSpPr/>
          <p:nvPr/>
        </p:nvSpPr>
        <p:spPr>
          <a:xfrm>
            <a:off x="594360" y="3310128"/>
            <a:ext cx="8229600" cy="32918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Part 1 covers  </a:t>
            </a:r>
            <a:r>
              <a:rPr lang="en-US" sz="1150" dirty="0">
                <a:solidFill>
                  <a:srgbClr val="FCA5A5"/>
                </a:solidFill>
                <a:latin typeface="Arial" pitchFamily="34" charset="0"/>
                <a:ea typeface="Arial" pitchFamily="34" charset="-122"/>
                <a:cs typeface="Arial" pitchFamily="34" charset="-120"/>
              </a:rPr>
              <a:t>Title, Prep, Agenda, Section 01 (What is K8s), Section 02 (Architecture)</a:t>
            </a:r>
            <a:endParaRPr lang="en-US" sz="1150" dirty="0"/>
          </a:p>
        </p:txBody>
      </p:sp>
      <p:sp>
        <p:nvSpPr>
          <p:cNvPr id="10" name="Text 8"/>
          <p:cNvSpPr/>
          <p:nvPr/>
        </p:nvSpPr>
        <p:spPr>
          <a:xfrm>
            <a:off x="594360" y="3675888"/>
            <a:ext cx="8229600" cy="329184"/>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Student deck  </a:t>
            </a:r>
            <a:r>
              <a:rPr lang="en-US" sz="1150" dirty="0">
                <a:solidFill>
                  <a:srgbClr val="FCA5A5"/>
                </a:solidFill>
                <a:latin typeface="Arial" pitchFamily="34" charset="0"/>
                <a:ea typeface="Arial" pitchFamily="34" charset="-122"/>
                <a:cs typeface="Arial" pitchFamily="34" charset="-120"/>
              </a:rPr>
              <a:t>Students follow on the shared screen — no separate student file needed for Track A.</a:t>
            </a:r>
            <a:endParaRPr lang="en-US" sz="1150" dirty="0"/>
          </a:p>
        </p:txBody>
      </p:sp>
      <p:sp>
        <p:nvSpPr>
          <p:cNvPr id="11" name="Shape 9"/>
          <p:cNvSpPr/>
          <p:nvPr/>
        </p:nvSpPr>
        <p:spPr>
          <a:xfrm>
            <a:off x="0" y="4754880"/>
            <a:ext cx="9144000" cy="388620"/>
          </a:xfrm>
          <a:prstGeom prst="rect">
            <a:avLst/>
          </a:prstGeom>
          <a:solidFill>
            <a:srgbClr val="450A0A"/>
          </a:solidFill>
          <a:ln w="12700">
            <a:solidFill>
              <a:srgbClr val="450A0A"/>
            </a:solidFill>
            <a:prstDash val="solid"/>
          </a:ln>
        </p:spPr>
      </p:sp>
      <p:sp>
        <p:nvSpPr>
          <p:cNvPr id="12" name="Text 10"/>
          <p:cNvSpPr/>
          <p:nvPr/>
        </p:nvSpPr>
        <p:spPr>
          <a:xfrm>
            <a:off x="457200" y="4773168"/>
            <a:ext cx="8229600" cy="320040"/>
          </a:xfrm>
          <a:prstGeom prst="rect">
            <a:avLst/>
          </a:prstGeom>
          <a:noFill/>
          <a:ln/>
        </p:spPr>
        <p:txBody>
          <a:bodyPr wrap="square" lIns="0" tIns="0" rIns="0" bIns="0" rtlCol="0" anchor="ctr"/>
          <a:lstStyle/>
          <a:p>
            <a:pPr marL="0" indent="0" algn="ctr">
              <a:buNone/>
            </a:pPr>
            <a:r>
              <a:rPr lang="en-US" sz="1000" dirty="0">
                <a:solidFill>
                  <a:srgbClr val="FCA5A5"/>
                </a:solidFill>
                <a:latin typeface="Arial" pitchFamily="34" charset="0"/>
                <a:ea typeface="Arial" pitchFamily="34" charset="-122"/>
                <a:cs typeface="Arial" pitchFamily="34" charset="-120"/>
              </a:rPr>
              <a:t>CONFIDENTIAL — TRAINER USE ONLY — Do Not Distribute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TRAINER PREPARATION GUIDE</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207008"/>
            <a:ext cx="2697480" cy="3657600"/>
          </a:xfrm>
          <a:prstGeom prst="roundRect">
            <a:avLst>
              <a:gd name="adj" fmla="val 3390"/>
            </a:avLst>
          </a:prstGeom>
          <a:solidFill>
            <a:srgbClr val="E8EFFE"/>
          </a:solidFill>
          <a:ln w="12700">
            <a:solidFill>
              <a:srgbClr val="E2E8F0"/>
            </a:solidFill>
            <a:prstDash val="solid"/>
          </a:ln>
          <a:effectLst>
            <a:outerShdw blurRad="101600" dist="38100" dir="2700000" algn="bl" rotWithShape="0">
              <a:srgbClr val="000000">
                <a:alpha val="12000"/>
              </a:srgbClr>
            </a:outerShdw>
          </a:effectLst>
        </p:spPr>
      </p:sp>
      <p:sp>
        <p:nvSpPr>
          <p:cNvPr id="9" name="Shape 7"/>
          <p:cNvSpPr/>
          <p:nvPr/>
        </p:nvSpPr>
        <p:spPr>
          <a:xfrm>
            <a:off x="429768" y="1316736"/>
            <a:ext cx="2487168" cy="347472"/>
          </a:xfrm>
          <a:prstGeom prst="roundRect">
            <a:avLst>
              <a:gd name="adj" fmla="val 15789"/>
            </a:avLst>
          </a:prstGeom>
          <a:solidFill>
            <a:srgbClr val="326CE5"/>
          </a:solidFill>
          <a:ln w="12700">
            <a:solidFill>
              <a:srgbClr val="326CE5"/>
            </a:solidFill>
            <a:prstDash val="solid"/>
          </a:ln>
        </p:spPr>
      </p:sp>
      <p:sp>
        <p:nvSpPr>
          <p:cNvPr id="10" name="Text 8"/>
          <p:cNvSpPr/>
          <p:nvPr/>
        </p:nvSpPr>
        <p:spPr>
          <a:xfrm>
            <a:off x="429768" y="1316736"/>
            <a:ext cx="2487168"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Before Training Day</a:t>
            </a:r>
            <a:endParaRPr lang="en-US" sz="950" dirty="0"/>
          </a:p>
        </p:txBody>
      </p:sp>
      <p:sp>
        <p:nvSpPr>
          <p:cNvPr id="11" name="Text 9"/>
          <p:cNvSpPr/>
          <p:nvPr/>
        </p:nvSpPr>
        <p:spPr>
          <a:xfrm>
            <a:off x="484632" y="1755648"/>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Install kubectl on all lab machines — verify: kubectl version --client</a:t>
            </a:r>
            <a:endParaRPr lang="en-US" sz="950" dirty="0"/>
          </a:p>
        </p:txBody>
      </p:sp>
      <p:sp>
        <p:nvSpPr>
          <p:cNvPr id="12" name="Text 10"/>
          <p:cNvSpPr/>
          <p:nvPr/>
        </p:nvSpPr>
        <p:spPr>
          <a:xfrm>
            <a:off x="484632" y="2231136"/>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Set up a K8s cluster: minikube, kind, or cloud (GKE/EKS/AKS sandbox)</a:t>
            </a:r>
            <a:endParaRPr lang="en-US" sz="950" dirty="0"/>
          </a:p>
        </p:txBody>
      </p:sp>
      <p:sp>
        <p:nvSpPr>
          <p:cNvPr id="13" name="Text 11"/>
          <p:cNvSpPr/>
          <p:nvPr/>
        </p:nvSpPr>
        <p:spPr>
          <a:xfrm>
            <a:off x="484632" y="2706624"/>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Run: minikube start and verify: kubectl get nodes shows Ready</a:t>
            </a:r>
            <a:endParaRPr lang="en-US" sz="950" dirty="0"/>
          </a:p>
        </p:txBody>
      </p:sp>
      <p:sp>
        <p:nvSpPr>
          <p:cNvPr id="14" name="Text 12"/>
          <p:cNvSpPr/>
          <p:nvPr/>
        </p:nvSpPr>
        <p:spPr>
          <a:xfrm>
            <a:off x="484632" y="3182112"/>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Pre-pull lab images: kubectl create deployment test --image=nginx:alpine</a:t>
            </a:r>
            <a:endParaRPr lang="en-US" sz="950" dirty="0"/>
          </a:p>
        </p:txBody>
      </p:sp>
      <p:sp>
        <p:nvSpPr>
          <p:cNvPr id="15" name="Text 13"/>
          <p:cNvSpPr/>
          <p:nvPr/>
        </p:nvSpPr>
        <p:spPr>
          <a:xfrm>
            <a:off x="484632" y="3657600"/>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Verify students can reach the cluster from their machines</a:t>
            </a:r>
            <a:endParaRPr lang="en-US" sz="950" dirty="0"/>
          </a:p>
        </p:txBody>
      </p:sp>
      <p:sp>
        <p:nvSpPr>
          <p:cNvPr id="16" name="Text 14"/>
          <p:cNvSpPr/>
          <p:nvPr/>
        </p:nvSpPr>
        <p:spPr>
          <a:xfrm>
            <a:off x="484632" y="4133088"/>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Install k9s (optional but great for live demos): brew install k9s</a:t>
            </a:r>
            <a:endParaRPr lang="en-US" sz="950" dirty="0"/>
          </a:p>
        </p:txBody>
      </p:sp>
      <p:sp>
        <p:nvSpPr>
          <p:cNvPr id="17" name="Shape 15"/>
          <p:cNvSpPr/>
          <p:nvPr/>
        </p:nvSpPr>
        <p:spPr>
          <a:xfrm>
            <a:off x="3172968" y="1207008"/>
            <a:ext cx="2697480" cy="3657600"/>
          </a:xfrm>
          <a:prstGeom prst="roundRect">
            <a:avLst>
              <a:gd name="adj" fmla="val 3390"/>
            </a:avLst>
          </a:prstGeom>
          <a:solidFill>
            <a:srgbClr val="D1FAE5"/>
          </a:solidFill>
          <a:ln w="12700">
            <a:solidFill>
              <a:srgbClr val="E2E8F0"/>
            </a:solidFill>
            <a:prstDash val="solid"/>
          </a:ln>
          <a:effectLst>
            <a:outerShdw blurRad="101600" dist="38100" dir="2700000" algn="bl" rotWithShape="0">
              <a:srgbClr val="000000">
                <a:alpha val="12000"/>
              </a:srgbClr>
            </a:outerShdw>
          </a:effectLst>
        </p:spPr>
      </p:sp>
      <p:sp>
        <p:nvSpPr>
          <p:cNvPr id="18" name="Shape 16"/>
          <p:cNvSpPr/>
          <p:nvPr/>
        </p:nvSpPr>
        <p:spPr>
          <a:xfrm>
            <a:off x="3282696" y="1316736"/>
            <a:ext cx="2487168" cy="347472"/>
          </a:xfrm>
          <a:prstGeom prst="roundRect">
            <a:avLst>
              <a:gd name="adj" fmla="val 15789"/>
            </a:avLst>
          </a:prstGeom>
          <a:solidFill>
            <a:srgbClr val="059669"/>
          </a:solidFill>
          <a:ln w="12700">
            <a:solidFill>
              <a:srgbClr val="059669"/>
            </a:solidFill>
            <a:prstDash val="solid"/>
          </a:ln>
        </p:spPr>
      </p:sp>
      <p:sp>
        <p:nvSpPr>
          <p:cNvPr id="19" name="Text 17"/>
          <p:cNvSpPr/>
          <p:nvPr/>
        </p:nvSpPr>
        <p:spPr>
          <a:xfrm>
            <a:off x="3282696" y="1316736"/>
            <a:ext cx="2487168"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Morning — Before 09:00</a:t>
            </a:r>
            <a:endParaRPr lang="en-US" sz="950" dirty="0"/>
          </a:p>
        </p:txBody>
      </p:sp>
      <p:sp>
        <p:nvSpPr>
          <p:cNvPr id="20" name="Text 18"/>
          <p:cNvSpPr/>
          <p:nvPr/>
        </p:nvSpPr>
        <p:spPr>
          <a:xfrm>
            <a:off x="3337560" y="1755648"/>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Run minikube start — confirm cluster is Running</a:t>
            </a:r>
            <a:endParaRPr lang="en-US" sz="950" dirty="0"/>
          </a:p>
        </p:txBody>
      </p:sp>
      <p:sp>
        <p:nvSpPr>
          <p:cNvPr id="21" name="Text 19"/>
          <p:cNvSpPr/>
          <p:nvPr/>
        </p:nvSpPr>
        <p:spPr>
          <a:xfrm>
            <a:off x="3337560" y="2231136"/>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Open terminal with kubectl get nodes ready to show</a:t>
            </a:r>
            <a:endParaRPr lang="en-US" sz="950" dirty="0"/>
          </a:p>
        </p:txBody>
      </p:sp>
      <p:sp>
        <p:nvSpPr>
          <p:cNvPr id="22" name="Text 20"/>
          <p:cNvSpPr/>
          <p:nvPr/>
        </p:nvSpPr>
        <p:spPr>
          <a:xfrm>
            <a:off x="3337560" y="2706624"/>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Have Docker Desktop running (minikube uses it on Windows)</a:t>
            </a:r>
            <a:endParaRPr lang="en-US" sz="950" dirty="0"/>
          </a:p>
        </p:txBody>
      </p:sp>
      <p:sp>
        <p:nvSpPr>
          <p:cNvPr id="23" name="Text 21"/>
          <p:cNvSpPr/>
          <p:nvPr/>
        </p:nvSpPr>
        <p:spPr>
          <a:xfrm>
            <a:off x="3337560" y="3182112"/>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Write today's K8s concepts on the whiteboard</a:t>
            </a:r>
            <a:endParaRPr lang="en-US" sz="950" dirty="0"/>
          </a:p>
        </p:txBody>
      </p:sp>
      <p:sp>
        <p:nvSpPr>
          <p:cNvPr id="24" name="Text 22"/>
          <p:cNvSpPr/>
          <p:nvPr/>
        </p:nvSpPr>
        <p:spPr>
          <a:xfrm>
            <a:off x="3337560" y="3657600"/>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Check students remember Docker concepts from yesterday</a:t>
            </a:r>
            <a:endParaRPr lang="en-US" sz="950" dirty="0"/>
          </a:p>
        </p:txBody>
      </p:sp>
      <p:sp>
        <p:nvSpPr>
          <p:cNvPr id="25" name="Shape 23"/>
          <p:cNvSpPr/>
          <p:nvPr/>
        </p:nvSpPr>
        <p:spPr>
          <a:xfrm>
            <a:off x="6025896" y="1207008"/>
            <a:ext cx="2697480" cy="3657600"/>
          </a:xfrm>
          <a:prstGeom prst="roundRect">
            <a:avLst>
              <a:gd name="adj" fmla="val 3390"/>
            </a:avLst>
          </a:prstGeom>
          <a:solidFill>
            <a:srgbClr val="FEF3C7"/>
          </a:solidFill>
          <a:ln w="12700">
            <a:solidFill>
              <a:srgbClr val="E2E8F0"/>
            </a:solidFill>
            <a:prstDash val="solid"/>
          </a:ln>
          <a:effectLst>
            <a:outerShdw blurRad="101600" dist="38100" dir="2700000" algn="bl" rotWithShape="0">
              <a:srgbClr val="000000">
                <a:alpha val="12000"/>
              </a:srgbClr>
            </a:outerShdw>
          </a:effectLst>
        </p:spPr>
      </p:sp>
      <p:sp>
        <p:nvSpPr>
          <p:cNvPr id="26" name="Shape 24"/>
          <p:cNvSpPr/>
          <p:nvPr/>
        </p:nvSpPr>
        <p:spPr>
          <a:xfrm>
            <a:off x="6135624" y="1316736"/>
            <a:ext cx="2487168" cy="347472"/>
          </a:xfrm>
          <a:prstGeom prst="roundRect">
            <a:avLst>
              <a:gd name="adj" fmla="val 15789"/>
            </a:avLst>
          </a:prstGeom>
          <a:solidFill>
            <a:srgbClr val="D97706"/>
          </a:solidFill>
          <a:ln w="12700">
            <a:solidFill>
              <a:srgbClr val="D97706"/>
            </a:solidFill>
            <a:prstDash val="solid"/>
          </a:ln>
        </p:spPr>
      </p:sp>
      <p:sp>
        <p:nvSpPr>
          <p:cNvPr id="27" name="Text 25"/>
          <p:cNvSpPr/>
          <p:nvPr/>
        </p:nvSpPr>
        <p:spPr>
          <a:xfrm>
            <a:off x="6135624" y="1316736"/>
            <a:ext cx="2487168"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Cluster Options — Pick One</a:t>
            </a:r>
            <a:endParaRPr lang="en-US" sz="950" dirty="0"/>
          </a:p>
        </p:txBody>
      </p:sp>
      <p:sp>
        <p:nvSpPr>
          <p:cNvPr id="28" name="Text 26"/>
          <p:cNvSpPr/>
          <p:nvPr/>
        </p:nvSpPr>
        <p:spPr>
          <a:xfrm>
            <a:off x="6190488" y="1755648"/>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minikube — easiest, runs locally, good for this training</a:t>
            </a:r>
            <a:endParaRPr lang="en-US" sz="950" dirty="0"/>
          </a:p>
        </p:txBody>
      </p:sp>
      <p:sp>
        <p:nvSpPr>
          <p:cNvPr id="29" name="Text 27"/>
          <p:cNvSpPr/>
          <p:nvPr/>
        </p:nvSpPr>
        <p:spPr>
          <a:xfrm>
            <a:off x="6190488" y="2231136"/>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kind (K8s in Docker) — fast, lightweight alternative</a:t>
            </a:r>
            <a:endParaRPr lang="en-US" sz="950" dirty="0"/>
          </a:p>
        </p:txBody>
      </p:sp>
      <p:sp>
        <p:nvSpPr>
          <p:cNvPr id="30" name="Text 28"/>
          <p:cNvSpPr/>
          <p:nvPr/>
        </p:nvSpPr>
        <p:spPr>
          <a:xfrm>
            <a:off x="6190488" y="2706624"/>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Play With K8s (labs.play-with-k8s.com) — no install needed</a:t>
            </a:r>
            <a:endParaRPr lang="en-US" sz="950" dirty="0"/>
          </a:p>
        </p:txBody>
      </p:sp>
      <p:sp>
        <p:nvSpPr>
          <p:cNvPr id="31" name="Text 29"/>
          <p:cNvSpPr/>
          <p:nvPr/>
        </p:nvSpPr>
        <p:spPr>
          <a:xfrm>
            <a:off x="6190488" y="3182112"/>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Cloud sandbox — GKE Autopilot free tier, EKS, AKS</a:t>
            </a:r>
            <a:endParaRPr lang="en-US" sz="950" dirty="0"/>
          </a:p>
        </p:txBody>
      </p:sp>
      <p:sp>
        <p:nvSpPr>
          <p:cNvPr id="32" name="Text 30"/>
          <p:cNvSpPr/>
          <p:nvPr/>
        </p:nvSpPr>
        <p:spPr>
          <a:xfrm>
            <a:off x="6190488" y="3657600"/>
            <a:ext cx="2423160" cy="438912"/>
          </a:xfrm>
          <a:prstGeom prst="rect">
            <a:avLst/>
          </a:prstGeom>
          <a:noFill/>
          <a:ln/>
        </p:spPr>
        <p:txBody>
          <a:bodyPr wrap="square" lIns="0" tIns="0" rIns="0" bIns="0" rtlCol="0" anchor="ctr"/>
          <a:lstStyle/>
          <a:p>
            <a:pPr marL="0" indent="0">
              <a:buNone/>
            </a:pPr>
            <a:r>
              <a:rPr lang="en-US" sz="950" dirty="0">
                <a:solidFill>
                  <a:srgbClr val="0F172A"/>
                </a:solidFill>
                <a:latin typeface="Arial" pitchFamily="34" charset="0"/>
                <a:ea typeface="Arial" pitchFamily="34" charset="-122"/>
                <a:cs typeface="Arial" pitchFamily="34" charset="-120"/>
              </a:rPr>
              <a:t>→  Recommendation: minikube for a controlled environment</a:t>
            </a:r>
            <a:endParaRPr lang="en-US" sz="950" dirty="0"/>
          </a:p>
        </p:txBody>
      </p:sp>
      <p:sp>
        <p:nvSpPr>
          <p:cNvPr id="33" name="Shape 31"/>
          <p:cNvSpPr/>
          <p:nvPr/>
        </p:nvSpPr>
        <p:spPr>
          <a:xfrm>
            <a:off x="0" y="4846320"/>
            <a:ext cx="9144000" cy="297180"/>
          </a:xfrm>
          <a:prstGeom prst="rect">
            <a:avLst/>
          </a:prstGeom>
          <a:solidFill>
            <a:srgbClr val="7C2D12"/>
          </a:solidFill>
          <a:ln w="12700">
            <a:solidFill>
              <a:srgbClr val="7C2D12"/>
            </a:solidFill>
            <a:prstDash val="solid"/>
          </a:ln>
        </p:spPr>
      </p:sp>
      <p:sp>
        <p:nvSpPr>
          <p:cNvPr id="34" name="Text 32"/>
          <p:cNvSpPr/>
          <p:nvPr/>
        </p:nvSpPr>
        <p:spPr>
          <a:xfrm>
            <a:off x="365760" y="4864608"/>
            <a:ext cx="8412480" cy="256032"/>
          </a:xfrm>
          <a:prstGeom prst="rect">
            <a:avLst/>
          </a:prstGeom>
          <a:noFill/>
          <a:ln/>
        </p:spPr>
        <p:txBody>
          <a:bodyPr wrap="square" lIns="0" tIns="0" rIns="0" bIns="0"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Trainer Guide  —  Preparation Checklist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AGENDA — KUBERNETES FOUNDATION DAY</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Overview</a:t>
            </a:r>
            <a:endParaRPr lang="en-US" sz="950" dirty="0"/>
          </a:p>
        </p:txBody>
      </p:sp>
      <p:sp>
        <p:nvSpPr>
          <p:cNvPr id="6" name="Shape 4"/>
          <p:cNvSpPr/>
          <p:nvPr/>
        </p:nvSpPr>
        <p:spPr>
          <a:xfrm>
            <a:off x="411480" y="841248"/>
            <a:ext cx="8321040" cy="713232"/>
          </a:xfrm>
          <a:prstGeom prst="roundRect">
            <a:avLst>
              <a:gd name="adj" fmla="val 12821"/>
            </a:avLst>
          </a:prstGeom>
          <a:solidFill>
            <a:srgbClr val="E8EFFE"/>
          </a:solidFill>
          <a:ln w="12700">
            <a:solidFill>
              <a:srgbClr val="A5B4FC"/>
            </a:solidFill>
            <a:prstDash val="solid"/>
          </a:ln>
          <a:effectLst>
            <a:outerShdw blurRad="101600" dist="38100" dir="2700000" algn="bl" rotWithShape="0">
              <a:srgbClr val="000000">
                <a:alpha val="12000"/>
              </a:srgbClr>
            </a:outerShdw>
          </a:effectLst>
        </p:spPr>
      </p:sp>
      <p:sp>
        <p:nvSpPr>
          <p:cNvPr id="7" name="Shape 5"/>
          <p:cNvSpPr/>
          <p:nvPr/>
        </p:nvSpPr>
        <p:spPr>
          <a:xfrm>
            <a:off x="548640" y="978408"/>
            <a:ext cx="1536192" cy="438912"/>
          </a:xfrm>
          <a:prstGeom prst="roundRect">
            <a:avLst>
              <a:gd name="adj" fmla="val 14583"/>
            </a:avLst>
          </a:prstGeom>
          <a:solidFill>
            <a:srgbClr val="326CE5"/>
          </a:solidFill>
          <a:ln w="12700">
            <a:solidFill>
              <a:srgbClr val="326CE5"/>
            </a:solidFill>
            <a:prstDash val="solid"/>
          </a:ln>
        </p:spPr>
      </p:sp>
      <p:sp>
        <p:nvSpPr>
          <p:cNvPr id="8" name="Text 6"/>
          <p:cNvSpPr/>
          <p:nvPr/>
        </p:nvSpPr>
        <p:spPr>
          <a:xfrm>
            <a:off x="548640" y="978408"/>
            <a:ext cx="1536192"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09:00 – 10:25</a:t>
            </a:r>
            <a:endParaRPr lang="en-US" sz="950" dirty="0"/>
          </a:p>
        </p:txBody>
      </p:sp>
      <p:sp>
        <p:nvSpPr>
          <p:cNvPr id="9" name="Text 7"/>
          <p:cNvSpPr/>
          <p:nvPr/>
        </p:nvSpPr>
        <p:spPr>
          <a:xfrm>
            <a:off x="2267712" y="914400"/>
            <a:ext cx="6400800" cy="292608"/>
          </a:xfrm>
          <a:prstGeom prst="rect">
            <a:avLst/>
          </a:prstGeom>
          <a:noFill/>
          <a:ln/>
        </p:spPr>
        <p:txBody>
          <a:bodyPr wrap="square" lIns="0" tIns="0" rIns="0" bIns="0" rtlCol="0" anchor="ctr"/>
          <a:lstStyle/>
          <a:p>
            <a:pPr marL="0" indent="0">
              <a:buNone/>
            </a:pPr>
            <a:r>
              <a:rPr lang="en-US" sz="1300" b="1" dirty="0">
                <a:solidFill>
                  <a:srgbClr val="326CE5"/>
                </a:solidFill>
                <a:latin typeface="Cambria" pitchFamily="34" charset="0"/>
                <a:ea typeface="Cambria" pitchFamily="34" charset="-122"/>
                <a:cs typeface="Cambria" pitchFamily="34" charset="-120"/>
              </a:rPr>
              <a:t>🎓  Teaching Block 1</a:t>
            </a:r>
            <a:endParaRPr lang="en-US" sz="1300" dirty="0"/>
          </a:p>
        </p:txBody>
      </p:sp>
      <p:sp>
        <p:nvSpPr>
          <p:cNvPr id="10" name="Text 8"/>
          <p:cNvSpPr/>
          <p:nvPr/>
        </p:nvSpPr>
        <p:spPr>
          <a:xfrm>
            <a:off x="2267712" y="1225296"/>
            <a:ext cx="6309360" cy="256032"/>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What is Kubernetes &amp; Why  •  Architecture  •  Pods</a:t>
            </a:r>
            <a:endParaRPr lang="en-US" sz="1000" dirty="0"/>
          </a:p>
        </p:txBody>
      </p:sp>
      <p:sp>
        <p:nvSpPr>
          <p:cNvPr id="11" name="Shape 9"/>
          <p:cNvSpPr/>
          <p:nvPr/>
        </p:nvSpPr>
        <p:spPr>
          <a:xfrm>
            <a:off x="411480" y="1645920"/>
            <a:ext cx="8321040" cy="457200"/>
          </a:xfrm>
          <a:prstGeom prst="roundRect">
            <a:avLst>
              <a:gd name="adj" fmla="val 20000"/>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12" name="Shape 10"/>
          <p:cNvSpPr/>
          <p:nvPr/>
        </p:nvSpPr>
        <p:spPr>
          <a:xfrm>
            <a:off x="548640" y="1655064"/>
            <a:ext cx="1536192" cy="438912"/>
          </a:xfrm>
          <a:prstGeom prst="roundRect">
            <a:avLst>
              <a:gd name="adj" fmla="val 14583"/>
            </a:avLst>
          </a:prstGeom>
          <a:solidFill>
            <a:srgbClr val="94A3B8"/>
          </a:solidFill>
          <a:ln w="12700">
            <a:solidFill>
              <a:srgbClr val="94A3B8"/>
            </a:solidFill>
            <a:prstDash val="solid"/>
          </a:ln>
        </p:spPr>
      </p:sp>
      <p:sp>
        <p:nvSpPr>
          <p:cNvPr id="13" name="Text 11"/>
          <p:cNvSpPr/>
          <p:nvPr/>
        </p:nvSpPr>
        <p:spPr>
          <a:xfrm>
            <a:off x="548640" y="1655064"/>
            <a:ext cx="1536192"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10:25 – 10:35</a:t>
            </a:r>
            <a:endParaRPr lang="en-US" sz="950" dirty="0"/>
          </a:p>
        </p:txBody>
      </p:sp>
      <p:sp>
        <p:nvSpPr>
          <p:cNvPr id="14" name="Text 12"/>
          <p:cNvSpPr/>
          <p:nvPr/>
        </p:nvSpPr>
        <p:spPr>
          <a:xfrm>
            <a:off x="2267712" y="1719072"/>
            <a:ext cx="6400800" cy="292608"/>
          </a:xfrm>
          <a:prstGeom prst="rect">
            <a:avLst/>
          </a:prstGeom>
          <a:noFill/>
          <a:ln/>
        </p:spPr>
        <p:txBody>
          <a:bodyPr wrap="square" lIns="0" tIns="0" rIns="0" bIns="0" rtlCol="0" anchor="ctr"/>
          <a:lstStyle/>
          <a:p>
            <a:pPr marL="0" indent="0">
              <a:buNone/>
            </a:pPr>
            <a:r>
              <a:rPr lang="en-US" sz="1300" b="1" dirty="0">
                <a:solidFill>
                  <a:srgbClr val="94A3B8"/>
                </a:solidFill>
                <a:latin typeface="Cambria" pitchFamily="34" charset="0"/>
                <a:ea typeface="Cambria" pitchFamily="34" charset="-122"/>
                <a:cs typeface="Cambria" pitchFamily="34" charset="-120"/>
              </a:rPr>
              <a:t>☕  Break</a:t>
            </a:r>
            <a:endParaRPr lang="en-US" sz="1300" dirty="0"/>
          </a:p>
        </p:txBody>
      </p:sp>
      <p:sp>
        <p:nvSpPr>
          <p:cNvPr id="15" name="Shape 13"/>
          <p:cNvSpPr/>
          <p:nvPr/>
        </p:nvSpPr>
        <p:spPr>
          <a:xfrm>
            <a:off x="411480" y="2194560"/>
            <a:ext cx="8321040" cy="713232"/>
          </a:xfrm>
          <a:prstGeom prst="roundRect">
            <a:avLst>
              <a:gd name="adj" fmla="val 12821"/>
            </a:avLst>
          </a:prstGeom>
          <a:solidFill>
            <a:srgbClr val="E8EFFE"/>
          </a:solidFill>
          <a:ln w="12700">
            <a:solidFill>
              <a:srgbClr val="A5B4FC"/>
            </a:solidFill>
            <a:prstDash val="solid"/>
          </a:ln>
          <a:effectLst>
            <a:outerShdw blurRad="101600" dist="38100" dir="2700000" algn="bl" rotWithShape="0">
              <a:srgbClr val="000000">
                <a:alpha val="12000"/>
              </a:srgbClr>
            </a:outerShdw>
          </a:effectLst>
        </p:spPr>
      </p:sp>
      <p:sp>
        <p:nvSpPr>
          <p:cNvPr id="16" name="Shape 14"/>
          <p:cNvSpPr/>
          <p:nvPr/>
        </p:nvSpPr>
        <p:spPr>
          <a:xfrm>
            <a:off x="548640" y="2331720"/>
            <a:ext cx="1536192" cy="438912"/>
          </a:xfrm>
          <a:prstGeom prst="roundRect">
            <a:avLst>
              <a:gd name="adj" fmla="val 14583"/>
            </a:avLst>
          </a:prstGeom>
          <a:solidFill>
            <a:srgbClr val="326CE5"/>
          </a:solidFill>
          <a:ln w="12700">
            <a:solidFill>
              <a:srgbClr val="326CE5"/>
            </a:solidFill>
            <a:prstDash val="solid"/>
          </a:ln>
        </p:spPr>
      </p:sp>
      <p:sp>
        <p:nvSpPr>
          <p:cNvPr id="17" name="Text 15"/>
          <p:cNvSpPr/>
          <p:nvPr/>
        </p:nvSpPr>
        <p:spPr>
          <a:xfrm>
            <a:off x="548640" y="2331720"/>
            <a:ext cx="1536192"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10:35 – 12:00</a:t>
            </a:r>
            <a:endParaRPr lang="en-US" sz="950" dirty="0"/>
          </a:p>
        </p:txBody>
      </p:sp>
      <p:sp>
        <p:nvSpPr>
          <p:cNvPr id="18" name="Text 16"/>
          <p:cNvSpPr/>
          <p:nvPr/>
        </p:nvSpPr>
        <p:spPr>
          <a:xfrm>
            <a:off x="2267712" y="2267712"/>
            <a:ext cx="6400800" cy="292608"/>
          </a:xfrm>
          <a:prstGeom prst="rect">
            <a:avLst/>
          </a:prstGeom>
          <a:noFill/>
          <a:ln/>
        </p:spPr>
        <p:txBody>
          <a:bodyPr wrap="square" lIns="0" tIns="0" rIns="0" bIns="0" rtlCol="0" anchor="ctr"/>
          <a:lstStyle/>
          <a:p>
            <a:pPr marL="0" indent="0">
              <a:buNone/>
            </a:pPr>
            <a:r>
              <a:rPr lang="en-US" sz="1300" b="1" dirty="0">
                <a:solidFill>
                  <a:srgbClr val="326CE5"/>
                </a:solidFill>
                <a:latin typeface="Cambria" pitchFamily="34" charset="0"/>
                <a:ea typeface="Cambria" pitchFamily="34" charset="-122"/>
                <a:cs typeface="Cambria" pitchFamily="34" charset="-120"/>
              </a:rPr>
              <a:t>🎓  Teaching Block 2</a:t>
            </a:r>
            <a:endParaRPr lang="en-US" sz="1300" dirty="0"/>
          </a:p>
        </p:txBody>
      </p:sp>
      <p:sp>
        <p:nvSpPr>
          <p:cNvPr id="19" name="Text 17"/>
          <p:cNvSpPr/>
          <p:nvPr/>
        </p:nvSpPr>
        <p:spPr>
          <a:xfrm>
            <a:off x="2267712" y="2578608"/>
            <a:ext cx="6309360" cy="256032"/>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Deployments  •  Services  •  kubectl Essentials</a:t>
            </a:r>
            <a:endParaRPr lang="en-US" sz="1000" dirty="0"/>
          </a:p>
        </p:txBody>
      </p:sp>
      <p:sp>
        <p:nvSpPr>
          <p:cNvPr id="20" name="Shape 18"/>
          <p:cNvSpPr/>
          <p:nvPr/>
        </p:nvSpPr>
        <p:spPr>
          <a:xfrm>
            <a:off x="411480" y="2999232"/>
            <a:ext cx="8321040" cy="457200"/>
          </a:xfrm>
          <a:prstGeom prst="roundRect">
            <a:avLst>
              <a:gd name="adj" fmla="val 20000"/>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21" name="Shape 19"/>
          <p:cNvSpPr/>
          <p:nvPr/>
        </p:nvSpPr>
        <p:spPr>
          <a:xfrm>
            <a:off x="548640" y="3008376"/>
            <a:ext cx="1536192" cy="438912"/>
          </a:xfrm>
          <a:prstGeom prst="roundRect">
            <a:avLst>
              <a:gd name="adj" fmla="val 14583"/>
            </a:avLst>
          </a:prstGeom>
          <a:solidFill>
            <a:srgbClr val="94A3B8"/>
          </a:solidFill>
          <a:ln w="12700">
            <a:solidFill>
              <a:srgbClr val="94A3B8"/>
            </a:solidFill>
            <a:prstDash val="solid"/>
          </a:ln>
        </p:spPr>
      </p:sp>
      <p:sp>
        <p:nvSpPr>
          <p:cNvPr id="22" name="Text 20"/>
          <p:cNvSpPr/>
          <p:nvPr/>
        </p:nvSpPr>
        <p:spPr>
          <a:xfrm>
            <a:off x="548640" y="3008376"/>
            <a:ext cx="1536192"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12:00 – 13:00</a:t>
            </a:r>
            <a:endParaRPr lang="en-US" sz="950" dirty="0"/>
          </a:p>
        </p:txBody>
      </p:sp>
      <p:sp>
        <p:nvSpPr>
          <p:cNvPr id="23" name="Text 21"/>
          <p:cNvSpPr/>
          <p:nvPr/>
        </p:nvSpPr>
        <p:spPr>
          <a:xfrm>
            <a:off x="2267712" y="3072384"/>
            <a:ext cx="6400800" cy="292608"/>
          </a:xfrm>
          <a:prstGeom prst="rect">
            <a:avLst/>
          </a:prstGeom>
          <a:noFill/>
          <a:ln/>
        </p:spPr>
        <p:txBody>
          <a:bodyPr wrap="square" lIns="0" tIns="0" rIns="0" bIns="0" rtlCol="0" anchor="ctr"/>
          <a:lstStyle/>
          <a:p>
            <a:pPr marL="0" indent="0">
              <a:buNone/>
            </a:pPr>
            <a:r>
              <a:rPr lang="en-US" sz="1300" b="1" dirty="0">
                <a:solidFill>
                  <a:srgbClr val="94A3B8"/>
                </a:solidFill>
                <a:latin typeface="Cambria" pitchFamily="34" charset="0"/>
                <a:ea typeface="Cambria" pitchFamily="34" charset="-122"/>
                <a:cs typeface="Cambria" pitchFamily="34" charset="-120"/>
              </a:rPr>
              <a:t>🍽️  Lunch</a:t>
            </a:r>
            <a:endParaRPr lang="en-US" sz="1300" dirty="0"/>
          </a:p>
        </p:txBody>
      </p:sp>
      <p:sp>
        <p:nvSpPr>
          <p:cNvPr id="24" name="Shape 22"/>
          <p:cNvSpPr/>
          <p:nvPr/>
        </p:nvSpPr>
        <p:spPr>
          <a:xfrm>
            <a:off x="411480" y="3547872"/>
            <a:ext cx="8321040" cy="713232"/>
          </a:xfrm>
          <a:prstGeom prst="roundRect">
            <a:avLst>
              <a:gd name="adj" fmla="val 12821"/>
            </a:avLst>
          </a:prstGeom>
          <a:solidFill>
            <a:srgbClr val="D1FAE5"/>
          </a:solidFill>
          <a:ln w="12700">
            <a:solidFill>
              <a:srgbClr val="6EE7B7"/>
            </a:solidFill>
            <a:prstDash val="solid"/>
          </a:ln>
          <a:effectLst>
            <a:outerShdw blurRad="101600" dist="38100" dir="2700000" algn="bl" rotWithShape="0">
              <a:srgbClr val="000000">
                <a:alpha val="12000"/>
              </a:srgbClr>
            </a:outerShdw>
          </a:effectLst>
        </p:spPr>
      </p:sp>
      <p:sp>
        <p:nvSpPr>
          <p:cNvPr id="25" name="Shape 23"/>
          <p:cNvSpPr/>
          <p:nvPr/>
        </p:nvSpPr>
        <p:spPr>
          <a:xfrm>
            <a:off x="548640" y="3685032"/>
            <a:ext cx="1536192" cy="438912"/>
          </a:xfrm>
          <a:prstGeom prst="roundRect">
            <a:avLst>
              <a:gd name="adj" fmla="val 14583"/>
            </a:avLst>
          </a:prstGeom>
          <a:solidFill>
            <a:srgbClr val="059669"/>
          </a:solidFill>
          <a:ln w="12700">
            <a:solidFill>
              <a:srgbClr val="059669"/>
            </a:solidFill>
            <a:prstDash val="solid"/>
          </a:ln>
        </p:spPr>
      </p:sp>
      <p:sp>
        <p:nvSpPr>
          <p:cNvPr id="26" name="Text 24"/>
          <p:cNvSpPr/>
          <p:nvPr/>
        </p:nvSpPr>
        <p:spPr>
          <a:xfrm>
            <a:off x="548640" y="3685032"/>
            <a:ext cx="1536192"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13:00 – 16:00</a:t>
            </a:r>
            <a:endParaRPr lang="en-US" sz="950" dirty="0"/>
          </a:p>
        </p:txBody>
      </p:sp>
      <p:sp>
        <p:nvSpPr>
          <p:cNvPr id="27" name="Text 25"/>
          <p:cNvSpPr/>
          <p:nvPr/>
        </p:nvSpPr>
        <p:spPr>
          <a:xfrm>
            <a:off x="2267712" y="3621024"/>
            <a:ext cx="6400800" cy="292608"/>
          </a:xfrm>
          <a:prstGeom prst="rect">
            <a:avLst/>
          </a:prstGeom>
          <a:noFill/>
          <a:ln/>
        </p:spPr>
        <p:txBody>
          <a:bodyPr wrap="square" lIns="0" tIns="0" rIns="0" bIns="0" rtlCol="0" anchor="ctr"/>
          <a:lstStyle/>
          <a:p>
            <a:pPr marL="0" indent="0">
              <a:buNone/>
            </a:pPr>
            <a:r>
              <a:rPr lang="en-US" sz="1300" b="1" dirty="0">
                <a:solidFill>
                  <a:srgbClr val="059669"/>
                </a:solidFill>
                <a:latin typeface="Cambria" pitchFamily="34" charset="0"/>
                <a:ea typeface="Cambria" pitchFamily="34" charset="-122"/>
                <a:cs typeface="Cambria" pitchFamily="34" charset="-120"/>
              </a:rPr>
              <a:t>🔬  Lab — Hands-On Kubernetes</a:t>
            </a:r>
            <a:endParaRPr lang="en-US" sz="1300" dirty="0"/>
          </a:p>
        </p:txBody>
      </p:sp>
      <p:sp>
        <p:nvSpPr>
          <p:cNvPr id="28" name="Text 26"/>
          <p:cNvSpPr/>
          <p:nvPr/>
        </p:nvSpPr>
        <p:spPr>
          <a:xfrm>
            <a:off x="2267712" y="3931920"/>
            <a:ext cx="6309360" cy="256032"/>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Deploy a container  •  Scale it  •  Expose it  •  Update it  •  Roll back</a:t>
            </a:r>
            <a:endParaRPr lang="en-US" sz="1000" dirty="0"/>
          </a:p>
        </p:txBody>
      </p:sp>
      <p:sp>
        <p:nvSpPr>
          <p:cNvPr id="29" name="Shape 27"/>
          <p:cNvSpPr/>
          <p:nvPr/>
        </p:nvSpPr>
        <p:spPr>
          <a:xfrm>
            <a:off x="320040" y="4315968"/>
            <a:ext cx="8503920" cy="658368"/>
          </a:xfrm>
          <a:prstGeom prst="roundRect">
            <a:avLst>
              <a:gd name="adj" fmla="val 13889"/>
            </a:avLst>
          </a:prstGeom>
          <a:solidFill>
            <a:srgbClr val="FFF7ED"/>
          </a:solidFill>
          <a:ln w="12700">
            <a:solidFill>
              <a:srgbClr val="FED7AA"/>
            </a:solidFill>
            <a:prstDash val="solid"/>
          </a:ln>
          <a:effectLst>
            <a:outerShdw blurRad="101600" dist="38100" dir="2700000" algn="bl" rotWithShape="0">
              <a:srgbClr val="000000">
                <a:alpha val="12000"/>
              </a:srgbClr>
            </a:outerShdw>
          </a:effectLst>
        </p:spPr>
      </p:sp>
      <p:sp>
        <p:nvSpPr>
          <p:cNvPr id="30" name="Text 28"/>
          <p:cNvSpPr/>
          <p:nvPr/>
        </p:nvSpPr>
        <p:spPr>
          <a:xfrm>
            <a:off x="457200" y="4407408"/>
            <a:ext cx="8229600" cy="274320"/>
          </a:xfrm>
          <a:prstGeom prst="rect">
            <a:avLst/>
          </a:prstGeom>
          <a:noFill/>
          <a:ln/>
        </p:spPr>
        <p:txBody>
          <a:bodyPr wrap="square" lIns="0" tIns="0" rIns="0" bIns="0" rtlCol="0" anchor="ctr"/>
          <a:lstStyle/>
          <a:p>
            <a:pPr marL="0" indent="0">
              <a:buNone/>
            </a:pPr>
            <a:r>
              <a:rPr lang="en-US" sz="1000" b="1" dirty="0">
                <a:solidFill>
                  <a:srgbClr val="C2410C"/>
                </a:solidFill>
                <a:latin typeface="Arial" pitchFamily="34" charset="0"/>
                <a:ea typeface="Arial" pitchFamily="34" charset="-122"/>
                <a:cs typeface="Arial" pitchFamily="34" charset="-120"/>
              </a:rPr>
              <a:t>🎓  TRAINER NOTE  —  Opening</a:t>
            </a:r>
            <a:endParaRPr lang="en-US" sz="1000" dirty="0"/>
          </a:p>
        </p:txBody>
      </p:sp>
      <p:sp>
        <p:nvSpPr>
          <p:cNvPr id="31" name="Text 29"/>
          <p:cNvSpPr/>
          <p:nvPr/>
        </p:nvSpPr>
        <p:spPr>
          <a:xfrm>
            <a:off x="457200" y="4700016"/>
            <a:ext cx="8229600" cy="155448"/>
          </a:xfrm>
          <a:prstGeom prst="rect">
            <a:avLst/>
          </a:prstGeom>
          <a:noFill/>
          <a:ln/>
        </p:spPr>
        <p:txBody>
          <a:bodyPr wrap="square" lIns="0" tIns="0" rIns="0" bIns="0" rtlCol="0" anchor="ctr"/>
          <a:lstStyle/>
          <a:p>
            <a:pPr marL="0" indent="0">
              <a:buNone/>
            </a:pPr>
            <a:r>
              <a:rPr lang="en-US" sz="1000" dirty="0">
                <a:solidFill>
                  <a:srgbClr val="1C1917"/>
                </a:solidFill>
                <a:latin typeface="Arial" pitchFamily="34" charset="0"/>
                <a:ea typeface="Arial" pitchFamily="34" charset="-122"/>
                <a:cs typeface="Arial" pitchFamily="34" charset="-120"/>
              </a:rPr>
              <a:t>Ask: 'Yesterday you ran containers manually with docker run. Today Kubernetes does that for you — automatically, at scale, with self-healing. By end of day you will deploy, scale and update a live application.'</a:t>
            </a:r>
            <a:endParaRPr lang="en-US" sz="1000" dirty="0"/>
          </a:p>
        </p:txBody>
      </p:sp>
      <p:sp>
        <p:nvSpPr>
          <p:cNvPr id="32" name="Shape 30"/>
          <p:cNvSpPr/>
          <p:nvPr/>
        </p:nvSpPr>
        <p:spPr>
          <a:xfrm>
            <a:off x="0" y="4846320"/>
            <a:ext cx="9144000" cy="297180"/>
          </a:xfrm>
          <a:prstGeom prst="rect">
            <a:avLst/>
          </a:prstGeom>
          <a:solidFill>
            <a:srgbClr val="0F172A"/>
          </a:solidFill>
          <a:ln w="12700">
            <a:solidFill>
              <a:srgbClr val="0F172A"/>
            </a:solidFill>
            <a:prstDash val="solid"/>
          </a:ln>
        </p:spPr>
      </p:sp>
      <p:sp>
        <p:nvSpPr>
          <p:cNvPr id="33" name="Text 31"/>
          <p:cNvSpPr/>
          <p:nvPr/>
        </p:nvSpPr>
        <p:spPr>
          <a:xfrm>
            <a:off x="365760" y="4864608"/>
            <a:ext cx="8412480" cy="256032"/>
          </a:xfrm>
          <a:prstGeom prst="rect">
            <a:avLst/>
          </a:prstGeom>
          <a:noFill/>
          <a:ln/>
        </p:spPr>
        <p:txBody>
          <a:bodyPr wrap="square" lIns="0" tIns="0" rIns="0" bIns="0"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Trainer Guide  —  Agenda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marL="0" indent="0">
              <a:buNone/>
            </a:pPr>
            <a:r>
              <a:rPr lang="en-US" sz="1200" b="1" kern="0" spc="400" dirty="0">
                <a:solidFill>
                  <a:srgbClr val="326CE5"/>
                </a:solidFill>
                <a:latin typeface="Arial" pitchFamily="34" charset="0"/>
                <a:ea typeface="Arial" pitchFamily="34" charset="-122"/>
                <a:cs typeface="Arial" pitchFamily="34" charset="-120"/>
              </a:rPr>
              <a:t>SECTION 01</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What is Kubernetes?</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marL="0" indent="0">
              <a:buNone/>
            </a:pPr>
            <a:r>
              <a:rPr lang="en-US" sz="1500" dirty="0">
                <a:solidFill>
                  <a:srgbClr val="94A3B8"/>
                </a:solidFill>
                <a:latin typeface="Arial" pitchFamily="34" charset="0"/>
                <a:ea typeface="Arial" pitchFamily="34" charset="-122"/>
                <a:cs typeface="Arial" pitchFamily="34" charset="-120"/>
              </a:rPr>
              <a:t>Understanding why container orchestration exists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THE PROBLEM KUBERNETES SOLVES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Section 01  •  What is Kubernetes?</a:t>
            </a:r>
            <a:endParaRPr lang="en-US" sz="950" dirty="0"/>
          </a:p>
        </p:txBody>
      </p:sp>
      <p:sp>
        <p:nvSpPr>
          <p:cNvPr id="6" name="Shape 4"/>
          <p:cNvSpPr/>
          <p:nvPr/>
        </p:nvSpPr>
        <p:spPr>
          <a:xfrm>
            <a:off x="320040" y="868680"/>
            <a:ext cx="8503920" cy="804672"/>
          </a:xfrm>
          <a:prstGeom prst="roundRect">
            <a:avLst>
              <a:gd name="adj" fmla="val 11364"/>
            </a:avLst>
          </a:prstGeom>
          <a:solidFill>
            <a:srgbClr val="FEF2F2"/>
          </a:solidFill>
          <a:ln w="12700">
            <a:solidFill>
              <a:srgbClr val="FECACA"/>
            </a:solidFill>
            <a:prstDash val="solid"/>
          </a:ln>
          <a:effectLst>
            <a:outerShdw blurRad="101600" dist="38100" dir="2700000" algn="bl" rotWithShape="0">
              <a:srgbClr val="000000">
                <a:alpha val="12000"/>
              </a:srgbClr>
            </a:outerShdw>
          </a:effectLst>
        </p:spPr>
      </p:sp>
      <p:sp>
        <p:nvSpPr>
          <p:cNvPr id="7" name="Text 5"/>
          <p:cNvSpPr/>
          <p:nvPr/>
        </p:nvSpPr>
        <p:spPr>
          <a:xfrm>
            <a:off x="475488" y="914400"/>
            <a:ext cx="8229600" cy="713232"/>
          </a:xfrm>
          <a:prstGeom prst="rect">
            <a:avLst/>
          </a:prstGeom>
          <a:noFill/>
          <a:ln/>
        </p:spPr>
        <p:txBody>
          <a:bodyPr wrap="square" lIns="0" tIns="0" rIns="0" bIns="0" rtlCol="0" anchor="ctr"/>
          <a:lstStyle/>
          <a:p>
            <a:pPr marL="0" indent="0">
              <a:buNone/>
            </a:pPr>
            <a:r>
              <a:rPr lang="en-US" sz="1350" dirty="0">
                <a:solidFill>
                  <a:srgbClr val="0F172A"/>
                </a:solidFill>
                <a:latin typeface="Cambria" pitchFamily="34" charset="0"/>
                <a:ea typeface="Cambria" pitchFamily="34" charset="-122"/>
                <a:cs typeface="Cambria" pitchFamily="34" charset="-120"/>
              </a:rPr>
              <a:t>You can run one container on one machine. But real production systems run hundreds of containers across many machines — who manages them all?</a:t>
            </a:r>
            <a:endParaRPr lang="en-US" sz="1350" dirty="0"/>
          </a:p>
        </p:txBody>
      </p:sp>
      <p:sp>
        <p:nvSpPr>
          <p:cNvPr id="8" name="Shape 6"/>
          <p:cNvSpPr/>
          <p:nvPr/>
        </p:nvSpPr>
        <p:spPr>
          <a:xfrm>
            <a:off x="320040" y="1828800"/>
            <a:ext cx="4114800" cy="1298448"/>
          </a:xfrm>
          <a:prstGeom prst="roundRect">
            <a:avLst>
              <a:gd name="adj" fmla="val 7042"/>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9" name="Text 7"/>
          <p:cNvSpPr/>
          <p:nvPr/>
        </p:nvSpPr>
        <p:spPr>
          <a:xfrm>
            <a:off x="484632" y="1920240"/>
            <a:ext cx="594360" cy="566928"/>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0" name="Text 8"/>
          <p:cNvSpPr/>
          <p:nvPr/>
        </p:nvSpPr>
        <p:spPr>
          <a:xfrm>
            <a:off x="1161288" y="1920240"/>
            <a:ext cx="3127248" cy="329184"/>
          </a:xfrm>
          <a:prstGeom prst="rect">
            <a:avLst/>
          </a:prstGeom>
          <a:noFill/>
          <a:ln/>
        </p:spPr>
        <p:txBody>
          <a:bodyPr wrap="square" lIns="0" tIns="0" rIns="0" bIns="0" rtlCol="0" anchor="ctr"/>
          <a:lstStyle/>
          <a:p>
            <a:pPr marL="0" indent="0">
              <a:buNone/>
            </a:pPr>
            <a:r>
              <a:rPr lang="en-US" sz="1250" b="1" dirty="0">
                <a:solidFill>
                  <a:srgbClr val="0F172A"/>
                </a:solidFill>
                <a:latin typeface="Cambria" pitchFamily="34" charset="0"/>
                <a:ea typeface="Cambria" pitchFamily="34" charset="-122"/>
                <a:cs typeface="Cambria" pitchFamily="34" charset="-120"/>
              </a:rPr>
              <a:t>Containers Crash</a:t>
            </a:r>
            <a:endParaRPr lang="en-US" sz="1250" dirty="0"/>
          </a:p>
        </p:txBody>
      </p:sp>
      <p:sp>
        <p:nvSpPr>
          <p:cNvPr id="11" name="Text 9"/>
          <p:cNvSpPr/>
          <p:nvPr/>
        </p:nvSpPr>
        <p:spPr>
          <a:xfrm>
            <a:off x="484632" y="2331720"/>
            <a:ext cx="3794760" cy="713232"/>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A container dies at 3am. Nobody notices. Users get errors for hours until someone manually restarts it.</a:t>
            </a:r>
            <a:endParaRPr lang="en-US" sz="1050" dirty="0"/>
          </a:p>
        </p:txBody>
      </p:sp>
      <p:sp>
        <p:nvSpPr>
          <p:cNvPr id="12" name="Shape 10"/>
          <p:cNvSpPr/>
          <p:nvPr/>
        </p:nvSpPr>
        <p:spPr>
          <a:xfrm>
            <a:off x="4709160" y="1828800"/>
            <a:ext cx="4114800" cy="1298448"/>
          </a:xfrm>
          <a:prstGeom prst="roundRect">
            <a:avLst>
              <a:gd name="adj" fmla="val 7042"/>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13" name="Text 11"/>
          <p:cNvSpPr/>
          <p:nvPr/>
        </p:nvSpPr>
        <p:spPr>
          <a:xfrm>
            <a:off x="4873752" y="1920240"/>
            <a:ext cx="594360" cy="566928"/>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4" name="Text 12"/>
          <p:cNvSpPr/>
          <p:nvPr/>
        </p:nvSpPr>
        <p:spPr>
          <a:xfrm>
            <a:off x="5550408" y="1920240"/>
            <a:ext cx="3127248" cy="329184"/>
          </a:xfrm>
          <a:prstGeom prst="rect">
            <a:avLst/>
          </a:prstGeom>
          <a:noFill/>
          <a:ln/>
        </p:spPr>
        <p:txBody>
          <a:bodyPr wrap="square" lIns="0" tIns="0" rIns="0" bIns="0" rtlCol="0" anchor="ctr"/>
          <a:lstStyle/>
          <a:p>
            <a:pPr marL="0" indent="0">
              <a:buNone/>
            </a:pPr>
            <a:r>
              <a:rPr lang="en-US" sz="1250" b="1" dirty="0">
                <a:solidFill>
                  <a:srgbClr val="0F172A"/>
                </a:solidFill>
                <a:latin typeface="Cambria" pitchFamily="34" charset="0"/>
                <a:ea typeface="Cambria" pitchFamily="34" charset="-122"/>
                <a:cs typeface="Cambria" pitchFamily="34" charset="-120"/>
              </a:rPr>
              <a:t>Traffic Spikes</a:t>
            </a:r>
            <a:endParaRPr lang="en-US" sz="1250" dirty="0"/>
          </a:p>
        </p:txBody>
      </p:sp>
      <p:sp>
        <p:nvSpPr>
          <p:cNvPr id="15" name="Text 13"/>
          <p:cNvSpPr/>
          <p:nvPr/>
        </p:nvSpPr>
        <p:spPr>
          <a:xfrm>
            <a:off x="4873752" y="2331720"/>
            <a:ext cx="3794760" cy="713232"/>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Black Friday arrives. One container can't handle the load. You need 10 copies — but spinning them up manually takes too long.</a:t>
            </a:r>
            <a:endParaRPr lang="en-US" sz="1050" dirty="0"/>
          </a:p>
        </p:txBody>
      </p:sp>
      <p:sp>
        <p:nvSpPr>
          <p:cNvPr id="16" name="Shape 14"/>
          <p:cNvSpPr/>
          <p:nvPr/>
        </p:nvSpPr>
        <p:spPr>
          <a:xfrm>
            <a:off x="320040" y="3246120"/>
            <a:ext cx="4114800" cy="1298448"/>
          </a:xfrm>
          <a:prstGeom prst="roundRect">
            <a:avLst>
              <a:gd name="adj" fmla="val 7042"/>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17" name="Text 15"/>
          <p:cNvSpPr/>
          <p:nvPr/>
        </p:nvSpPr>
        <p:spPr>
          <a:xfrm>
            <a:off x="484632" y="3337560"/>
            <a:ext cx="594360" cy="566928"/>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18" name="Text 16"/>
          <p:cNvSpPr/>
          <p:nvPr/>
        </p:nvSpPr>
        <p:spPr>
          <a:xfrm>
            <a:off x="1161288" y="3337560"/>
            <a:ext cx="3127248" cy="329184"/>
          </a:xfrm>
          <a:prstGeom prst="rect">
            <a:avLst/>
          </a:prstGeom>
          <a:noFill/>
          <a:ln/>
        </p:spPr>
        <p:txBody>
          <a:bodyPr wrap="square" lIns="0" tIns="0" rIns="0" bIns="0" rtlCol="0" anchor="ctr"/>
          <a:lstStyle/>
          <a:p>
            <a:pPr marL="0" indent="0">
              <a:buNone/>
            </a:pPr>
            <a:r>
              <a:rPr lang="en-US" sz="1250" b="1" dirty="0">
                <a:solidFill>
                  <a:srgbClr val="0F172A"/>
                </a:solidFill>
                <a:latin typeface="Cambria" pitchFamily="34" charset="0"/>
                <a:ea typeface="Cambria" pitchFamily="34" charset="-122"/>
                <a:cs typeface="Cambria" pitchFamily="34" charset="-120"/>
              </a:rPr>
              <a:t>Updating Without Downtime</a:t>
            </a:r>
            <a:endParaRPr lang="en-US" sz="1250" dirty="0"/>
          </a:p>
        </p:txBody>
      </p:sp>
      <p:sp>
        <p:nvSpPr>
          <p:cNvPr id="19" name="Text 17"/>
          <p:cNvSpPr/>
          <p:nvPr/>
        </p:nvSpPr>
        <p:spPr>
          <a:xfrm>
            <a:off x="484632" y="3749040"/>
            <a:ext cx="3794760" cy="713232"/>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You need to deploy a new version of your app. How do you replace all running containers without users experiencing an outage?</a:t>
            </a:r>
            <a:endParaRPr lang="en-US" sz="1050" dirty="0"/>
          </a:p>
        </p:txBody>
      </p:sp>
      <p:sp>
        <p:nvSpPr>
          <p:cNvPr id="20" name="Shape 18"/>
          <p:cNvSpPr/>
          <p:nvPr/>
        </p:nvSpPr>
        <p:spPr>
          <a:xfrm>
            <a:off x="4709160" y="3246120"/>
            <a:ext cx="4114800" cy="1298448"/>
          </a:xfrm>
          <a:prstGeom prst="roundRect">
            <a:avLst>
              <a:gd name="adj" fmla="val 7042"/>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21" name="Text 19"/>
          <p:cNvSpPr/>
          <p:nvPr/>
        </p:nvSpPr>
        <p:spPr>
          <a:xfrm>
            <a:off x="4873752" y="3337560"/>
            <a:ext cx="594360" cy="566928"/>
          </a:xfrm>
          <a:prstGeom prst="rect">
            <a:avLst/>
          </a:prstGeom>
          <a:noFill/>
          <a:ln/>
        </p:spPr>
        <p:txBody>
          <a:bodyPr wrap="square" lIns="0" tIns="0" rIns="0" bIns="0" rtlCol="0" anchor="ctr"/>
          <a:lstStyle/>
          <a:p>
            <a:pPr marL="0" indent="0">
              <a:buNone/>
            </a:pPr>
            <a:r>
              <a:rPr lang="en-US" sz="2800" dirty="0">
                <a:solidFill>
                  <a:srgbClr val="000000"/>
                </a:solidFill>
              </a:rPr>
              <a:t>⚖️</a:t>
            </a:r>
            <a:endParaRPr lang="en-US" sz="2800" dirty="0"/>
          </a:p>
        </p:txBody>
      </p:sp>
      <p:sp>
        <p:nvSpPr>
          <p:cNvPr id="22" name="Text 20"/>
          <p:cNvSpPr/>
          <p:nvPr/>
        </p:nvSpPr>
        <p:spPr>
          <a:xfrm>
            <a:off x="5550408" y="3337560"/>
            <a:ext cx="3127248" cy="329184"/>
          </a:xfrm>
          <a:prstGeom prst="rect">
            <a:avLst/>
          </a:prstGeom>
          <a:noFill/>
          <a:ln/>
        </p:spPr>
        <p:txBody>
          <a:bodyPr wrap="square" lIns="0" tIns="0" rIns="0" bIns="0" rtlCol="0" anchor="ctr"/>
          <a:lstStyle/>
          <a:p>
            <a:pPr marL="0" indent="0">
              <a:buNone/>
            </a:pPr>
            <a:r>
              <a:rPr lang="en-US" sz="1250" b="1" dirty="0">
                <a:solidFill>
                  <a:srgbClr val="0F172A"/>
                </a:solidFill>
                <a:latin typeface="Cambria" pitchFamily="34" charset="0"/>
                <a:ea typeface="Cambria" pitchFamily="34" charset="-122"/>
                <a:cs typeface="Cambria" pitchFamily="34" charset="-120"/>
              </a:rPr>
              <a:t>Load Balancing</a:t>
            </a:r>
            <a:endParaRPr lang="en-US" sz="1250" dirty="0"/>
          </a:p>
        </p:txBody>
      </p:sp>
      <p:sp>
        <p:nvSpPr>
          <p:cNvPr id="23" name="Text 21"/>
          <p:cNvSpPr/>
          <p:nvPr/>
        </p:nvSpPr>
        <p:spPr>
          <a:xfrm>
            <a:off x="4873752" y="3749040"/>
            <a:ext cx="3794760" cy="713232"/>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You have 5 containers running your app. How do you split traffic evenly between them automatically?</a:t>
            </a:r>
            <a:endParaRPr lang="en-US" sz="1050" dirty="0"/>
          </a:p>
        </p:txBody>
      </p:sp>
      <p:sp>
        <p:nvSpPr>
          <p:cNvPr id="24" name="Shape 22"/>
          <p:cNvSpPr/>
          <p:nvPr/>
        </p:nvSpPr>
        <p:spPr>
          <a:xfrm>
            <a:off x="0" y="4846320"/>
            <a:ext cx="9144000" cy="297180"/>
          </a:xfrm>
          <a:prstGeom prst="rect">
            <a:avLst/>
          </a:prstGeom>
          <a:solidFill>
            <a:srgbClr val="0F172A"/>
          </a:solidFill>
          <a:ln w="12700">
            <a:solidFill>
              <a:srgbClr val="0F172A"/>
            </a:solidFill>
            <a:prstDash val="solid"/>
          </a:ln>
        </p:spPr>
      </p:sp>
      <p:sp>
        <p:nvSpPr>
          <p:cNvPr id="25" name="Text 23"/>
          <p:cNvSpPr/>
          <p:nvPr/>
        </p:nvSpPr>
        <p:spPr>
          <a:xfrm>
            <a:off x="365760" y="4864608"/>
            <a:ext cx="8412480" cy="256032"/>
          </a:xfrm>
          <a:prstGeom prst="rect">
            <a:avLst/>
          </a:prstGeom>
          <a:noFill/>
          <a:ln/>
        </p:spPr>
        <p:txBody>
          <a:bodyPr wrap="square" lIns="0" tIns="0" rIns="0" bIns="0"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Trainer Guide  —  Section 01: What is Kubernetes?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WHAT IS KUBERNETES?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Section 01  •  What is Kubernetes?</a:t>
            </a:r>
            <a:endParaRPr lang="en-US" sz="950" dirty="0"/>
          </a:p>
        </p:txBody>
      </p:sp>
      <p:sp>
        <p:nvSpPr>
          <p:cNvPr id="6" name="Shape 4"/>
          <p:cNvSpPr/>
          <p:nvPr/>
        </p:nvSpPr>
        <p:spPr>
          <a:xfrm>
            <a:off x="320040" y="868680"/>
            <a:ext cx="8503920" cy="896112"/>
          </a:xfrm>
          <a:prstGeom prst="roundRect">
            <a:avLst>
              <a:gd name="adj" fmla="val 10204"/>
            </a:avLst>
          </a:prstGeom>
          <a:solidFill>
            <a:srgbClr val="E8EFFE"/>
          </a:solidFill>
          <a:ln w="12700">
            <a:solidFill>
              <a:srgbClr val="A5B4FC"/>
            </a:solidFill>
            <a:prstDash val="solid"/>
          </a:ln>
          <a:effectLst>
            <a:outerShdw blurRad="101600" dist="38100" dir="2700000" algn="bl" rotWithShape="0">
              <a:srgbClr val="000000">
                <a:alpha val="12000"/>
              </a:srgbClr>
            </a:outerShdw>
          </a:effectLst>
        </p:spPr>
      </p:sp>
      <p:sp>
        <p:nvSpPr>
          <p:cNvPr id="7" name="Text 5"/>
          <p:cNvSpPr/>
          <p:nvPr/>
        </p:nvSpPr>
        <p:spPr>
          <a:xfrm>
            <a:off x="475488" y="914400"/>
            <a:ext cx="8229600" cy="804672"/>
          </a:xfrm>
          <a:prstGeom prst="rect">
            <a:avLst/>
          </a:prstGeom>
          <a:noFill/>
          <a:ln/>
        </p:spPr>
        <p:txBody>
          <a:bodyPr wrap="square" lIns="0" tIns="0" rIns="0" bIns="0" rtlCol="0" anchor="ctr"/>
          <a:lstStyle/>
          <a:p>
            <a:pPr marL="0" indent="0">
              <a:buNone/>
            </a:pPr>
            <a:r>
              <a:rPr lang="en-US" sz="1350" dirty="0">
                <a:solidFill>
                  <a:srgbClr val="0F172A"/>
                </a:solidFill>
                <a:latin typeface="Cambria" pitchFamily="34" charset="0"/>
                <a:ea typeface="Cambria" pitchFamily="34" charset="-122"/>
                <a:cs typeface="Cambria" pitchFamily="34" charset="-120"/>
              </a:rPr>
              <a:t>Kubernetes (K8s) is an open-source container orchestration platform that automates the deployment, scaling, self-healing and management of containerised applications.</a:t>
            </a:r>
            <a:endParaRPr lang="en-US" sz="1350" dirty="0"/>
          </a:p>
        </p:txBody>
      </p:sp>
      <p:sp>
        <p:nvSpPr>
          <p:cNvPr id="8" name="Shape 6"/>
          <p:cNvSpPr/>
          <p:nvPr/>
        </p:nvSpPr>
        <p:spPr>
          <a:xfrm>
            <a:off x="320040" y="1901952"/>
            <a:ext cx="8503920" cy="1024128"/>
          </a:xfrm>
          <a:prstGeom prst="roundRect">
            <a:avLst>
              <a:gd name="adj" fmla="val 8929"/>
            </a:avLst>
          </a:prstGeom>
          <a:solidFill>
            <a:srgbClr val="EFF6FF"/>
          </a:solidFill>
          <a:ln w="12700">
            <a:solidFill>
              <a:srgbClr val="BFDBFE"/>
            </a:solidFill>
            <a:prstDash val="solid"/>
          </a:ln>
          <a:effectLst>
            <a:outerShdw blurRad="101600" dist="38100" dir="2700000" algn="bl" rotWithShape="0">
              <a:srgbClr val="000000">
                <a:alpha val="12000"/>
              </a:srgbClr>
            </a:outerShdw>
          </a:effectLst>
        </p:spPr>
      </p:sp>
      <p:sp>
        <p:nvSpPr>
          <p:cNvPr id="9" name="Text 7"/>
          <p:cNvSpPr/>
          <p:nvPr/>
        </p:nvSpPr>
        <p:spPr>
          <a:xfrm>
            <a:off x="475488" y="1993392"/>
            <a:ext cx="8229600" cy="320040"/>
          </a:xfrm>
          <a:prstGeom prst="rect">
            <a:avLst/>
          </a:prstGeom>
          <a:noFill/>
          <a:ln/>
        </p:spPr>
        <p:txBody>
          <a:bodyPr wrap="square" lIns="0" tIns="0" rIns="0" bIns="0" rtlCol="0" anchor="ctr"/>
          <a:lstStyle/>
          <a:p>
            <a:pPr marL="0" indent="0">
              <a:buNone/>
            </a:pPr>
            <a:r>
              <a:rPr lang="en-US" sz="1200" b="1" dirty="0">
                <a:solidFill>
                  <a:srgbClr val="326CE5"/>
                </a:solidFill>
                <a:latin typeface="Arial" pitchFamily="34" charset="0"/>
                <a:ea typeface="Arial" pitchFamily="34" charset="-122"/>
                <a:cs typeface="Arial" pitchFamily="34" charset="-120"/>
              </a:rPr>
              <a:t>✈️  Real World Analogy</a:t>
            </a:r>
            <a:endParaRPr lang="en-US" sz="1200" dirty="0"/>
          </a:p>
        </p:txBody>
      </p:sp>
      <p:sp>
        <p:nvSpPr>
          <p:cNvPr id="10" name="Text 8"/>
          <p:cNvSpPr/>
          <p:nvPr/>
        </p:nvSpPr>
        <p:spPr>
          <a:xfrm>
            <a:off x="475488" y="2331720"/>
            <a:ext cx="8229600" cy="502920"/>
          </a:xfrm>
          <a:prstGeom prst="rect">
            <a:avLst/>
          </a:prstGeom>
          <a:noFill/>
          <a:ln/>
        </p:spPr>
        <p:txBody>
          <a:bodyPr wrap="square" lIns="0" tIns="0" rIns="0" bIns="0" rtlCol="0" anchor="ctr"/>
          <a:lstStyle/>
          <a:p>
            <a:pPr marL="0" indent="0">
              <a:buNone/>
            </a:pPr>
            <a:r>
              <a:rPr lang="en-US" sz="1100" dirty="0">
                <a:solidFill>
                  <a:srgbClr val="475569"/>
                </a:solidFill>
                <a:latin typeface="Arial" pitchFamily="34" charset="0"/>
                <a:ea typeface="Arial" pitchFamily="34" charset="-122"/>
                <a:cs typeface="Arial" pitchFamily="34" charset="-120"/>
              </a:rPr>
              <a:t>An air traffic control system doesn't fly planes — it coordinates hundreds of planes, directs them to runways, reroutes when one is delayed, and ensures safe operation at scale. Kubernetes does the same for your containers — it doesn't run your code, it orchestrates everything that runs your code.</a:t>
            </a:r>
            <a:endParaRPr lang="en-US" sz="1100" dirty="0"/>
          </a:p>
        </p:txBody>
      </p:sp>
      <p:sp>
        <p:nvSpPr>
          <p:cNvPr id="11" name="Shape 9"/>
          <p:cNvSpPr/>
          <p:nvPr/>
        </p:nvSpPr>
        <p:spPr>
          <a:xfrm>
            <a:off x="320040" y="3063240"/>
            <a:ext cx="4114800" cy="685800"/>
          </a:xfrm>
          <a:prstGeom prst="roundRect">
            <a:avLst>
              <a:gd name="adj" fmla="val 13333"/>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12" name="Text 10"/>
          <p:cNvSpPr/>
          <p:nvPr/>
        </p:nvSpPr>
        <p:spPr>
          <a:xfrm>
            <a:off x="484632" y="3118104"/>
            <a:ext cx="3794760" cy="274320"/>
          </a:xfrm>
          <a:prstGeom prst="rect">
            <a:avLst/>
          </a:prstGeom>
          <a:noFill/>
          <a:ln/>
        </p:spPr>
        <p:txBody>
          <a:bodyPr wrap="square" lIns="0" tIns="0" rIns="0" bIns="0" rtlCol="0" anchor="ctr"/>
          <a:lstStyle/>
          <a:p>
            <a:pPr marL="0" indent="0">
              <a:buNone/>
            </a:pPr>
            <a:r>
              <a:rPr lang="en-US" sz="1200" b="1" dirty="0">
                <a:solidFill>
                  <a:srgbClr val="326CE5"/>
                </a:solidFill>
                <a:latin typeface="Arial" pitchFamily="34" charset="0"/>
                <a:ea typeface="Arial" pitchFamily="34" charset="-122"/>
                <a:cs typeface="Arial" pitchFamily="34" charset="-120"/>
              </a:rPr>
              <a:t>🔄  Self-Healing</a:t>
            </a:r>
            <a:endParaRPr lang="en-US" sz="1200" dirty="0"/>
          </a:p>
        </p:txBody>
      </p:sp>
      <p:sp>
        <p:nvSpPr>
          <p:cNvPr id="13" name="Text 11"/>
          <p:cNvSpPr/>
          <p:nvPr/>
        </p:nvSpPr>
        <p:spPr>
          <a:xfrm>
            <a:off x="484632" y="3410712"/>
            <a:ext cx="3794760" cy="256032"/>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Crashed containers are restarted automatically. Failed nodes are replaced.</a:t>
            </a:r>
            <a:endParaRPr lang="en-US" sz="1000" dirty="0"/>
          </a:p>
        </p:txBody>
      </p:sp>
      <p:sp>
        <p:nvSpPr>
          <p:cNvPr id="14" name="Shape 12"/>
          <p:cNvSpPr/>
          <p:nvPr/>
        </p:nvSpPr>
        <p:spPr>
          <a:xfrm>
            <a:off x="4709160" y="3063240"/>
            <a:ext cx="4114800" cy="685800"/>
          </a:xfrm>
          <a:prstGeom prst="roundRect">
            <a:avLst>
              <a:gd name="adj" fmla="val 13333"/>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15" name="Text 13"/>
          <p:cNvSpPr/>
          <p:nvPr/>
        </p:nvSpPr>
        <p:spPr>
          <a:xfrm>
            <a:off x="4873752" y="3118104"/>
            <a:ext cx="3794760" cy="274320"/>
          </a:xfrm>
          <a:prstGeom prst="rect">
            <a:avLst/>
          </a:prstGeom>
          <a:noFill/>
          <a:ln/>
        </p:spPr>
        <p:txBody>
          <a:bodyPr wrap="square" lIns="0" tIns="0" rIns="0" bIns="0" rtlCol="0" anchor="ctr"/>
          <a:lstStyle/>
          <a:p>
            <a:pPr marL="0" indent="0">
              <a:buNone/>
            </a:pPr>
            <a:r>
              <a:rPr lang="en-US" sz="1200" b="1" dirty="0">
                <a:solidFill>
                  <a:srgbClr val="326CE5"/>
                </a:solidFill>
                <a:latin typeface="Arial" pitchFamily="34" charset="0"/>
                <a:ea typeface="Arial" pitchFamily="34" charset="-122"/>
                <a:cs typeface="Arial" pitchFamily="34" charset="-120"/>
              </a:rPr>
              <a:t>📈  Auto-Scaling</a:t>
            </a:r>
            <a:endParaRPr lang="en-US" sz="1200" dirty="0"/>
          </a:p>
        </p:txBody>
      </p:sp>
      <p:sp>
        <p:nvSpPr>
          <p:cNvPr id="16" name="Text 14"/>
          <p:cNvSpPr/>
          <p:nvPr/>
        </p:nvSpPr>
        <p:spPr>
          <a:xfrm>
            <a:off x="4873752" y="3410712"/>
            <a:ext cx="3794760" cy="256032"/>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Scale from 1 to 100 containers with one command. Scale back down when traffic drops.</a:t>
            </a:r>
            <a:endParaRPr lang="en-US" sz="1000" dirty="0"/>
          </a:p>
        </p:txBody>
      </p:sp>
      <p:sp>
        <p:nvSpPr>
          <p:cNvPr id="17" name="Shape 15"/>
          <p:cNvSpPr/>
          <p:nvPr/>
        </p:nvSpPr>
        <p:spPr>
          <a:xfrm>
            <a:off x="320040" y="3840480"/>
            <a:ext cx="4114800" cy="685800"/>
          </a:xfrm>
          <a:prstGeom prst="roundRect">
            <a:avLst>
              <a:gd name="adj" fmla="val 13333"/>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18" name="Text 16"/>
          <p:cNvSpPr/>
          <p:nvPr/>
        </p:nvSpPr>
        <p:spPr>
          <a:xfrm>
            <a:off x="484632" y="3895344"/>
            <a:ext cx="3794760" cy="274320"/>
          </a:xfrm>
          <a:prstGeom prst="rect">
            <a:avLst/>
          </a:prstGeom>
          <a:noFill/>
          <a:ln/>
        </p:spPr>
        <p:txBody>
          <a:bodyPr wrap="square" lIns="0" tIns="0" rIns="0" bIns="0" rtlCol="0" anchor="ctr"/>
          <a:lstStyle/>
          <a:p>
            <a:pPr marL="0" indent="0">
              <a:buNone/>
            </a:pPr>
            <a:r>
              <a:rPr lang="en-US" sz="1200" b="1" dirty="0">
                <a:solidFill>
                  <a:srgbClr val="326CE5"/>
                </a:solidFill>
                <a:latin typeface="Arial" pitchFamily="34" charset="0"/>
                <a:ea typeface="Arial" pitchFamily="34" charset="-122"/>
                <a:cs typeface="Arial" pitchFamily="34" charset="-120"/>
              </a:rPr>
              <a:t>🚀  Rolling Updates</a:t>
            </a:r>
            <a:endParaRPr lang="en-US" sz="1200" dirty="0"/>
          </a:p>
        </p:txBody>
      </p:sp>
      <p:sp>
        <p:nvSpPr>
          <p:cNvPr id="19" name="Text 17"/>
          <p:cNvSpPr/>
          <p:nvPr/>
        </p:nvSpPr>
        <p:spPr>
          <a:xfrm>
            <a:off x="484632" y="4187952"/>
            <a:ext cx="3794760" cy="256032"/>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Deploy new versions with zero downtime. Roll back instantly if something goes wrong.</a:t>
            </a:r>
            <a:endParaRPr lang="en-US" sz="1000" dirty="0"/>
          </a:p>
        </p:txBody>
      </p:sp>
      <p:sp>
        <p:nvSpPr>
          <p:cNvPr id="20" name="Shape 18"/>
          <p:cNvSpPr/>
          <p:nvPr/>
        </p:nvSpPr>
        <p:spPr>
          <a:xfrm>
            <a:off x="4709160" y="3840480"/>
            <a:ext cx="4114800" cy="685800"/>
          </a:xfrm>
          <a:prstGeom prst="roundRect">
            <a:avLst>
              <a:gd name="adj" fmla="val 13333"/>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21" name="Text 19"/>
          <p:cNvSpPr/>
          <p:nvPr/>
        </p:nvSpPr>
        <p:spPr>
          <a:xfrm>
            <a:off x="4873752" y="3895344"/>
            <a:ext cx="3794760" cy="274320"/>
          </a:xfrm>
          <a:prstGeom prst="rect">
            <a:avLst/>
          </a:prstGeom>
          <a:noFill/>
          <a:ln/>
        </p:spPr>
        <p:txBody>
          <a:bodyPr wrap="square" lIns="0" tIns="0" rIns="0" bIns="0" rtlCol="0" anchor="ctr"/>
          <a:lstStyle/>
          <a:p>
            <a:pPr marL="0" indent="0">
              <a:buNone/>
            </a:pPr>
            <a:r>
              <a:rPr lang="en-US" sz="1200" b="1" dirty="0">
                <a:solidFill>
                  <a:srgbClr val="326CE5"/>
                </a:solidFill>
                <a:latin typeface="Arial" pitchFamily="34" charset="0"/>
                <a:ea typeface="Arial" pitchFamily="34" charset="-122"/>
                <a:cs typeface="Arial" pitchFamily="34" charset="-120"/>
              </a:rPr>
              <a:t>⚖️  Load Balancing</a:t>
            </a:r>
            <a:endParaRPr lang="en-US" sz="1200" dirty="0"/>
          </a:p>
        </p:txBody>
      </p:sp>
      <p:sp>
        <p:nvSpPr>
          <p:cNvPr id="22" name="Text 20"/>
          <p:cNvSpPr/>
          <p:nvPr/>
        </p:nvSpPr>
        <p:spPr>
          <a:xfrm>
            <a:off x="4873752" y="4187952"/>
            <a:ext cx="3794760" cy="256032"/>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Traffic is automatically distributed across all healthy container instances.</a:t>
            </a:r>
            <a:endParaRPr lang="en-US" sz="1000" dirty="0"/>
          </a:p>
        </p:txBody>
      </p:sp>
      <p:sp>
        <p:nvSpPr>
          <p:cNvPr id="23" name="Shape 21"/>
          <p:cNvSpPr/>
          <p:nvPr/>
        </p:nvSpPr>
        <p:spPr>
          <a:xfrm>
            <a:off x="0" y="4846320"/>
            <a:ext cx="9144000" cy="297180"/>
          </a:xfrm>
          <a:prstGeom prst="rect">
            <a:avLst/>
          </a:prstGeom>
          <a:solidFill>
            <a:srgbClr val="0F172A"/>
          </a:solidFill>
          <a:ln w="12700">
            <a:solidFill>
              <a:srgbClr val="0F172A"/>
            </a:solidFill>
            <a:prstDash val="solid"/>
          </a:ln>
        </p:spPr>
      </p:sp>
      <p:sp>
        <p:nvSpPr>
          <p:cNvPr id="24" name="Text 22"/>
          <p:cNvSpPr/>
          <p:nvPr/>
        </p:nvSpPr>
        <p:spPr>
          <a:xfrm>
            <a:off x="365760" y="4864608"/>
            <a:ext cx="8412480" cy="256032"/>
          </a:xfrm>
          <a:prstGeom prst="rect">
            <a:avLst/>
          </a:prstGeom>
          <a:noFill/>
          <a:ln/>
        </p:spPr>
        <p:txBody>
          <a:bodyPr wrap="square" lIns="0" tIns="0" rIns="0" bIns="0"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Trainer Guide  —  Section 01: What is Kubernetes?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DOCKER vs KUBERNETES — HOW THEY FIT TOGETHER</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Section 01  •  What is Kubernetes?</a:t>
            </a:r>
            <a:endParaRPr lang="en-US" sz="950" dirty="0"/>
          </a:p>
        </p:txBody>
      </p:sp>
      <p:sp>
        <p:nvSpPr>
          <p:cNvPr id="6" name="Shape 4"/>
          <p:cNvSpPr/>
          <p:nvPr/>
        </p:nvSpPr>
        <p:spPr>
          <a:xfrm>
            <a:off x="320040" y="868680"/>
            <a:ext cx="8503920" cy="1325880"/>
          </a:xfrm>
          <a:prstGeom prst="roundRect">
            <a:avLst>
              <a:gd name="adj" fmla="val 6897"/>
            </a:avLst>
          </a:prstGeom>
          <a:solidFill>
            <a:srgbClr val="0F172A"/>
          </a:solidFill>
          <a:ln w="12700">
            <a:solidFill>
              <a:srgbClr val="334155"/>
            </a:solidFill>
            <a:prstDash val="solid"/>
          </a:ln>
          <a:effectLst>
            <a:outerShdw blurRad="101600" dist="38100" dir="2700000" algn="bl" rotWithShape="0">
              <a:srgbClr val="000000">
                <a:alpha val="12000"/>
              </a:srgbClr>
            </a:outerShdw>
          </a:effectLst>
        </p:spPr>
      </p:sp>
      <p:sp>
        <p:nvSpPr>
          <p:cNvPr id="7" name="Text 5"/>
          <p:cNvSpPr/>
          <p:nvPr/>
        </p:nvSpPr>
        <p:spPr>
          <a:xfrm>
            <a:off x="475488" y="1051560"/>
            <a:ext cx="1691640" cy="320040"/>
          </a:xfrm>
          <a:prstGeom prst="rect">
            <a:avLst/>
          </a:prstGeom>
          <a:noFill/>
          <a:ln/>
        </p:spPr>
        <p:txBody>
          <a:bodyPr wrap="square" lIns="0" tIns="0" rIns="0" bIns="0" rtlCol="0" anchor="ctr"/>
          <a:lstStyle/>
          <a:p>
            <a:pPr marL="0" indent="0" algn="ctr">
              <a:buNone/>
            </a:pPr>
            <a:r>
              <a:rPr lang="en-US" sz="1050" dirty="0">
                <a:solidFill>
                  <a:srgbClr val="94A3B8"/>
                </a:solidFill>
                <a:latin typeface="Arial" pitchFamily="34" charset="0"/>
                <a:ea typeface="Arial" pitchFamily="34" charset="-122"/>
                <a:cs typeface="Arial" pitchFamily="34" charset="-120"/>
              </a:rPr>
              <a:t>You write code</a:t>
            </a:r>
            <a:endParaRPr lang="en-US" sz="1050" dirty="0"/>
          </a:p>
        </p:txBody>
      </p:sp>
      <p:sp>
        <p:nvSpPr>
          <p:cNvPr id="8" name="Shape 6"/>
          <p:cNvSpPr/>
          <p:nvPr/>
        </p:nvSpPr>
        <p:spPr>
          <a:xfrm>
            <a:off x="475488" y="1389888"/>
            <a:ext cx="1691640" cy="475488"/>
          </a:xfrm>
          <a:prstGeom prst="roundRect">
            <a:avLst>
              <a:gd name="adj" fmla="val 13462"/>
            </a:avLst>
          </a:prstGeom>
          <a:solidFill>
            <a:srgbClr val="475569"/>
          </a:solidFill>
          <a:ln w="12700">
            <a:solidFill>
              <a:srgbClr val="475569"/>
            </a:solidFill>
            <a:prstDash val="solid"/>
          </a:ln>
        </p:spPr>
      </p:sp>
      <p:sp>
        <p:nvSpPr>
          <p:cNvPr id="9" name="Text 7"/>
          <p:cNvSpPr/>
          <p:nvPr/>
        </p:nvSpPr>
        <p:spPr>
          <a:xfrm>
            <a:off x="475488" y="1389888"/>
            <a:ext cx="16916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Your App</a:t>
            </a:r>
            <a:endParaRPr lang="en-US" sz="1100" dirty="0"/>
          </a:p>
        </p:txBody>
      </p:sp>
      <p:sp>
        <p:nvSpPr>
          <p:cNvPr id="10" name="Text 8"/>
          <p:cNvSpPr/>
          <p:nvPr/>
        </p:nvSpPr>
        <p:spPr>
          <a:xfrm>
            <a:off x="2240280" y="1508760"/>
            <a:ext cx="384048" cy="274320"/>
          </a:xfrm>
          <a:prstGeom prst="rect">
            <a:avLst/>
          </a:prstGeom>
          <a:noFill/>
          <a:ln/>
        </p:spPr>
        <p:txBody>
          <a:bodyPr wrap="square" lIns="0" tIns="0" rIns="0" bIns="0" rtlCol="0" anchor="ctr"/>
          <a:lstStyle/>
          <a:p>
            <a:pPr marL="0" indent="0" algn="ctr">
              <a:buNone/>
            </a:pPr>
            <a:r>
              <a:rPr lang="en-US" sz="1800" dirty="0">
                <a:solidFill>
                  <a:srgbClr val="94A3B8"/>
                </a:solidFill>
              </a:rPr>
              <a:t>→</a:t>
            </a:r>
            <a:endParaRPr lang="en-US" sz="1800" dirty="0"/>
          </a:p>
        </p:txBody>
      </p:sp>
      <p:sp>
        <p:nvSpPr>
          <p:cNvPr id="11" name="Text 9"/>
          <p:cNvSpPr/>
          <p:nvPr/>
        </p:nvSpPr>
        <p:spPr>
          <a:xfrm>
            <a:off x="2697480" y="1051560"/>
            <a:ext cx="1691640" cy="320040"/>
          </a:xfrm>
          <a:prstGeom prst="rect">
            <a:avLst/>
          </a:prstGeom>
          <a:noFill/>
          <a:ln/>
        </p:spPr>
        <p:txBody>
          <a:bodyPr wrap="square" lIns="0" tIns="0" rIns="0" bIns="0" rtlCol="0" anchor="ctr"/>
          <a:lstStyle/>
          <a:p>
            <a:pPr marL="0" indent="0" algn="ctr">
              <a:buNone/>
            </a:pPr>
            <a:r>
              <a:rPr lang="en-US" sz="1000" dirty="0">
                <a:solidFill>
                  <a:srgbClr val="0DB7ED"/>
                </a:solidFill>
                <a:latin typeface="Courier New" pitchFamily="34" charset="0"/>
                <a:ea typeface="Courier New" pitchFamily="34" charset="-122"/>
                <a:cs typeface="Courier New" pitchFamily="34" charset="-120"/>
              </a:rPr>
              <a:t>docker build</a:t>
            </a:r>
            <a:endParaRPr lang="en-US" sz="1000" dirty="0"/>
          </a:p>
        </p:txBody>
      </p:sp>
      <p:sp>
        <p:nvSpPr>
          <p:cNvPr id="12" name="Shape 10"/>
          <p:cNvSpPr/>
          <p:nvPr/>
        </p:nvSpPr>
        <p:spPr>
          <a:xfrm>
            <a:off x="2697480" y="1389888"/>
            <a:ext cx="1691640" cy="475488"/>
          </a:xfrm>
          <a:prstGeom prst="roundRect">
            <a:avLst>
              <a:gd name="adj" fmla="val 13462"/>
            </a:avLst>
          </a:prstGeom>
          <a:solidFill>
            <a:srgbClr val="0DB7ED"/>
          </a:solidFill>
          <a:ln w="12700">
            <a:solidFill>
              <a:srgbClr val="0DB7ED"/>
            </a:solidFill>
            <a:prstDash val="solid"/>
          </a:ln>
        </p:spPr>
      </p:sp>
      <p:sp>
        <p:nvSpPr>
          <p:cNvPr id="13" name="Text 11"/>
          <p:cNvSpPr/>
          <p:nvPr/>
        </p:nvSpPr>
        <p:spPr>
          <a:xfrm>
            <a:off x="2697480" y="1389888"/>
            <a:ext cx="16916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Docker Image</a:t>
            </a:r>
            <a:endParaRPr lang="en-US" sz="1100" dirty="0"/>
          </a:p>
        </p:txBody>
      </p:sp>
      <p:sp>
        <p:nvSpPr>
          <p:cNvPr id="14" name="Text 12"/>
          <p:cNvSpPr/>
          <p:nvPr/>
        </p:nvSpPr>
        <p:spPr>
          <a:xfrm>
            <a:off x="4462272" y="1508760"/>
            <a:ext cx="384048" cy="274320"/>
          </a:xfrm>
          <a:prstGeom prst="rect">
            <a:avLst/>
          </a:prstGeom>
          <a:noFill/>
          <a:ln/>
        </p:spPr>
        <p:txBody>
          <a:bodyPr wrap="square" lIns="0" tIns="0" rIns="0" bIns="0" rtlCol="0" anchor="ctr"/>
          <a:lstStyle/>
          <a:p>
            <a:pPr marL="0" indent="0" algn="ctr">
              <a:buNone/>
            </a:pPr>
            <a:r>
              <a:rPr lang="en-US" sz="1800" dirty="0">
                <a:solidFill>
                  <a:srgbClr val="94A3B8"/>
                </a:solidFill>
              </a:rPr>
              <a:t>→</a:t>
            </a:r>
            <a:endParaRPr lang="en-US" sz="1800" dirty="0"/>
          </a:p>
        </p:txBody>
      </p:sp>
      <p:sp>
        <p:nvSpPr>
          <p:cNvPr id="15" name="Text 13"/>
          <p:cNvSpPr/>
          <p:nvPr/>
        </p:nvSpPr>
        <p:spPr>
          <a:xfrm>
            <a:off x="4919472" y="1051560"/>
            <a:ext cx="1691640" cy="320040"/>
          </a:xfrm>
          <a:prstGeom prst="rect">
            <a:avLst/>
          </a:prstGeom>
          <a:noFill/>
          <a:ln/>
        </p:spPr>
        <p:txBody>
          <a:bodyPr wrap="square" lIns="0" tIns="0" rIns="0" bIns="0" rtlCol="0" anchor="ctr"/>
          <a:lstStyle/>
          <a:p>
            <a:pPr marL="0" indent="0" algn="ctr">
              <a:buNone/>
            </a:pPr>
            <a:r>
              <a:rPr lang="en-US" sz="1000" dirty="0">
                <a:solidFill>
                  <a:srgbClr val="059669"/>
                </a:solidFill>
                <a:latin typeface="Courier New" pitchFamily="34" charset="0"/>
                <a:ea typeface="Courier New" pitchFamily="34" charset="-122"/>
                <a:cs typeface="Courier New" pitchFamily="34" charset="-120"/>
              </a:rPr>
              <a:t>docker push</a:t>
            </a:r>
            <a:endParaRPr lang="en-US" sz="1000" dirty="0"/>
          </a:p>
        </p:txBody>
      </p:sp>
      <p:sp>
        <p:nvSpPr>
          <p:cNvPr id="16" name="Shape 14"/>
          <p:cNvSpPr/>
          <p:nvPr/>
        </p:nvSpPr>
        <p:spPr>
          <a:xfrm>
            <a:off x="4919472" y="1389888"/>
            <a:ext cx="1691640" cy="475488"/>
          </a:xfrm>
          <a:prstGeom prst="roundRect">
            <a:avLst>
              <a:gd name="adj" fmla="val 13462"/>
            </a:avLst>
          </a:prstGeom>
          <a:solidFill>
            <a:srgbClr val="059669"/>
          </a:solidFill>
          <a:ln w="12700">
            <a:solidFill>
              <a:srgbClr val="059669"/>
            </a:solidFill>
            <a:prstDash val="solid"/>
          </a:ln>
        </p:spPr>
      </p:sp>
      <p:sp>
        <p:nvSpPr>
          <p:cNvPr id="17" name="Text 15"/>
          <p:cNvSpPr/>
          <p:nvPr/>
        </p:nvSpPr>
        <p:spPr>
          <a:xfrm>
            <a:off x="4919472" y="1389888"/>
            <a:ext cx="16916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Registry</a:t>
            </a:r>
            <a:endParaRPr lang="en-US" sz="1100" dirty="0"/>
          </a:p>
        </p:txBody>
      </p:sp>
      <p:sp>
        <p:nvSpPr>
          <p:cNvPr id="18" name="Text 16"/>
          <p:cNvSpPr/>
          <p:nvPr/>
        </p:nvSpPr>
        <p:spPr>
          <a:xfrm>
            <a:off x="6693408" y="1508760"/>
            <a:ext cx="384048" cy="274320"/>
          </a:xfrm>
          <a:prstGeom prst="rect">
            <a:avLst/>
          </a:prstGeom>
          <a:noFill/>
          <a:ln/>
        </p:spPr>
        <p:txBody>
          <a:bodyPr wrap="square" lIns="0" tIns="0" rIns="0" bIns="0" rtlCol="0" anchor="ctr"/>
          <a:lstStyle/>
          <a:p>
            <a:pPr marL="0" indent="0" algn="ctr">
              <a:buNone/>
            </a:pPr>
            <a:r>
              <a:rPr lang="en-US" sz="1800" dirty="0">
                <a:solidFill>
                  <a:srgbClr val="94A3B8"/>
                </a:solidFill>
              </a:rPr>
              <a:t>→</a:t>
            </a:r>
            <a:endParaRPr lang="en-US" sz="1800" dirty="0"/>
          </a:p>
        </p:txBody>
      </p:sp>
      <p:sp>
        <p:nvSpPr>
          <p:cNvPr id="19" name="Text 17"/>
          <p:cNvSpPr/>
          <p:nvPr/>
        </p:nvSpPr>
        <p:spPr>
          <a:xfrm>
            <a:off x="7150608" y="1051560"/>
            <a:ext cx="1645920" cy="320040"/>
          </a:xfrm>
          <a:prstGeom prst="rect">
            <a:avLst/>
          </a:prstGeom>
          <a:noFill/>
          <a:ln/>
        </p:spPr>
        <p:txBody>
          <a:bodyPr wrap="square" lIns="0" tIns="0" rIns="0" bIns="0" rtlCol="0" anchor="ctr"/>
          <a:lstStyle/>
          <a:p>
            <a:pPr marL="0" indent="0" algn="ctr">
              <a:buNone/>
            </a:pPr>
            <a:r>
              <a:rPr lang="en-US" sz="1000" dirty="0">
                <a:solidFill>
                  <a:srgbClr val="326CE5"/>
                </a:solidFill>
                <a:latin typeface="Courier New" pitchFamily="34" charset="0"/>
                <a:ea typeface="Courier New" pitchFamily="34" charset="-122"/>
                <a:cs typeface="Courier New" pitchFamily="34" charset="-120"/>
              </a:rPr>
              <a:t>kubectl apply</a:t>
            </a:r>
            <a:endParaRPr lang="en-US" sz="1000" dirty="0"/>
          </a:p>
        </p:txBody>
      </p:sp>
      <p:sp>
        <p:nvSpPr>
          <p:cNvPr id="20" name="Shape 18"/>
          <p:cNvSpPr/>
          <p:nvPr/>
        </p:nvSpPr>
        <p:spPr>
          <a:xfrm>
            <a:off x="7150608" y="1389888"/>
            <a:ext cx="1645920" cy="475488"/>
          </a:xfrm>
          <a:prstGeom prst="roundRect">
            <a:avLst>
              <a:gd name="adj" fmla="val 13462"/>
            </a:avLst>
          </a:prstGeom>
          <a:solidFill>
            <a:srgbClr val="326CE5"/>
          </a:solidFill>
          <a:ln w="12700">
            <a:solidFill>
              <a:srgbClr val="326CE5"/>
            </a:solidFill>
            <a:prstDash val="solid"/>
          </a:ln>
        </p:spPr>
      </p:sp>
      <p:sp>
        <p:nvSpPr>
          <p:cNvPr id="21" name="Text 19"/>
          <p:cNvSpPr/>
          <p:nvPr/>
        </p:nvSpPr>
        <p:spPr>
          <a:xfrm>
            <a:off x="7150608" y="1389888"/>
            <a:ext cx="164592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Kubernetes</a:t>
            </a:r>
            <a:endParaRPr lang="en-US" sz="1100" dirty="0"/>
          </a:p>
        </p:txBody>
      </p:sp>
      <p:sp>
        <p:nvSpPr>
          <p:cNvPr id="22" name="Text 20"/>
          <p:cNvSpPr/>
          <p:nvPr/>
        </p:nvSpPr>
        <p:spPr>
          <a:xfrm>
            <a:off x="320040" y="2304288"/>
            <a:ext cx="3657600" cy="320040"/>
          </a:xfrm>
          <a:prstGeom prst="rect">
            <a:avLst/>
          </a:prstGeom>
          <a:noFill/>
          <a:ln/>
        </p:spPr>
        <p:txBody>
          <a:bodyPr wrap="square" lIns="0" tIns="0" rIns="0" bIns="0" rtlCol="0" anchor="ctr"/>
          <a:lstStyle/>
          <a:p>
            <a:pPr marL="0" indent="0">
              <a:buNone/>
            </a:pPr>
            <a:r>
              <a:rPr lang="en-US" sz="1200" b="1" dirty="0">
                <a:solidFill>
                  <a:srgbClr val="0F172A"/>
                </a:solidFill>
                <a:latin typeface="Cambria" pitchFamily="34" charset="0"/>
                <a:ea typeface="Cambria" pitchFamily="34" charset="-122"/>
                <a:cs typeface="Cambria" pitchFamily="34" charset="-120"/>
              </a:rPr>
              <a:t>Side by Side</a:t>
            </a:r>
            <a:endParaRPr lang="en-US" sz="1200" dirty="0"/>
          </a:p>
        </p:txBody>
      </p:sp>
      <p:sp>
        <p:nvSpPr>
          <p:cNvPr id="23" name="Shape 21"/>
          <p:cNvSpPr/>
          <p:nvPr/>
        </p:nvSpPr>
        <p:spPr>
          <a:xfrm>
            <a:off x="320040" y="2670048"/>
            <a:ext cx="8503920" cy="329184"/>
          </a:xfrm>
          <a:prstGeom prst="rect">
            <a:avLst/>
          </a:prstGeom>
          <a:solidFill>
            <a:srgbClr val="0F172A"/>
          </a:solidFill>
          <a:ln w="12700">
            <a:solidFill>
              <a:srgbClr val="0F172A"/>
            </a:solidFill>
            <a:prstDash val="solid"/>
          </a:ln>
        </p:spPr>
      </p:sp>
      <p:sp>
        <p:nvSpPr>
          <p:cNvPr id="24" name="Text 22"/>
          <p:cNvSpPr/>
          <p:nvPr/>
        </p:nvSpPr>
        <p:spPr>
          <a:xfrm>
            <a:off x="411480" y="2697480"/>
            <a:ext cx="2103120" cy="256032"/>
          </a:xfrm>
          <a:prstGeom prst="rect">
            <a:avLst/>
          </a:prstGeom>
          <a:noFill/>
          <a:ln/>
        </p:spPr>
        <p:txBody>
          <a:bodyPr wrap="square" lIns="0" tIns="0" rIns="0" bIns="0" rtlCol="0" anchor="ctr"/>
          <a:lstStyle/>
          <a:p>
            <a:pPr marL="0" indent="0">
              <a:buNone/>
            </a:pPr>
            <a:endParaRPr lang="en-US" sz="1050" dirty="0"/>
          </a:p>
        </p:txBody>
      </p:sp>
      <p:sp>
        <p:nvSpPr>
          <p:cNvPr id="25" name="Text 23"/>
          <p:cNvSpPr/>
          <p:nvPr/>
        </p:nvSpPr>
        <p:spPr>
          <a:xfrm>
            <a:off x="2606040" y="2697480"/>
            <a:ext cx="3200400"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Docker</a:t>
            </a:r>
            <a:endParaRPr lang="en-US" sz="1050" dirty="0"/>
          </a:p>
        </p:txBody>
      </p:sp>
      <p:sp>
        <p:nvSpPr>
          <p:cNvPr id="26" name="Text 24"/>
          <p:cNvSpPr/>
          <p:nvPr/>
        </p:nvSpPr>
        <p:spPr>
          <a:xfrm>
            <a:off x="5897880" y="2697480"/>
            <a:ext cx="3017520"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Kubernetes</a:t>
            </a:r>
            <a:endParaRPr lang="en-US" sz="1050" dirty="0"/>
          </a:p>
        </p:txBody>
      </p:sp>
      <p:sp>
        <p:nvSpPr>
          <p:cNvPr id="27" name="Shape 25"/>
          <p:cNvSpPr/>
          <p:nvPr/>
        </p:nvSpPr>
        <p:spPr>
          <a:xfrm>
            <a:off x="320040" y="3035808"/>
            <a:ext cx="8503920" cy="310896"/>
          </a:xfrm>
          <a:prstGeom prst="rect">
            <a:avLst/>
          </a:prstGeom>
          <a:solidFill>
            <a:srgbClr val="FFFFFF"/>
          </a:solidFill>
          <a:ln w="12700">
            <a:solidFill>
              <a:srgbClr val="E2E8F0"/>
            </a:solidFill>
            <a:prstDash val="solid"/>
          </a:ln>
        </p:spPr>
      </p:sp>
      <p:sp>
        <p:nvSpPr>
          <p:cNvPr id="28" name="Text 26"/>
          <p:cNvSpPr/>
          <p:nvPr/>
        </p:nvSpPr>
        <p:spPr>
          <a:xfrm>
            <a:off x="411480" y="3072384"/>
            <a:ext cx="2103120" cy="237744"/>
          </a:xfrm>
          <a:prstGeom prst="rect">
            <a:avLst/>
          </a:prstGeom>
          <a:noFill/>
          <a:ln/>
        </p:spPr>
        <p:txBody>
          <a:bodyPr wrap="square" lIns="0" tIns="0" rIns="0" bIns="0" rtlCol="0" anchor="ctr"/>
          <a:lstStyle/>
          <a:p>
            <a:pPr marL="0" indent="0">
              <a:buNone/>
            </a:pPr>
            <a:r>
              <a:rPr lang="en-US" sz="1000" b="1" dirty="0">
                <a:solidFill>
                  <a:srgbClr val="0F172A"/>
                </a:solidFill>
                <a:latin typeface="Arial" pitchFamily="34" charset="0"/>
                <a:ea typeface="Arial" pitchFamily="34" charset="-122"/>
                <a:cs typeface="Arial" pitchFamily="34" charset="-120"/>
              </a:rPr>
              <a:t>What it does</a:t>
            </a:r>
            <a:endParaRPr lang="en-US" sz="1000" dirty="0"/>
          </a:p>
        </p:txBody>
      </p:sp>
      <p:sp>
        <p:nvSpPr>
          <p:cNvPr id="29" name="Text 27"/>
          <p:cNvSpPr/>
          <p:nvPr/>
        </p:nvSpPr>
        <p:spPr>
          <a:xfrm>
            <a:off x="2606040" y="3072384"/>
            <a:ext cx="3200400" cy="237744"/>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Builds and runs containers</a:t>
            </a:r>
            <a:endParaRPr lang="en-US" sz="1000" dirty="0"/>
          </a:p>
        </p:txBody>
      </p:sp>
      <p:sp>
        <p:nvSpPr>
          <p:cNvPr id="30" name="Text 28"/>
          <p:cNvSpPr/>
          <p:nvPr/>
        </p:nvSpPr>
        <p:spPr>
          <a:xfrm>
            <a:off x="5897880" y="3072384"/>
            <a:ext cx="3017520" cy="237744"/>
          </a:xfrm>
          <a:prstGeom prst="rect">
            <a:avLst/>
          </a:prstGeom>
          <a:noFill/>
          <a:ln/>
        </p:spPr>
        <p:txBody>
          <a:bodyPr wrap="square" lIns="0" tIns="0" rIns="0" bIns="0" rtlCol="0" anchor="ctr"/>
          <a:lstStyle/>
          <a:p>
            <a:pPr marL="0" indent="0">
              <a:buNone/>
            </a:pPr>
            <a:r>
              <a:rPr lang="en-US" sz="1000" b="1" dirty="0">
                <a:solidFill>
                  <a:srgbClr val="326CE5"/>
                </a:solidFill>
                <a:latin typeface="Arial" pitchFamily="34" charset="0"/>
                <a:ea typeface="Arial" pitchFamily="34" charset="-122"/>
                <a:cs typeface="Arial" pitchFamily="34" charset="-120"/>
              </a:rPr>
              <a:t>Manages containers at scale</a:t>
            </a:r>
            <a:endParaRPr lang="en-US" sz="1000" dirty="0"/>
          </a:p>
        </p:txBody>
      </p:sp>
      <p:sp>
        <p:nvSpPr>
          <p:cNvPr id="31" name="Shape 29"/>
          <p:cNvSpPr/>
          <p:nvPr/>
        </p:nvSpPr>
        <p:spPr>
          <a:xfrm>
            <a:off x="320040" y="3355848"/>
            <a:ext cx="8503920" cy="310896"/>
          </a:xfrm>
          <a:prstGeom prst="rect">
            <a:avLst/>
          </a:prstGeom>
          <a:solidFill>
            <a:srgbClr val="F1F5F9"/>
          </a:solidFill>
          <a:ln w="12700">
            <a:solidFill>
              <a:srgbClr val="E2E8F0"/>
            </a:solidFill>
            <a:prstDash val="solid"/>
          </a:ln>
        </p:spPr>
      </p:sp>
      <p:sp>
        <p:nvSpPr>
          <p:cNvPr id="32" name="Text 30"/>
          <p:cNvSpPr/>
          <p:nvPr/>
        </p:nvSpPr>
        <p:spPr>
          <a:xfrm>
            <a:off x="411480" y="3392424"/>
            <a:ext cx="2103120" cy="237744"/>
          </a:xfrm>
          <a:prstGeom prst="rect">
            <a:avLst/>
          </a:prstGeom>
          <a:noFill/>
          <a:ln/>
        </p:spPr>
        <p:txBody>
          <a:bodyPr wrap="square" lIns="0" tIns="0" rIns="0" bIns="0" rtlCol="0" anchor="ctr"/>
          <a:lstStyle/>
          <a:p>
            <a:pPr marL="0" indent="0">
              <a:buNone/>
            </a:pPr>
            <a:r>
              <a:rPr lang="en-US" sz="1000" b="1" dirty="0">
                <a:solidFill>
                  <a:srgbClr val="0F172A"/>
                </a:solidFill>
                <a:latin typeface="Arial" pitchFamily="34" charset="0"/>
                <a:ea typeface="Arial" pitchFamily="34" charset="-122"/>
                <a:cs typeface="Arial" pitchFamily="34" charset="-120"/>
              </a:rPr>
              <a:t>Scale</a:t>
            </a:r>
            <a:endParaRPr lang="en-US" sz="1000" dirty="0"/>
          </a:p>
        </p:txBody>
      </p:sp>
      <p:sp>
        <p:nvSpPr>
          <p:cNvPr id="33" name="Text 31"/>
          <p:cNvSpPr/>
          <p:nvPr/>
        </p:nvSpPr>
        <p:spPr>
          <a:xfrm>
            <a:off x="2606040" y="3392424"/>
            <a:ext cx="3200400" cy="237744"/>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One container at a time</a:t>
            </a:r>
            <a:endParaRPr lang="en-US" sz="1000" dirty="0"/>
          </a:p>
        </p:txBody>
      </p:sp>
      <p:sp>
        <p:nvSpPr>
          <p:cNvPr id="34" name="Text 32"/>
          <p:cNvSpPr/>
          <p:nvPr/>
        </p:nvSpPr>
        <p:spPr>
          <a:xfrm>
            <a:off x="5897880" y="3392424"/>
            <a:ext cx="3017520" cy="237744"/>
          </a:xfrm>
          <a:prstGeom prst="rect">
            <a:avLst/>
          </a:prstGeom>
          <a:noFill/>
          <a:ln/>
        </p:spPr>
        <p:txBody>
          <a:bodyPr wrap="square" lIns="0" tIns="0" rIns="0" bIns="0" rtlCol="0" anchor="ctr"/>
          <a:lstStyle/>
          <a:p>
            <a:pPr marL="0" indent="0">
              <a:buNone/>
            </a:pPr>
            <a:r>
              <a:rPr lang="en-US" sz="1000" b="1" dirty="0">
                <a:solidFill>
                  <a:srgbClr val="326CE5"/>
                </a:solidFill>
                <a:latin typeface="Arial" pitchFamily="34" charset="0"/>
                <a:ea typeface="Arial" pitchFamily="34" charset="-122"/>
                <a:cs typeface="Arial" pitchFamily="34" charset="-120"/>
              </a:rPr>
              <a:t>Hundreds across many machines</a:t>
            </a:r>
            <a:endParaRPr lang="en-US" sz="1000" dirty="0"/>
          </a:p>
        </p:txBody>
      </p:sp>
      <p:sp>
        <p:nvSpPr>
          <p:cNvPr id="35" name="Shape 33"/>
          <p:cNvSpPr/>
          <p:nvPr/>
        </p:nvSpPr>
        <p:spPr>
          <a:xfrm>
            <a:off x="320040" y="3675888"/>
            <a:ext cx="8503920" cy="310896"/>
          </a:xfrm>
          <a:prstGeom prst="rect">
            <a:avLst/>
          </a:prstGeom>
          <a:solidFill>
            <a:srgbClr val="FFFFFF"/>
          </a:solidFill>
          <a:ln w="12700">
            <a:solidFill>
              <a:srgbClr val="E2E8F0"/>
            </a:solidFill>
            <a:prstDash val="solid"/>
          </a:ln>
        </p:spPr>
      </p:sp>
      <p:sp>
        <p:nvSpPr>
          <p:cNvPr id="36" name="Text 34"/>
          <p:cNvSpPr/>
          <p:nvPr/>
        </p:nvSpPr>
        <p:spPr>
          <a:xfrm>
            <a:off x="411480" y="3712464"/>
            <a:ext cx="2103120" cy="237744"/>
          </a:xfrm>
          <a:prstGeom prst="rect">
            <a:avLst/>
          </a:prstGeom>
          <a:noFill/>
          <a:ln/>
        </p:spPr>
        <p:txBody>
          <a:bodyPr wrap="square" lIns="0" tIns="0" rIns="0" bIns="0" rtlCol="0" anchor="ctr"/>
          <a:lstStyle/>
          <a:p>
            <a:pPr marL="0" indent="0">
              <a:buNone/>
            </a:pPr>
            <a:r>
              <a:rPr lang="en-US" sz="1000" b="1" dirty="0">
                <a:solidFill>
                  <a:srgbClr val="0F172A"/>
                </a:solidFill>
                <a:latin typeface="Arial" pitchFamily="34" charset="0"/>
                <a:ea typeface="Arial" pitchFamily="34" charset="-122"/>
                <a:cs typeface="Arial" pitchFamily="34" charset="-120"/>
              </a:rPr>
              <a:t>Self-healing</a:t>
            </a:r>
            <a:endParaRPr lang="en-US" sz="1000" dirty="0"/>
          </a:p>
        </p:txBody>
      </p:sp>
      <p:sp>
        <p:nvSpPr>
          <p:cNvPr id="37" name="Text 35"/>
          <p:cNvSpPr/>
          <p:nvPr/>
        </p:nvSpPr>
        <p:spPr>
          <a:xfrm>
            <a:off x="2606040" y="3712464"/>
            <a:ext cx="3200400" cy="237744"/>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None — manual restart</a:t>
            </a:r>
            <a:endParaRPr lang="en-US" sz="1000" dirty="0"/>
          </a:p>
        </p:txBody>
      </p:sp>
      <p:sp>
        <p:nvSpPr>
          <p:cNvPr id="38" name="Text 36"/>
          <p:cNvSpPr/>
          <p:nvPr/>
        </p:nvSpPr>
        <p:spPr>
          <a:xfrm>
            <a:off x="5897880" y="3712464"/>
            <a:ext cx="3017520" cy="237744"/>
          </a:xfrm>
          <a:prstGeom prst="rect">
            <a:avLst/>
          </a:prstGeom>
          <a:noFill/>
          <a:ln/>
        </p:spPr>
        <p:txBody>
          <a:bodyPr wrap="square" lIns="0" tIns="0" rIns="0" bIns="0" rtlCol="0" anchor="ctr"/>
          <a:lstStyle/>
          <a:p>
            <a:pPr marL="0" indent="0">
              <a:buNone/>
            </a:pPr>
            <a:r>
              <a:rPr lang="en-US" sz="1000" b="1" dirty="0">
                <a:solidFill>
                  <a:srgbClr val="326CE5"/>
                </a:solidFill>
                <a:latin typeface="Arial" pitchFamily="34" charset="0"/>
                <a:ea typeface="Arial" pitchFamily="34" charset="-122"/>
                <a:cs typeface="Arial" pitchFamily="34" charset="-120"/>
              </a:rPr>
              <a:t>Automatic — no human needed</a:t>
            </a:r>
            <a:endParaRPr lang="en-US" sz="1000" dirty="0"/>
          </a:p>
        </p:txBody>
      </p:sp>
      <p:sp>
        <p:nvSpPr>
          <p:cNvPr id="39" name="Shape 37"/>
          <p:cNvSpPr/>
          <p:nvPr/>
        </p:nvSpPr>
        <p:spPr>
          <a:xfrm>
            <a:off x="320040" y="3995928"/>
            <a:ext cx="8503920" cy="310896"/>
          </a:xfrm>
          <a:prstGeom prst="rect">
            <a:avLst/>
          </a:prstGeom>
          <a:solidFill>
            <a:srgbClr val="F1F5F9"/>
          </a:solidFill>
          <a:ln w="12700">
            <a:solidFill>
              <a:srgbClr val="E2E8F0"/>
            </a:solidFill>
            <a:prstDash val="solid"/>
          </a:ln>
        </p:spPr>
      </p:sp>
      <p:sp>
        <p:nvSpPr>
          <p:cNvPr id="40" name="Text 38"/>
          <p:cNvSpPr/>
          <p:nvPr/>
        </p:nvSpPr>
        <p:spPr>
          <a:xfrm>
            <a:off x="411480" y="4032504"/>
            <a:ext cx="2103120" cy="237744"/>
          </a:xfrm>
          <a:prstGeom prst="rect">
            <a:avLst/>
          </a:prstGeom>
          <a:noFill/>
          <a:ln/>
        </p:spPr>
        <p:txBody>
          <a:bodyPr wrap="square" lIns="0" tIns="0" rIns="0" bIns="0" rtlCol="0" anchor="ctr"/>
          <a:lstStyle/>
          <a:p>
            <a:pPr marL="0" indent="0">
              <a:buNone/>
            </a:pPr>
            <a:r>
              <a:rPr lang="en-US" sz="1000" b="1" dirty="0">
                <a:solidFill>
                  <a:srgbClr val="0F172A"/>
                </a:solidFill>
                <a:latin typeface="Arial" pitchFamily="34" charset="0"/>
                <a:ea typeface="Arial" pitchFamily="34" charset="-122"/>
                <a:cs typeface="Arial" pitchFamily="34" charset="-120"/>
              </a:rPr>
              <a:t>Load balancing</a:t>
            </a:r>
            <a:endParaRPr lang="en-US" sz="1000" dirty="0"/>
          </a:p>
        </p:txBody>
      </p:sp>
      <p:sp>
        <p:nvSpPr>
          <p:cNvPr id="41" name="Text 39"/>
          <p:cNvSpPr/>
          <p:nvPr/>
        </p:nvSpPr>
        <p:spPr>
          <a:xfrm>
            <a:off x="2606040" y="4032504"/>
            <a:ext cx="3200400" cy="237744"/>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Manual with -p flag</a:t>
            </a:r>
            <a:endParaRPr lang="en-US" sz="1000" dirty="0"/>
          </a:p>
        </p:txBody>
      </p:sp>
      <p:sp>
        <p:nvSpPr>
          <p:cNvPr id="42" name="Text 40"/>
          <p:cNvSpPr/>
          <p:nvPr/>
        </p:nvSpPr>
        <p:spPr>
          <a:xfrm>
            <a:off x="5897880" y="4032504"/>
            <a:ext cx="3017520" cy="237744"/>
          </a:xfrm>
          <a:prstGeom prst="rect">
            <a:avLst/>
          </a:prstGeom>
          <a:noFill/>
          <a:ln/>
        </p:spPr>
        <p:txBody>
          <a:bodyPr wrap="square" lIns="0" tIns="0" rIns="0" bIns="0" rtlCol="0" anchor="ctr"/>
          <a:lstStyle/>
          <a:p>
            <a:pPr marL="0" indent="0">
              <a:buNone/>
            </a:pPr>
            <a:r>
              <a:rPr lang="en-US" sz="1000" b="1" dirty="0">
                <a:solidFill>
                  <a:srgbClr val="326CE5"/>
                </a:solidFill>
                <a:latin typeface="Arial" pitchFamily="34" charset="0"/>
                <a:ea typeface="Arial" pitchFamily="34" charset="-122"/>
                <a:cs typeface="Arial" pitchFamily="34" charset="-120"/>
              </a:rPr>
              <a:t>Built-in, automatic</a:t>
            </a:r>
            <a:endParaRPr lang="en-US" sz="1000" dirty="0"/>
          </a:p>
        </p:txBody>
      </p:sp>
      <p:sp>
        <p:nvSpPr>
          <p:cNvPr id="43" name="Shape 41"/>
          <p:cNvSpPr/>
          <p:nvPr/>
        </p:nvSpPr>
        <p:spPr>
          <a:xfrm>
            <a:off x="320040" y="4315968"/>
            <a:ext cx="8503920" cy="310896"/>
          </a:xfrm>
          <a:prstGeom prst="rect">
            <a:avLst/>
          </a:prstGeom>
          <a:solidFill>
            <a:srgbClr val="FFFFFF"/>
          </a:solidFill>
          <a:ln w="12700">
            <a:solidFill>
              <a:srgbClr val="E2E8F0"/>
            </a:solidFill>
            <a:prstDash val="solid"/>
          </a:ln>
        </p:spPr>
      </p:sp>
      <p:sp>
        <p:nvSpPr>
          <p:cNvPr id="44" name="Text 42"/>
          <p:cNvSpPr/>
          <p:nvPr/>
        </p:nvSpPr>
        <p:spPr>
          <a:xfrm>
            <a:off x="411480" y="4352544"/>
            <a:ext cx="2103120" cy="237744"/>
          </a:xfrm>
          <a:prstGeom prst="rect">
            <a:avLst/>
          </a:prstGeom>
          <a:noFill/>
          <a:ln/>
        </p:spPr>
        <p:txBody>
          <a:bodyPr wrap="square" lIns="0" tIns="0" rIns="0" bIns="0" rtlCol="0" anchor="ctr"/>
          <a:lstStyle/>
          <a:p>
            <a:pPr marL="0" indent="0">
              <a:buNone/>
            </a:pPr>
            <a:r>
              <a:rPr lang="en-US" sz="1000" b="1" dirty="0">
                <a:solidFill>
                  <a:srgbClr val="0F172A"/>
                </a:solidFill>
                <a:latin typeface="Arial" pitchFamily="34" charset="0"/>
                <a:ea typeface="Arial" pitchFamily="34" charset="-122"/>
                <a:cs typeface="Arial" pitchFamily="34" charset="-120"/>
              </a:rPr>
              <a:t>Updates</a:t>
            </a:r>
            <a:endParaRPr lang="en-US" sz="1000" dirty="0"/>
          </a:p>
        </p:txBody>
      </p:sp>
      <p:sp>
        <p:nvSpPr>
          <p:cNvPr id="45" name="Text 43"/>
          <p:cNvSpPr/>
          <p:nvPr/>
        </p:nvSpPr>
        <p:spPr>
          <a:xfrm>
            <a:off x="2606040" y="4352544"/>
            <a:ext cx="3200400" cy="237744"/>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Stop old, start new = downtime</a:t>
            </a:r>
            <a:endParaRPr lang="en-US" sz="1000" dirty="0"/>
          </a:p>
        </p:txBody>
      </p:sp>
      <p:sp>
        <p:nvSpPr>
          <p:cNvPr id="46" name="Text 44"/>
          <p:cNvSpPr/>
          <p:nvPr/>
        </p:nvSpPr>
        <p:spPr>
          <a:xfrm>
            <a:off x="5897880" y="4352544"/>
            <a:ext cx="3017520" cy="237744"/>
          </a:xfrm>
          <a:prstGeom prst="rect">
            <a:avLst/>
          </a:prstGeom>
          <a:noFill/>
          <a:ln/>
        </p:spPr>
        <p:txBody>
          <a:bodyPr wrap="square" lIns="0" tIns="0" rIns="0" bIns="0" rtlCol="0" anchor="ctr"/>
          <a:lstStyle/>
          <a:p>
            <a:pPr marL="0" indent="0">
              <a:buNone/>
            </a:pPr>
            <a:r>
              <a:rPr lang="en-US" sz="1000" b="1" dirty="0">
                <a:solidFill>
                  <a:srgbClr val="326CE5"/>
                </a:solidFill>
                <a:latin typeface="Arial" pitchFamily="34" charset="0"/>
                <a:ea typeface="Arial" pitchFamily="34" charset="-122"/>
                <a:cs typeface="Arial" pitchFamily="34" charset="-120"/>
              </a:rPr>
              <a:t>Rolling updates, zero downtime</a:t>
            </a:r>
            <a:endParaRPr lang="en-US" sz="1000" dirty="0"/>
          </a:p>
        </p:txBody>
      </p:sp>
      <p:sp>
        <p:nvSpPr>
          <p:cNvPr id="47" name="Shape 45"/>
          <p:cNvSpPr/>
          <p:nvPr/>
        </p:nvSpPr>
        <p:spPr>
          <a:xfrm>
            <a:off x="320040" y="4636008"/>
            <a:ext cx="8503920" cy="310896"/>
          </a:xfrm>
          <a:prstGeom prst="rect">
            <a:avLst/>
          </a:prstGeom>
          <a:solidFill>
            <a:srgbClr val="F1F5F9"/>
          </a:solidFill>
          <a:ln w="12700">
            <a:solidFill>
              <a:srgbClr val="E2E8F0"/>
            </a:solidFill>
            <a:prstDash val="solid"/>
          </a:ln>
        </p:spPr>
      </p:sp>
      <p:sp>
        <p:nvSpPr>
          <p:cNvPr id="48" name="Text 46"/>
          <p:cNvSpPr/>
          <p:nvPr/>
        </p:nvSpPr>
        <p:spPr>
          <a:xfrm>
            <a:off x="411480" y="4672584"/>
            <a:ext cx="2103120" cy="237744"/>
          </a:xfrm>
          <a:prstGeom prst="rect">
            <a:avLst/>
          </a:prstGeom>
          <a:noFill/>
          <a:ln/>
        </p:spPr>
        <p:txBody>
          <a:bodyPr wrap="square" lIns="0" tIns="0" rIns="0" bIns="0" rtlCol="0" anchor="ctr"/>
          <a:lstStyle/>
          <a:p>
            <a:pPr marL="0" indent="0">
              <a:buNone/>
            </a:pPr>
            <a:r>
              <a:rPr lang="en-US" sz="1000" b="1" dirty="0">
                <a:solidFill>
                  <a:srgbClr val="0F172A"/>
                </a:solidFill>
                <a:latin typeface="Arial" pitchFamily="34" charset="0"/>
                <a:ea typeface="Arial" pitchFamily="34" charset="-122"/>
                <a:cs typeface="Arial" pitchFamily="34" charset="-120"/>
              </a:rPr>
              <a:t>Command</a:t>
            </a:r>
            <a:endParaRPr lang="en-US" sz="1000" dirty="0"/>
          </a:p>
        </p:txBody>
      </p:sp>
      <p:sp>
        <p:nvSpPr>
          <p:cNvPr id="49" name="Text 47"/>
          <p:cNvSpPr/>
          <p:nvPr/>
        </p:nvSpPr>
        <p:spPr>
          <a:xfrm>
            <a:off x="2606040" y="4672584"/>
            <a:ext cx="3200400" cy="237744"/>
          </a:xfrm>
          <a:prstGeom prst="rect">
            <a:avLst/>
          </a:prstGeom>
          <a:noFill/>
          <a:ln/>
        </p:spPr>
        <p:txBody>
          <a:bodyPr wrap="square" lIns="0" tIns="0" rIns="0" bIns="0" rtlCol="0" anchor="ctr"/>
          <a:lstStyle/>
          <a:p>
            <a:pPr marL="0" indent="0">
              <a:buNone/>
            </a:pPr>
            <a:r>
              <a:rPr lang="en-US" sz="1000" dirty="0">
                <a:solidFill>
                  <a:srgbClr val="475569"/>
                </a:solidFill>
                <a:latin typeface="Arial" pitchFamily="34" charset="0"/>
                <a:ea typeface="Arial" pitchFamily="34" charset="-122"/>
                <a:cs typeface="Arial" pitchFamily="34" charset="-120"/>
              </a:rPr>
              <a:t>docker run ...</a:t>
            </a:r>
            <a:endParaRPr lang="en-US" sz="1000" dirty="0"/>
          </a:p>
        </p:txBody>
      </p:sp>
      <p:sp>
        <p:nvSpPr>
          <p:cNvPr id="50" name="Text 48"/>
          <p:cNvSpPr/>
          <p:nvPr/>
        </p:nvSpPr>
        <p:spPr>
          <a:xfrm>
            <a:off x="5897880" y="4672584"/>
            <a:ext cx="3017520" cy="237744"/>
          </a:xfrm>
          <a:prstGeom prst="rect">
            <a:avLst/>
          </a:prstGeom>
          <a:noFill/>
          <a:ln/>
        </p:spPr>
        <p:txBody>
          <a:bodyPr wrap="square" lIns="0" tIns="0" rIns="0" bIns="0" rtlCol="0" anchor="ctr"/>
          <a:lstStyle/>
          <a:p>
            <a:pPr marL="0" indent="0">
              <a:buNone/>
            </a:pPr>
            <a:r>
              <a:rPr lang="en-US" sz="1000" b="1" dirty="0">
                <a:solidFill>
                  <a:srgbClr val="326CE5"/>
                </a:solidFill>
                <a:latin typeface="Arial" pitchFamily="34" charset="0"/>
                <a:ea typeface="Arial" pitchFamily="34" charset="-122"/>
                <a:cs typeface="Arial" pitchFamily="34" charset="-120"/>
              </a:rPr>
              <a:t>kubectl apply -f app.yaml</a:t>
            </a:r>
            <a:endParaRPr lang="en-US" sz="1000" dirty="0"/>
          </a:p>
        </p:txBody>
      </p:sp>
      <p:sp>
        <p:nvSpPr>
          <p:cNvPr id="51" name="Shape 49"/>
          <p:cNvSpPr/>
          <p:nvPr/>
        </p:nvSpPr>
        <p:spPr>
          <a:xfrm>
            <a:off x="0" y="4846320"/>
            <a:ext cx="9144000" cy="297180"/>
          </a:xfrm>
          <a:prstGeom prst="rect">
            <a:avLst/>
          </a:prstGeom>
          <a:solidFill>
            <a:srgbClr val="0F172A"/>
          </a:solidFill>
          <a:ln w="12700">
            <a:solidFill>
              <a:srgbClr val="0F172A"/>
            </a:solidFill>
            <a:prstDash val="solid"/>
          </a:ln>
        </p:spPr>
      </p:sp>
      <p:sp>
        <p:nvSpPr>
          <p:cNvPr id="52" name="Text 50"/>
          <p:cNvSpPr/>
          <p:nvPr/>
        </p:nvSpPr>
        <p:spPr>
          <a:xfrm>
            <a:off x="365760" y="4864608"/>
            <a:ext cx="8412480" cy="256032"/>
          </a:xfrm>
          <a:prstGeom prst="rect">
            <a:avLst/>
          </a:prstGeom>
          <a:noFill/>
          <a:ln/>
        </p:spPr>
        <p:txBody>
          <a:bodyPr wrap="square" lIns="0" tIns="0" rIns="0" bIns="0"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Trainer Guide  —  Section 01: What is Kubernetes?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326CE5"/>
          </a:solidFill>
          <a:ln w="12700">
            <a:solidFill>
              <a:srgbClr val="326CE5"/>
            </a:solidFill>
            <a:prstDash val="solid"/>
          </a:ln>
        </p:spPr>
      </p:sp>
      <p:sp>
        <p:nvSpPr>
          <p:cNvPr id="3" name="Shape 1"/>
          <p:cNvSpPr/>
          <p:nvPr/>
        </p:nvSpPr>
        <p:spPr>
          <a:xfrm>
            <a:off x="5943600" y="-914400"/>
            <a:ext cx="4572000" cy="4572000"/>
          </a:xfrm>
          <a:prstGeom prst="ellipse">
            <a:avLst/>
          </a:prstGeom>
          <a:solidFill>
            <a:srgbClr val="326CE5">
              <a:alpha val="10000"/>
            </a:srgbClr>
          </a:solidFill>
          <a:ln w="12700">
            <a:solidFill>
              <a:srgbClr val="326CE5">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marL="0" indent="0">
              <a:buNone/>
            </a:pPr>
            <a:r>
              <a:rPr lang="en-US" sz="1200" b="1" kern="0" spc="400" dirty="0">
                <a:solidFill>
                  <a:srgbClr val="326CE5"/>
                </a:solidFill>
                <a:latin typeface="Arial" pitchFamily="34" charset="0"/>
                <a:ea typeface="Arial" pitchFamily="34" charset="-122"/>
                <a:cs typeface="Arial" pitchFamily="34" charset="-120"/>
              </a:rPr>
              <a:t>SECTION 02</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Kubernetes Architecture</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marL="0" indent="0">
              <a:buNone/>
            </a:pPr>
            <a:r>
              <a:rPr lang="en-US" sz="1500" dirty="0">
                <a:solidFill>
                  <a:srgbClr val="94A3B8"/>
                </a:solidFill>
                <a:latin typeface="Arial" pitchFamily="34" charset="0"/>
                <a:ea typeface="Arial" pitchFamily="34" charset="-122"/>
                <a:cs typeface="Arial" pitchFamily="34" charset="-120"/>
              </a:rPr>
              <a:t>Nodes, Control Plane, Pods — the building blocks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KUBERNETES CLUSTER ARCHITECTURE</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Section 02  •  Architecture</a:t>
            </a:r>
            <a:endParaRPr lang="en-US" sz="950" dirty="0"/>
          </a:p>
        </p:txBody>
      </p:sp>
      <p:sp>
        <p:nvSpPr>
          <p:cNvPr id="6" name="Shape 4"/>
          <p:cNvSpPr/>
          <p:nvPr/>
        </p:nvSpPr>
        <p:spPr>
          <a:xfrm>
            <a:off x="320040" y="868680"/>
            <a:ext cx="8503920" cy="3858768"/>
          </a:xfrm>
          <a:prstGeom prst="roundRect">
            <a:avLst>
              <a:gd name="adj" fmla="val 2370"/>
            </a:avLst>
          </a:prstGeom>
          <a:solidFill>
            <a:srgbClr val="E8EFFE"/>
          </a:solidFill>
          <a:ln w="12700">
            <a:solidFill>
              <a:srgbClr val="A5B4FC"/>
            </a:solidFill>
            <a:prstDash val="solid"/>
          </a:ln>
          <a:effectLst>
            <a:outerShdw blurRad="101600" dist="38100" dir="2700000" algn="bl" rotWithShape="0">
              <a:srgbClr val="000000">
                <a:alpha val="12000"/>
              </a:srgbClr>
            </a:outerShdw>
          </a:effectLst>
        </p:spPr>
      </p:sp>
      <p:sp>
        <p:nvSpPr>
          <p:cNvPr id="7" name="Text 5"/>
          <p:cNvSpPr/>
          <p:nvPr/>
        </p:nvSpPr>
        <p:spPr>
          <a:xfrm>
            <a:off x="475488" y="932688"/>
            <a:ext cx="8229600" cy="274320"/>
          </a:xfrm>
          <a:prstGeom prst="rect">
            <a:avLst/>
          </a:prstGeom>
          <a:noFill/>
          <a:ln/>
        </p:spPr>
        <p:txBody>
          <a:bodyPr wrap="square" lIns="0" tIns="0" rIns="0" bIns="0" rtlCol="0" anchor="ctr"/>
          <a:lstStyle/>
          <a:p>
            <a:pPr marL="0" indent="0">
              <a:buNone/>
            </a:pPr>
            <a:r>
              <a:rPr lang="en-US" sz="1100" b="1" dirty="0">
                <a:solidFill>
                  <a:srgbClr val="326CE5"/>
                </a:solidFill>
                <a:latin typeface="Arial" pitchFamily="34" charset="0"/>
                <a:ea typeface="Arial" pitchFamily="34" charset="-122"/>
                <a:cs typeface="Arial" pitchFamily="34" charset="-120"/>
              </a:rPr>
              <a:t>☸️  Kubernetes Cluster</a:t>
            </a:r>
            <a:endParaRPr lang="en-US" sz="1100" dirty="0"/>
          </a:p>
        </p:txBody>
      </p:sp>
      <p:sp>
        <p:nvSpPr>
          <p:cNvPr id="8" name="Shape 6"/>
          <p:cNvSpPr/>
          <p:nvPr/>
        </p:nvSpPr>
        <p:spPr>
          <a:xfrm>
            <a:off x="502920" y="1261872"/>
            <a:ext cx="3246120" cy="3182112"/>
          </a:xfrm>
          <a:prstGeom prst="roundRect">
            <a:avLst>
              <a:gd name="adj" fmla="val 2874"/>
            </a:avLst>
          </a:prstGeom>
          <a:solidFill>
            <a:srgbClr val="E8EFFE"/>
          </a:solidFill>
          <a:ln w="12700">
            <a:solidFill>
              <a:srgbClr val="326CE5"/>
            </a:solidFill>
            <a:prstDash val="solid"/>
          </a:ln>
          <a:effectLst>
            <a:outerShdw blurRad="101600" dist="38100" dir="2700000" algn="bl" rotWithShape="0">
              <a:srgbClr val="000000">
                <a:alpha val="12000"/>
              </a:srgbClr>
            </a:outerShdw>
          </a:effectLst>
        </p:spPr>
      </p:sp>
      <p:sp>
        <p:nvSpPr>
          <p:cNvPr id="9" name="Text 7"/>
          <p:cNvSpPr/>
          <p:nvPr/>
        </p:nvSpPr>
        <p:spPr>
          <a:xfrm>
            <a:off x="658368" y="1353312"/>
            <a:ext cx="2926080" cy="292608"/>
          </a:xfrm>
          <a:prstGeom prst="rect">
            <a:avLst/>
          </a:prstGeom>
          <a:noFill/>
          <a:ln/>
        </p:spPr>
        <p:txBody>
          <a:bodyPr wrap="square" lIns="0" tIns="0" rIns="0" bIns="0" rtlCol="0" anchor="ctr"/>
          <a:lstStyle/>
          <a:p>
            <a:pPr marL="0" indent="0">
              <a:buNone/>
            </a:pPr>
            <a:r>
              <a:rPr lang="en-US" sz="1100" b="1" dirty="0">
                <a:solidFill>
                  <a:srgbClr val="326CE5"/>
                </a:solidFill>
                <a:latin typeface="Arial" pitchFamily="34" charset="0"/>
                <a:ea typeface="Arial" pitchFamily="34" charset="-122"/>
                <a:cs typeface="Arial" pitchFamily="34" charset="-120"/>
              </a:rPr>
              <a:t>🧠  Control Plane</a:t>
            </a:r>
            <a:endParaRPr lang="en-US" sz="1100" dirty="0"/>
          </a:p>
        </p:txBody>
      </p:sp>
      <p:sp>
        <p:nvSpPr>
          <p:cNvPr id="10" name="Shape 8"/>
          <p:cNvSpPr/>
          <p:nvPr/>
        </p:nvSpPr>
        <p:spPr>
          <a:xfrm>
            <a:off x="658368" y="1719072"/>
            <a:ext cx="2926080" cy="566928"/>
          </a:xfrm>
          <a:prstGeom prst="roundRect">
            <a:avLst>
              <a:gd name="adj" fmla="val 16129"/>
            </a:avLst>
          </a:prstGeom>
          <a:solidFill>
            <a:srgbClr val="FFFFFF"/>
          </a:solidFill>
          <a:ln w="12700">
            <a:solidFill>
              <a:srgbClr val="326CE5"/>
            </a:solidFill>
            <a:prstDash val="solid"/>
          </a:ln>
          <a:effectLst>
            <a:outerShdw blurRad="101600" dist="38100" dir="2700000" algn="bl" rotWithShape="0">
              <a:srgbClr val="000000">
                <a:alpha val="12000"/>
              </a:srgbClr>
            </a:outerShdw>
          </a:effectLst>
        </p:spPr>
      </p:sp>
      <p:sp>
        <p:nvSpPr>
          <p:cNvPr id="11" name="Text 9"/>
          <p:cNvSpPr/>
          <p:nvPr/>
        </p:nvSpPr>
        <p:spPr>
          <a:xfrm>
            <a:off x="777240" y="1764792"/>
            <a:ext cx="2697480" cy="256032"/>
          </a:xfrm>
          <a:prstGeom prst="rect">
            <a:avLst/>
          </a:prstGeom>
          <a:noFill/>
          <a:ln/>
        </p:spPr>
        <p:txBody>
          <a:bodyPr wrap="square" lIns="0" tIns="0" rIns="0" bIns="0" rtlCol="0" anchor="ctr"/>
          <a:lstStyle/>
          <a:p>
            <a:pPr marL="0" indent="0">
              <a:buNone/>
            </a:pPr>
            <a:r>
              <a:rPr lang="en-US" sz="1050" b="1" dirty="0">
                <a:solidFill>
                  <a:srgbClr val="326CE5"/>
                </a:solidFill>
                <a:latin typeface="Arial" pitchFamily="34" charset="0"/>
                <a:ea typeface="Arial" pitchFamily="34" charset="-122"/>
                <a:cs typeface="Arial" pitchFamily="34" charset="-120"/>
              </a:rPr>
              <a:t>API Server</a:t>
            </a:r>
            <a:endParaRPr lang="en-US" sz="1050" dirty="0"/>
          </a:p>
        </p:txBody>
      </p:sp>
      <p:sp>
        <p:nvSpPr>
          <p:cNvPr id="12" name="Text 10"/>
          <p:cNvSpPr/>
          <p:nvPr/>
        </p:nvSpPr>
        <p:spPr>
          <a:xfrm>
            <a:off x="777240" y="2011680"/>
            <a:ext cx="2697480" cy="228600"/>
          </a:xfrm>
          <a:prstGeom prst="rect">
            <a:avLst/>
          </a:prstGeom>
          <a:noFill/>
          <a:ln/>
        </p:spPr>
        <p:txBody>
          <a:bodyPr wrap="square" lIns="0" tIns="0" rIns="0" bIns="0" rtlCol="0" anchor="ctr"/>
          <a:lstStyle/>
          <a:p>
            <a:pPr marL="0" indent="0">
              <a:buNone/>
            </a:pPr>
            <a:r>
              <a:rPr lang="en-US" sz="900" dirty="0">
                <a:solidFill>
                  <a:srgbClr val="475569"/>
                </a:solidFill>
                <a:latin typeface="Arial" pitchFamily="34" charset="0"/>
                <a:ea typeface="Arial" pitchFamily="34" charset="-122"/>
                <a:cs typeface="Arial" pitchFamily="34" charset="-120"/>
              </a:rPr>
              <a:t>Entry point for all commands</a:t>
            </a:r>
            <a:endParaRPr lang="en-US" sz="900" dirty="0"/>
          </a:p>
          <a:p>
            <a:pPr marL="0" indent="0">
              <a:buNone/>
            </a:pPr>
            <a:r>
              <a:rPr lang="en-US" sz="900" dirty="0">
                <a:solidFill>
                  <a:srgbClr val="475569"/>
                </a:solidFill>
                <a:latin typeface="Arial" pitchFamily="34" charset="0"/>
                <a:ea typeface="Arial" pitchFamily="34" charset="-122"/>
                <a:cs typeface="Arial" pitchFamily="34" charset="-120"/>
              </a:rPr>
              <a:t>(kubectl talks to this)</a:t>
            </a:r>
            <a:endParaRPr lang="en-US" sz="900" dirty="0"/>
          </a:p>
        </p:txBody>
      </p:sp>
      <p:sp>
        <p:nvSpPr>
          <p:cNvPr id="13" name="Shape 11"/>
          <p:cNvSpPr/>
          <p:nvPr/>
        </p:nvSpPr>
        <p:spPr>
          <a:xfrm>
            <a:off x="658368" y="2377440"/>
            <a:ext cx="2926080" cy="566928"/>
          </a:xfrm>
          <a:prstGeom prst="roundRect">
            <a:avLst>
              <a:gd name="adj" fmla="val 16129"/>
            </a:avLst>
          </a:prstGeom>
          <a:solidFill>
            <a:srgbClr val="FFFFFF"/>
          </a:solidFill>
          <a:ln w="12700">
            <a:solidFill>
              <a:srgbClr val="326CE5"/>
            </a:solidFill>
            <a:prstDash val="solid"/>
          </a:ln>
          <a:effectLst>
            <a:outerShdw blurRad="101600" dist="38100" dir="2700000" algn="bl" rotWithShape="0">
              <a:srgbClr val="000000">
                <a:alpha val="12000"/>
              </a:srgbClr>
            </a:outerShdw>
          </a:effectLst>
        </p:spPr>
      </p:sp>
      <p:sp>
        <p:nvSpPr>
          <p:cNvPr id="14" name="Text 12"/>
          <p:cNvSpPr/>
          <p:nvPr/>
        </p:nvSpPr>
        <p:spPr>
          <a:xfrm>
            <a:off x="777240" y="2423160"/>
            <a:ext cx="2697480" cy="256032"/>
          </a:xfrm>
          <a:prstGeom prst="rect">
            <a:avLst/>
          </a:prstGeom>
          <a:noFill/>
          <a:ln/>
        </p:spPr>
        <p:txBody>
          <a:bodyPr wrap="square" lIns="0" tIns="0" rIns="0" bIns="0" rtlCol="0" anchor="ctr"/>
          <a:lstStyle/>
          <a:p>
            <a:pPr marL="0" indent="0">
              <a:buNone/>
            </a:pPr>
            <a:r>
              <a:rPr lang="en-US" sz="1050" b="1" dirty="0">
                <a:solidFill>
                  <a:srgbClr val="326CE5"/>
                </a:solidFill>
                <a:latin typeface="Arial" pitchFamily="34" charset="0"/>
                <a:ea typeface="Arial" pitchFamily="34" charset="-122"/>
                <a:cs typeface="Arial" pitchFamily="34" charset="-120"/>
              </a:rPr>
              <a:t>Scheduler</a:t>
            </a:r>
            <a:endParaRPr lang="en-US" sz="1050" dirty="0"/>
          </a:p>
        </p:txBody>
      </p:sp>
      <p:sp>
        <p:nvSpPr>
          <p:cNvPr id="15" name="Text 13"/>
          <p:cNvSpPr/>
          <p:nvPr/>
        </p:nvSpPr>
        <p:spPr>
          <a:xfrm>
            <a:off x="777240" y="2670048"/>
            <a:ext cx="2697480" cy="228600"/>
          </a:xfrm>
          <a:prstGeom prst="rect">
            <a:avLst/>
          </a:prstGeom>
          <a:noFill/>
          <a:ln/>
        </p:spPr>
        <p:txBody>
          <a:bodyPr wrap="square" lIns="0" tIns="0" rIns="0" bIns="0" rtlCol="0" anchor="ctr"/>
          <a:lstStyle/>
          <a:p>
            <a:pPr marL="0" indent="0">
              <a:buNone/>
            </a:pPr>
            <a:r>
              <a:rPr lang="en-US" sz="900" dirty="0">
                <a:solidFill>
                  <a:srgbClr val="475569"/>
                </a:solidFill>
                <a:latin typeface="Arial" pitchFamily="34" charset="0"/>
                <a:ea typeface="Arial" pitchFamily="34" charset="-122"/>
                <a:cs typeface="Arial" pitchFamily="34" charset="-120"/>
              </a:rPr>
              <a:t>Decides which node runs each Pod</a:t>
            </a:r>
            <a:endParaRPr lang="en-US" sz="900" dirty="0"/>
          </a:p>
        </p:txBody>
      </p:sp>
      <p:sp>
        <p:nvSpPr>
          <p:cNvPr id="16" name="Shape 14"/>
          <p:cNvSpPr/>
          <p:nvPr/>
        </p:nvSpPr>
        <p:spPr>
          <a:xfrm>
            <a:off x="658368" y="3035808"/>
            <a:ext cx="2926080" cy="566928"/>
          </a:xfrm>
          <a:prstGeom prst="roundRect">
            <a:avLst>
              <a:gd name="adj" fmla="val 16129"/>
            </a:avLst>
          </a:prstGeom>
          <a:solidFill>
            <a:srgbClr val="FFFFFF"/>
          </a:solidFill>
          <a:ln w="12700">
            <a:solidFill>
              <a:srgbClr val="326CE5"/>
            </a:solidFill>
            <a:prstDash val="solid"/>
          </a:ln>
          <a:effectLst>
            <a:outerShdw blurRad="101600" dist="38100" dir="2700000" algn="bl" rotWithShape="0">
              <a:srgbClr val="000000">
                <a:alpha val="12000"/>
              </a:srgbClr>
            </a:outerShdw>
          </a:effectLst>
        </p:spPr>
      </p:sp>
      <p:sp>
        <p:nvSpPr>
          <p:cNvPr id="17" name="Text 15"/>
          <p:cNvSpPr/>
          <p:nvPr/>
        </p:nvSpPr>
        <p:spPr>
          <a:xfrm>
            <a:off x="777240" y="3081528"/>
            <a:ext cx="2697480" cy="256032"/>
          </a:xfrm>
          <a:prstGeom prst="rect">
            <a:avLst/>
          </a:prstGeom>
          <a:noFill/>
          <a:ln/>
        </p:spPr>
        <p:txBody>
          <a:bodyPr wrap="square" lIns="0" tIns="0" rIns="0" bIns="0" rtlCol="0" anchor="ctr"/>
          <a:lstStyle/>
          <a:p>
            <a:pPr marL="0" indent="0">
              <a:buNone/>
            </a:pPr>
            <a:r>
              <a:rPr lang="en-US" sz="1050" b="1" dirty="0">
                <a:solidFill>
                  <a:srgbClr val="326CE5"/>
                </a:solidFill>
                <a:latin typeface="Arial" pitchFamily="34" charset="0"/>
                <a:ea typeface="Arial" pitchFamily="34" charset="-122"/>
                <a:cs typeface="Arial" pitchFamily="34" charset="-120"/>
              </a:rPr>
              <a:t>Controller Manager</a:t>
            </a:r>
            <a:endParaRPr lang="en-US" sz="1050" dirty="0"/>
          </a:p>
        </p:txBody>
      </p:sp>
      <p:sp>
        <p:nvSpPr>
          <p:cNvPr id="18" name="Text 16"/>
          <p:cNvSpPr/>
          <p:nvPr/>
        </p:nvSpPr>
        <p:spPr>
          <a:xfrm>
            <a:off x="777240" y="3328416"/>
            <a:ext cx="2697480" cy="228600"/>
          </a:xfrm>
          <a:prstGeom prst="rect">
            <a:avLst/>
          </a:prstGeom>
          <a:noFill/>
          <a:ln/>
        </p:spPr>
        <p:txBody>
          <a:bodyPr wrap="square" lIns="0" tIns="0" rIns="0" bIns="0" rtlCol="0" anchor="ctr"/>
          <a:lstStyle/>
          <a:p>
            <a:pPr marL="0" indent="0">
              <a:buNone/>
            </a:pPr>
            <a:r>
              <a:rPr lang="en-US" sz="900" dirty="0">
                <a:solidFill>
                  <a:srgbClr val="475569"/>
                </a:solidFill>
                <a:latin typeface="Arial" pitchFamily="34" charset="0"/>
                <a:ea typeface="Arial" pitchFamily="34" charset="-122"/>
                <a:cs typeface="Arial" pitchFamily="34" charset="-120"/>
              </a:rPr>
              <a:t>Watches state, self-heals</a:t>
            </a:r>
            <a:endParaRPr lang="en-US" sz="900" dirty="0"/>
          </a:p>
        </p:txBody>
      </p:sp>
      <p:sp>
        <p:nvSpPr>
          <p:cNvPr id="19" name="Shape 17"/>
          <p:cNvSpPr/>
          <p:nvPr/>
        </p:nvSpPr>
        <p:spPr>
          <a:xfrm>
            <a:off x="658368" y="3694176"/>
            <a:ext cx="2926080" cy="566928"/>
          </a:xfrm>
          <a:prstGeom prst="roundRect">
            <a:avLst>
              <a:gd name="adj" fmla="val 16129"/>
            </a:avLst>
          </a:prstGeom>
          <a:solidFill>
            <a:srgbClr val="FFFFFF"/>
          </a:solidFill>
          <a:ln w="12700">
            <a:solidFill>
              <a:srgbClr val="326CE5"/>
            </a:solidFill>
            <a:prstDash val="solid"/>
          </a:ln>
          <a:effectLst>
            <a:outerShdw blurRad="101600" dist="38100" dir="2700000" algn="bl" rotWithShape="0">
              <a:srgbClr val="000000">
                <a:alpha val="12000"/>
              </a:srgbClr>
            </a:outerShdw>
          </a:effectLst>
        </p:spPr>
      </p:sp>
      <p:sp>
        <p:nvSpPr>
          <p:cNvPr id="20" name="Text 18"/>
          <p:cNvSpPr/>
          <p:nvPr/>
        </p:nvSpPr>
        <p:spPr>
          <a:xfrm>
            <a:off x="777240" y="3739896"/>
            <a:ext cx="2697480" cy="256032"/>
          </a:xfrm>
          <a:prstGeom prst="rect">
            <a:avLst/>
          </a:prstGeom>
          <a:noFill/>
          <a:ln/>
        </p:spPr>
        <p:txBody>
          <a:bodyPr wrap="square" lIns="0" tIns="0" rIns="0" bIns="0" rtlCol="0" anchor="ctr"/>
          <a:lstStyle/>
          <a:p>
            <a:pPr marL="0" indent="0">
              <a:buNone/>
            </a:pPr>
            <a:r>
              <a:rPr lang="en-US" sz="1050" b="1" dirty="0">
                <a:solidFill>
                  <a:srgbClr val="326CE5"/>
                </a:solidFill>
                <a:latin typeface="Arial" pitchFamily="34" charset="0"/>
                <a:ea typeface="Arial" pitchFamily="34" charset="-122"/>
                <a:cs typeface="Arial" pitchFamily="34" charset="-120"/>
              </a:rPr>
              <a:t>etcd</a:t>
            </a:r>
            <a:endParaRPr lang="en-US" sz="1050" dirty="0"/>
          </a:p>
        </p:txBody>
      </p:sp>
      <p:sp>
        <p:nvSpPr>
          <p:cNvPr id="21" name="Text 19"/>
          <p:cNvSpPr/>
          <p:nvPr/>
        </p:nvSpPr>
        <p:spPr>
          <a:xfrm>
            <a:off x="777240" y="3986784"/>
            <a:ext cx="2697480" cy="228600"/>
          </a:xfrm>
          <a:prstGeom prst="rect">
            <a:avLst/>
          </a:prstGeom>
          <a:noFill/>
          <a:ln/>
        </p:spPr>
        <p:txBody>
          <a:bodyPr wrap="square" lIns="0" tIns="0" rIns="0" bIns="0" rtlCol="0" anchor="ctr"/>
          <a:lstStyle/>
          <a:p>
            <a:pPr marL="0" indent="0">
              <a:buNone/>
            </a:pPr>
            <a:r>
              <a:rPr lang="en-US" sz="900" dirty="0">
                <a:solidFill>
                  <a:srgbClr val="475569"/>
                </a:solidFill>
                <a:latin typeface="Arial" pitchFamily="34" charset="0"/>
                <a:ea typeface="Arial" pitchFamily="34" charset="-122"/>
                <a:cs typeface="Arial" pitchFamily="34" charset="-120"/>
              </a:rPr>
              <a:t>Database storing all cluster state</a:t>
            </a:r>
            <a:endParaRPr lang="en-US" sz="900" dirty="0"/>
          </a:p>
        </p:txBody>
      </p:sp>
      <p:sp>
        <p:nvSpPr>
          <p:cNvPr id="22" name="Text 20"/>
          <p:cNvSpPr/>
          <p:nvPr/>
        </p:nvSpPr>
        <p:spPr>
          <a:xfrm>
            <a:off x="3822192" y="2423160"/>
            <a:ext cx="457200" cy="457200"/>
          </a:xfrm>
          <a:prstGeom prst="rect">
            <a:avLst/>
          </a:prstGeom>
          <a:noFill/>
          <a:ln/>
        </p:spPr>
        <p:txBody>
          <a:bodyPr wrap="square" lIns="0" tIns="0" rIns="0" bIns="0" rtlCol="0" anchor="ctr"/>
          <a:lstStyle/>
          <a:p>
            <a:pPr marL="0" indent="0" algn="ctr">
              <a:buNone/>
            </a:pPr>
            <a:r>
              <a:rPr lang="en-US" sz="2200" dirty="0">
                <a:solidFill>
                  <a:srgbClr val="326CE5"/>
                </a:solidFill>
              </a:rPr>
              <a:t>↔</a:t>
            </a:r>
            <a:endParaRPr lang="en-US" sz="2200" dirty="0"/>
          </a:p>
        </p:txBody>
      </p:sp>
      <p:sp>
        <p:nvSpPr>
          <p:cNvPr id="23" name="Shape 21"/>
          <p:cNvSpPr/>
          <p:nvPr/>
        </p:nvSpPr>
        <p:spPr>
          <a:xfrm>
            <a:off x="4407408" y="1261872"/>
            <a:ext cx="4279392" cy="3182112"/>
          </a:xfrm>
          <a:prstGeom prst="roundRect">
            <a:avLst>
              <a:gd name="adj" fmla="val 2874"/>
            </a:avLst>
          </a:prstGeom>
          <a:solidFill>
            <a:srgbClr val="ECFDF5"/>
          </a:solidFill>
          <a:ln w="12700">
            <a:solidFill>
              <a:srgbClr val="6EE7B7"/>
            </a:solidFill>
            <a:prstDash val="solid"/>
          </a:ln>
          <a:effectLst>
            <a:outerShdw blurRad="101600" dist="38100" dir="2700000" algn="bl" rotWithShape="0">
              <a:srgbClr val="000000">
                <a:alpha val="12000"/>
              </a:srgbClr>
            </a:outerShdw>
          </a:effectLst>
        </p:spPr>
      </p:sp>
      <p:sp>
        <p:nvSpPr>
          <p:cNvPr id="24" name="Text 22"/>
          <p:cNvSpPr/>
          <p:nvPr/>
        </p:nvSpPr>
        <p:spPr>
          <a:xfrm>
            <a:off x="4553712" y="1353312"/>
            <a:ext cx="3950208" cy="292608"/>
          </a:xfrm>
          <a:prstGeom prst="rect">
            <a:avLst/>
          </a:prstGeom>
          <a:noFill/>
          <a:ln/>
        </p:spPr>
        <p:txBody>
          <a:bodyPr wrap="square" lIns="0" tIns="0" rIns="0" bIns="0" rtlCol="0" anchor="ctr"/>
          <a:lstStyle/>
          <a:p>
            <a:pPr marL="0" indent="0">
              <a:buNone/>
            </a:pPr>
            <a:r>
              <a:rPr lang="en-US" sz="1100" b="1" dirty="0">
                <a:solidFill>
                  <a:srgbClr val="059669"/>
                </a:solidFill>
                <a:latin typeface="Arial" pitchFamily="34" charset="0"/>
                <a:ea typeface="Arial" pitchFamily="34" charset="-122"/>
                <a:cs typeface="Arial" pitchFamily="34" charset="-120"/>
              </a:rPr>
              <a:t>⚙️  Worker Nodes</a:t>
            </a:r>
            <a:endParaRPr lang="en-US" sz="1100" dirty="0"/>
          </a:p>
        </p:txBody>
      </p:sp>
      <p:sp>
        <p:nvSpPr>
          <p:cNvPr id="25" name="Shape 23"/>
          <p:cNvSpPr/>
          <p:nvPr/>
        </p:nvSpPr>
        <p:spPr>
          <a:xfrm>
            <a:off x="4553712" y="1719072"/>
            <a:ext cx="1938528" cy="2578608"/>
          </a:xfrm>
          <a:prstGeom prst="roundRect">
            <a:avLst>
              <a:gd name="adj" fmla="val 4717"/>
            </a:avLst>
          </a:prstGeom>
          <a:solidFill>
            <a:srgbClr val="F8FAFC"/>
          </a:solidFill>
          <a:ln w="12700">
            <a:solidFill>
              <a:srgbClr val="6EE7B7"/>
            </a:solidFill>
            <a:prstDash val="solid"/>
          </a:ln>
          <a:effectLst>
            <a:outerShdw blurRad="101600" dist="38100" dir="2700000" algn="bl" rotWithShape="0">
              <a:srgbClr val="000000">
                <a:alpha val="12000"/>
              </a:srgbClr>
            </a:outerShdw>
          </a:effectLst>
        </p:spPr>
      </p:sp>
      <p:sp>
        <p:nvSpPr>
          <p:cNvPr id="26" name="Text 24"/>
          <p:cNvSpPr/>
          <p:nvPr/>
        </p:nvSpPr>
        <p:spPr>
          <a:xfrm>
            <a:off x="4645152" y="1783080"/>
            <a:ext cx="1755648" cy="256032"/>
          </a:xfrm>
          <a:prstGeom prst="rect">
            <a:avLst/>
          </a:prstGeom>
          <a:noFill/>
          <a:ln/>
        </p:spPr>
        <p:txBody>
          <a:bodyPr wrap="square" lIns="0" tIns="0" rIns="0" bIns="0" rtlCol="0" anchor="ctr"/>
          <a:lstStyle/>
          <a:p>
            <a:pPr marL="0" indent="0">
              <a:buNone/>
            </a:pPr>
            <a:r>
              <a:rPr lang="en-US" sz="1000" b="1" dirty="0">
                <a:solidFill>
                  <a:srgbClr val="059669"/>
                </a:solidFill>
                <a:latin typeface="Arial" pitchFamily="34" charset="0"/>
                <a:ea typeface="Arial" pitchFamily="34" charset="-122"/>
                <a:cs typeface="Arial" pitchFamily="34" charset="-120"/>
              </a:rPr>
              <a:t>🖥️  Node 1</a:t>
            </a:r>
            <a:endParaRPr lang="en-US" sz="1000" dirty="0"/>
          </a:p>
        </p:txBody>
      </p:sp>
      <p:sp>
        <p:nvSpPr>
          <p:cNvPr id="27" name="Text 25"/>
          <p:cNvSpPr/>
          <p:nvPr/>
        </p:nvSpPr>
        <p:spPr>
          <a:xfrm>
            <a:off x="4645152" y="2084832"/>
            <a:ext cx="1755648" cy="201168"/>
          </a:xfrm>
          <a:prstGeom prst="rect">
            <a:avLst/>
          </a:prstGeom>
          <a:noFill/>
          <a:ln/>
        </p:spPr>
        <p:txBody>
          <a:bodyPr wrap="square" lIns="0" tIns="0" rIns="0" bIns="0" rtlCol="0" anchor="ctr"/>
          <a:lstStyle/>
          <a:p>
            <a:pPr marL="0" indent="0">
              <a:buNone/>
            </a:pPr>
            <a:r>
              <a:rPr lang="en-US" sz="850" dirty="0">
                <a:solidFill>
                  <a:srgbClr val="94A3B8"/>
                </a:solidFill>
                <a:latin typeface="Courier New" pitchFamily="34" charset="0"/>
                <a:ea typeface="Courier New" pitchFamily="34" charset="-122"/>
                <a:cs typeface="Courier New" pitchFamily="34" charset="-120"/>
              </a:rPr>
              <a:t>kubelet</a:t>
            </a:r>
            <a:endParaRPr lang="en-US" sz="850" dirty="0"/>
          </a:p>
        </p:txBody>
      </p:sp>
      <p:sp>
        <p:nvSpPr>
          <p:cNvPr id="28" name="Shape 26"/>
          <p:cNvSpPr/>
          <p:nvPr/>
        </p:nvSpPr>
        <p:spPr>
          <a:xfrm>
            <a:off x="4645152" y="2331720"/>
            <a:ext cx="1755648" cy="530352"/>
          </a:xfrm>
          <a:prstGeom prst="roundRect">
            <a:avLst>
              <a:gd name="adj" fmla="val 17241"/>
            </a:avLst>
          </a:prstGeom>
          <a:solidFill>
            <a:srgbClr val="E8EFFE"/>
          </a:solidFill>
          <a:ln w="12700">
            <a:solidFill>
              <a:srgbClr val="A5B4FC"/>
            </a:solidFill>
            <a:prstDash val="solid"/>
          </a:ln>
          <a:effectLst>
            <a:outerShdw blurRad="101600" dist="38100" dir="2700000" algn="bl" rotWithShape="0">
              <a:srgbClr val="000000">
                <a:alpha val="12000"/>
              </a:srgbClr>
            </a:outerShdw>
          </a:effectLst>
        </p:spPr>
      </p:sp>
      <p:sp>
        <p:nvSpPr>
          <p:cNvPr id="29" name="Text 27"/>
          <p:cNvSpPr/>
          <p:nvPr/>
        </p:nvSpPr>
        <p:spPr>
          <a:xfrm>
            <a:off x="4645152" y="2331720"/>
            <a:ext cx="1755648" cy="530352"/>
          </a:xfrm>
          <a:prstGeom prst="rect">
            <a:avLst/>
          </a:prstGeom>
          <a:noFill/>
          <a:ln/>
        </p:spPr>
        <p:txBody>
          <a:bodyPr wrap="square" lIns="0" tIns="0" rIns="0" bIns="0" rtlCol="0" anchor="ctr"/>
          <a:lstStyle/>
          <a:p>
            <a:pPr marL="0" indent="0" algn="ctr">
              <a:buNone/>
            </a:pPr>
            <a:r>
              <a:rPr lang="en-US" sz="1000" b="1" dirty="0">
                <a:solidFill>
                  <a:srgbClr val="326CE5"/>
                </a:solidFill>
                <a:latin typeface="Arial" pitchFamily="34" charset="0"/>
                <a:ea typeface="Arial" pitchFamily="34" charset="-122"/>
                <a:cs typeface="Arial" pitchFamily="34" charset="-120"/>
              </a:rPr>
              <a:t>📦  Pod</a:t>
            </a:r>
            <a:endParaRPr lang="en-US" sz="1000" dirty="0"/>
          </a:p>
        </p:txBody>
      </p:sp>
      <p:sp>
        <p:nvSpPr>
          <p:cNvPr id="30" name="Shape 28"/>
          <p:cNvSpPr/>
          <p:nvPr/>
        </p:nvSpPr>
        <p:spPr>
          <a:xfrm>
            <a:off x="4645152" y="2953512"/>
            <a:ext cx="1755648" cy="530352"/>
          </a:xfrm>
          <a:prstGeom prst="roundRect">
            <a:avLst>
              <a:gd name="adj" fmla="val 17241"/>
            </a:avLst>
          </a:prstGeom>
          <a:solidFill>
            <a:srgbClr val="E8EFFE"/>
          </a:solidFill>
          <a:ln w="12700">
            <a:solidFill>
              <a:srgbClr val="A5B4FC"/>
            </a:solidFill>
            <a:prstDash val="solid"/>
          </a:ln>
          <a:effectLst>
            <a:outerShdw blurRad="101600" dist="38100" dir="2700000" algn="bl" rotWithShape="0">
              <a:srgbClr val="000000">
                <a:alpha val="12000"/>
              </a:srgbClr>
            </a:outerShdw>
          </a:effectLst>
        </p:spPr>
      </p:sp>
      <p:sp>
        <p:nvSpPr>
          <p:cNvPr id="31" name="Text 29"/>
          <p:cNvSpPr/>
          <p:nvPr/>
        </p:nvSpPr>
        <p:spPr>
          <a:xfrm>
            <a:off x="4645152" y="2953512"/>
            <a:ext cx="1755648" cy="530352"/>
          </a:xfrm>
          <a:prstGeom prst="rect">
            <a:avLst/>
          </a:prstGeom>
          <a:noFill/>
          <a:ln/>
        </p:spPr>
        <p:txBody>
          <a:bodyPr wrap="square" lIns="0" tIns="0" rIns="0" bIns="0" rtlCol="0" anchor="ctr"/>
          <a:lstStyle/>
          <a:p>
            <a:pPr marL="0" indent="0" algn="ctr">
              <a:buNone/>
            </a:pPr>
            <a:r>
              <a:rPr lang="en-US" sz="1000" b="1" dirty="0">
                <a:solidFill>
                  <a:srgbClr val="326CE5"/>
                </a:solidFill>
                <a:latin typeface="Arial" pitchFamily="34" charset="0"/>
                <a:ea typeface="Arial" pitchFamily="34" charset="-122"/>
                <a:cs typeface="Arial" pitchFamily="34" charset="-120"/>
              </a:rPr>
              <a:t>📦  Pod</a:t>
            </a:r>
            <a:endParaRPr lang="en-US" sz="1000" dirty="0"/>
          </a:p>
        </p:txBody>
      </p:sp>
      <p:sp>
        <p:nvSpPr>
          <p:cNvPr id="32" name="Shape 30"/>
          <p:cNvSpPr/>
          <p:nvPr/>
        </p:nvSpPr>
        <p:spPr>
          <a:xfrm>
            <a:off x="6638544" y="1719072"/>
            <a:ext cx="1938528" cy="2578608"/>
          </a:xfrm>
          <a:prstGeom prst="roundRect">
            <a:avLst>
              <a:gd name="adj" fmla="val 4717"/>
            </a:avLst>
          </a:prstGeom>
          <a:solidFill>
            <a:srgbClr val="F8FAFC"/>
          </a:solidFill>
          <a:ln w="12700">
            <a:solidFill>
              <a:srgbClr val="6EE7B7"/>
            </a:solidFill>
            <a:prstDash val="solid"/>
          </a:ln>
          <a:effectLst>
            <a:outerShdw blurRad="101600" dist="38100" dir="2700000" algn="bl" rotWithShape="0">
              <a:srgbClr val="000000">
                <a:alpha val="12000"/>
              </a:srgbClr>
            </a:outerShdw>
          </a:effectLst>
        </p:spPr>
      </p:sp>
      <p:sp>
        <p:nvSpPr>
          <p:cNvPr id="33" name="Text 31"/>
          <p:cNvSpPr/>
          <p:nvPr/>
        </p:nvSpPr>
        <p:spPr>
          <a:xfrm>
            <a:off x="6729984" y="1783080"/>
            <a:ext cx="1755648" cy="256032"/>
          </a:xfrm>
          <a:prstGeom prst="rect">
            <a:avLst/>
          </a:prstGeom>
          <a:noFill/>
          <a:ln/>
        </p:spPr>
        <p:txBody>
          <a:bodyPr wrap="square" lIns="0" tIns="0" rIns="0" bIns="0" rtlCol="0" anchor="ctr"/>
          <a:lstStyle/>
          <a:p>
            <a:pPr marL="0" indent="0">
              <a:buNone/>
            </a:pPr>
            <a:r>
              <a:rPr lang="en-US" sz="1000" b="1" dirty="0">
                <a:solidFill>
                  <a:srgbClr val="059669"/>
                </a:solidFill>
                <a:latin typeface="Arial" pitchFamily="34" charset="0"/>
                <a:ea typeface="Arial" pitchFamily="34" charset="-122"/>
                <a:cs typeface="Arial" pitchFamily="34" charset="-120"/>
              </a:rPr>
              <a:t>🖥️  Node 2</a:t>
            </a:r>
            <a:endParaRPr lang="en-US" sz="1000" dirty="0"/>
          </a:p>
        </p:txBody>
      </p:sp>
      <p:sp>
        <p:nvSpPr>
          <p:cNvPr id="34" name="Text 32"/>
          <p:cNvSpPr/>
          <p:nvPr/>
        </p:nvSpPr>
        <p:spPr>
          <a:xfrm>
            <a:off x="6729984" y="2084832"/>
            <a:ext cx="1755648" cy="201168"/>
          </a:xfrm>
          <a:prstGeom prst="rect">
            <a:avLst/>
          </a:prstGeom>
          <a:noFill/>
          <a:ln/>
        </p:spPr>
        <p:txBody>
          <a:bodyPr wrap="square" lIns="0" tIns="0" rIns="0" bIns="0" rtlCol="0" anchor="ctr"/>
          <a:lstStyle/>
          <a:p>
            <a:pPr marL="0" indent="0">
              <a:buNone/>
            </a:pPr>
            <a:r>
              <a:rPr lang="en-US" sz="850" dirty="0">
                <a:solidFill>
                  <a:srgbClr val="94A3B8"/>
                </a:solidFill>
                <a:latin typeface="Courier New" pitchFamily="34" charset="0"/>
                <a:ea typeface="Courier New" pitchFamily="34" charset="-122"/>
                <a:cs typeface="Courier New" pitchFamily="34" charset="-120"/>
              </a:rPr>
              <a:t>kubelet</a:t>
            </a:r>
            <a:endParaRPr lang="en-US" sz="850" dirty="0"/>
          </a:p>
        </p:txBody>
      </p:sp>
      <p:sp>
        <p:nvSpPr>
          <p:cNvPr id="35" name="Shape 33"/>
          <p:cNvSpPr/>
          <p:nvPr/>
        </p:nvSpPr>
        <p:spPr>
          <a:xfrm>
            <a:off x="6729984" y="2331720"/>
            <a:ext cx="1755648" cy="530352"/>
          </a:xfrm>
          <a:prstGeom prst="roundRect">
            <a:avLst>
              <a:gd name="adj" fmla="val 17241"/>
            </a:avLst>
          </a:prstGeom>
          <a:solidFill>
            <a:srgbClr val="E8EFFE"/>
          </a:solidFill>
          <a:ln w="12700">
            <a:solidFill>
              <a:srgbClr val="A5B4FC"/>
            </a:solidFill>
            <a:prstDash val="solid"/>
          </a:ln>
          <a:effectLst>
            <a:outerShdw blurRad="101600" dist="38100" dir="2700000" algn="bl" rotWithShape="0">
              <a:srgbClr val="000000">
                <a:alpha val="12000"/>
              </a:srgbClr>
            </a:outerShdw>
          </a:effectLst>
        </p:spPr>
      </p:sp>
      <p:sp>
        <p:nvSpPr>
          <p:cNvPr id="36" name="Text 34"/>
          <p:cNvSpPr/>
          <p:nvPr/>
        </p:nvSpPr>
        <p:spPr>
          <a:xfrm>
            <a:off x="6729984" y="2331720"/>
            <a:ext cx="1755648" cy="530352"/>
          </a:xfrm>
          <a:prstGeom prst="rect">
            <a:avLst/>
          </a:prstGeom>
          <a:noFill/>
          <a:ln/>
        </p:spPr>
        <p:txBody>
          <a:bodyPr wrap="square" lIns="0" tIns="0" rIns="0" bIns="0" rtlCol="0" anchor="ctr"/>
          <a:lstStyle/>
          <a:p>
            <a:pPr marL="0" indent="0" algn="ctr">
              <a:buNone/>
            </a:pPr>
            <a:r>
              <a:rPr lang="en-US" sz="1000" b="1" dirty="0">
                <a:solidFill>
                  <a:srgbClr val="326CE5"/>
                </a:solidFill>
                <a:latin typeface="Arial" pitchFamily="34" charset="0"/>
                <a:ea typeface="Arial" pitchFamily="34" charset="-122"/>
                <a:cs typeface="Arial" pitchFamily="34" charset="-120"/>
              </a:rPr>
              <a:t>📦  Pod</a:t>
            </a:r>
            <a:endParaRPr lang="en-US" sz="1000" dirty="0"/>
          </a:p>
        </p:txBody>
      </p:sp>
      <p:sp>
        <p:nvSpPr>
          <p:cNvPr id="37" name="Shape 35"/>
          <p:cNvSpPr/>
          <p:nvPr/>
        </p:nvSpPr>
        <p:spPr>
          <a:xfrm>
            <a:off x="6729984" y="2953512"/>
            <a:ext cx="1755648" cy="530352"/>
          </a:xfrm>
          <a:prstGeom prst="roundRect">
            <a:avLst>
              <a:gd name="adj" fmla="val 17241"/>
            </a:avLst>
          </a:prstGeom>
          <a:solidFill>
            <a:srgbClr val="E8EFFE"/>
          </a:solidFill>
          <a:ln w="12700">
            <a:solidFill>
              <a:srgbClr val="A5B4FC"/>
            </a:solidFill>
            <a:prstDash val="solid"/>
          </a:ln>
          <a:effectLst>
            <a:outerShdw blurRad="101600" dist="38100" dir="2700000" algn="bl" rotWithShape="0">
              <a:srgbClr val="000000">
                <a:alpha val="12000"/>
              </a:srgbClr>
            </a:outerShdw>
          </a:effectLst>
        </p:spPr>
      </p:sp>
      <p:sp>
        <p:nvSpPr>
          <p:cNvPr id="38" name="Text 36"/>
          <p:cNvSpPr/>
          <p:nvPr/>
        </p:nvSpPr>
        <p:spPr>
          <a:xfrm>
            <a:off x="6729984" y="2953512"/>
            <a:ext cx="1755648" cy="530352"/>
          </a:xfrm>
          <a:prstGeom prst="rect">
            <a:avLst/>
          </a:prstGeom>
          <a:noFill/>
          <a:ln/>
        </p:spPr>
        <p:txBody>
          <a:bodyPr wrap="square" lIns="0" tIns="0" rIns="0" bIns="0" rtlCol="0" anchor="ctr"/>
          <a:lstStyle/>
          <a:p>
            <a:pPr marL="0" indent="0" algn="ctr">
              <a:buNone/>
            </a:pPr>
            <a:r>
              <a:rPr lang="en-US" sz="1000" b="1" dirty="0">
                <a:solidFill>
                  <a:srgbClr val="326CE5"/>
                </a:solidFill>
                <a:latin typeface="Arial" pitchFamily="34" charset="0"/>
                <a:ea typeface="Arial" pitchFamily="34" charset="-122"/>
                <a:cs typeface="Arial" pitchFamily="34" charset="-120"/>
              </a:rPr>
              <a:t>📦  Pod</a:t>
            </a:r>
            <a:endParaRPr lang="en-US" sz="1000" dirty="0"/>
          </a:p>
        </p:txBody>
      </p:sp>
      <p:sp>
        <p:nvSpPr>
          <p:cNvPr id="39" name="Shape 37"/>
          <p:cNvSpPr/>
          <p:nvPr/>
        </p:nvSpPr>
        <p:spPr>
          <a:xfrm>
            <a:off x="6729984" y="3575304"/>
            <a:ext cx="1755648" cy="530352"/>
          </a:xfrm>
          <a:prstGeom prst="roundRect">
            <a:avLst>
              <a:gd name="adj" fmla="val 17241"/>
            </a:avLst>
          </a:prstGeom>
          <a:solidFill>
            <a:srgbClr val="E8EFFE"/>
          </a:solidFill>
          <a:ln w="12700">
            <a:solidFill>
              <a:srgbClr val="A5B4FC"/>
            </a:solidFill>
            <a:prstDash val="solid"/>
          </a:ln>
          <a:effectLst>
            <a:outerShdw blurRad="101600" dist="38100" dir="2700000" algn="bl" rotWithShape="0">
              <a:srgbClr val="000000">
                <a:alpha val="12000"/>
              </a:srgbClr>
            </a:outerShdw>
          </a:effectLst>
        </p:spPr>
      </p:sp>
      <p:sp>
        <p:nvSpPr>
          <p:cNvPr id="40" name="Text 38"/>
          <p:cNvSpPr/>
          <p:nvPr/>
        </p:nvSpPr>
        <p:spPr>
          <a:xfrm>
            <a:off x="6729984" y="3575304"/>
            <a:ext cx="1755648" cy="530352"/>
          </a:xfrm>
          <a:prstGeom prst="rect">
            <a:avLst/>
          </a:prstGeom>
          <a:noFill/>
          <a:ln/>
        </p:spPr>
        <p:txBody>
          <a:bodyPr wrap="square" lIns="0" tIns="0" rIns="0" bIns="0" rtlCol="0" anchor="ctr"/>
          <a:lstStyle/>
          <a:p>
            <a:pPr marL="0" indent="0" algn="ctr">
              <a:buNone/>
            </a:pPr>
            <a:r>
              <a:rPr lang="en-US" sz="1000" b="1" dirty="0">
                <a:solidFill>
                  <a:srgbClr val="326CE5"/>
                </a:solidFill>
                <a:latin typeface="Arial" pitchFamily="34" charset="0"/>
                <a:ea typeface="Arial" pitchFamily="34" charset="-122"/>
                <a:cs typeface="Arial" pitchFamily="34" charset="-120"/>
              </a:rPr>
              <a:t>📦  Pod</a:t>
            </a:r>
            <a:endParaRPr lang="en-US" sz="1000" dirty="0"/>
          </a:p>
        </p:txBody>
      </p:sp>
      <p:sp>
        <p:nvSpPr>
          <p:cNvPr id="41" name="Shape 39"/>
          <p:cNvSpPr/>
          <p:nvPr/>
        </p:nvSpPr>
        <p:spPr>
          <a:xfrm>
            <a:off x="0" y="4846320"/>
            <a:ext cx="9144000" cy="297180"/>
          </a:xfrm>
          <a:prstGeom prst="rect">
            <a:avLst/>
          </a:prstGeom>
          <a:solidFill>
            <a:srgbClr val="0F172A"/>
          </a:solidFill>
          <a:ln w="12700">
            <a:solidFill>
              <a:srgbClr val="0F172A"/>
            </a:solidFill>
            <a:prstDash val="solid"/>
          </a:ln>
        </p:spPr>
      </p:sp>
      <p:sp>
        <p:nvSpPr>
          <p:cNvPr id="42" name="Text 40"/>
          <p:cNvSpPr/>
          <p:nvPr/>
        </p:nvSpPr>
        <p:spPr>
          <a:xfrm>
            <a:off x="365760" y="4864608"/>
            <a:ext cx="8412480" cy="256032"/>
          </a:xfrm>
          <a:prstGeom prst="rect">
            <a:avLst/>
          </a:prstGeom>
          <a:noFill/>
          <a:ln/>
        </p:spPr>
        <p:txBody>
          <a:bodyPr wrap="square" lIns="0" tIns="0" rIns="0" bIns="0"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Trainer Guide  —  Section 02: Architecture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KEY KUBERNETES OBJECTS</a:t>
            </a:r>
            <a:endParaRPr lang="en-US" sz="2000" dirty="0"/>
          </a:p>
        </p:txBody>
      </p:sp>
      <p:sp>
        <p:nvSpPr>
          <p:cNvPr id="4" name="Shape 2"/>
          <p:cNvSpPr/>
          <p:nvPr/>
        </p:nvSpPr>
        <p:spPr>
          <a:xfrm>
            <a:off x="7178040" y="109728"/>
            <a:ext cx="1600200" cy="475488"/>
          </a:xfrm>
          <a:prstGeom prst="roundRect">
            <a:avLst>
              <a:gd name="adj" fmla="val 11538"/>
            </a:avLst>
          </a:prstGeom>
          <a:solidFill>
            <a:srgbClr val="326CE5"/>
          </a:solidFill>
          <a:ln w="12700">
            <a:solidFill>
              <a:srgbClr val="326CE5"/>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Section 02  •  Architecture</a:t>
            </a:r>
            <a:endParaRPr lang="en-US" sz="950" dirty="0"/>
          </a:p>
        </p:txBody>
      </p:sp>
      <p:sp>
        <p:nvSpPr>
          <p:cNvPr id="6" name="Shape 4"/>
          <p:cNvSpPr/>
          <p:nvPr/>
        </p:nvSpPr>
        <p:spPr>
          <a:xfrm>
            <a:off x="320040" y="868680"/>
            <a:ext cx="8503920" cy="914400"/>
          </a:xfrm>
          <a:prstGeom prst="roundRect">
            <a:avLst>
              <a:gd name="adj" fmla="val 10000"/>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7" name="Shape 5"/>
          <p:cNvSpPr/>
          <p:nvPr/>
        </p:nvSpPr>
        <p:spPr>
          <a:xfrm>
            <a:off x="475488" y="960120"/>
            <a:ext cx="475488" cy="713232"/>
          </a:xfrm>
          <a:prstGeom prst="roundRect">
            <a:avLst>
              <a:gd name="adj" fmla="val 13462"/>
            </a:avLst>
          </a:prstGeom>
          <a:solidFill>
            <a:srgbClr val="326CE5"/>
          </a:solidFill>
          <a:ln w="12700">
            <a:solidFill>
              <a:srgbClr val="326CE5"/>
            </a:solidFill>
            <a:prstDash val="solid"/>
          </a:ln>
        </p:spPr>
      </p:sp>
      <p:sp>
        <p:nvSpPr>
          <p:cNvPr id="8" name="Text 6"/>
          <p:cNvSpPr/>
          <p:nvPr/>
        </p:nvSpPr>
        <p:spPr>
          <a:xfrm>
            <a:off x="475488" y="960120"/>
            <a:ext cx="475488"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9" name="Text 7"/>
          <p:cNvSpPr/>
          <p:nvPr/>
        </p:nvSpPr>
        <p:spPr>
          <a:xfrm>
            <a:off x="1078992" y="941832"/>
            <a:ext cx="2011680" cy="365760"/>
          </a:xfrm>
          <a:prstGeom prst="rect">
            <a:avLst/>
          </a:prstGeom>
          <a:noFill/>
          <a:ln/>
        </p:spPr>
        <p:txBody>
          <a:bodyPr wrap="square" lIns="0" tIns="0" rIns="0" bIns="0" rtlCol="0" anchor="ctr"/>
          <a:lstStyle/>
          <a:p>
            <a:pPr marL="0" indent="0">
              <a:buNone/>
            </a:pPr>
            <a:r>
              <a:rPr lang="en-US" sz="1600" b="1" dirty="0">
                <a:solidFill>
                  <a:srgbClr val="326CE5"/>
                </a:solidFill>
                <a:latin typeface="Cambria" pitchFamily="34" charset="0"/>
                <a:ea typeface="Cambria" pitchFamily="34" charset="-122"/>
                <a:cs typeface="Cambria" pitchFamily="34" charset="-120"/>
              </a:rPr>
              <a:t>Pod</a:t>
            </a:r>
            <a:endParaRPr lang="en-US" sz="1600" dirty="0"/>
          </a:p>
        </p:txBody>
      </p:sp>
      <p:sp>
        <p:nvSpPr>
          <p:cNvPr id="10" name="Text 8"/>
          <p:cNvSpPr/>
          <p:nvPr/>
        </p:nvSpPr>
        <p:spPr>
          <a:xfrm>
            <a:off x="1078992" y="1344168"/>
            <a:ext cx="5303520" cy="384048"/>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The smallest deployable unit. Usually wraps one container. Has its own IP address inside the cluster.</a:t>
            </a:r>
            <a:endParaRPr lang="en-US" sz="1050" dirty="0"/>
          </a:p>
        </p:txBody>
      </p:sp>
      <p:sp>
        <p:nvSpPr>
          <p:cNvPr id="11" name="Shape 9"/>
          <p:cNvSpPr/>
          <p:nvPr/>
        </p:nvSpPr>
        <p:spPr>
          <a:xfrm>
            <a:off x="6565392" y="1033272"/>
            <a:ext cx="1810512" cy="548640"/>
          </a:xfrm>
          <a:prstGeom prst="roundRect">
            <a:avLst>
              <a:gd name="adj" fmla="val 16667"/>
            </a:avLst>
          </a:prstGeom>
          <a:solidFill>
            <a:srgbClr val="FFFFFF"/>
          </a:solidFill>
          <a:ln w="12700">
            <a:solidFill>
              <a:srgbClr val="326CE5"/>
            </a:solidFill>
            <a:prstDash val="solid"/>
          </a:ln>
          <a:effectLst>
            <a:outerShdw blurRad="101600" dist="38100" dir="2700000" algn="bl" rotWithShape="0">
              <a:srgbClr val="000000">
                <a:alpha val="12000"/>
              </a:srgbClr>
            </a:outerShdw>
          </a:effectLst>
        </p:spPr>
      </p:sp>
      <p:sp>
        <p:nvSpPr>
          <p:cNvPr id="12" name="Text 10"/>
          <p:cNvSpPr/>
          <p:nvPr/>
        </p:nvSpPr>
        <p:spPr>
          <a:xfrm>
            <a:off x="6565392" y="1033272"/>
            <a:ext cx="1810512" cy="548640"/>
          </a:xfrm>
          <a:prstGeom prst="rect">
            <a:avLst/>
          </a:prstGeom>
          <a:noFill/>
          <a:ln/>
        </p:spPr>
        <p:txBody>
          <a:bodyPr wrap="square" lIns="0" tIns="0" rIns="0" bIns="0" rtlCol="0" anchor="ctr"/>
          <a:lstStyle/>
          <a:p>
            <a:pPr marL="0" indent="0" algn="ctr">
              <a:buNone/>
            </a:pPr>
            <a:r>
              <a:rPr lang="en-US" sz="900" dirty="0">
                <a:solidFill>
                  <a:srgbClr val="326CE5"/>
                </a:solidFill>
                <a:latin typeface="Arial" pitchFamily="34" charset="0"/>
                <a:ea typeface="Arial" pitchFamily="34" charset="-122"/>
                <a:cs typeface="Arial" pitchFamily="34" charset="-120"/>
              </a:rPr>
              <a:t>≈ Docker</a:t>
            </a:r>
            <a:endParaRPr lang="en-US" sz="900" dirty="0"/>
          </a:p>
          <a:p>
            <a:pPr marL="0" indent="0" algn="ctr">
              <a:buNone/>
            </a:pPr>
            <a:r>
              <a:rPr lang="en-US" sz="900" dirty="0">
                <a:solidFill>
                  <a:srgbClr val="326CE5"/>
                </a:solidFill>
                <a:latin typeface="Arial" pitchFamily="34" charset="0"/>
                <a:ea typeface="Arial" pitchFamily="34" charset="-122"/>
                <a:cs typeface="Arial" pitchFamily="34" charset="-120"/>
              </a:rPr>
              <a:t>Container</a:t>
            </a:r>
            <a:endParaRPr lang="en-US" sz="900" dirty="0"/>
          </a:p>
        </p:txBody>
      </p:sp>
      <p:sp>
        <p:nvSpPr>
          <p:cNvPr id="13" name="Shape 11"/>
          <p:cNvSpPr/>
          <p:nvPr/>
        </p:nvSpPr>
        <p:spPr>
          <a:xfrm>
            <a:off x="320040" y="1874520"/>
            <a:ext cx="8503920" cy="914400"/>
          </a:xfrm>
          <a:prstGeom prst="roundRect">
            <a:avLst>
              <a:gd name="adj" fmla="val 10000"/>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14" name="Shape 12"/>
          <p:cNvSpPr/>
          <p:nvPr/>
        </p:nvSpPr>
        <p:spPr>
          <a:xfrm>
            <a:off x="475488" y="1965960"/>
            <a:ext cx="475488" cy="713232"/>
          </a:xfrm>
          <a:prstGeom prst="roundRect">
            <a:avLst>
              <a:gd name="adj" fmla="val 13462"/>
            </a:avLst>
          </a:prstGeom>
          <a:solidFill>
            <a:srgbClr val="2563EB"/>
          </a:solidFill>
          <a:ln w="12700">
            <a:solidFill>
              <a:srgbClr val="2563EB"/>
            </a:solidFill>
            <a:prstDash val="solid"/>
          </a:ln>
        </p:spPr>
      </p:sp>
      <p:sp>
        <p:nvSpPr>
          <p:cNvPr id="15" name="Text 13"/>
          <p:cNvSpPr/>
          <p:nvPr/>
        </p:nvSpPr>
        <p:spPr>
          <a:xfrm>
            <a:off x="475488" y="1965960"/>
            <a:ext cx="475488"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6" name="Text 14"/>
          <p:cNvSpPr/>
          <p:nvPr/>
        </p:nvSpPr>
        <p:spPr>
          <a:xfrm>
            <a:off x="1078992" y="1947672"/>
            <a:ext cx="2011680" cy="365760"/>
          </a:xfrm>
          <a:prstGeom prst="rect">
            <a:avLst/>
          </a:prstGeom>
          <a:noFill/>
          <a:ln/>
        </p:spPr>
        <p:txBody>
          <a:bodyPr wrap="square" lIns="0" tIns="0" rIns="0" bIns="0" rtlCol="0" anchor="ctr"/>
          <a:lstStyle/>
          <a:p>
            <a:pPr marL="0" indent="0">
              <a:buNone/>
            </a:pPr>
            <a:r>
              <a:rPr lang="en-US" sz="1600" b="1" dirty="0">
                <a:solidFill>
                  <a:srgbClr val="2563EB"/>
                </a:solidFill>
                <a:latin typeface="Cambria" pitchFamily="34" charset="0"/>
                <a:ea typeface="Cambria" pitchFamily="34" charset="-122"/>
                <a:cs typeface="Cambria" pitchFamily="34" charset="-120"/>
              </a:rPr>
              <a:t>Deployment</a:t>
            </a:r>
            <a:endParaRPr lang="en-US" sz="1600" dirty="0"/>
          </a:p>
        </p:txBody>
      </p:sp>
      <p:sp>
        <p:nvSpPr>
          <p:cNvPr id="17" name="Text 15"/>
          <p:cNvSpPr/>
          <p:nvPr/>
        </p:nvSpPr>
        <p:spPr>
          <a:xfrm>
            <a:off x="1078992" y="2350008"/>
            <a:ext cx="5303520" cy="384048"/>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Manages a set of identical Pods. Handles scaling, rolling updates and self-healing automatically.</a:t>
            </a:r>
            <a:endParaRPr lang="en-US" sz="1050" dirty="0"/>
          </a:p>
        </p:txBody>
      </p:sp>
      <p:sp>
        <p:nvSpPr>
          <p:cNvPr id="18" name="Shape 16"/>
          <p:cNvSpPr/>
          <p:nvPr/>
        </p:nvSpPr>
        <p:spPr>
          <a:xfrm>
            <a:off x="6565392" y="2039112"/>
            <a:ext cx="1810512" cy="548640"/>
          </a:xfrm>
          <a:prstGeom prst="roundRect">
            <a:avLst>
              <a:gd name="adj" fmla="val 16667"/>
            </a:avLst>
          </a:prstGeom>
          <a:solidFill>
            <a:srgbClr val="FFFFFF"/>
          </a:solidFill>
          <a:ln w="12700">
            <a:solidFill>
              <a:srgbClr val="2563EB"/>
            </a:solidFill>
            <a:prstDash val="solid"/>
          </a:ln>
          <a:effectLst>
            <a:outerShdw blurRad="101600" dist="38100" dir="2700000" algn="bl" rotWithShape="0">
              <a:srgbClr val="000000">
                <a:alpha val="12000"/>
              </a:srgbClr>
            </a:outerShdw>
          </a:effectLst>
        </p:spPr>
      </p:sp>
      <p:sp>
        <p:nvSpPr>
          <p:cNvPr id="19" name="Text 17"/>
          <p:cNvSpPr/>
          <p:nvPr/>
        </p:nvSpPr>
        <p:spPr>
          <a:xfrm>
            <a:off x="6565392" y="2039112"/>
            <a:ext cx="1810512" cy="548640"/>
          </a:xfrm>
          <a:prstGeom prst="rect">
            <a:avLst/>
          </a:prstGeom>
          <a:noFill/>
          <a:ln/>
        </p:spPr>
        <p:txBody>
          <a:bodyPr wrap="square" lIns="0" tIns="0" rIns="0" bIns="0" rtlCol="0" anchor="ctr"/>
          <a:lstStyle/>
          <a:p>
            <a:pPr marL="0" indent="0" algn="ctr">
              <a:buNone/>
            </a:pPr>
            <a:r>
              <a:rPr lang="en-US" sz="900" dirty="0">
                <a:solidFill>
                  <a:srgbClr val="2563EB"/>
                </a:solidFill>
                <a:latin typeface="Arial" pitchFamily="34" charset="0"/>
                <a:ea typeface="Arial" pitchFamily="34" charset="-122"/>
                <a:cs typeface="Arial" pitchFamily="34" charset="-120"/>
              </a:rPr>
              <a:t>≈ Docker</a:t>
            </a:r>
            <a:endParaRPr lang="en-US" sz="900" dirty="0"/>
          </a:p>
          <a:p>
            <a:pPr marL="0" indent="0" algn="ctr">
              <a:buNone/>
            </a:pPr>
            <a:r>
              <a:rPr lang="en-US" sz="900" dirty="0">
                <a:solidFill>
                  <a:srgbClr val="2563EB"/>
                </a:solidFill>
                <a:latin typeface="Arial" pitchFamily="34" charset="0"/>
                <a:ea typeface="Arial" pitchFamily="34" charset="-122"/>
                <a:cs typeface="Arial" pitchFamily="34" charset="-120"/>
              </a:rPr>
              <a:t>docker run × N</a:t>
            </a:r>
            <a:endParaRPr lang="en-US" sz="900" dirty="0"/>
          </a:p>
        </p:txBody>
      </p:sp>
      <p:sp>
        <p:nvSpPr>
          <p:cNvPr id="20" name="Shape 18"/>
          <p:cNvSpPr/>
          <p:nvPr/>
        </p:nvSpPr>
        <p:spPr>
          <a:xfrm>
            <a:off x="320040" y="2880360"/>
            <a:ext cx="8503920" cy="914400"/>
          </a:xfrm>
          <a:prstGeom prst="roundRect">
            <a:avLst>
              <a:gd name="adj" fmla="val 10000"/>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21" name="Shape 19"/>
          <p:cNvSpPr/>
          <p:nvPr/>
        </p:nvSpPr>
        <p:spPr>
          <a:xfrm>
            <a:off x="475488" y="2971800"/>
            <a:ext cx="475488" cy="713232"/>
          </a:xfrm>
          <a:prstGeom prst="roundRect">
            <a:avLst>
              <a:gd name="adj" fmla="val 13462"/>
            </a:avLst>
          </a:prstGeom>
          <a:solidFill>
            <a:srgbClr val="059669"/>
          </a:solidFill>
          <a:ln w="12700">
            <a:solidFill>
              <a:srgbClr val="059669"/>
            </a:solidFill>
            <a:prstDash val="solid"/>
          </a:ln>
        </p:spPr>
      </p:sp>
      <p:sp>
        <p:nvSpPr>
          <p:cNvPr id="22" name="Text 20"/>
          <p:cNvSpPr/>
          <p:nvPr/>
        </p:nvSpPr>
        <p:spPr>
          <a:xfrm>
            <a:off x="475488" y="2971800"/>
            <a:ext cx="475488"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23" name="Text 21"/>
          <p:cNvSpPr/>
          <p:nvPr/>
        </p:nvSpPr>
        <p:spPr>
          <a:xfrm>
            <a:off x="1078992" y="2953512"/>
            <a:ext cx="2011680" cy="365760"/>
          </a:xfrm>
          <a:prstGeom prst="rect">
            <a:avLst/>
          </a:prstGeom>
          <a:noFill/>
          <a:ln/>
        </p:spPr>
        <p:txBody>
          <a:bodyPr wrap="square" lIns="0" tIns="0" rIns="0" bIns="0" rtlCol="0" anchor="ctr"/>
          <a:lstStyle/>
          <a:p>
            <a:pPr marL="0" indent="0">
              <a:buNone/>
            </a:pPr>
            <a:r>
              <a:rPr lang="en-US" sz="1600" b="1" dirty="0">
                <a:solidFill>
                  <a:srgbClr val="059669"/>
                </a:solidFill>
                <a:latin typeface="Cambria" pitchFamily="34" charset="0"/>
                <a:ea typeface="Cambria" pitchFamily="34" charset="-122"/>
                <a:cs typeface="Cambria" pitchFamily="34" charset="-120"/>
              </a:rPr>
              <a:t>Service</a:t>
            </a:r>
            <a:endParaRPr lang="en-US" sz="1600" dirty="0"/>
          </a:p>
        </p:txBody>
      </p:sp>
      <p:sp>
        <p:nvSpPr>
          <p:cNvPr id="24" name="Text 22"/>
          <p:cNvSpPr/>
          <p:nvPr/>
        </p:nvSpPr>
        <p:spPr>
          <a:xfrm>
            <a:off x="1078992" y="3355848"/>
            <a:ext cx="5303520" cy="384048"/>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Gives your Pods a stable network address. Automatically load balances traffic across all healthy Pods.</a:t>
            </a:r>
            <a:endParaRPr lang="en-US" sz="1050" dirty="0"/>
          </a:p>
        </p:txBody>
      </p:sp>
      <p:sp>
        <p:nvSpPr>
          <p:cNvPr id="25" name="Shape 23"/>
          <p:cNvSpPr/>
          <p:nvPr/>
        </p:nvSpPr>
        <p:spPr>
          <a:xfrm>
            <a:off x="6565392" y="3044952"/>
            <a:ext cx="1810512" cy="548640"/>
          </a:xfrm>
          <a:prstGeom prst="roundRect">
            <a:avLst>
              <a:gd name="adj" fmla="val 16667"/>
            </a:avLst>
          </a:prstGeom>
          <a:solidFill>
            <a:srgbClr val="FFFFFF"/>
          </a:solidFill>
          <a:ln w="12700">
            <a:solidFill>
              <a:srgbClr val="059669"/>
            </a:solidFill>
            <a:prstDash val="solid"/>
          </a:ln>
          <a:effectLst>
            <a:outerShdw blurRad="101600" dist="38100" dir="2700000" algn="bl" rotWithShape="0">
              <a:srgbClr val="000000">
                <a:alpha val="12000"/>
              </a:srgbClr>
            </a:outerShdw>
          </a:effectLst>
        </p:spPr>
      </p:sp>
      <p:sp>
        <p:nvSpPr>
          <p:cNvPr id="26" name="Text 24"/>
          <p:cNvSpPr/>
          <p:nvPr/>
        </p:nvSpPr>
        <p:spPr>
          <a:xfrm>
            <a:off x="6565392" y="3044952"/>
            <a:ext cx="1810512" cy="548640"/>
          </a:xfrm>
          <a:prstGeom prst="rect">
            <a:avLst/>
          </a:prstGeom>
          <a:noFill/>
          <a:ln/>
        </p:spPr>
        <p:txBody>
          <a:bodyPr wrap="square" lIns="0" tIns="0" rIns="0" bIns="0" rtlCol="0" anchor="ctr"/>
          <a:lstStyle/>
          <a:p>
            <a:pPr marL="0" indent="0" algn="ctr">
              <a:buNone/>
            </a:pPr>
            <a:r>
              <a:rPr lang="en-US" sz="900" dirty="0">
                <a:solidFill>
                  <a:srgbClr val="059669"/>
                </a:solidFill>
                <a:latin typeface="Arial" pitchFamily="34" charset="0"/>
                <a:ea typeface="Arial" pitchFamily="34" charset="-122"/>
                <a:cs typeface="Arial" pitchFamily="34" charset="-120"/>
              </a:rPr>
              <a:t>≈ Docker</a:t>
            </a:r>
            <a:endParaRPr lang="en-US" sz="900" dirty="0"/>
          </a:p>
          <a:p>
            <a:pPr marL="0" indent="0" algn="ctr">
              <a:buNone/>
            </a:pPr>
            <a:r>
              <a:rPr lang="en-US" sz="900" dirty="0">
                <a:solidFill>
                  <a:srgbClr val="059669"/>
                </a:solidFill>
                <a:latin typeface="Arial" pitchFamily="34" charset="0"/>
                <a:ea typeface="Arial" pitchFamily="34" charset="-122"/>
                <a:cs typeface="Arial" pitchFamily="34" charset="-120"/>
              </a:rPr>
              <a:t>-p port mapping</a:t>
            </a:r>
            <a:endParaRPr lang="en-US" sz="900" dirty="0"/>
          </a:p>
        </p:txBody>
      </p:sp>
      <p:sp>
        <p:nvSpPr>
          <p:cNvPr id="27" name="Shape 25"/>
          <p:cNvSpPr/>
          <p:nvPr/>
        </p:nvSpPr>
        <p:spPr>
          <a:xfrm>
            <a:off x="320040" y="3886200"/>
            <a:ext cx="8503920" cy="914400"/>
          </a:xfrm>
          <a:prstGeom prst="roundRect">
            <a:avLst>
              <a:gd name="adj" fmla="val 10000"/>
            </a:avLst>
          </a:prstGeom>
          <a:solidFill>
            <a:srgbClr val="F8FAFC"/>
          </a:solidFill>
          <a:ln w="12700">
            <a:solidFill>
              <a:srgbClr val="E2E8F0"/>
            </a:solidFill>
            <a:prstDash val="solid"/>
          </a:ln>
          <a:effectLst>
            <a:outerShdw blurRad="101600" dist="38100" dir="2700000" algn="bl" rotWithShape="0">
              <a:srgbClr val="000000">
                <a:alpha val="12000"/>
              </a:srgbClr>
            </a:outerShdw>
          </a:effectLst>
        </p:spPr>
      </p:sp>
      <p:sp>
        <p:nvSpPr>
          <p:cNvPr id="28" name="Shape 26"/>
          <p:cNvSpPr/>
          <p:nvPr/>
        </p:nvSpPr>
        <p:spPr>
          <a:xfrm>
            <a:off x="475488" y="3977640"/>
            <a:ext cx="475488" cy="713232"/>
          </a:xfrm>
          <a:prstGeom prst="roundRect">
            <a:avLst>
              <a:gd name="adj" fmla="val 13462"/>
            </a:avLst>
          </a:prstGeom>
          <a:solidFill>
            <a:srgbClr val="7C3AED"/>
          </a:solidFill>
          <a:ln w="12700">
            <a:solidFill>
              <a:srgbClr val="7C3AED"/>
            </a:solidFill>
            <a:prstDash val="solid"/>
          </a:ln>
        </p:spPr>
      </p:sp>
      <p:sp>
        <p:nvSpPr>
          <p:cNvPr id="29" name="Text 27"/>
          <p:cNvSpPr/>
          <p:nvPr/>
        </p:nvSpPr>
        <p:spPr>
          <a:xfrm>
            <a:off x="475488" y="3977640"/>
            <a:ext cx="475488"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30" name="Text 28"/>
          <p:cNvSpPr/>
          <p:nvPr/>
        </p:nvSpPr>
        <p:spPr>
          <a:xfrm>
            <a:off x="1078992" y="3959352"/>
            <a:ext cx="2011680" cy="365760"/>
          </a:xfrm>
          <a:prstGeom prst="rect">
            <a:avLst/>
          </a:prstGeom>
          <a:noFill/>
          <a:ln/>
        </p:spPr>
        <p:txBody>
          <a:bodyPr wrap="square" lIns="0" tIns="0" rIns="0" bIns="0" rtlCol="0" anchor="ctr"/>
          <a:lstStyle/>
          <a:p>
            <a:pPr marL="0" indent="0">
              <a:buNone/>
            </a:pPr>
            <a:r>
              <a:rPr lang="en-US" sz="1600" b="1" dirty="0">
                <a:solidFill>
                  <a:srgbClr val="7C3AED"/>
                </a:solidFill>
                <a:latin typeface="Cambria" pitchFamily="34" charset="0"/>
                <a:ea typeface="Cambria" pitchFamily="34" charset="-122"/>
                <a:cs typeface="Cambria" pitchFamily="34" charset="-120"/>
              </a:rPr>
              <a:t>Namespace</a:t>
            </a:r>
            <a:endParaRPr lang="en-US" sz="1600" dirty="0"/>
          </a:p>
        </p:txBody>
      </p:sp>
      <p:sp>
        <p:nvSpPr>
          <p:cNvPr id="31" name="Text 29"/>
          <p:cNvSpPr/>
          <p:nvPr/>
        </p:nvSpPr>
        <p:spPr>
          <a:xfrm>
            <a:off x="1078992" y="4361688"/>
            <a:ext cx="5303520" cy="384048"/>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A way to divide one cluster into isolated environments — e.g. dev, staging, production in the same cluster.</a:t>
            </a:r>
            <a:endParaRPr lang="en-US" sz="1050" dirty="0"/>
          </a:p>
        </p:txBody>
      </p:sp>
      <p:sp>
        <p:nvSpPr>
          <p:cNvPr id="32" name="Shape 30"/>
          <p:cNvSpPr/>
          <p:nvPr/>
        </p:nvSpPr>
        <p:spPr>
          <a:xfrm>
            <a:off x="6565392" y="4050792"/>
            <a:ext cx="1810512" cy="548640"/>
          </a:xfrm>
          <a:prstGeom prst="roundRect">
            <a:avLst>
              <a:gd name="adj" fmla="val 16667"/>
            </a:avLst>
          </a:prstGeom>
          <a:solidFill>
            <a:srgbClr val="FFFFFF"/>
          </a:solidFill>
          <a:ln w="12700">
            <a:solidFill>
              <a:srgbClr val="7C3AED"/>
            </a:solidFill>
            <a:prstDash val="solid"/>
          </a:ln>
          <a:effectLst>
            <a:outerShdw blurRad="101600" dist="38100" dir="2700000" algn="bl" rotWithShape="0">
              <a:srgbClr val="000000">
                <a:alpha val="12000"/>
              </a:srgbClr>
            </a:outerShdw>
          </a:effectLst>
        </p:spPr>
      </p:sp>
      <p:sp>
        <p:nvSpPr>
          <p:cNvPr id="33" name="Text 31"/>
          <p:cNvSpPr/>
          <p:nvPr/>
        </p:nvSpPr>
        <p:spPr>
          <a:xfrm>
            <a:off x="6565392" y="4050792"/>
            <a:ext cx="1810512" cy="548640"/>
          </a:xfrm>
          <a:prstGeom prst="rect">
            <a:avLst/>
          </a:prstGeom>
          <a:noFill/>
          <a:ln/>
        </p:spPr>
        <p:txBody>
          <a:bodyPr wrap="square" lIns="0" tIns="0" rIns="0" bIns="0" rtlCol="0" anchor="ctr"/>
          <a:lstStyle/>
          <a:p>
            <a:pPr marL="0" indent="0" algn="ctr">
              <a:buNone/>
            </a:pPr>
            <a:r>
              <a:rPr lang="en-US" sz="900" dirty="0">
                <a:solidFill>
                  <a:srgbClr val="7C3AED"/>
                </a:solidFill>
                <a:latin typeface="Arial" pitchFamily="34" charset="0"/>
                <a:ea typeface="Arial" pitchFamily="34" charset="-122"/>
                <a:cs typeface="Arial" pitchFamily="34" charset="-120"/>
              </a:rPr>
              <a:t>≈ Docker</a:t>
            </a:r>
            <a:endParaRPr lang="en-US" sz="900" dirty="0"/>
          </a:p>
          <a:p>
            <a:pPr marL="0" indent="0" algn="ctr">
              <a:buNone/>
            </a:pPr>
            <a:r>
              <a:rPr lang="en-US" sz="900" dirty="0">
                <a:solidFill>
                  <a:srgbClr val="7C3AED"/>
                </a:solidFill>
                <a:latin typeface="Arial" pitchFamily="34" charset="0"/>
                <a:ea typeface="Arial" pitchFamily="34" charset="-122"/>
                <a:cs typeface="Arial" pitchFamily="34" charset="-120"/>
              </a:rPr>
              <a:t>(none)</a:t>
            </a:r>
            <a:endParaRPr lang="en-US" sz="900" dirty="0"/>
          </a:p>
        </p:txBody>
      </p:sp>
      <p:sp>
        <p:nvSpPr>
          <p:cNvPr id="34" name="Shape 32"/>
          <p:cNvSpPr/>
          <p:nvPr/>
        </p:nvSpPr>
        <p:spPr>
          <a:xfrm>
            <a:off x="320040" y="4919472"/>
            <a:ext cx="8503920" cy="365760"/>
          </a:xfrm>
          <a:prstGeom prst="roundRect">
            <a:avLst>
              <a:gd name="adj" fmla="val 25000"/>
            </a:avLst>
          </a:prstGeom>
          <a:solidFill>
            <a:srgbClr val="FFF7ED"/>
          </a:solidFill>
          <a:ln w="12700">
            <a:solidFill>
              <a:srgbClr val="FED7AA"/>
            </a:solidFill>
            <a:prstDash val="solid"/>
          </a:ln>
          <a:effectLst>
            <a:outerShdw blurRad="101600" dist="38100" dir="2700000" algn="bl" rotWithShape="0">
              <a:srgbClr val="000000">
                <a:alpha val="12000"/>
              </a:srgbClr>
            </a:outerShdw>
          </a:effectLst>
        </p:spPr>
      </p:sp>
      <p:sp>
        <p:nvSpPr>
          <p:cNvPr id="35" name="Text 33"/>
          <p:cNvSpPr/>
          <p:nvPr/>
        </p:nvSpPr>
        <p:spPr>
          <a:xfrm>
            <a:off x="457200" y="5010912"/>
            <a:ext cx="8229600" cy="274320"/>
          </a:xfrm>
          <a:prstGeom prst="rect">
            <a:avLst/>
          </a:prstGeom>
          <a:noFill/>
          <a:ln/>
        </p:spPr>
        <p:txBody>
          <a:bodyPr wrap="square" lIns="0" tIns="0" rIns="0" bIns="0" rtlCol="0" anchor="ctr"/>
          <a:lstStyle/>
          <a:p>
            <a:pPr marL="0" indent="0">
              <a:buNone/>
            </a:pPr>
            <a:r>
              <a:rPr lang="en-US" sz="1000" b="1" dirty="0">
                <a:solidFill>
                  <a:srgbClr val="C2410C"/>
                </a:solidFill>
                <a:latin typeface="Arial" pitchFamily="34" charset="0"/>
                <a:ea typeface="Arial" pitchFamily="34" charset="-122"/>
                <a:cs typeface="Arial" pitchFamily="34" charset="-120"/>
              </a:rPr>
              <a:t>🎓  TRAINER NOTE  —  Docker Bridge</a:t>
            </a:r>
            <a:endParaRPr lang="en-US" sz="1000" dirty="0"/>
          </a:p>
        </p:txBody>
      </p:sp>
      <p:sp>
        <p:nvSpPr>
          <p:cNvPr id="36" name="Text 34"/>
          <p:cNvSpPr/>
          <p:nvPr/>
        </p:nvSpPr>
        <p:spPr>
          <a:xfrm>
            <a:off x="457200" y="5303520"/>
            <a:ext cx="8229600" cy="0"/>
          </a:xfrm>
          <a:prstGeom prst="rect">
            <a:avLst/>
          </a:prstGeom>
          <a:noFill/>
          <a:ln/>
        </p:spPr>
        <p:txBody>
          <a:bodyPr wrap="square" lIns="0" tIns="0" rIns="0" bIns="0" rtlCol="0" anchor="ctr"/>
          <a:lstStyle/>
          <a:p>
            <a:pPr marL="0" indent="0">
              <a:buNone/>
            </a:pPr>
            <a:r>
              <a:rPr lang="en-US" sz="1000" dirty="0">
                <a:solidFill>
                  <a:srgbClr val="1C1917"/>
                </a:solidFill>
                <a:latin typeface="Arial" pitchFamily="34" charset="0"/>
                <a:ea typeface="Arial" pitchFamily="34" charset="-122"/>
                <a:cs typeface="Arial" pitchFamily="34" charset="-120"/>
              </a:rPr>
              <a:t>The right column maps each K8s object to its Docker equivalent. Refer to it whenever students look confused — 'You already know the Docker version of this.'</a:t>
            </a:r>
            <a:endParaRPr lang="en-US" sz="1000" dirty="0"/>
          </a:p>
        </p:txBody>
      </p:sp>
      <p:sp>
        <p:nvSpPr>
          <p:cNvPr id="37" name="Shape 35"/>
          <p:cNvSpPr/>
          <p:nvPr/>
        </p:nvSpPr>
        <p:spPr>
          <a:xfrm>
            <a:off x="0" y="4846320"/>
            <a:ext cx="9144000" cy="297180"/>
          </a:xfrm>
          <a:prstGeom prst="rect">
            <a:avLst/>
          </a:prstGeom>
          <a:solidFill>
            <a:srgbClr val="0F172A"/>
          </a:solidFill>
          <a:ln w="12700">
            <a:solidFill>
              <a:srgbClr val="0F172A"/>
            </a:solidFill>
            <a:prstDash val="solid"/>
          </a:ln>
        </p:spPr>
      </p:sp>
      <p:sp>
        <p:nvSpPr>
          <p:cNvPr id="38" name="Text 36"/>
          <p:cNvSpPr/>
          <p:nvPr/>
        </p:nvSpPr>
        <p:spPr>
          <a:xfrm>
            <a:off x="365760" y="4864608"/>
            <a:ext cx="8412480" cy="256032"/>
          </a:xfrm>
          <a:prstGeom prst="rect">
            <a:avLst/>
          </a:prstGeom>
          <a:noFill/>
          <a:ln/>
        </p:spPr>
        <p:txBody>
          <a:bodyPr wrap="square" lIns="0" tIns="0" rIns="0" bIns="0"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Trainer Guide  —  Section 02: Architecture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Training - Track A - Trainer Guide Part 1</dc:title>
  <dc:subject>PptxGenJS Presentation</dc:subject>
  <dc:creator>PptxGenJS</dc:creator>
  <cp:lastModifiedBy>PptxGenJS</cp:lastModifiedBy>
  <cp:revision>4</cp:revision>
  <dcterms:created xsi:type="dcterms:W3CDTF">2026-07-01T17:59:22Z</dcterms:created>
  <dcterms:modified xsi:type="dcterms:W3CDTF">2026-07-14T17:46:39Z</dcterms:modified>
</cp:coreProperties>
</file>