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TRAINER GUIDE — TRACK B — PART 1 OF 4
Track B assumes students have completed Track A (or equivalent). They already know:
- What Kubernetes is and why it exists
- Pods, Deployments, Services, kubectl basics
This track adds: Advanced architecture, Resource Management, ConfigMaps, Namespaces (Day 1) and Secrets, RBAC, Helm, Monitoring, Troubleshooting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DIFFERENCE from Track A: Track B students are more experienced. They will ask harder questions and move faster. Be ready to go deeper on any topic.
Metrics Server install if not present:
kubectl apply -f https://github.com/kubernetes-sigs/metrics-server/releases/latest/download/components.yaml
Have a broken deployment ready for the troubleshooting section:
kubectl create deployment broken --image=nginx:doesnotexist -n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09:00 – 09:10
Opening question: 'Yesterday you deployed a container and scaled it. Today we go deeper — how do you manage configuration without rebuilding images? How do you control who can access what? How do you package a complex app for reuse? These are production-level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Say: 'In Track A you learned what architecture looks like. Now we go one level deeper — how does Kubernetes decide where to place a Pod? How does it know when a Pod is healthy? How do you prevent one app from starving another of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 09:25  (15 min)
LIVE DEMO:
kubectl apply -f deployment-with-resources.yaml
kubectl describe pod &lt;name&gt;   # shows Requests and Limits sections
kubectl top pods   # shows actual usage vs limits (requires Metrics Server)
OOMKilled demo: set memory limit to 10Mi on a node.js app. It will crash immediately with OOMKilled. kubectl describe pod shows the exit reason.
Best practice: ALWAYS set requests and limits in production. Without them, a single misbehaving Pod can consume all node resources and evict every other Pod on that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09:25 – 09:44  (19 min)
Liveness vs Readiness — the most common confusion:
'Liveness: is the app alive at all? Readiness: is it ready to serve users?'
Example: a web server starts but needs 30 seconds to warm up its cache. Without readiness probe, traffic hits it immediately and users get errors. With readiness probe, the Pod waits until warm-up is done before receiving traffic.
LIVE DEMO — deploy without probes first, then add them:
kubectl apply -f deployment-with-probes.yaml
kubectl describe pod &lt;name&gt;   # shows probe configuration
kubectl get events   # shows probe failures if misconfigured
Common mistake: initialDelaySeconds too short. App crashes on startup because liveness probe fires before app is ready. Solution: set initialDelaySeconds to longer than app startup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Say: 'Hard question: if you have the same app running in dev, staging and production, how do you handle different database URLs, API keys, and feature flags? Rebuilding a Docker image for each environment is wrong. ConfigMaps solve this — configuration lives outside the container and is injected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 10:02  (18 min)
LIVE DEMO:
kubectl apply -f configmap.yaml
kubectl get configmaps
kubectl describe configmap app-config
Then apply a deployment that consumes it as env vars:
kubectl exec -it &lt;pod&gt; -- env | grep DATABASE
Then change the ConfigMap and show the Pod doesn't automatically reload (needs restart):
kubectl rollout restart deployment/webapp
Key limitation: ConfigMaps are NOT for secrets. Database passwords, API keys, tokens → use Secrets (covered in Track B Day 2).
Volume mount use case: when your app reads a config file (like nginx.conf or app.properties). The whole ConfigMap is mounted as a directory where each key becomes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10:35 (after break)
Say: 'So far everything has lived in the default namespace. In real organisations, you have dev, staging and production all running on the same cluster. Namespaces let you separate them completely — with independent access controls, resource quotas and network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10:35 – 10:52  (17 min)
LIVE DEMO:
kubectl create ns dev
kubectl create ns production
kubectl get namespaces
kubectl run nginx --image=nginx:alpine -n dev
kubectl get pods   # shows nothing — wrong namespace
kubectl get pods -n dev   # shows the pod
Key concept: 'kubectl get pods without -n only shows the default namespace. ALWAYS specify -n in real environments or you will be confused about where your pods are.'
Set default namespace shortcut:
kubectl config set-context --current --namespace=dev
Now all commands go to dev by default until changed back.
Resource quotas per namespace (mention, don't go deep unless time):
kubectl create quota dev-quota --hard=pods=20,cpu=4,memory=8Gi -n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10:52 – 11:05  (13 min)
LIVE DEMO:
kubectl apply -f quota.yaml
kubectl describe quota dev-quota -n dev
# Shows used vs hard limits
Then try to exceed the quota:
kubectl create deployment stress --image=nginx --replicas=25 -n dev
# Will fail with: exceeded quota
This is a powerful demo — shows the quota is actively enforced, not just advisory.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11:05 – 11:15  (10 min)
BP 03 is critical and leads directly into Day 2 Secrets section. Emphasise: 'If I can kubectl describe configmap and see your database password in plain text, that is a security incident waiting to happen. We solve this tomorrow with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C2D12"/>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EF4444"/>
          </a:solidFill>
          <a:ln w="12700">
            <a:solidFill>
              <a:srgbClr val="EF4444"/>
            </a:solidFill>
            <a:prstDash val="solid"/>
          </a:ln>
        </p:spPr>
      </p:sp>
      <p:sp>
        <p:nvSpPr>
          <p:cNvPr id="3" name="Shape 1"/>
          <p:cNvSpPr/>
          <p:nvPr/>
        </p:nvSpPr>
        <p:spPr>
          <a:xfrm>
            <a:off x="6583680" y="-1097280"/>
            <a:ext cx="4114800" cy="4114800"/>
          </a:xfrm>
          <a:prstGeom prst="ellipse">
            <a:avLst/>
          </a:prstGeom>
          <a:solidFill>
            <a:srgbClr val="EF4444">
              <a:alpha val="12000"/>
            </a:srgbClr>
          </a:solidFill>
          <a:ln w="12700">
            <a:solidFill>
              <a:srgbClr val="EF4444">
                <a:alpha val="22000"/>
              </a:srgbClr>
            </a:solidFill>
            <a:prstDash val="solid"/>
          </a:ln>
        </p:spPr>
      </p:sp>
      <p:sp>
        <p:nvSpPr>
          <p:cNvPr id="4" name="Text 2"/>
          <p:cNvSpPr/>
          <p:nvPr/>
        </p:nvSpPr>
        <p:spPr>
          <a:xfrm>
            <a:off x="594360" y="82296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KUBERNETES</a:t>
            </a:r>
            <a:endParaRPr lang="en-US" sz="4800" dirty="0"/>
          </a:p>
        </p:txBody>
      </p:sp>
      <p:sp>
        <p:nvSpPr>
          <p:cNvPr id="5" name="Text 3"/>
          <p:cNvSpPr/>
          <p:nvPr/>
        </p:nvSpPr>
        <p:spPr>
          <a:xfrm>
            <a:off x="594360" y="1691640"/>
            <a:ext cx="7315200" cy="594360"/>
          </a:xfrm>
          <a:prstGeom prst="rect">
            <a:avLst/>
          </a:prstGeom>
          <a:noFill/>
          <a:ln/>
        </p:spPr>
        <p:txBody>
          <a:bodyPr wrap="square" lIns="0" tIns="0" rIns="0" bIns="0" rtlCol="0" anchor="ctr"/>
          <a:lstStyle/>
          <a:p>
            <a:pPr indent="0" marL="0">
              <a:buNone/>
            </a:pPr>
            <a:r>
              <a:rPr lang="en-US" sz="2200" dirty="0">
                <a:solidFill>
                  <a:srgbClr val="FCA5A5"/>
                </a:solidFill>
                <a:latin typeface="Cambria" pitchFamily="34" charset="0"/>
                <a:ea typeface="Cambria" pitchFamily="34" charset="-122"/>
                <a:cs typeface="Cambria" pitchFamily="34" charset="-120"/>
              </a:rPr>
              <a:t>Trainer Guide  —  Track B  —  Part 1 of 4</a:t>
            </a:r>
            <a:endParaRPr lang="en-US" sz="2200" dirty="0"/>
          </a:p>
        </p:txBody>
      </p:sp>
      <p:sp>
        <p:nvSpPr>
          <p:cNvPr id="6" name="Shape 4"/>
          <p:cNvSpPr/>
          <p:nvPr/>
        </p:nvSpPr>
        <p:spPr>
          <a:xfrm>
            <a:off x="594360" y="2395728"/>
            <a:ext cx="4572000" cy="27432"/>
          </a:xfrm>
          <a:prstGeom prst="rect">
            <a:avLst/>
          </a:prstGeom>
          <a:solidFill>
            <a:srgbClr val="EF4444"/>
          </a:solidFill>
          <a:ln w="12700">
            <a:solidFill>
              <a:srgbClr val="EF4444"/>
            </a:solidFill>
            <a:prstDash val="solid"/>
          </a:ln>
        </p:spPr>
      </p:sp>
      <p:sp>
        <p:nvSpPr>
          <p:cNvPr id="7" name="Text 5"/>
          <p:cNvSpPr/>
          <p:nvPr/>
        </p:nvSpPr>
        <p:spPr>
          <a:xfrm>
            <a:off x="594360" y="2560320"/>
            <a:ext cx="7772400" cy="329184"/>
          </a:xfrm>
          <a:prstGeom prst="rect">
            <a:avLst/>
          </a:prstGeom>
          <a:noFill/>
          <a:ln/>
        </p:spPr>
        <p:txBody>
          <a:bodyPr wrap="square" lIns="0" tIns="0" rIns="0" bIns="0" rtlCol="0" anchor="ctr"/>
          <a:lstStyle/>
          <a:p>
            <a:pPr indent="0" marL="0">
              <a:buNone/>
            </a:pPr>
            <a:r>
              <a:rPr lang="en-US" sz="1200" b="1" dirty="0">
                <a:solidFill>
                  <a:srgbClr val="FCA5A5"/>
                </a:solidFill>
                <a:latin typeface="Arial" pitchFamily="34" charset="0"/>
                <a:ea typeface="Arial" pitchFamily="34" charset="-122"/>
                <a:cs typeface="Arial" pitchFamily="34" charset="-120"/>
              </a:rPr>
              <a:t>🔒  Trainer only — not for distribution.</a:t>
            </a:r>
            <a:endParaRPr lang="en-US" sz="1200" dirty="0"/>
          </a:p>
        </p:txBody>
      </p:sp>
      <p:sp>
        <p:nvSpPr>
          <p:cNvPr id="8" name="Text 6"/>
          <p:cNvSpPr/>
          <p:nvPr/>
        </p:nvSpPr>
        <p:spPr>
          <a:xfrm>
            <a:off x="594360" y="2926080"/>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Track B  </a:t>
            </a:r>
            <a:pPr indent="0" marL="0">
              <a:buNone/>
            </a:pPr>
            <a:r>
              <a:rPr lang="en-US" sz="1150" dirty="0">
                <a:solidFill>
                  <a:srgbClr val="FCA5A5"/>
                </a:solidFill>
                <a:latin typeface="Arial" pitchFamily="34" charset="0"/>
                <a:ea typeface="Arial" pitchFamily="34" charset="-122"/>
                <a:cs typeface="Arial" pitchFamily="34" charset="-120"/>
              </a:rPr>
              <a:t>For students who have completed Track A Kubernetes (or have prior K8s experience)</a:t>
            </a:r>
            <a:endParaRPr lang="en-US" sz="1150" dirty="0"/>
          </a:p>
        </p:txBody>
      </p:sp>
      <p:sp>
        <p:nvSpPr>
          <p:cNvPr id="9" name="Text 7"/>
          <p:cNvSpPr/>
          <p:nvPr/>
        </p:nvSpPr>
        <p:spPr>
          <a:xfrm>
            <a:off x="594360" y="3291840"/>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Part 1 covers  </a:t>
            </a:r>
            <a:pPr indent="0" marL="0">
              <a:buNone/>
            </a:pPr>
            <a:r>
              <a:rPr lang="en-US" sz="1150" dirty="0">
                <a:solidFill>
                  <a:srgbClr val="FCA5A5"/>
                </a:solidFill>
                <a:latin typeface="Arial" pitchFamily="34" charset="0"/>
                <a:ea typeface="Arial" pitchFamily="34" charset="-122"/>
                <a:cs typeface="Arial" pitchFamily="34" charset="-120"/>
              </a:rPr>
              <a:t>Prep, Agenda, Section 01 (Advanced Architecture), Section 02 (Resource Mgmt), Section 03 (ConfigMaps)</a:t>
            </a:r>
            <a:endParaRPr lang="en-US" sz="1150" dirty="0"/>
          </a:p>
        </p:txBody>
      </p:sp>
      <p:sp>
        <p:nvSpPr>
          <p:cNvPr id="10" name="Shape 8"/>
          <p:cNvSpPr/>
          <p:nvPr/>
        </p:nvSpPr>
        <p:spPr>
          <a:xfrm>
            <a:off x="0" y="4754880"/>
            <a:ext cx="9144000" cy="388620"/>
          </a:xfrm>
          <a:prstGeom prst="rect">
            <a:avLst/>
          </a:prstGeom>
          <a:solidFill>
            <a:srgbClr val="450A0A"/>
          </a:solidFill>
          <a:ln w="12700">
            <a:solidFill>
              <a:srgbClr val="450A0A"/>
            </a:solidFill>
            <a:prstDash val="solid"/>
          </a:ln>
        </p:spPr>
      </p:sp>
      <p:sp>
        <p:nvSpPr>
          <p:cNvPr id="11" name="Text 9"/>
          <p:cNvSpPr/>
          <p:nvPr/>
        </p:nvSpPr>
        <p:spPr>
          <a:xfrm>
            <a:off x="457200" y="4773168"/>
            <a:ext cx="8229600" cy="320040"/>
          </a:xfrm>
          <a:prstGeom prst="rect">
            <a:avLst/>
          </a:prstGeom>
          <a:noFill/>
          <a:ln/>
        </p:spPr>
        <p:txBody>
          <a:bodyPr wrap="square" lIns="0" tIns="0" rIns="0" bIns="0" rtlCol="0" anchor="ctr"/>
          <a:lstStyle/>
          <a:p>
            <a:pPr algn="ctr" indent="0" marL="0">
              <a:buNone/>
            </a:pPr>
            <a:r>
              <a:rPr lang="en-US" sz="1000" dirty="0">
                <a:solidFill>
                  <a:srgbClr val="FCA5A5"/>
                </a:solidFill>
                <a:latin typeface="Arial" pitchFamily="34" charset="0"/>
                <a:ea typeface="Arial" pitchFamily="34" charset="-122"/>
                <a:cs typeface="Arial" pitchFamily="34" charset="-120"/>
              </a:rPr>
              <a:t>CONFIDENTIAL — TRAINER USE ONLY — Do Not Distribute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TRAINER PREPARATION — TRACK B</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207008"/>
            <a:ext cx="2697480" cy="3657600"/>
          </a:xfrm>
          <a:prstGeom prst="roundRect">
            <a:avLst>
              <a:gd name="adj" fmla="val 3390"/>
            </a:avLst>
          </a:prstGeom>
          <a:solidFill>
            <a:srgbClr val="E8EF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Shape 7"/>
          <p:cNvSpPr/>
          <p:nvPr/>
        </p:nvSpPr>
        <p:spPr>
          <a:xfrm>
            <a:off x="429768" y="1316736"/>
            <a:ext cx="2487168" cy="347472"/>
          </a:xfrm>
          <a:prstGeom prst="roundRect">
            <a:avLst>
              <a:gd name="adj" fmla="val 15789"/>
            </a:avLst>
          </a:prstGeom>
          <a:solidFill>
            <a:srgbClr val="326CE5"/>
          </a:solidFill>
          <a:ln w="12700">
            <a:solidFill>
              <a:srgbClr val="326CE5"/>
            </a:solidFill>
            <a:prstDash val="solid"/>
          </a:ln>
        </p:spPr>
      </p:sp>
      <p:sp>
        <p:nvSpPr>
          <p:cNvPr id="10" name="Text 8"/>
          <p:cNvSpPr/>
          <p:nvPr/>
        </p:nvSpPr>
        <p:spPr>
          <a:xfrm>
            <a:off x="429768"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Cluster Requirements</a:t>
            </a:r>
            <a:endParaRPr lang="en-US" sz="950" dirty="0"/>
          </a:p>
        </p:txBody>
      </p:sp>
      <p:sp>
        <p:nvSpPr>
          <p:cNvPr id="11" name="Text 9"/>
          <p:cNvSpPr/>
          <p:nvPr/>
        </p:nvSpPr>
        <p:spPr>
          <a:xfrm>
            <a:off x="484632"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Multi-node cluster recommended (minikube --nodes=2 or cloud)</a:t>
            </a:r>
            <a:endParaRPr lang="en-US" sz="950" dirty="0"/>
          </a:p>
        </p:txBody>
      </p:sp>
      <p:sp>
        <p:nvSpPr>
          <p:cNvPr id="12" name="Text 10"/>
          <p:cNvSpPr/>
          <p:nvPr/>
        </p:nvSpPr>
        <p:spPr>
          <a:xfrm>
            <a:off x="484632"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RBAC must be enabled (default on all modern clusters)</a:t>
            </a:r>
            <a:endParaRPr lang="en-US" sz="950" dirty="0"/>
          </a:p>
        </p:txBody>
      </p:sp>
      <p:sp>
        <p:nvSpPr>
          <p:cNvPr id="13" name="Text 11"/>
          <p:cNvSpPr/>
          <p:nvPr/>
        </p:nvSpPr>
        <p:spPr>
          <a:xfrm>
            <a:off x="484632"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Helm v3 installed: helm version</a:t>
            </a:r>
            <a:endParaRPr lang="en-US" sz="950" dirty="0"/>
          </a:p>
        </p:txBody>
      </p:sp>
      <p:sp>
        <p:nvSpPr>
          <p:cNvPr id="14" name="Text 12"/>
          <p:cNvSpPr/>
          <p:nvPr/>
        </p:nvSpPr>
        <p:spPr>
          <a:xfrm>
            <a:off x="484632"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kubectl 1.28+ recommended: kubectl version --client</a:t>
            </a:r>
            <a:endParaRPr lang="en-US" sz="950" dirty="0"/>
          </a:p>
        </p:txBody>
      </p:sp>
      <p:sp>
        <p:nvSpPr>
          <p:cNvPr id="15" name="Text 13"/>
          <p:cNvSpPr/>
          <p:nvPr/>
        </p:nvSpPr>
        <p:spPr>
          <a:xfrm>
            <a:off x="484632"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Metrics Server installed for monitoring demo</a:t>
            </a:r>
            <a:endParaRPr lang="en-US" sz="950" dirty="0"/>
          </a:p>
        </p:txBody>
      </p:sp>
      <p:sp>
        <p:nvSpPr>
          <p:cNvPr id="16" name="Text 14"/>
          <p:cNvSpPr/>
          <p:nvPr/>
        </p:nvSpPr>
        <p:spPr>
          <a:xfrm>
            <a:off x="484632" y="413308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Pre-install: helm repo add stable https://charts.helm.sh/stable</a:t>
            </a:r>
            <a:endParaRPr lang="en-US" sz="950" dirty="0"/>
          </a:p>
        </p:txBody>
      </p:sp>
      <p:sp>
        <p:nvSpPr>
          <p:cNvPr id="17" name="Shape 15"/>
          <p:cNvSpPr/>
          <p:nvPr/>
        </p:nvSpPr>
        <p:spPr>
          <a:xfrm>
            <a:off x="3172968" y="1207008"/>
            <a:ext cx="2697480" cy="3657600"/>
          </a:xfrm>
          <a:prstGeom prst="roundRect">
            <a:avLst>
              <a:gd name="adj" fmla="val 3390"/>
            </a:avLst>
          </a:prstGeom>
          <a:solidFill>
            <a:srgbClr val="D1FAE5"/>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8" name="Shape 16"/>
          <p:cNvSpPr/>
          <p:nvPr/>
        </p:nvSpPr>
        <p:spPr>
          <a:xfrm>
            <a:off x="3282696" y="1316736"/>
            <a:ext cx="2487168" cy="347472"/>
          </a:xfrm>
          <a:prstGeom prst="roundRect">
            <a:avLst>
              <a:gd name="adj" fmla="val 15789"/>
            </a:avLst>
          </a:prstGeom>
          <a:solidFill>
            <a:srgbClr val="059669"/>
          </a:solidFill>
          <a:ln w="12700">
            <a:solidFill>
              <a:srgbClr val="059669"/>
            </a:solidFill>
            <a:prstDash val="solid"/>
          </a:ln>
        </p:spPr>
      </p:sp>
      <p:sp>
        <p:nvSpPr>
          <p:cNvPr id="19" name="Text 17"/>
          <p:cNvSpPr/>
          <p:nvPr/>
        </p:nvSpPr>
        <p:spPr>
          <a:xfrm>
            <a:off x="3282696"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Day 1 — Before 09:00</a:t>
            </a:r>
            <a:endParaRPr lang="en-US" sz="950" dirty="0"/>
          </a:p>
        </p:txBody>
      </p:sp>
      <p:sp>
        <p:nvSpPr>
          <p:cNvPr id="20" name="Text 18"/>
          <p:cNvSpPr/>
          <p:nvPr/>
        </p:nvSpPr>
        <p:spPr>
          <a:xfrm>
            <a:off x="3337560"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Verify cluster: kubectl get nodes (all Ready)</a:t>
            </a:r>
            <a:endParaRPr lang="en-US" sz="950" dirty="0"/>
          </a:p>
        </p:txBody>
      </p:sp>
      <p:sp>
        <p:nvSpPr>
          <p:cNvPr id="21" name="Text 19"/>
          <p:cNvSpPr/>
          <p:nvPr/>
        </p:nvSpPr>
        <p:spPr>
          <a:xfrm>
            <a:off x="3337560"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Check RBAC: kubectl get clusterroles | head -5</a:t>
            </a:r>
            <a:endParaRPr lang="en-US" sz="950" dirty="0"/>
          </a:p>
        </p:txBody>
      </p:sp>
      <p:sp>
        <p:nvSpPr>
          <p:cNvPr id="22" name="Text 20"/>
          <p:cNvSpPr/>
          <p:nvPr/>
        </p:nvSpPr>
        <p:spPr>
          <a:xfrm>
            <a:off x="3337560"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Create demo namespaces: kubectl create ns dev &amp;&amp; kubectl create ns prod</a:t>
            </a:r>
            <a:endParaRPr lang="en-US" sz="950" dirty="0"/>
          </a:p>
        </p:txBody>
      </p:sp>
      <p:sp>
        <p:nvSpPr>
          <p:cNvPr id="23" name="Text 21"/>
          <p:cNvSpPr/>
          <p:nvPr/>
        </p:nvSpPr>
        <p:spPr>
          <a:xfrm>
            <a:off x="3337560"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Prepare ConfigMap YAML files for demos</a:t>
            </a:r>
            <a:endParaRPr lang="en-US" sz="950" dirty="0"/>
          </a:p>
        </p:txBody>
      </p:sp>
      <p:sp>
        <p:nvSpPr>
          <p:cNvPr id="24" name="Text 22"/>
          <p:cNvSpPr/>
          <p:nvPr/>
        </p:nvSpPr>
        <p:spPr>
          <a:xfrm>
            <a:off x="3337560"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Confirm students can reach cluster from their machines</a:t>
            </a:r>
            <a:endParaRPr lang="en-US" sz="950" dirty="0"/>
          </a:p>
        </p:txBody>
      </p:sp>
      <p:sp>
        <p:nvSpPr>
          <p:cNvPr id="25" name="Shape 23"/>
          <p:cNvSpPr/>
          <p:nvPr/>
        </p:nvSpPr>
        <p:spPr>
          <a:xfrm>
            <a:off x="6025896" y="1207008"/>
            <a:ext cx="2697480" cy="3657600"/>
          </a:xfrm>
          <a:prstGeom prst="roundRect">
            <a:avLst>
              <a:gd name="adj" fmla="val 3390"/>
            </a:avLst>
          </a:prstGeom>
          <a:solidFill>
            <a:srgbClr val="FEF3C7"/>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6" name="Shape 24"/>
          <p:cNvSpPr/>
          <p:nvPr/>
        </p:nvSpPr>
        <p:spPr>
          <a:xfrm>
            <a:off x="6135624" y="1316736"/>
            <a:ext cx="2487168" cy="347472"/>
          </a:xfrm>
          <a:prstGeom prst="roundRect">
            <a:avLst>
              <a:gd name="adj" fmla="val 15789"/>
            </a:avLst>
          </a:prstGeom>
          <a:solidFill>
            <a:srgbClr val="D97706"/>
          </a:solidFill>
          <a:ln w="12700">
            <a:solidFill>
              <a:srgbClr val="D97706"/>
            </a:solidFill>
            <a:prstDash val="solid"/>
          </a:ln>
        </p:spPr>
      </p:sp>
      <p:sp>
        <p:nvSpPr>
          <p:cNvPr id="27" name="Text 25"/>
          <p:cNvSpPr/>
          <p:nvPr/>
        </p:nvSpPr>
        <p:spPr>
          <a:xfrm>
            <a:off x="6135624"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Day 2 — Before 09:00</a:t>
            </a:r>
            <a:endParaRPr lang="en-US" sz="950" dirty="0"/>
          </a:p>
        </p:txBody>
      </p:sp>
      <p:sp>
        <p:nvSpPr>
          <p:cNvPr id="28" name="Text 26"/>
          <p:cNvSpPr/>
          <p:nvPr/>
        </p:nvSpPr>
        <p:spPr>
          <a:xfrm>
            <a:off x="6190488"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Verify Helm works: helm list -A</a:t>
            </a:r>
            <a:endParaRPr lang="en-US" sz="950" dirty="0"/>
          </a:p>
        </p:txBody>
      </p:sp>
      <p:sp>
        <p:nvSpPr>
          <p:cNvPr id="29" name="Text 27"/>
          <p:cNvSpPr/>
          <p:nvPr/>
        </p:nvSpPr>
        <p:spPr>
          <a:xfrm>
            <a:off x="6190488"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Have a sample chart ready: helm search repo stable</a:t>
            </a:r>
            <a:endParaRPr lang="en-US" sz="950" dirty="0"/>
          </a:p>
        </p:txBody>
      </p:sp>
      <p:sp>
        <p:nvSpPr>
          <p:cNvPr id="30" name="Text 28"/>
          <p:cNvSpPr/>
          <p:nvPr/>
        </p:nvSpPr>
        <p:spPr>
          <a:xfrm>
            <a:off x="6190488"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Prepare RBAC demo YAML files</a:t>
            </a:r>
            <a:endParaRPr lang="en-US" sz="950" dirty="0"/>
          </a:p>
        </p:txBody>
      </p:sp>
      <p:sp>
        <p:nvSpPr>
          <p:cNvPr id="31" name="Text 29"/>
          <p:cNvSpPr/>
          <p:nvPr/>
        </p:nvSpPr>
        <p:spPr>
          <a:xfrm>
            <a:off x="6190488"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Check Metrics Server: kubectl top nodes</a:t>
            </a:r>
            <a:endParaRPr lang="en-US" sz="950" dirty="0"/>
          </a:p>
        </p:txBody>
      </p:sp>
      <p:sp>
        <p:nvSpPr>
          <p:cNvPr id="32" name="Text 30"/>
          <p:cNvSpPr/>
          <p:nvPr/>
        </p:nvSpPr>
        <p:spPr>
          <a:xfrm>
            <a:off x="6190488"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Prepare namespace with a broken deployment for troubleshooting demo</a:t>
            </a:r>
            <a:endParaRPr lang="en-US" sz="950" dirty="0"/>
          </a:p>
        </p:txBody>
      </p:sp>
      <p:sp>
        <p:nvSpPr>
          <p:cNvPr id="33" name="Shape 31"/>
          <p:cNvSpPr/>
          <p:nvPr/>
        </p:nvSpPr>
        <p:spPr>
          <a:xfrm>
            <a:off x="0" y="4846320"/>
            <a:ext cx="9144000" cy="297180"/>
          </a:xfrm>
          <a:prstGeom prst="rect">
            <a:avLst/>
          </a:prstGeom>
          <a:solidFill>
            <a:srgbClr val="7C2D12"/>
          </a:solidFill>
          <a:ln w="12700">
            <a:solidFill>
              <a:srgbClr val="7C2D12"/>
            </a:solidFill>
            <a:prstDash val="solid"/>
          </a:ln>
        </p:spPr>
      </p:sp>
      <p:sp>
        <p:nvSpPr>
          <p:cNvPr id="34" name="Text 3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Track B Preparation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AGENDA — 2 DAY PROGRAMME</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Track B Overview</a:t>
            </a:r>
            <a:endParaRPr lang="en-US" sz="950" dirty="0"/>
          </a:p>
        </p:txBody>
      </p:sp>
      <p:sp>
        <p:nvSpPr>
          <p:cNvPr id="6" name="Shape 4"/>
          <p:cNvSpPr/>
          <p:nvPr/>
        </p:nvSpPr>
        <p:spPr>
          <a:xfrm>
            <a:off x="320040" y="841248"/>
            <a:ext cx="4114800" cy="4069080"/>
          </a:xfrm>
          <a:prstGeom prst="roundRect">
            <a:avLst>
              <a:gd name="adj" fmla="val 2247"/>
            </a:avLst>
          </a:prstGeom>
          <a:solidFill>
            <a:srgbClr val="FFFFF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484632" y="960120"/>
            <a:ext cx="1097280" cy="384048"/>
          </a:xfrm>
          <a:prstGeom prst="roundRect">
            <a:avLst>
              <a:gd name="adj" fmla="val 14286"/>
            </a:avLst>
          </a:prstGeom>
          <a:solidFill>
            <a:srgbClr val="326CE5"/>
          </a:solidFill>
          <a:ln w="12700">
            <a:solidFill>
              <a:srgbClr val="326CE5"/>
            </a:solidFill>
            <a:prstDash val="solid"/>
          </a:ln>
        </p:spPr>
      </p:sp>
      <p:sp>
        <p:nvSpPr>
          <p:cNvPr id="8" name="Text 6"/>
          <p:cNvSpPr/>
          <p:nvPr/>
        </p:nvSpPr>
        <p:spPr>
          <a:xfrm>
            <a:off x="484632" y="960120"/>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DAY 1</a:t>
            </a:r>
            <a:endParaRPr lang="en-US" sz="1100" dirty="0"/>
          </a:p>
        </p:txBody>
      </p:sp>
      <p:sp>
        <p:nvSpPr>
          <p:cNvPr id="9" name="Text 7"/>
          <p:cNvSpPr/>
          <p:nvPr/>
        </p:nvSpPr>
        <p:spPr>
          <a:xfrm>
            <a:off x="484632" y="1417320"/>
            <a:ext cx="3749040" cy="41148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Deep Kubernetes</a:t>
            </a:r>
            <a:endParaRPr lang="en-US" sz="1400" dirty="0"/>
          </a:p>
        </p:txBody>
      </p:sp>
      <p:sp>
        <p:nvSpPr>
          <p:cNvPr id="10" name="Shape 8"/>
          <p:cNvSpPr/>
          <p:nvPr/>
        </p:nvSpPr>
        <p:spPr>
          <a:xfrm>
            <a:off x="521208" y="1920240"/>
            <a:ext cx="237744" cy="237744"/>
          </a:xfrm>
          <a:prstGeom prst="ellipse">
            <a:avLst/>
          </a:prstGeom>
          <a:solidFill>
            <a:srgbClr val="326CE5"/>
          </a:solidFill>
          <a:ln w="12700">
            <a:solidFill>
              <a:srgbClr val="326CE5"/>
            </a:solidFill>
            <a:prstDash val="solid"/>
          </a:ln>
        </p:spPr>
      </p:sp>
      <p:sp>
        <p:nvSpPr>
          <p:cNvPr id="11" name="Text 9"/>
          <p:cNvSpPr/>
          <p:nvPr/>
        </p:nvSpPr>
        <p:spPr>
          <a:xfrm>
            <a:off x="521208" y="19202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2" name="Text 10"/>
          <p:cNvSpPr/>
          <p:nvPr/>
        </p:nvSpPr>
        <p:spPr>
          <a:xfrm>
            <a:off x="850392" y="1920240"/>
            <a:ext cx="3401568" cy="47548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Advanced Architecture &amp; Resource Management</a:t>
            </a:r>
            <a:endParaRPr lang="en-US" sz="1050" dirty="0"/>
          </a:p>
        </p:txBody>
      </p:sp>
      <p:sp>
        <p:nvSpPr>
          <p:cNvPr id="13" name="Shape 11"/>
          <p:cNvSpPr/>
          <p:nvPr/>
        </p:nvSpPr>
        <p:spPr>
          <a:xfrm>
            <a:off x="521208" y="2487168"/>
            <a:ext cx="237744" cy="237744"/>
          </a:xfrm>
          <a:prstGeom prst="ellipse">
            <a:avLst/>
          </a:prstGeom>
          <a:solidFill>
            <a:srgbClr val="326CE5"/>
          </a:solidFill>
          <a:ln w="12700">
            <a:solidFill>
              <a:srgbClr val="326CE5"/>
            </a:solidFill>
            <a:prstDash val="solid"/>
          </a:ln>
        </p:spPr>
      </p:sp>
      <p:sp>
        <p:nvSpPr>
          <p:cNvPr id="14" name="Text 12"/>
          <p:cNvSpPr/>
          <p:nvPr/>
        </p:nvSpPr>
        <p:spPr>
          <a:xfrm>
            <a:off x="521208" y="24871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5" name="Text 13"/>
          <p:cNvSpPr/>
          <p:nvPr/>
        </p:nvSpPr>
        <p:spPr>
          <a:xfrm>
            <a:off x="850392" y="2487168"/>
            <a:ext cx="3401568" cy="47548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ConfigMaps — externalising configuration</a:t>
            </a:r>
            <a:endParaRPr lang="en-US" sz="1050" dirty="0"/>
          </a:p>
        </p:txBody>
      </p:sp>
      <p:sp>
        <p:nvSpPr>
          <p:cNvPr id="16" name="Shape 14"/>
          <p:cNvSpPr/>
          <p:nvPr/>
        </p:nvSpPr>
        <p:spPr>
          <a:xfrm>
            <a:off x="521208" y="3054096"/>
            <a:ext cx="237744" cy="237744"/>
          </a:xfrm>
          <a:prstGeom prst="ellipse">
            <a:avLst/>
          </a:prstGeom>
          <a:solidFill>
            <a:srgbClr val="326CE5"/>
          </a:solidFill>
          <a:ln w="12700">
            <a:solidFill>
              <a:srgbClr val="326CE5"/>
            </a:solidFill>
            <a:prstDash val="solid"/>
          </a:ln>
        </p:spPr>
      </p:sp>
      <p:sp>
        <p:nvSpPr>
          <p:cNvPr id="17" name="Text 15"/>
          <p:cNvSpPr/>
          <p:nvPr/>
        </p:nvSpPr>
        <p:spPr>
          <a:xfrm>
            <a:off x="521208" y="30540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8" name="Text 16"/>
          <p:cNvSpPr/>
          <p:nvPr/>
        </p:nvSpPr>
        <p:spPr>
          <a:xfrm>
            <a:off x="850392" y="3054096"/>
            <a:ext cx="3401568" cy="47548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Namespaces — multi-environment clusters</a:t>
            </a:r>
            <a:endParaRPr lang="en-US" sz="1050" dirty="0"/>
          </a:p>
        </p:txBody>
      </p:sp>
      <p:sp>
        <p:nvSpPr>
          <p:cNvPr id="19" name="Shape 17"/>
          <p:cNvSpPr/>
          <p:nvPr/>
        </p:nvSpPr>
        <p:spPr>
          <a:xfrm>
            <a:off x="521208" y="3621024"/>
            <a:ext cx="237744" cy="237744"/>
          </a:xfrm>
          <a:prstGeom prst="ellipse">
            <a:avLst/>
          </a:prstGeom>
          <a:solidFill>
            <a:srgbClr val="326CE5"/>
          </a:solidFill>
          <a:ln w="12700">
            <a:solidFill>
              <a:srgbClr val="326CE5"/>
            </a:solidFill>
            <a:prstDash val="solid"/>
          </a:ln>
        </p:spPr>
      </p:sp>
      <p:sp>
        <p:nvSpPr>
          <p:cNvPr id="20" name="Text 18"/>
          <p:cNvSpPr/>
          <p:nvPr/>
        </p:nvSpPr>
        <p:spPr>
          <a:xfrm>
            <a:off x="521208" y="362102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1" name="Text 19"/>
          <p:cNvSpPr/>
          <p:nvPr/>
        </p:nvSpPr>
        <p:spPr>
          <a:xfrm>
            <a:off x="850392" y="3621024"/>
            <a:ext cx="3401568" cy="47548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Lab 1 — ConfigMaps &amp; Namespaces in practice</a:t>
            </a:r>
            <a:endParaRPr lang="en-US" sz="1050" dirty="0"/>
          </a:p>
        </p:txBody>
      </p:sp>
      <p:sp>
        <p:nvSpPr>
          <p:cNvPr id="22" name="Shape 20"/>
          <p:cNvSpPr/>
          <p:nvPr/>
        </p:nvSpPr>
        <p:spPr>
          <a:xfrm>
            <a:off x="4754880" y="841248"/>
            <a:ext cx="4114800" cy="4069080"/>
          </a:xfrm>
          <a:prstGeom prst="roundRect">
            <a:avLst>
              <a:gd name="adj" fmla="val 2247"/>
            </a:avLst>
          </a:prstGeom>
          <a:solidFill>
            <a:srgbClr val="FFFFF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3" name="Shape 21"/>
          <p:cNvSpPr/>
          <p:nvPr/>
        </p:nvSpPr>
        <p:spPr>
          <a:xfrm>
            <a:off x="4919472" y="960120"/>
            <a:ext cx="1097280" cy="384048"/>
          </a:xfrm>
          <a:prstGeom prst="roundRect">
            <a:avLst>
              <a:gd name="adj" fmla="val 14286"/>
            </a:avLst>
          </a:prstGeom>
          <a:solidFill>
            <a:srgbClr val="7C3AED"/>
          </a:solidFill>
          <a:ln w="12700">
            <a:solidFill>
              <a:srgbClr val="7C3AED"/>
            </a:solidFill>
            <a:prstDash val="solid"/>
          </a:ln>
        </p:spPr>
      </p:sp>
      <p:sp>
        <p:nvSpPr>
          <p:cNvPr id="24" name="Text 22"/>
          <p:cNvSpPr/>
          <p:nvPr/>
        </p:nvSpPr>
        <p:spPr>
          <a:xfrm>
            <a:off x="4919472" y="960120"/>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DAY 2</a:t>
            </a:r>
            <a:endParaRPr lang="en-US" sz="1100" dirty="0"/>
          </a:p>
        </p:txBody>
      </p:sp>
      <p:sp>
        <p:nvSpPr>
          <p:cNvPr id="25" name="Text 23"/>
          <p:cNvSpPr/>
          <p:nvPr/>
        </p:nvSpPr>
        <p:spPr>
          <a:xfrm>
            <a:off x="4919472" y="1417320"/>
            <a:ext cx="3749040" cy="41148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Security, Packaging &amp; Ops</a:t>
            </a:r>
            <a:endParaRPr lang="en-US" sz="1400" dirty="0"/>
          </a:p>
        </p:txBody>
      </p:sp>
      <p:sp>
        <p:nvSpPr>
          <p:cNvPr id="26" name="Shape 24"/>
          <p:cNvSpPr/>
          <p:nvPr/>
        </p:nvSpPr>
        <p:spPr>
          <a:xfrm>
            <a:off x="4956048" y="1920240"/>
            <a:ext cx="237744" cy="237744"/>
          </a:xfrm>
          <a:prstGeom prst="ellipse">
            <a:avLst/>
          </a:prstGeom>
          <a:solidFill>
            <a:srgbClr val="7C3AED"/>
          </a:solidFill>
          <a:ln w="12700">
            <a:solidFill>
              <a:srgbClr val="7C3AED"/>
            </a:solidFill>
            <a:prstDash val="solid"/>
          </a:ln>
        </p:spPr>
      </p:sp>
      <p:sp>
        <p:nvSpPr>
          <p:cNvPr id="27" name="Text 25"/>
          <p:cNvSpPr/>
          <p:nvPr/>
        </p:nvSpPr>
        <p:spPr>
          <a:xfrm>
            <a:off x="4956048" y="19202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8" name="Text 26"/>
          <p:cNvSpPr/>
          <p:nvPr/>
        </p:nvSpPr>
        <p:spPr>
          <a:xfrm>
            <a:off x="5285232" y="1920240"/>
            <a:ext cx="3401568" cy="47548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Secrets — handling sensitive data</a:t>
            </a:r>
            <a:endParaRPr lang="en-US" sz="1050" dirty="0"/>
          </a:p>
        </p:txBody>
      </p:sp>
      <p:sp>
        <p:nvSpPr>
          <p:cNvPr id="29" name="Shape 27"/>
          <p:cNvSpPr/>
          <p:nvPr/>
        </p:nvSpPr>
        <p:spPr>
          <a:xfrm>
            <a:off x="4956048" y="2487168"/>
            <a:ext cx="237744" cy="237744"/>
          </a:xfrm>
          <a:prstGeom prst="ellipse">
            <a:avLst/>
          </a:prstGeom>
          <a:solidFill>
            <a:srgbClr val="7C3AED"/>
          </a:solidFill>
          <a:ln w="12700">
            <a:solidFill>
              <a:srgbClr val="7C3AED"/>
            </a:solidFill>
            <a:prstDash val="solid"/>
          </a:ln>
        </p:spPr>
      </p:sp>
      <p:sp>
        <p:nvSpPr>
          <p:cNvPr id="30" name="Text 28"/>
          <p:cNvSpPr/>
          <p:nvPr/>
        </p:nvSpPr>
        <p:spPr>
          <a:xfrm>
            <a:off x="4956048" y="24871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31" name="Text 29"/>
          <p:cNvSpPr/>
          <p:nvPr/>
        </p:nvSpPr>
        <p:spPr>
          <a:xfrm>
            <a:off x="5285232" y="2487168"/>
            <a:ext cx="3401568" cy="47548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RBAC — role-based access control</a:t>
            </a:r>
            <a:endParaRPr lang="en-US" sz="1050" dirty="0"/>
          </a:p>
        </p:txBody>
      </p:sp>
      <p:sp>
        <p:nvSpPr>
          <p:cNvPr id="32" name="Shape 30"/>
          <p:cNvSpPr/>
          <p:nvPr/>
        </p:nvSpPr>
        <p:spPr>
          <a:xfrm>
            <a:off x="4956048" y="3054096"/>
            <a:ext cx="237744" cy="237744"/>
          </a:xfrm>
          <a:prstGeom prst="ellipse">
            <a:avLst/>
          </a:prstGeom>
          <a:solidFill>
            <a:srgbClr val="7C3AED"/>
          </a:solidFill>
          <a:ln w="12700">
            <a:solidFill>
              <a:srgbClr val="7C3AED"/>
            </a:solidFill>
            <a:prstDash val="solid"/>
          </a:ln>
        </p:spPr>
      </p:sp>
      <p:sp>
        <p:nvSpPr>
          <p:cNvPr id="33" name="Text 31"/>
          <p:cNvSpPr/>
          <p:nvPr/>
        </p:nvSpPr>
        <p:spPr>
          <a:xfrm>
            <a:off x="4956048" y="30540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34" name="Text 32"/>
          <p:cNvSpPr/>
          <p:nvPr/>
        </p:nvSpPr>
        <p:spPr>
          <a:xfrm>
            <a:off x="5285232" y="3054096"/>
            <a:ext cx="3401568" cy="47548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Helm — packaging and deploying apps</a:t>
            </a:r>
            <a:endParaRPr lang="en-US" sz="1050" dirty="0"/>
          </a:p>
        </p:txBody>
      </p:sp>
      <p:sp>
        <p:nvSpPr>
          <p:cNvPr id="35" name="Shape 33"/>
          <p:cNvSpPr/>
          <p:nvPr/>
        </p:nvSpPr>
        <p:spPr>
          <a:xfrm>
            <a:off x="4956048" y="3621024"/>
            <a:ext cx="237744" cy="237744"/>
          </a:xfrm>
          <a:prstGeom prst="ellipse">
            <a:avLst/>
          </a:prstGeom>
          <a:solidFill>
            <a:srgbClr val="7C3AED"/>
          </a:solidFill>
          <a:ln w="12700">
            <a:solidFill>
              <a:srgbClr val="7C3AED"/>
            </a:solidFill>
            <a:prstDash val="solid"/>
          </a:ln>
        </p:spPr>
      </p:sp>
      <p:sp>
        <p:nvSpPr>
          <p:cNvPr id="36" name="Text 34"/>
          <p:cNvSpPr/>
          <p:nvPr/>
        </p:nvSpPr>
        <p:spPr>
          <a:xfrm>
            <a:off x="4956048" y="362102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7" name="Text 35"/>
          <p:cNvSpPr/>
          <p:nvPr/>
        </p:nvSpPr>
        <p:spPr>
          <a:xfrm>
            <a:off x="5285232" y="3621024"/>
            <a:ext cx="3401568" cy="47548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Monitoring &amp; Troubleshooting</a:t>
            </a:r>
            <a:endParaRPr lang="en-US" sz="1050" dirty="0"/>
          </a:p>
        </p:txBody>
      </p:sp>
      <p:sp>
        <p:nvSpPr>
          <p:cNvPr id="38" name="Shape 36"/>
          <p:cNvSpPr/>
          <p:nvPr/>
        </p:nvSpPr>
        <p:spPr>
          <a:xfrm>
            <a:off x="4956048" y="4187952"/>
            <a:ext cx="237744" cy="237744"/>
          </a:xfrm>
          <a:prstGeom prst="ellipse">
            <a:avLst/>
          </a:prstGeom>
          <a:solidFill>
            <a:srgbClr val="7C3AED"/>
          </a:solidFill>
          <a:ln w="12700">
            <a:solidFill>
              <a:srgbClr val="7C3AED"/>
            </a:solidFill>
            <a:prstDash val="solid"/>
          </a:ln>
        </p:spPr>
      </p:sp>
      <p:sp>
        <p:nvSpPr>
          <p:cNvPr id="39" name="Text 37"/>
          <p:cNvSpPr/>
          <p:nvPr/>
        </p:nvSpPr>
        <p:spPr>
          <a:xfrm>
            <a:off x="4956048" y="418795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40" name="Text 38"/>
          <p:cNvSpPr/>
          <p:nvPr/>
        </p:nvSpPr>
        <p:spPr>
          <a:xfrm>
            <a:off x="5285232" y="4187952"/>
            <a:ext cx="3401568" cy="47548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Lab 2 — Helm deploy + RBAC + debug</a:t>
            </a:r>
            <a:endParaRPr lang="en-US" sz="1050" dirty="0"/>
          </a:p>
        </p:txBody>
      </p:sp>
      <p:sp>
        <p:nvSpPr>
          <p:cNvPr id="41" name="Shape 39"/>
          <p:cNvSpPr/>
          <p:nvPr/>
        </p:nvSpPr>
        <p:spPr>
          <a:xfrm>
            <a:off x="320040" y="4983480"/>
            <a:ext cx="8503920" cy="384048"/>
          </a:xfrm>
          <a:prstGeom prst="roundRect">
            <a:avLst>
              <a:gd name="adj" fmla="val 23810"/>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42" name="Text 40"/>
          <p:cNvSpPr/>
          <p:nvPr/>
        </p:nvSpPr>
        <p:spPr>
          <a:xfrm>
            <a:off x="457200" y="5074920"/>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a:t>
            </a:r>
            <a:endParaRPr lang="en-US" sz="1000" dirty="0"/>
          </a:p>
        </p:txBody>
      </p:sp>
      <p:sp>
        <p:nvSpPr>
          <p:cNvPr id="43" name="Text 41"/>
          <p:cNvSpPr/>
          <p:nvPr/>
        </p:nvSpPr>
        <p:spPr>
          <a:xfrm>
            <a:off x="457200" y="5367528"/>
            <a:ext cx="8229600" cy="-118872"/>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Each day: 09:00–12:00 teaching (with 10 min break at 10:25), 12:00–13:00 lunch, 13:00–16:00 lab.</a:t>
            </a:r>
            <a:endParaRPr lang="en-US" sz="1000" dirty="0"/>
          </a:p>
        </p:txBody>
      </p:sp>
      <p:sp>
        <p:nvSpPr>
          <p:cNvPr id="44" name="Shape 42"/>
          <p:cNvSpPr/>
          <p:nvPr/>
        </p:nvSpPr>
        <p:spPr>
          <a:xfrm>
            <a:off x="0" y="4846320"/>
            <a:ext cx="9144000" cy="297180"/>
          </a:xfrm>
          <a:prstGeom prst="rect">
            <a:avLst/>
          </a:prstGeom>
          <a:solidFill>
            <a:srgbClr val="0F172A"/>
          </a:solidFill>
          <a:ln w="12700">
            <a:solidFill>
              <a:srgbClr val="0F172A"/>
            </a:solidFill>
            <a:prstDash val="solid"/>
          </a:ln>
        </p:spPr>
      </p:sp>
      <p:sp>
        <p:nvSpPr>
          <p:cNvPr id="45" name="Text 4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Track B Agenda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01</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Advanced Architecture</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Resource requests, limits, health probes and pod scheduling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RESOURCE REQUESTS &amp; LIMITS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Advanced Architecture</a:t>
            </a:r>
            <a:endParaRPr lang="en-US" sz="950" dirty="0"/>
          </a:p>
        </p:txBody>
      </p:sp>
      <p:sp>
        <p:nvSpPr>
          <p:cNvPr id="6" name="Shape 4"/>
          <p:cNvSpPr/>
          <p:nvPr/>
        </p:nvSpPr>
        <p:spPr>
          <a:xfrm>
            <a:off x="320040" y="868680"/>
            <a:ext cx="8503920" cy="749808"/>
          </a:xfrm>
          <a:prstGeom prst="roundRect">
            <a:avLst>
              <a:gd name="adj" fmla="val 12195"/>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65836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Requests tell Kubernetes how much CPU/memory a Pod needs (used for scheduling). Limits tell Kubernetes the maximum it can use. Without limits, one Pod can starve all others on the same node.</a:t>
            </a:r>
            <a:endParaRPr lang="en-US" sz="1250" dirty="0"/>
          </a:p>
        </p:txBody>
      </p:sp>
      <p:sp>
        <p:nvSpPr>
          <p:cNvPr id="8" name="Shape 6"/>
          <p:cNvSpPr/>
          <p:nvPr/>
        </p:nvSpPr>
        <p:spPr>
          <a:xfrm>
            <a:off x="320040" y="1755648"/>
            <a:ext cx="5074920" cy="3218688"/>
          </a:xfrm>
          <a:prstGeom prst="roundRect">
            <a:avLst>
              <a:gd name="adj" fmla="val 2841"/>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828800"/>
            <a:ext cx="4764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deployment with resources</a:t>
            </a:r>
            <a:endParaRPr lang="en-US" sz="900" dirty="0"/>
          </a:p>
        </p:txBody>
      </p:sp>
      <p:sp>
        <p:nvSpPr>
          <p:cNvPr id="10" name="Text 8"/>
          <p:cNvSpPr/>
          <p:nvPr/>
        </p:nvSpPr>
        <p:spPr>
          <a:xfrm>
            <a:off x="475488" y="2066544"/>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spec:</a:t>
            </a:r>
            <a:endParaRPr lang="en-US" sz="950" dirty="0"/>
          </a:p>
        </p:txBody>
      </p:sp>
      <p:sp>
        <p:nvSpPr>
          <p:cNvPr id="11" name="Text 9"/>
          <p:cNvSpPr/>
          <p:nvPr/>
        </p:nvSpPr>
        <p:spPr>
          <a:xfrm>
            <a:off x="475488" y="2263140"/>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containers:</a:t>
            </a:r>
            <a:endParaRPr lang="en-US" sz="950" dirty="0"/>
          </a:p>
        </p:txBody>
      </p:sp>
      <p:sp>
        <p:nvSpPr>
          <p:cNvPr id="12" name="Text 10"/>
          <p:cNvSpPr/>
          <p:nvPr/>
        </p:nvSpPr>
        <p:spPr>
          <a:xfrm>
            <a:off x="475488" y="2459736"/>
            <a:ext cx="4764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name: webapp</a:t>
            </a:r>
            <a:endParaRPr lang="en-US" sz="950" dirty="0"/>
          </a:p>
        </p:txBody>
      </p:sp>
      <p:sp>
        <p:nvSpPr>
          <p:cNvPr id="13" name="Text 11"/>
          <p:cNvSpPr/>
          <p:nvPr/>
        </p:nvSpPr>
        <p:spPr>
          <a:xfrm>
            <a:off x="475488" y="2656332"/>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image: nginx:alpine</a:t>
            </a:r>
            <a:endParaRPr lang="en-US" sz="950" dirty="0"/>
          </a:p>
        </p:txBody>
      </p:sp>
      <p:sp>
        <p:nvSpPr>
          <p:cNvPr id="14" name="Text 12"/>
          <p:cNvSpPr/>
          <p:nvPr/>
        </p:nvSpPr>
        <p:spPr>
          <a:xfrm>
            <a:off x="475488" y="2852928"/>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resources:</a:t>
            </a:r>
            <a:endParaRPr lang="en-US" sz="950" dirty="0"/>
          </a:p>
        </p:txBody>
      </p:sp>
      <p:sp>
        <p:nvSpPr>
          <p:cNvPr id="15" name="Text 13"/>
          <p:cNvSpPr/>
          <p:nvPr/>
        </p:nvSpPr>
        <p:spPr>
          <a:xfrm>
            <a:off x="475488" y="3049524"/>
            <a:ext cx="4764024" cy="201168"/>
          </a:xfrm>
          <a:prstGeom prst="rect">
            <a:avLst/>
          </a:prstGeom>
          <a:noFill/>
          <a:ln/>
        </p:spPr>
        <p:txBody>
          <a:bodyPr wrap="square" lIns="0" tIns="0" rIns="0" bIns="0" rtlCol="0" anchor="ctr"/>
          <a:lstStyle/>
          <a:p>
            <a:pPr indent="0" marL="0">
              <a:buNone/>
            </a:pPr>
            <a:r>
              <a:rPr lang="en-US" sz="950" dirty="0">
                <a:solidFill>
                  <a:srgbClr val="C084FC"/>
                </a:solidFill>
                <a:latin typeface="Courier New" pitchFamily="34" charset="0"/>
                <a:ea typeface="Courier New" pitchFamily="34" charset="-122"/>
                <a:cs typeface="Courier New" pitchFamily="34" charset="-120"/>
              </a:rPr>
              <a:t>      requests:</a:t>
            </a:r>
            <a:endParaRPr lang="en-US" sz="950" dirty="0"/>
          </a:p>
        </p:txBody>
      </p:sp>
      <p:sp>
        <p:nvSpPr>
          <p:cNvPr id="16" name="Text 14"/>
          <p:cNvSpPr/>
          <p:nvPr/>
        </p:nvSpPr>
        <p:spPr>
          <a:xfrm>
            <a:off x="475488" y="3246120"/>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memory: '128Mi'</a:t>
            </a:r>
            <a:endParaRPr lang="en-US" sz="950" dirty="0"/>
          </a:p>
        </p:txBody>
      </p:sp>
      <p:sp>
        <p:nvSpPr>
          <p:cNvPr id="17" name="Text 15"/>
          <p:cNvSpPr/>
          <p:nvPr/>
        </p:nvSpPr>
        <p:spPr>
          <a:xfrm>
            <a:off x="475488" y="3442716"/>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cpu: '250m'</a:t>
            </a:r>
            <a:endParaRPr lang="en-US" sz="950" dirty="0"/>
          </a:p>
        </p:txBody>
      </p:sp>
      <p:sp>
        <p:nvSpPr>
          <p:cNvPr id="18" name="Text 16"/>
          <p:cNvSpPr/>
          <p:nvPr/>
        </p:nvSpPr>
        <p:spPr>
          <a:xfrm>
            <a:off x="475488" y="3639312"/>
            <a:ext cx="4764024" cy="201168"/>
          </a:xfrm>
          <a:prstGeom prst="rect">
            <a:avLst/>
          </a:prstGeom>
          <a:noFill/>
          <a:ln/>
        </p:spPr>
        <p:txBody>
          <a:bodyPr wrap="square" lIns="0" tIns="0" rIns="0" bIns="0" rtlCol="0" anchor="ctr"/>
          <a:lstStyle/>
          <a:p>
            <a:pPr indent="0" marL="0">
              <a:buNone/>
            </a:pPr>
            <a:r>
              <a:rPr lang="en-US" sz="950" dirty="0">
                <a:solidFill>
                  <a:srgbClr val="C084FC"/>
                </a:solidFill>
                <a:latin typeface="Courier New" pitchFamily="34" charset="0"/>
                <a:ea typeface="Courier New" pitchFamily="34" charset="-122"/>
                <a:cs typeface="Courier New" pitchFamily="34" charset="-120"/>
              </a:rPr>
              <a:t>      limits:</a:t>
            </a:r>
            <a:endParaRPr lang="en-US" sz="950" dirty="0"/>
          </a:p>
        </p:txBody>
      </p:sp>
      <p:sp>
        <p:nvSpPr>
          <p:cNvPr id="19" name="Text 17"/>
          <p:cNvSpPr/>
          <p:nvPr/>
        </p:nvSpPr>
        <p:spPr>
          <a:xfrm>
            <a:off x="475488" y="3835908"/>
            <a:ext cx="4764024" cy="201168"/>
          </a:xfrm>
          <a:prstGeom prst="rect">
            <a:avLst/>
          </a:prstGeom>
          <a:noFill/>
          <a:ln/>
        </p:spPr>
        <p:txBody>
          <a:bodyPr wrap="square" lIns="0" tIns="0" rIns="0" bIns="0" rtlCol="0" anchor="ctr"/>
          <a:lstStyle/>
          <a:p>
            <a:pPr indent="0" marL="0">
              <a:buNone/>
            </a:pPr>
            <a:r>
              <a:rPr lang="en-US" sz="950" dirty="0">
                <a:solidFill>
                  <a:srgbClr val="FCA5A5"/>
                </a:solidFill>
                <a:latin typeface="Courier New" pitchFamily="34" charset="0"/>
                <a:ea typeface="Courier New" pitchFamily="34" charset="-122"/>
                <a:cs typeface="Courier New" pitchFamily="34" charset="-120"/>
              </a:rPr>
              <a:t>        memory: '256Mi'</a:t>
            </a:r>
            <a:endParaRPr lang="en-US" sz="950" dirty="0"/>
          </a:p>
        </p:txBody>
      </p:sp>
      <p:sp>
        <p:nvSpPr>
          <p:cNvPr id="20" name="Text 18"/>
          <p:cNvSpPr/>
          <p:nvPr/>
        </p:nvSpPr>
        <p:spPr>
          <a:xfrm>
            <a:off x="475488" y="4032504"/>
            <a:ext cx="4764024" cy="201168"/>
          </a:xfrm>
          <a:prstGeom prst="rect">
            <a:avLst/>
          </a:prstGeom>
          <a:noFill/>
          <a:ln/>
        </p:spPr>
        <p:txBody>
          <a:bodyPr wrap="square" lIns="0" tIns="0" rIns="0" bIns="0" rtlCol="0" anchor="ctr"/>
          <a:lstStyle/>
          <a:p>
            <a:pPr indent="0" marL="0">
              <a:buNone/>
            </a:pPr>
            <a:r>
              <a:rPr lang="en-US" sz="950" dirty="0">
                <a:solidFill>
                  <a:srgbClr val="FCA5A5"/>
                </a:solidFill>
                <a:latin typeface="Courier New" pitchFamily="34" charset="0"/>
                <a:ea typeface="Courier New" pitchFamily="34" charset="-122"/>
                <a:cs typeface="Courier New" pitchFamily="34" charset="-120"/>
              </a:rPr>
              <a:t>        cpu: '500m'</a:t>
            </a:r>
            <a:endParaRPr lang="en-US" sz="950" dirty="0"/>
          </a:p>
        </p:txBody>
      </p:sp>
      <p:sp>
        <p:nvSpPr>
          <p:cNvPr id="21" name="Text 19"/>
          <p:cNvSpPr/>
          <p:nvPr/>
        </p:nvSpPr>
        <p:spPr>
          <a:xfrm>
            <a:off x="475488" y="4425696"/>
            <a:ext cx="47640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250m = 0.25 CPU cores</a:t>
            </a:r>
            <a:endParaRPr lang="en-US" sz="950" dirty="0"/>
          </a:p>
        </p:txBody>
      </p:sp>
      <p:sp>
        <p:nvSpPr>
          <p:cNvPr id="22" name="Text 20"/>
          <p:cNvSpPr/>
          <p:nvPr/>
        </p:nvSpPr>
        <p:spPr>
          <a:xfrm>
            <a:off x="475488" y="4622292"/>
            <a:ext cx="47640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128Mi = 128 mebibytes RAM</a:t>
            </a:r>
            <a:endParaRPr lang="en-US" sz="950" dirty="0"/>
          </a:p>
        </p:txBody>
      </p:sp>
      <p:sp>
        <p:nvSpPr>
          <p:cNvPr id="23" name="Shape 21"/>
          <p:cNvSpPr/>
          <p:nvPr/>
        </p:nvSpPr>
        <p:spPr>
          <a:xfrm>
            <a:off x="5577840" y="1755648"/>
            <a:ext cx="3246120" cy="713232"/>
          </a:xfrm>
          <a:prstGeom prst="roundRect">
            <a:avLst>
              <a:gd name="adj" fmla="val 12821"/>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4" name="Text 22"/>
          <p:cNvSpPr/>
          <p:nvPr/>
        </p:nvSpPr>
        <p:spPr>
          <a:xfrm>
            <a:off x="5715000" y="1810512"/>
            <a:ext cx="2971800" cy="256032"/>
          </a:xfrm>
          <a:prstGeom prst="rect">
            <a:avLst/>
          </a:prstGeom>
          <a:noFill/>
          <a:ln/>
        </p:spPr>
        <p:txBody>
          <a:bodyPr wrap="square" lIns="0" tIns="0" rIns="0" bIns="0" rtlCol="0" anchor="ctr"/>
          <a:lstStyle/>
          <a:p>
            <a:pPr indent="0" marL="0">
              <a:buNone/>
            </a:pPr>
            <a:r>
              <a:rPr lang="en-US" sz="1100" b="1" dirty="0">
                <a:solidFill>
                  <a:srgbClr val="326CE5"/>
                </a:solidFill>
                <a:latin typeface="Arial" pitchFamily="34" charset="0"/>
                <a:ea typeface="Arial" pitchFamily="34" charset="-122"/>
                <a:cs typeface="Arial" pitchFamily="34" charset="-120"/>
              </a:rPr>
              <a:t>📋  Requests — Scheduling</a:t>
            </a:r>
            <a:endParaRPr lang="en-US" sz="1100" dirty="0"/>
          </a:p>
        </p:txBody>
      </p:sp>
      <p:sp>
        <p:nvSpPr>
          <p:cNvPr id="25" name="Text 23"/>
          <p:cNvSpPr/>
          <p:nvPr/>
        </p:nvSpPr>
        <p:spPr>
          <a:xfrm>
            <a:off x="5715000" y="2084832"/>
            <a:ext cx="2971800" cy="329184"/>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Kubernetes uses requests to decide which node has enough capacity to run the Pod. Node must have at least this much free.</a:t>
            </a:r>
            <a:endParaRPr lang="en-US" sz="950" dirty="0"/>
          </a:p>
        </p:txBody>
      </p:sp>
      <p:sp>
        <p:nvSpPr>
          <p:cNvPr id="26" name="Shape 24"/>
          <p:cNvSpPr/>
          <p:nvPr/>
        </p:nvSpPr>
        <p:spPr>
          <a:xfrm>
            <a:off x="5577840" y="2560320"/>
            <a:ext cx="3246120" cy="713232"/>
          </a:xfrm>
          <a:prstGeom prst="roundRect">
            <a:avLst>
              <a:gd name="adj" fmla="val 12821"/>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7" name="Text 25"/>
          <p:cNvSpPr/>
          <p:nvPr/>
        </p:nvSpPr>
        <p:spPr>
          <a:xfrm>
            <a:off x="5715000" y="2615184"/>
            <a:ext cx="2971800" cy="256032"/>
          </a:xfrm>
          <a:prstGeom prst="rect">
            <a:avLst/>
          </a:prstGeom>
          <a:noFill/>
          <a:ln/>
        </p:spPr>
        <p:txBody>
          <a:bodyPr wrap="square" lIns="0" tIns="0" rIns="0" bIns="0" rtlCol="0" anchor="ctr"/>
          <a:lstStyle/>
          <a:p>
            <a:pPr indent="0" marL="0">
              <a:buNone/>
            </a:pPr>
            <a:r>
              <a:rPr lang="en-US" sz="1100" b="1" dirty="0">
                <a:solidFill>
                  <a:srgbClr val="DC2626"/>
                </a:solidFill>
                <a:latin typeface="Arial" pitchFamily="34" charset="0"/>
                <a:ea typeface="Arial" pitchFamily="34" charset="-122"/>
                <a:cs typeface="Arial" pitchFamily="34" charset="-120"/>
              </a:rPr>
              <a:t>🚧  Limits — Enforcement</a:t>
            </a:r>
            <a:endParaRPr lang="en-US" sz="1100" dirty="0"/>
          </a:p>
        </p:txBody>
      </p:sp>
      <p:sp>
        <p:nvSpPr>
          <p:cNvPr id="28" name="Text 26"/>
          <p:cNvSpPr/>
          <p:nvPr/>
        </p:nvSpPr>
        <p:spPr>
          <a:xfrm>
            <a:off x="5715000" y="2889504"/>
            <a:ext cx="2971800" cy="329184"/>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Container cannot exceed the limit. CPU is throttled. Memory violation = OOMKilled (Out Of Memory — container is restarted).</a:t>
            </a:r>
            <a:endParaRPr lang="en-US" sz="950" dirty="0"/>
          </a:p>
        </p:txBody>
      </p:sp>
      <p:sp>
        <p:nvSpPr>
          <p:cNvPr id="29" name="Shape 27"/>
          <p:cNvSpPr/>
          <p:nvPr/>
        </p:nvSpPr>
        <p:spPr>
          <a:xfrm>
            <a:off x="5577840" y="3364992"/>
            <a:ext cx="3246120" cy="713232"/>
          </a:xfrm>
          <a:prstGeom prst="roundRect">
            <a:avLst>
              <a:gd name="adj" fmla="val 12821"/>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0" name="Text 28"/>
          <p:cNvSpPr/>
          <p:nvPr/>
        </p:nvSpPr>
        <p:spPr>
          <a:xfrm>
            <a:off x="5715000" y="3419856"/>
            <a:ext cx="2971800" cy="256032"/>
          </a:xfrm>
          <a:prstGeom prst="rect">
            <a:avLst/>
          </a:prstGeom>
          <a:noFill/>
          <a:ln/>
        </p:spPr>
        <p:txBody>
          <a:bodyPr wrap="square" lIns="0" tIns="0" rIns="0" bIns="0" rtlCol="0" anchor="ctr"/>
          <a:lstStyle/>
          <a:p>
            <a:pPr indent="0" marL="0">
              <a:buNone/>
            </a:pPr>
            <a:r>
              <a:rPr lang="en-US" sz="1100" b="1" dirty="0">
                <a:solidFill>
                  <a:srgbClr val="D97706"/>
                </a:solidFill>
                <a:latin typeface="Arial" pitchFamily="34" charset="0"/>
                <a:ea typeface="Arial" pitchFamily="34" charset="-122"/>
                <a:cs typeface="Arial" pitchFamily="34" charset="-120"/>
              </a:rPr>
              <a:t>⚖️  CPU Units</a:t>
            </a:r>
            <a:endParaRPr lang="en-US" sz="1100" dirty="0"/>
          </a:p>
        </p:txBody>
      </p:sp>
      <p:sp>
        <p:nvSpPr>
          <p:cNvPr id="31" name="Text 29"/>
          <p:cNvSpPr/>
          <p:nvPr/>
        </p:nvSpPr>
        <p:spPr>
          <a:xfrm>
            <a:off x="5715000" y="3694176"/>
            <a:ext cx="2971800" cy="329184"/>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1000m = 1 CPU core. 250m = 0.25 cores. Use millicores for fine-grained control.</a:t>
            </a:r>
            <a:endParaRPr lang="en-US" sz="950" dirty="0"/>
          </a:p>
        </p:txBody>
      </p:sp>
      <p:sp>
        <p:nvSpPr>
          <p:cNvPr id="32" name="Shape 30"/>
          <p:cNvSpPr/>
          <p:nvPr/>
        </p:nvSpPr>
        <p:spPr>
          <a:xfrm>
            <a:off x="5577840" y="4169664"/>
            <a:ext cx="3246120" cy="713232"/>
          </a:xfrm>
          <a:prstGeom prst="roundRect">
            <a:avLst>
              <a:gd name="adj" fmla="val 12821"/>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3" name="Text 31"/>
          <p:cNvSpPr/>
          <p:nvPr/>
        </p:nvSpPr>
        <p:spPr>
          <a:xfrm>
            <a:off x="5715000" y="4224528"/>
            <a:ext cx="2971800" cy="256032"/>
          </a:xfrm>
          <a:prstGeom prst="rect">
            <a:avLst/>
          </a:prstGeom>
          <a:noFill/>
          <a:ln/>
        </p:spPr>
        <p:txBody>
          <a:bodyPr wrap="square" lIns="0" tIns="0" rIns="0" bIns="0" rtlCol="0" anchor="ctr"/>
          <a:lstStyle/>
          <a:p>
            <a:pPr indent="0" marL="0">
              <a:buNone/>
            </a:pPr>
            <a:r>
              <a:rPr lang="en-US" sz="1100" b="1" dirty="0">
                <a:solidFill>
                  <a:srgbClr val="059669"/>
                </a:solidFill>
                <a:latin typeface="Arial" pitchFamily="34" charset="0"/>
                <a:ea typeface="Arial" pitchFamily="34" charset="-122"/>
                <a:cs typeface="Arial" pitchFamily="34" charset="-120"/>
              </a:rPr>
              <a:t>💾  Memory Units</a:t>
            </a:r>
            <a:endParaRPr lang="en-US" sz="1100" dirty="0"/>
          </a:p>
        </p:txBody>
      </p:sp>
      <p:sp>
        <p:nvSpPr>
          <p:cNvPr id="34" name="Text 32"/>
          <p:cNvSpPr/>
          <p:nvPr/>
        </p:nvSpPr>
        <p:spPr>
          <a:xfrm>
            <a:off x="5715000" y="4498848"/>
            <a:ext cx="2971800" cy="329184"/>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Mi = mebibytes (1Mi = 1.049MB). Gi = gibibytes. Always set both requests AND limits.</a:t>
            </a:r>
            <a:endParaRPr lang="en-US" sz="950" dirty="0"/>
          </a:p>
        </p:txBody>
      </p:sp>
      <p:sp>
        <p:nvSpPr>
          <p:cNvPr id="35" name="Shape 33"/>
          <p:cNvSpPr/>
          <p:nvPr/>
        </p:nvSpPr>
        <p:spPr>
          <a:xfrm>
            <a:off x="0" y="4846320"/>
            <a:ext cx="9144000" cy="297180"/>
          </a:xfrm>
          <a:prstGeom prst="rect">
            <a:avLst/>
          </a:prstGeom>
          <a:solidFill>
            <a:srgbClr val="0F172A"/>
          </a:solidFill>
          <a:ln w="12700">
            <a:solidFill>
              <a:srgbClr val="0F172A"/>
            </a:solidFill>
            <a:prstDash val="solid"/>
          </a:ln>
        </p:spPr>
      </p:sp>
      <p:sp>
        <p:nvSpPr>
          <p:cNvPr id="36" name="Text 34"/>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Advanced Architecture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HEALTH PROBES — LIVENESS &amp; READINESS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Advanced Architecture</a:t>
            </a:r>
            <a:endParaRPr lang="en-US" sz="950" dirty="0"/>
          </a:p>
        </p:txBody>
      </p:sp>
      <p:sp>
        <p:nvSpPr>
          <p:cNvPr id="6" name="Shape 4"/>
          <p:cNvSpPr/>
          <p:nvPr/>
        </p:nvSpPr>
        <p:spPr>
          <a:xfrm>
            <a:off x="320040" y="868680"/>
            <a:ext cx="8503920" cy="658368"/>
          </a:xfrm>
          <a:prstGeom prst="roundRect">
            <a:avLst>
              <a:gd name="adj" fmla="val 13889"/>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00" dirty="0">
                <a:solidFill>
                  <a:srgbClr val="0F172A"/>
                </a:solidFill>
                <a:latin typeface="Cambria" pitchFamily="34" charset="0"/>
                <a:ea typeface="Cambria" pitchFamily="34" charset="-122"/>
                <a:cs typeface="Cambria" pitchFamily="34" charset="-120"/>
              </a:rPr>
              <a:t>Probes tell Kubernetes whether your container is healthy (liveness) and ready to receive traffic (readiness). Without probes, Kubernetes sends traffic to Pods that are still starting up or have silently crashed.</a:t>
            </a:r>
            <a:endParaRPr lang="en-US" sz="1200" dirty="0"/>
          </a:p>
        </p:txBody>
      </p:sp>
      <p:sp>
        <p:nvSpPr>
          <p:cNvPr id="8" name="Shape 6"/>
          <p:cNvSpPr/>
          <p:nvPr/>
        </p:nvSpPr>
        <p:spPr>
          <a:xfrm>
            <a:off x="320040" y="1664208"/>
            <a:ext cx="2697480" cy="3035808"/>
          </a:xfrm>
          <a:prstGeom prst="roundRect">
            <a:avLst>
              <a:gd name="adj" fmla="val 3390"/>
            </a:avLst>
          </a:prstGeom>
          <a:solidFill>
            <a:srgbClr val="FEF2F2"/>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Shape 7"/>
          <p:cNvSpPr/>
          <p:nvPr/>
        </p:nvSpPr>
        <p:spPr>
          <a:xfrm>
            <a:off x="429768" y="1755648"/>
            <a:ext cx="2487168" cy="329184"/>
          </a:xfrm>
          <a:prstGeom prst="roundRect">
            <a:avLst>
              <a:gd name="adj" fmla="val 16667"/>
            </a:avLst>
          </a:prstGeom>
          <a:solidFill>
            <a:srgbClr val="DC2626"/>
          </a:solidFill>
          <a:ln w="12700">
            <a:solidFill>
              <a:srgbClr val="DC2626"/>
            </a:solidFill>
            <a:prstDash val="solid"/>
          </a:ln>
        </p:spPr>
      </p:sp>
      <p:sp>
        <p:nvSpPr>
          <p:cNvPr id="10" name="Text 8"/>
          <p:cNvSpPr/>
          <p:nvPr/>
        </p:nvSpPr>
        <p:spPr>
          <a:xfrm>
            <a:off x="429768" y="1755648"/>
            <a:ext cx="2487168"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Liveness Probe</a:t>
            </a:r>
            <a:endParaRPr lang="en-US" sz="1050" dirty="0"/>
          </a:p>
        </p:txBody>
      </p:sp>
      <p:sp>
        <p:nvSpPr>
          <p:cNvPr id="11" name="Text 9"/>
          <p:cNvSpPr/>
          <p:nvPr/>
        </p:nvSpPr>
        <p:spPr>
          <a:xfrm>
            <a:off x="457200" y="2148840"/>
            <a:ext cx="2423160" cy="77724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Is the container still alive? If it fails, Kubernetes restarts the container. Catches silent crashes — when your app is running but no longer functioning.</a:t>
            </a:r>
            <a:endParaRPr lang="en-US" sz="950" dirty="0"/>
          </a:p>
        </p:txBody>
      </p:sp>
      <p:sp>
        <p:nvSpPr>
          <p:cNvPr id="12" name="Shape 10"/>
          <p:cNvSpPr/>
          <p:nvPr/>
        </p:nvSpPr>
        <p:spPr>
          <a:xfrm>
            <a:off x="429768" y="2971800"/>
            <a:ext cx="2487168" cy="1572768"/>
          </a:xfrm>
          <a:prstGeom prst="roundRect">
            <a:avLst>
              <a:gd name="adj" fmla="val 5814"/>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3" name="Text 11"/>
          <p:cNvSpPr/>
          <p:nvPr/>
        </p:nvSpPr>
        <p:spPr>
          <a:xfrm>
            <a:off x="521208" y="3035808"/>
            <a:ext cx="2304288" cy="201168"/>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livenessProbe:</a:t>
            </a:r>
            <a:endParaRPr lang="en-US" sz="850" dirty="0"/>
          </a:p>
        </p:txBody>
      </p:sp>
      <p:sp>
        <p:nvSpPr>
          <p:cNvPr id="14" name="Text 12"/>
          <p:cNvSpPr/>
          <p:nvPr/>
        </p:nvSpPr>
        <p:spPr>
          <a:xfrm>
            <a:off x="521208" y="3255264"/>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httpGet:</a:t>
            </a:r>
            <a:endParaRPr lang="en-US" sz="850" dirty="0"/>
          </a:p>
        </p:txBody>
      </p:sp>
      <p:sp>
        <p:nvSpPr>
          <p:cNvPr id="15" name="Text 13"/>
          <p:cNvSpPr/>
          <p:nvPr/>
        </p:nvSpPr>
        <p:spPr>
          <a:xfrm>
            <a:off x="521208" y="3474720"/>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path: /health</a:t>
            </a:r>
            <a:endParaRPr lang="en-US" sz="850" dirty="0"/>
          </a:p>
        </p:txBody>
      </p:sp>
      <p:sp>
        <p:nvSpPr>
          <p:cNvPr id="16" name="Text 14"/>
          <p:cNvSpPr/>
          <p:nvPr/>
        </p:nvSpPr>
        <p:spPr>
          <a:xfrm>
            <a:off x="521208" y="3694176"/>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port: 8080</a:t>
            </a:r>
            <a:endParaRPr lang="en-US" sz="850" dirty="0"/>
          </a:p>
        </p:txBody>
      </p:sp>
      <p:sp>
        <p:nvSpPr>
          <p:cNvPr id="17" name="Text 15"/>
          <p:cNvSpPr/>
          <p:nvPr/>
        </p:nvSpPr>
        <p:spPr>
          <a:xfrm>
            <a:off x="521208" y="3913632"/>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initialDelaySeconds: 30</a:t>
            </a:r>
            <a:endParaRPr lang="en-US" sz="850" dirty="0"/>
          </a:p>
        </p:txBody>
      </p:sp>
      <p:sp>
        <p:nvSpPr>
          <p:cNvPr id="18" name="Text 16"/>
          <p:cNvSpPr/>
          <p:nvPr/>
        </p:nvSpPr>
        <p:spPr>
          <a:xfrm>
            <a:off x="521208" y="4133088"/>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periodSeconds: 10</a:t>
            </a:r>
            <a:endParaRPr lang="en-US" sz="850" dirty="0"/>
          </a:p>
        </p:txBody>
      </p:sp>
      <p:sp>
        <p:nvSpPr>
          <p:cNvPr id="19" name="Shape 17"/>
          <p:cNvSpPr/>
          <p:nvPr/>
        </p:nvSpPr>
        <p:spPr>
          <a:xfrm>
            <a:off x="3172968" y="1664208"/>
            <a:ext cx="2697480" cy="3035808"/>
          </a:xfrm>
          <a:prstGeom prst="roundRect">
            <a:avLst>
              <a:gd name="adj" fmla="val 3390"/>
            </a:avLst>
          </a:prstGeom>
          <a:solidFill>
            <a:srgbClr val="ECFDF5"/>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0" name="Shape 18"/>
          <p:cNvSpPr/>
          <p:nvPr/>
        </p:nvSpPr>
        <p:spPr>
          <a:xfrm>
            <a:off x="3282696" y="1755648"/>
            <a:ext cx="2487168" cy="329184"/>
          </a:xfrm>
          <a:prstGeom prst="roundRect">
            <a:avLst>
              <a:gd name="adj" fmla="val 16667"/>
            </a:avLst>
          </a:prstGeom>
          <a:solidFill>
            <a:srgbClr val="059669"/>
          </a:solidFill>
          <a:ln w="12700">
            <a:solidFill>
              <a:srgbClr val="059669"/>
            </a:solidFill>
            <a:prstDash val="solid"/>
          </a:ln>
        </p:spPr>
      </p:sp>
      <p:sp>
        <p:nvSpPr>
          <p:cNvPr id="21" name="Text 19"/>
          <p:cNvSpPr/>
          <p:nvPr/>
        </p:nvSpPr>
        <p:spPr>
          <a:xfrm>
            <a:off x="3282696" y="1755648"/>
            <a:ext cx="2487168"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Readiness Probe</a:t>
            </a:r>
            <a:endParaRPr lang="en-US" sz="1050" dirty="0"/>
          </a:p>
        </p:txBody>
      </p:sp>
      <p:sp>
        <p:nvSpPr>
          <p:cNvPr id="22" name="Text 20"/>
          <p:cNvSpPr/>
          <p:nvPr/>
        </p:nvSpPr>
        <p:spPr>
          <a:xfrm>
            <a:off x="3310128" y="2148840"/>
            <a:ext cx="2423160" cy="77724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Is the container ready to receive traffic? If it fails, the Pod is removed from the Service endpoint list — no traffic is sent until it passes again.</a:t>
            </a:r>
            <a:endParaRPr lang="en-US" sz="950" dirty="0"/>
          </a:p>
        </p:txBody>
      </p:sp>
      <p:sp>
        <p:nvSpPr>
          <p:cNvPr id="23" name="Shape 21"/>
          <p:cNvSpPr/>
          <p:nvPr/>
        </p:nvSpPr>
        <p:spPr>
          <a:xfrm>
            <a:off x="3282696" y="2971800"/>
            <a:ext cx="2487168" cy="1572768"/>
          </a:xfrm>
          <a:prstGeom prst="roundRect">
            <a:avLst>
              <a:gd name="adj" fmla="val 5814"/>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4" name="Text 22"/>
          <p:cNvSpPr/>
          <p:nvPr/>
        </p:nvSpPr>
        <p:spPr>
          <a:xfrm>
            <a:off x="3374136" y="3035808"/>
            <a:ext cx="2304288" cy="201168"/>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readinessProbe:</a:t>
            </a:r>
            <a:endParaRPr lang="en-US" sz="850" dirty="0"/>
          </a:p>
        </p:txBody>
      </p:sp>
      <p:sp>
        <p:nvSpPr>
          <p:cNvPr id="25" name="Text 23"/>
          <p:cNvSpPr/>
          <p:nvPr/>
        </p:nvSpPr>
        <p:spPr>
          <a:xfrm>
            <a:off x="3374136" y="3255264"/>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httpGet:</a:t>
            </a:r>
            <a:endParaRPr lang="en-US" sz="850" dirty="0"/>
          </a:p>
        </p:txBody>
      </p:sp>
      <p:sp>
        <p:nvSpPr>
          <p:cNvPr id="26" name="Text 24"/>
          <p:cNvSpPr/>
          <p:nvPr/>
        </p:nvSpPr>
        <p:spPr>
          <a:xfrm>
            <a:off x="3374136" y="3474720"/>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path: /ready</a:t>
            </a:r>
            <a:endParaRPr lang="en-US" sz="850" dirty="0"/>
          </a:p>
        </p:txBody>
      </p:sp>
      <p:sp>
        <p:nvSpPr>
          <p:cNvPr id="27" name="Text 25"/>
          <p:cNvSpPr/>
          <p:nvPr/>
        </p:nvSpPr>
        <p:spPr>
          <a:xfrm>
            <a:off x="3374136" y="3694176"/>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port: 8080</a:t>
            </a:r>
            <a:endParaRPr lang="en-US" sz="850" dirty="0"/>
          </a:p>
        </p:txBody>
      </p:sp>
      <p:sp>
        <p:nvSpPr>
          <p:cNvPr id="28" name="Text 26"/>
          <p:cNvSpPr/>
          <p:nvPr/>
        </p:nvSpPr>
        <p:spPr>
          <a:xfrm>
            <a:off x="3374136" y="3913632"/>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initialDelaySeconds: 5</a:t>
            </a:r>
            <a:endParaRPr lang="en-US" sz="850" dirty="0"/>
          </a:p>
        </p:txBody>
      </p:sp>
      <p:sp>
        <p:nvSpPr>
          <p:cNvPr id="29" name="Text 27"/>
          <p:cNvSpPr/>
          <p:nvPr/>
        </p:nvSpPr>
        <p:spPr>
          <a:xfrm>
            <a:off x="3374136" y="4133088"/>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periodSeconds: 5</a:t>
            </a:r>
            <a:endParaRPr lang="en-US" sz="850" dirty="0"/>
          </a:p>
        </p:txBody>
      </p:sp>
      <p:sp>
        <p:nvSpPr>
          <p:cNvPr id="30" name="Shape 28"/>
          <p:cNvSpPr/>
          <p:nvPr/>
        </p:nvSpPr>
        <p:spPr>
          <a:xfrm>
            <a:off x="6025896" y="1664208"/>
            <a:ext cx="2697480" cy="3035808"/>
          </a:xfrm>
          <a:prstGeom prst="roundRect">
            <a:avLst>
              <a:gd name="adj" fmla="val 3390"/>
            </a:avLst>
          </a:prstGeom>
          <a:solidFill>
            <a:srgbClr val="FEF3C7"/>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1" name="Shape 29"/>
          <p:cNvSpPr/>
          <p:nvPr/>
        </p:nvSpPr>
        <p:spPr>
          <a:xfrm>
            <a:off x="6135624" y="1755648"/>
            <a:ext cx="2487168" cy="329184"/>
          </a:xfrm>
          <a:prstGeom prst="roundRect">
            <a:avLst>
              <a:gd name="adj" fmla="val 16667"/>
            </a:avLst>
          </a:prstGeom>
          <a:solidFill>
            <a:srgbClr val="D97706"/>
          </a:solidFill>
          <a:ln w="12700">
            <a:solidFill>
              <a:srgbClr val="D97706"/>
            </a:solidFill>
            <a:prstDash val="solid"/>
          </a:ln>
        </p:spPr>
      </p:sp>
      <p:sp>
        <p:nvSpPr>
          <p:cNvPr id="32" name="Text 30"/>
          <p:cNvSpPr/>
          <p:nvPr/>
        </p:nvSpPr>
        <p:spPr>
          <a:xfrm>
            <a:off x="6135624" y="1755648"/>
            <a:ext cx="2487168"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Startup Probe</a:t>
            </a:r>
            <a:endParaRPr lang="en-US" sz="1050" dirty="0"/>
          </a:p>
        </p:txBody>
      </p:sp>
      <p:sp>
        <p:nvSpPr>
          <p:cNvPr id="33" name="Text 31"/>
          <p:cNvSpPr/>
          <p:nvPr/>
        </p:nvSpPr>
        <p:spPr>
          <a:xfrm>
            <a:off x="6163056" y="2148840"/>
            <a:ext cx="2423160" cy="77724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For slow-starting apps. Disables liveness and readiness checks until the startup probe succeeds. Prevents premature restarts during initialisation.</a:t>
            </a:r>
            <a:endParaRPr lang="en-US" sz="950" dirty="0"/>
          </a:p>
        </p:txBody>
      </p:sp>
      <p:sp>
        <p:nvSpPr>
          <p:cNvPr id="34" name="Shape 32"/>
          <p:cNvSpPr/>
          <p:nvPr/>
        </p:nvSpPr>
        <p:spPr>
          <a:xfrm>
            <a:off x="6135624" y="2971800"/>
            <a:ext cx="2487168" cy="1572768"/>
          </a:xfrm>
          <a:prstGeom prst="roundRect">
            <a:avLst>
              <a:gd name="adj" fmla="val 5814"/>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35" name="Text 33"/>
          <p:cNvSpPr/>
          <p:nvPr/>
        </p:nvSpPr>
        <p:spPr>
          <a:xfrm>
            <a:off x="6227064" y="3035808"/>
            <a:ext cx="2304288" cy="201168"/>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startupProbe:</a:t>
            </a:r>
            <a:endParaRPr lang="en-US" sz="850" dirty="0"/>
          </a:p>
        </p:txBody>
      </p:sp>
      <p:sp>
        <p:nvSpPr>
          <p:cNvPr id="36" name="Text 34"/>
          <p:cNvSpPr/>
          <p:nvPr/>
        </p:nvSpPr>
        <p:spPr>
          <a:xfrm>
            <a:off x="6227064" y="3255264"/>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httpGet:</a:t>
            </a:r>
            <a:endParaRPr lang="en-US" sz="850" dirty="0"/>
          </a:p>
        </p:txBody>
      </p:sp>
      <p:sp>
        <p:nvSpPr>
          <p:cNvPr id="37" name="Text 35"/>
          <p:cNvSpPr/>
          <p:nvPr/>
        </p:nvSpPr>
        <p:spPr>
          <a:xfrm>
            <a:off x="6227064" y="3474720"/>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path: /startup</a:t>
            </a:r>
            <a:endParaRPr lang="en-US" sz="850" dirty="0"/>
          </a:p>
        </p:txBody>
      </p:sp>
      <p:sp>
        <p:nvSpPr>
          <p:cNvPr id="38" name="Text 36"/>
          <p:cNvSpPr/>
          <p:nvPr/>
        </p:nvSpPr>
        <p:spPr>
          <a:xfrm>
            <a:off x="6227064" y="3694176"/>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port: 8080</a:t>
            </a:r>
            <a:endParaRPr lang="en-US" sz="850" dirty="0"/>
          </a:p>
        </p:txBody>
      </p:sp>
      <p:sp>
        <p:nvSpPr>
          <p:cNvPr id="39" name="Text 37"/>
          <p:cNvSpPr/>
          <p:nvPr/>
        </p:nvSpPr>
        <p:spPr>
          <a:xfrm>
            <a:off x="6227064" y="3913632"/>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failureThreshold: 30</a:t>
            </a:r>
            <a:endParaRPr lang="en-US" sz="850" dirty="0"/>
          </a:p>
        </p:txBody>
      </p:sp>
      <p:sp>
        <p:nvSpPr>
          <p:cNvPr id="40" name="Text 38"/>
          <p:cNvSpPr/>
          <p:nvPr/>
        </p:nvSpPr>
        <p:spPr>
          <a:xfrm>
            <a:off x="6227064" y="4133088"/>
            <a:ext cx="2304288" cy="201168"/>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periodSeconds: 10</a:t>
            </a:r>
            <a:endParaRPr lang="en-US" sz="850" dirty="0"/>
          </a:p>
        </p:txBody>
      </p:sp>
      <p:sp>
        <p:nvSpPr>
          <p:cNvPr id="41" name="Shape 39"/>
          <p:cNvSpPr/>
          <p:nvPr/>
        </p:nvSpPr>
        <p:spPr>
          <a:xfrm>
            <a:off x="0" y="4846320"/>
            <a:ext cx="9144000" cy="297180"/>
          </a:xfrm>
          <a:prstGeom prst="rect">
            <a:avLst/>
          </a:prstGeom>
          <a:solidFill>
            <a:srgbClr val="0F172A"/>
          </a:solidFill>
          <a:ln w="12700">
            <a:solidFill>
              <a:srgbClr val="0F172A"/>
            </a:solidFill>
            <a:prstDash val="solid"/>
          </a:ln>
        </p:spPr>
      </p:sp>
      <p:sp>
        <p:nvSpPr>
          <p:cNvPr id="42" name="Text 4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Advanced Architecture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02</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ConfigMaps</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Externalising application configuration from container images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A CONFIGMAP?</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02  •  ConfigMaps</a:t>
            </a:r>
            <a:endParaRPr lang="en-US" sz="950" dirty="0"/>
          </a:p>
        </p:txBody>
      </p:sp>
      <p:sp>
        <p:nvSpPr>
          <p:cNvPr id="6" name="Shape 4"/>
          <p:cNvSpPr/>
          <p:nvPr/>
        </p:nvSpPr>
        <p:spPr>
          <a:xfrm>
            <a:off x="320040" y="868680"/>
            <a:ext cx="8503920" cy="749808"/>
          </a:xfrm>
          <a:prstGeom prst="roundRect">
            <a:avLst>
              <a:gd name="adj" fmla="val 12195"/>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65836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A ConfigMap stores non-sensitive configuration data as key-value pairs. Pods can consume ConfigMaps as environment variables, command-line arguments or configuration files mounted as volumes.</a:t>
            </a:r>
            <a:endParaRPr lang="en-US" sz="1250" dirty="0"/>
          </a:p>
        </p:txBody>
      </p:sp>
      <p:sp>
        <p:nvSpPr>
          <p:cNvPr id="8" name="Shape 6"/>
          <p:cNvSpPr/>
          <p:nvPr/>
        </p:nvSpPr>
        <p:spPr>
          <a:xfrm>
            <a:off x="320040" y="1755648"/>
            <a:ext cx="4251960" cy="3246120"/>
          </a:xfrm>
          <a:prstGeom prst="roundRect">
            <a:avLst>
              <a:gd name="adj" fmla="val 2817"/>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828800"/>
            <a:ext cx="394106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configmap.yaml</a:t>
            </a:r>
            <a:endParaRPr lang="en-US" sz="900" dirty="0"/>
          </a:p>
        </p:txBody>
      </p:sp>
      <p:sp>
        <p:nvSpPr>
          <p:cNvPr id="10" name="Text 8"/>
          <p:cNvSpPr/>
          <p:nvPr/>
        </p:nvSpPr>
        <p:spPr>
          <a:xfrm>
            <a:off x="475488" y="2066544"/>
            <a:ext cx="394106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apiVersion: v1</a:t>
            </a:r>
            <a:endParaRPr lang="en-US" sz="950" dirty="0"/>
          </a:p>
        </p:txBody>
      </p:sp>
      <p:sp>
        <p:nvSpPr>
          <p:cNvPr id="11" name="Text 9"/>
          <p:cNvSpPr/>
          <p:nvPr/>
        </p:nvSpPr>
        <p:spPr>
          <a:xfrm>
            <a:off x="475488" y="2263140"/>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kind: ConfigMap</a:t>
            </a:r>
            <a:endParaRPr lang="en-US" sz="950" dirty="0"/>
          </a:p>
        </p:txBody>
      </p:sp>
      <p:sp>
        <p:nvSpPr>
          <p:cNvPr id="12" name="Text 10"/>
          <p:cNvSpPr/>
          <p:nvPr/>
        </p:nvSpPr>
        <p:spPr>
          <a:xfrm>
            <a:off x="475488" y="2459736"/>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metadata:</a:t>
            </a:r>
            <a:endParaRPr lang="en-US" sz="950" dirty="0"/>
          </a:p>
        </p:txBody>
      </p:sp>
      <p:sp>
        <p:nvSpPr>
          <p:cNvPr id="13" name="Text 11"/>
          <p:cNvSpPr/>
          <p:nvPr/>
        </p:nvSpPr>
        <p:spPr>
          <a:xfrm>
            <a:off x="475488" y="2656332"/>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name: app-config</a:t>
            </a:r>
            <a:endParaRPr lang="en-US" sz="950" dirty="0"/>
          </a:p>
        </p:txBody>
      </p:sp>
      <p:sp>
        <p:nvSpPr>
          <p:cNvPr id="14" name="Text 12"/>
          <p:cNvSpPr/>
          <p:nvPr/>
        </p:nvSpPr>
        <p:spPr>
          <a:xfrm>
            <a:off x="475488" y="2852928"/>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data:</a:t>
            </a:r>
            <a:endParaRPr lang="en-US" sz="950" dirty="0"/>
          </a:p>
        </p:txBody>
      </p:sp>
      <p:sp>
        <p:nvSpPr>
          <p:cNvPr id="15" name="Text 13"/>
          <p:cNvSpPr/>
          <p:nvPr/>
        </p:nvSpPr>
        <p:spPr>
          <a:xfrm>
            <a:off x="475488" y="3049524"/>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DATABASE_URL: postgres://db:5432/mydb</a:t>
            </a:r>
            <a:endParaRPr lang="en-US" sz="950" dirty="0"/>
          </a:p>
        </p:txBody>
      </p:sp>
      <p:sp>
        <p:nvSpPr>
          <p:cNvPr id="16" name="Text 14"/>
          <p:cNvSpPr/>
          <p:nvPr/>
        </p:nvSpPr>
        <p:spPr>
          <a:xfrm>
            <a:off x="475488" y="3246120"/>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LOG_LEVEL: info</a:t>
            </a:r>
            <a:endParaRPr lang="en-US" sz="950" dirty="0"/>
          </a:p>
        </p:txBody>
      </p:sp>
      <p:sp>
        <p:nvSpPr>
          <p:cNvPr id="17" name="Text 15"/>
          <p:cNvSpPr/>
          <p:nvPr/>
        </p:nvSpPr>
        <p:spPr>
          <a:xfrm>
            <a:off x="475488" y="3442716"/>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MAX_CONNECTIONS: '100'</a:t>
            </a:r>
            <a:endParaRPr lang="en-US" sz="950" dirty="0"/>
          </a:p>
        </p:txBody>
      </p:sp>
      <p:sp>
        <p:nvSpPr>
          <p:cNvPr id="18" name="Text 16"/>
          <p:cNvSpPr/>
          <p:nvPr/>
        </p:nvSpPr>
        <p:spPr>
          <a:xfrm>
            <a:off x="475488" y="3639312"/>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app.properties: |</a:t>
            </a:r>
            <a:endParaRPr lang="en-US" sz="950" dirty="0"/>
          </a:p>
        </p:txBody>
      </p:sp>
      <p:sp>
        <p:nvSpPr>
          <p:cNvPr id="19" name="Text 17"/>
          <p:cNvSpPr/>
          <p:nvPr/>
        </p:nvSpPr>
        <p:spPr>
          <a:xfrm>
            <a:off x="475488" y="3835908"/>
            <a:ext cx="3941064" cy="201168"/>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    timeout=30</a:t>
            </a:r>
            <a:endParaRPr lang="en-US" sz="950" dirty="0"/>
          </a:p>
        </p:txBody>
      </p:sp>
      <p:sp>
        <p:nvSpPr>
          <p:cNvPr id="20" name="Text 18"/>
          <p:cNvSpPr/>
          <p:nvPr/>
        </p:nvSpPr>
        <p:spPr>
          <a:xfrm>
            <a:off x="475488" y="4032504"/>
            <a:ext cx="3941064" cy="201168"/>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    retries=3</a:t>
            </a:r>
            <a:endParaRPr lang="en-US" sz="950" dirty="0"/>
          </a:p>
        </p:txBody>
      </p:sp>
      <p:sp>
        <p:nvSpPr>
          <p:cNvPr id="21" name="Text 19"/>
          <p:cNvSpPr/>
          <p:nvPr/>
        </p:nvSpPr>
        <p:spPr>
          <a:xfrm>
            <a:off x="475488" y="4229100"/>
            <a:ext cx="3941064" cy="201168"/>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    environment=production</a:t>
            </a:r>
            <a:endParaRPr lang="en-US" sz="950" dirty="0"/>
          </a:p>
        </p:txBody>
      </p:sp>
      <p:sp>
        <p:nvSpPr>
          <p:cNvPr id="22" name="Text 20"/>
          <p:cNvSpPr/>
          <p:nvPr/>
        </p:nvSpPr>
        <p:spPr>
          <a:xfrm>
            <a:off x="475488" y="4622292"/>
            <a:ext cx="394106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kubectl apply -f configmap.yaml</a:t>
            </a:r>
            <a:endParaRPr lang="en-US" sz="950" dirty="0"/>
          </a:p>
        </p:txBody>
      </p:sp>
      <p:sp>
        <p:nvSpPr>
          <p:cNvPr id="23" name="Shape 21"/>
          <p:cNvSpPr/>
          <p:nvPr/>
        </p:nvSpPr>
        <p:spPr>
          <a:xfrm>
            <a:off x="4754880" y="1755648"/>
            <a:ext cx="4069080" cy="1691640"/>
          </a:xfrm>
          <a:prstGeom prst="roundRect">
            <a:avLst>
              <a:gd name="adj" fmla="val 5405"/>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4" name="Shape 22"/>
          <p:cNvSpPr/>
          <p:nvPr/>
        </p:nvSpPr>
        <p:spPr>
          <a:xfrm>
            <a:off x="4910328" y="1847088"/>
            <a:ext cx="3749040" cy="292608"/>
          </a:xfrm>
          <a:prstGeom prst="roundRect">
            <a:avLst>
              <a:gd name="adj" fmla="val 18750"/>
            </a:avLst>
          </a:prstGeom>
          <a:solidFill>
            <a:srgbClr val="326CE5"/>
          </a:solidFill>
          <a:ln w="12700">
            <a:solidFill>
              <a:srgbClr val="326CE5"/>
            </a:solidFill>
            <a:prstDash val="solid"/>
          </a:ln>
        </p:spPr>
      </p:sp>
      <p:sp>
        <p:nvSpPr>
          <p:cNvPr id="25" name="Text 23"/>
          <p:cNvSpPr/>
          <p:nvPr/>
        </p:nvSpPr>
        <p:spPr>
          <a:xfrm>
            <a:off x="4910328" y="1847088"/>
            <a:ext cx="37490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As Environment Variables</a:t>
            </a:r>
            <a:endParaRPr lang="en-US" sz="1000" dirty="0"/>
          </a:p>
        </p:txBody>
      </p:sp>
      <p:sp>
        <p:nvSpPr>
          <p:cNvPr id="26" name="Shape 24"/>
          <p:cNvSpPr/>
          <p:nvPr/>
        </p:nvSpPr>
        <p:spPr>
          <a:xfrm>
            <a:off x="4910328" y="2212848"/>
            <a:ext cx="3749040" cy="1115568"/>
          </a:xfrm>
          <a:prstGeom prst="roundRect">
            <a:avLst>
              <a:gd name="adj" fmla="val 8197"/>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7" name="Text 25"/>
          <p:cNvSpPr/>
          <p:nvPr/>
        </p:nvSpPr>
        <p:spPr>
          <a:xfrm>
            <a:off x="5001768" y="2286000"/>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env:</a:t>
            </a:r>
            <a:endParaRPr lang="en-US" sz="850" dirty="0"/>
          </a:p>
        </p:txBody>
      </p:sp>
      <p:sp>
        <p:nvSpPr>
          <p:cNvPr id="28" name="Text 26"/>
          <p:cNvSpPr/>
          <p:nvPr/>
        </p:nvSpPr>
        <p:spPr>
          <a:xfrm>
            <a:off x="5001768" y="2450592"/>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 name: DATABASE_URL</a:t>
            </a:r>
            <a:endParaRPr lang="en-US" sz="850" dirty="0"/>
          </a:p>
        </p:txBody>
      </p:sp>
      <p:sp>
        <p:nvSpPr>
          <p:cNvPr id="29" name="Text 27"/>
          <p:cNvSpPr/>
          <p:nvPr/>
        </p:nvSpPr>
        <p:spPr>
          <a:xfrm>
            <a:off x="5001768" y="2615184"/>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valueFrom:</a:t>
            </a:r>
            <a:endParaRPr lang="en-US" sz="850" dirty="0"/>
          </a:p>
        </p:txBody>
      </p:sp>
      <p:sp>
        <p:nvSpPr>
          <p:cNvPr id="30" name="Text 28"/>
          <p:cNvSpPr/>
          <p:nvPr/>
        </p:nvSpPr>
        <p:spPr>
          <a:xfrm>
            <a:off x="5001768" y="2779776"/>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configMapKeyRef:</a:t>
            </a:r>
            <a:endParaRPr lang="en-US" sz="850" dirty="0"/>
          </a:p>
        </p:txBody>
      </p:sp>
      <p:sp>
        <p:nvSpPr>
          <p:cNvPr id="31" name="Text 29"/>
          <p:cNvSpPr/>
          <p:nvPr/>
        </p:nvSpPr>
        <p:spPr>
          <a:xfrm>
            <a:off x="5001768" y="2944368"/>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name: app-config</a:t>
            </a:r>
            <a:endParaRPr lang="en-US" sz="850" dirty="0"/>
          </a:p>
        </p:txBody>
      </p:sp>
      <p:sp>
        <p:nvSpPr>
          <p:cNvPr id="32" name="Text 30"/>
          <p:cNvSpPr/>
          <p:nvPr/>
        </p:nvSpPr>
        <p:spPr>
          <a:xfrm>
            <a:off x="5001768" y="3108960"/>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key: DATABASE_URL</a:t>
            </a:r>
            <a:endParaRPr lang="en-US" sz="850" dirty="0"/>
          </a:p>
        </p:txBody>
      </p:sp>
      <p:sp>
        <p:nvSpPr>
          <p:cNvPr id="33" name="Shape 31"/>
          <p:cNvSpPr/>
          <p:nvPr/>
        </p:nvSpPr>
        <p:spPr>
          <a:xfrm>
            <a:off x="4754880" y="3584448"/>
            <a:ext cx="4069080" cy="1691640"/>
          </a:xfrm>
          <a:prstGeom prst="roundRect">
            <a:avLst>
              <a:gd name="adj" fmla="val 5405"/>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4" name="Shape 32"/>
          <p:cNvSpPr/>
          <p:nvPr/>
        </p:nvSpPr>
        <p:spPr>
          <a:xfrm>
            <a:off x="4910328" y="3675888"/>
            <a:ext cx="3749040" cy="292608"/>
          </a:xfrm>
          <a:prstGeom prst="roundRect">
            <a:avLst>
              <a:gd name="adj" fmla="val 18750"/>
            </a:avLst>
          </a:prstGeom>
          <a:solidFill>
            <a:srgbClr val="059669"/>
          </a:solidFill>
          <a:ln w="12700">
            <a:solidFill>
              <a:srgbClr val="059669"/>
            </a:solidFill>
            <a:prstDash val="solid"/>
          </a:ln>
        </p:spPr>
      </p:sp>
      <p:sp>
        <p:nvSpPr>
          <p:cNvPr id="35" name="Text 33"/>
          <p:cNvSpPr/>
          <p:nvPr/>
        </p:nvSpPr>
        <p:spPr>
          <a:xfrm>
            <a:off x="4910328" y="3675888"/>
            <a:ext cx="37490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As a Volume (file)</a:t>
            </a:r>
            <a:endParaRPr lang="en-US" sz="1000" dirty="0"/>
          </a:p>
        </p:txBody>
      </p:sp>
      <p:sp>
        <p:nvSpPr>
          <p:cNvPr id="36" name="Shape 34"/>
          <p:cNvSpPr/>
          <p:nvPr/>
        </p:nvSpPr>
        <p:spPr>
          <a:xfrm>
            <a:off x="4910328" y="4041648"/>
            <a:ext cx="3749040" cy="1115568"/>
          </a:xfrm>
          <a:prstGeom prst="roundRect">
            <a:avLst>
              <a:gd name="adj" fmla="val 8197"/>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37" name="Text 35"/>
          <p:cNvSpPr/>
          <p:nvPr/>
        </p:nvSpPr>
        <p:spPr>
          <a:xfrm>
            <a:off x="5001768" y="4114800"/>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volumes:</a:t>
            </a:r>
            <a:endParaRPr lang="en-US" sz="850" dirty="0"/>
          </a:p>
        </p:txBody>
      </p:sp>
      <p:sp>
        <p:nvSpPr>
          <p:cNvPr id="38" name="Text 36"/>
          <p:cNvSpPr/>
          <p:nvPr/>
        </p:nvSpPr>
        <p:spPr>
          <a:xfrm>
            <a:off x="5001768" y="4279392"/>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 name: config-vol</a:t>
            </a:r>
            <a:endParaRPr lang="en-US" sz="850" dirty="0"/>
          </a:p>
        </p:txBody>
      </p:sp>
      <p:sp>
        <p:nvSpPr>
          <p:cNvPr id="39" name="Text 37"/>
          <p:cNvSpPr/>
          <p:nvPr/>
        </p:nvSpPr>
        <p:spPr>
          <a:xfrm>
            <a:off x="5001768" y="4443984"/>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configMap:</a:t>
            </a:r>
            <a:endParaRPr lang="en-US" sz="850" dirty="0"/>
          </a:p>
        </p:txBody>
      </p:sp>
      <p:sp>
        <p:nvSpPr>
          <p:cNvPr id="40" name="Text 38"/>
          <p:cNvSpPr/>
          <p:nvPr/>
        </p:nvSpPr>
        <p:spPr>
          <a:xfrm>
            <a:off x="5001768" y="4608576"/>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name: app-config</a:t>
            </a:r>
            <a:endParaRPr lang="en-US" sz="850" dirty="0"/>
          </a:p>
        </p:txBody>
      </p:sp>
      <p:sp>
        <p:nvSpPr>
          <p:cNvPr id="41" name="Text 39"/>
          <p:cNvSpPr/>
          <p:nvPr/>
        </p:nvSpPr>
        <p:spPr>
          <a:xfrm>
            <a:off x="5001768" y="4773168"/>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volumeMounts:</a:t>
            </a:r>
            <a:endParaRPr lang="en-US" sz="850" dirty="0"/>
          </a:p>
        </p:txBody>
      </p:sp>
      <p:sp>
        <p:nvSpPr>
          <p:cNvPr id="42" name="Text 40"/>
          <p:cNvSpPr/>
          <p:nvPr/>
        </p:nvSpPr>
        <p:spPr>
          <a:xfrm>
            <a:off x="5001768" y="4937760"/>
            <a:ext cx="3566160" cy="164592"/>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 mountPath: /etc/config</a:t>
            </a:r>
            <a:endParaRPr lang="en-US" sz="850" dirty="0"/>
          </a:p>
        </p:txBody>
      </p:sp>
      <p:sp>
        <p:nvSpPr>
          <p:cNvPr id="43" name="Text 41"/>
          <p:cNvSpPr/>
          <p:nvPr/>
        </p:nvSpPr>
        <p:spPr>
          <a:xfrm>
            <a:off x="5001768" y="5102352"/>
            <a:ext cx="3566160" cy="164592"/>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name: config-vol</a:t>
            </a:r>
            <a:endParaRPr lang="en-US" sz="850" dirty="0"/>
          </a:p>
        </p:txBody>
      </p:sp>
      <p:sp>
        <p:nvSpPr>
          <p:cNvPr id="44" name="Shape 42"/>
          <p:cNvSpPr/>
          <p:nvPr/>
        </p:nvSpPr>
        <p:spPr>
          <a:xfrm>
            <a:off x="0" y="4846320"/>
            <a:ext cx="9144000" cy="297180"/>
          </a:xfrm>
          <a:prstGeom prst="rect">
            <a:avLst/>
          </a:prstGeom>
          <a:solidFill>
            <a:srgbClr val="0F172A"/>
          </a:solidFill>
          <a:ln w="12700">
            <a:solidFill>
              <a:srgbClr val="0F172A"/>
            </a:solidFill>
            <a:prstDash val="solid"/>
          </a:ln>
        </p:spPr>
      </p:sp>
      <p:sp>
        <p:nvSpPr>
          <p:cNvPr id="45" name="Text 4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02: ConfigMaps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03</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Namespaces</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Dividing one cluster into isolated virtual environments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NAMESPACES — VIRTUAL CLUSTERS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03  •  Namespaces</a:t>
            </a:r>
            <a:endParaRPr lang="en-US" sz="950" dirty="0"/>
          </a:p>
        </p:txBody>
      </p:sp>
      <p:sp>
        <p:nvSpPr>
          <p:cNvPr id="6" name="Shape 4"/>
          <p:cNvSpPr/>
          <p:nvPr/>
        </p:nvSpPr>
        <p:spPr>
          <a:xfrm>
            <a:off x="320040" y="868680"/>
            <a:ext cx="8503920" cy="713232"/>
          </a:xfrm>
          <a:prstGeom prst="roundRect">
            <a:avLst>
              <a:gd name="adj" fmla="val 12821"/>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621792"/>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A Namespace is a virtual partition inside a Kubernetes cluster. Resources in different namespaces are isolated from each other — same cluster, separate environments.</a:t>
            </a:r>
            <a:endParaRPr lang="en-US" sz="1250" dirty="0"/>
          </a:p>
        </p:txBody>
      </p:sp>
      <p:sp>
        <p:nvSpPr>
          <p:cNvPr id="8" name="Shape 6"/>
          <p:cNvSpPr/>
          <p:nvPr/>
        </p:nvSpPr>
        <p:spPr>
          <a:xfrm>
            <a:off x="320040" y="1719072"/>
            <a:ext cx="8503920" cy="1993392"/>
          </a:xfrm>
          <a:prstGeom prst="roundRect">
            <a:avLst>
              <a:gd name="adj" fmla="val 4587"/>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783080"/>
            <a:ext cx="8229600" cy="256032"/>
          </a:xfrm>
          <a:prstGeom prst="rect">
            <a:avLst/>
          </a:prstGeom>
          <a:noFill/>
          <a:ln/>
        </p:spPr>
        <p:txBody>
          <a:bodyPr wrap="square" lIns="0" tIns="0" rIns="0" bIns="0" rtlCol="0" anchor="ctr"/>
          <a:lstStyle/>
          <a:p>
            <a:pPr indent="0" marL="0">
              <a:buNone/>
            </a:pPr>
            <a:r>
              <a:rPr lang="en-US" sz="1050" b="1" dirty="0">
                <a:solidFill>
                  <a:srgbClr val="326CE5"/>
                </a:solidFill>
                <a:latin typeface="Arial" pitchFamily="34" charset="0"/>
                <a:ea typeface="Arial" pitchFamily="34" charset="-122"/>
                <a:cs typeface="Arial" pitchFamily="34" charset="-120"/>
              </a:rPr>
              <a:t>☸️  One Kubernetes Cluster</a:t>
            </a:r>
            <a:endParaRPr lang="en-US" sz="1050" dirty="0"/>
          </a:p>
        </p:txBody>
      </p:sp>
      <p:sp>
        <p:nvSpPr>
          <p:cNvPr id="10" name="Shape 8"/>
          <p:cNvSpPr/>
          <p:nvPr/>
        </p:nvSpPr>
        <p:spPr>
          <a:xfrm>
            <a:off x="502920" y="2103120"/>
            <a:ext cx="2633472" cy="1444752"/>
          </a:xfrm>
          <a:prstGeom prst="roundRect">
            <a:avLst>
              <a:gd name="adj" fmla="val 6329"/>
            </a:avLst>
          </a:prstGeom>
          <a:solidFill>
            <a:srgbClr val="ECFDF5"/>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1" name="Shape 9"/>
          <p:cNvSpPr/>
          <p:nvPr/>
        </p:nvSpPr>
        <p:spPr>
          <a:xfrm>
            <a:off x="612648" y="2176272"/>
            <a:ext cx="2395728" cy="292608"/>
          </a:xfrm>
          <a:prstGeom prst="roundRect">
            <a:avLst>
              <a:gd name="adj" fmla="val 18750"/>
            </a:avLst>
          </a:prstGeom>
          <a:solidFill>
            <a:srgbClr val="059669"/>
          </a:solidFill>
          <a:ln w="12700">
            <a:solidFill>
              <a:srgbClr val="059669"/>
            </a:solidFill>
            <a:prstDash val="solid"/>
          </a:ln>
        </p:spPr>
      </p:sp>
      <p:sp>
        <p:nvSpPr>
          <p:cNvPr id="12" name="Text 10"/>
          <p:cNvSpPr/>
          <p:nvPr/>
        </p:nvSpPr>
        <p:spPr>
          <a:xfrm>
            <a:off x="612648" y="2176272"/>
            <a:ext cx="239572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ns: dev</a:t>
            </a:r>
            <a:endParaRPr lang="en-US" sz="1000" dirty="0"/>
          </a:p>
        </p:txBody>
      </p:sp>
      <p:sp>
        <p:nvSpPr>
          <p:cNvPr id="13" name="Shape 11"/>
          <p:cNvSpPr/>
          <p:nvPr/>
        </p:nvSpPr>
        <p:spPr>
          <a:xfrm>
            <a:off x="640080" y="2542032"/>
            <a:ext cx="2331720" cy="402336"/>
          </a:xfrm>
          <a:prstGeom prst="roundRect">
            <a:avLst>
              <a:gd name="adj" fmla="val 22727"/>
            </a:avLst>
          </a:prstGeom>
          <a:solidFill>
            <a:srgbClr val="FFFFFF"/>
          </a:solidFill>
          <a:ln w="12700">
            <a:solidFill>
              <a:srgbClr val="059669"/>
            </a:solidFill>
            <a:prstDash val="solid"/>
          </a:ln>
          <a:effectLst>
            <a:outerShdw sx="100000" sy="100000" kx="0" ky="0" algn="bl" rotWithShape="0" blurRad="76200" dist="38100" dir="2700000">
              <a:srgbClr val="000000">
                <a:alpha val="10000"/>
              </a:srgbClr>
            </a:outerShdw>
          </a:effectLst>
        </p:spPr>
      </p:sp>
      <p:sp>
        <p:nvSpPr>
          <p:cNvPr id="14" name="Text 12"/>
          <p:cNvSpPr/>
          <p:nvPr/>
        </p:nvSpPr>
        <p:spPr>
          <a:xfrm>
            <a:off x="640080" y="2542032"/>
            <a:ext cx="2331720" cy="402336"/>
          </a:xfrm>
          <a:prstGeom prst="rect">
            <a:avLst/>
          </a:prstGeom>
          <a:noFill/>
          <a:ln/>
        </p:spPr>
        <p:txBody>
          <a:bodyPr wrap="square" lIns="0" tIns="0" rIns="0" bIns="0" rtlCol="0" anchor="ctr"/>
          <a:lstStyle/>
          <a:p>
            <a:pPr algn="ctr" indent="0" marL="0">
              <a:buNone/>
            </a:pPr>
            <a:r>
              <a:rPr lang="en-US" sz="950" dirty="0">
                <a:solidFill>
                  <a:srgbClr val="059669"/>
                </a:solidFill>
                <a:latin typeface="Arial" pitchFamily="34" charset="0"/>
                <a:ea typeface="Arial" pitchFamily="34" charset="-122"/>
                <a:cs typeface="Arial" pitchFamily="34" charset="-120"/>
              </a:rPr>
              <a:t>📦  webapp-dev</a:t>
            </a:r>
            <a:endParaRPr lang="en-US" sz="950" dirty="0"/>
          </a:p>
        </p:txBody>
      </p:sp>
      <p:sp>
        <p:nvSpPr>
          <p:cNvPr id="15" name="Shape 13"/>
          <p:cNvSpPr/>
          <p:nvPr/>
        </p:nvSpPr>
        <p:spPr>
          <a:xfrm>
            <a:off x="640080" y="3017520"/>
            <a:ext cx="2331720" cy="402336"/>
          </a:xfrm>
          <a:prstGeom prst="roundRect">
            <a:avLst>
              <a:gd name="adj" fmla="val 22727"/>
            </a:avLst>
          </a:prstGeom>
          <a:solidFill>
            <a:srgbClr val="FFFFFF"/>
          </a:solidFill>
          <a:ln w="12700">
            <a:solidFill>
              <a:srgbClr val="059669"/>
            </a:solidFill>
            <a:prstDash val="solid"/>
          </a:ln>
          <a:effectLst>
            <a:outerShdw sx="100000" sy="100000" kx="0" ky="0" algn="bl" rotWithShape="0" blurRad="76200" dist="38100" dir="2700000">
              <a:srgbClr val="000000">
                <a:alpha val="10000"/>
              </a:srgbClr>
            </a:outerShdw>
          </a:effectLst>
        </p:spPr>
      </p:sp>
      <p:sp>
        <p:nvSpPr>
          <p:cNvPr id="16" name="Text 14"/>
          <p:cNvSpPr/>
          <p:nvPr/>
        </p:nvSpPr>
        <p:spPr>
          <a:xfrm>
            <a:off x="640080" y="3017520"/>
            <a:ext cx="2331720" cy="402336"/>
          </a:xfrm>
          <a:prstGeom prst="rect">
            <a:avLst/>
          </a:prstGeom>
          <a:noFill/>
          <a:ln/>
        </p:spPr>
        <p:txBody>
          <a:bodyPr wrap="square" lIns="0" tIns="0" rIns="0" bIns="0" rtlCol="0" anchor="ctr"/>
          <a:lstStyle/>
          <a:p>
            <a:pPr algn="ctr" indent="0" marL="0">
              <a:buNone/>
            </a:pPr>
            <a:r>
              <a:rPr lang="en-US" sz="950" dirty="0">
                <a:solidFill>
                  <a:srgbClr val="059669"/>
                </a:solidFill>
                <a:latin typeface="Arial" pitchFamily="34" charset="0"/>
                <a:ea typeface="Arial" pitchFamily="34" charset="-122"/>
                <a:cs typeface="Arial" pitchFamily="34" charset="-120"/>
              </a:rPr>
              <a:t>📦  db-dev</a:t>
            </a:r>
            <a:endParaRPr lang="en-US" sz="950" dirty="0"/>
          </a:p>
        </p:txBody>
      </p:sp>
      <p:sp>
        <p:nvSpPr>
          <p:cNvPr id="17" name="Shape 15"/>
          <p:cNvSpPr/>
          <p:nvPr/>
        </p:nvSpPr>
        <p:spPr>
          <a:xfrm>
            <a:off x="3319272" y="2103120"/>
            <a:ext cx="2633472" cy="1444752"/>
          </a:xfrm>
          <a:prstGeom prst="roundRect">
            <a:avLst>
              <a:gd name="adj" fmla="val 6329"/>
            </a:avLst>
          </a:prstGeom>
          <a:solidFill>
            <a:srgbClr val="FEF3C7"/>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8" name="Shape 16"/>
          <p:cNvSpPr/>
          <p:nvPr/>
        </p:nvSpPr>
        <p:spPr>
          <a:xfrm>
            <a:off x="3429000" y="2176272"/>
            <a:ext cx="2395728" cy="292608"/>
          </a:xfrm>
          <a:prstGeom prst="roundRect">
            <a:avLst>
              <a:gd name="adj" fmla="val 18750"/>
            </a:avLst>
          </a:prstGeom>
          <a:solidFill>
            <a:srgbClr val="D97706"/>
          </a:solidFill>
          <a:ln w="12700">
            <a:solidFill>
              <a:srgbClr val="D97706"/>
            </a:solidFill>
            <a:prstDash val="solid"/>
          </a:ln>
        </p:spPr>
      </p:sp>
      <p:sp>
        <p:nvSpPr>
          <p:cNvPr id="19" name="Text 17"/>
          <p:cNvSpPr/>
          <p:nvPr/>
        </p:nvSpPr>
        <p:spPr>
          <a:xfrm>
            <a:off x="3429000" y="2176272"/>
            <a:ext cx="239572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ns: staging</a:t>
            </a:r>
            <a:endParaRPr lang="en-US" sz="1000" dirty="0"/>
          </a:p>
        </p:txBody>
      </p:sp>
      <p:sp>
        <p:nvSpPr>
          <p:cNvPr id="20" name="Shape 18"/>
          <p:cNvSpPr/>
          <p:nvPr/>
        </p:nvSpPr>
        <p:spPr>
          <a:xfrm>
            <a:off x="3456432" y="2542032"/>
            <a:ext cx="2331720" cy="402336"/>
          </a:xfrm>
          <a:prstGeom prst="roundRect">
            <a:avLst>
              <a:gd name="adj" fmla="val 22727"/>
            </a:avLst>
          </a:prstGeom>
          <a:solidFill>
            <a:srgbClr val="FFFFFF"/>
          </a:solidFill>
          <a:ln w="12700">
            <a:solidFill>
              <a:srgbClr val="D97706"/>
            </a:solidFill>
            <a:prstDash val="solid"/>
          </a:ln>
          <a:effectLst>
            <a:outerShdw sx="100000" sy="100000" kx="0" ky="0" algn="bl" rotWithShape="0" blurRad="76200" dist="38100" dir="2700000">
              <a:srgbClr val="000000">
                <a:alpha val="10000"/>
              </a:srgbClr>
            </a:outerShdw>
          </a:effectLst>
        </p:spPr>
      </p:sp>
      <p:sp>
        <p:nvSpPr>
          <p:cNvPr id="21" name="Text 19"/>
          <p:cNvSpPr/>
          <p:nvPr/>
        </p:nvSpPr>
        <p:spPr>
          <a:xfrm>
            <a:off x="3456432" y="2542032"/>
            <a:ext cx="2331720" cy="402336"/>
          </a:xfrm>
          <a:prstGeom prst="rect">
            <a:avLst/>
          </a:prstGeom>
          <a:noFill/>
          <a:ln/>
        </p:spPr>
        <p:txBody>
          <a:bodyPr wrap="square" lIns="0" tIns="0" rIns="0" bIns="0" rtlCol="0" anchor="ctr"/>
          <a:lstStyle/>
          <a:p>
            <a:pPr algn="ctr" indent="0" marL="0">
              <a:buNone/>
            </a:pPr>
            <a:r>
              <a:rPr lang="en-US" sz="950" dirty="0">
                <a:solidFill>
                  <a:srgbClr val="D97706"/>
                </a:solidFill>
                <a:latin typeface="Arial" pitchFamily="34" charset="0"/>
                <a:ea typeface="Arial" pitchFamily="34" charset="-122"/>
                <a:cs typeface="Arial" pitchFamily="34" charset="-120"/>
              </a:rPr>
              <a:t>📦  webapp-staging</a:t>
            </a:r>
            <a:endParaRPr lang="en-US" sz="950" dirty="0"/>
          </a:p>
        </p:txBody>
      </p:sp>
      <p:sp>
        <p:nvSpPr>
          <p:cNvPr id="22" name="Shape 20"/>
          <p:cNvSpPr/>
          <p:nvPr/>
        </p:nvSpPr>
        <p:spPr>
          <a:xfrm>
            <a:off x="3456432" y="3017520"/>
            <a:ext cx="2331720" cy="402336"/>
          </a:xfrm>
          <a:prstGeom prst="roundRect">
            <a:avLst>
              <a:gd name="adj" fmla="val 22727"/>
            </a:avLst>
          </a:prstGeom>
          <a:solidFill>
            <a:srgbClr val="FFFFFF"/>
          </a:solidFill>
          <a:ln w="12700">
            <a:solidFill>
              <a:srgbClr val="D97706"/>
            </a:solidFill>
            <a:prstDash val="solid"/>
          </a:ln>
          <a:effectLst>
            <a:outerShdw sx="100000" sy="100000" kx="0" ky="0" algn="bl" rotWithShape="0" blurRad="76200" dist="38100" dir="2700000">
              <a:srgbClr val="000000">
                <a:alpha val="10000"/>
              </a:srgbClr>
            </a:outerShdw>
          </a:effectLst>
        </p:spPr>
      </p:sp>
      <p:sp>
        <p:nvSpPr>
          <p:cNvPr id="23" name="Text 21"/>
          <p:cNvSpPr/>
          <p:nvPr/>
        </p:nvSpPr>
        <p:spPr>
          <a:xfrm>
            <a:off x="3456432" y="3017520"/>
            <a:ext cx="2331720" cy="402336"/>
          </a:xfrm>
          <a:prstGeom prst="rect">
            <a:avLst/>
          </a:prstGeom>
          <a:noFill/>
          <a:ln/>
        </p:spPr>
        <p:txBody>
          <a:bodyPr wrap="square" lIns="0" tIns="0" rIns="0" bIns="0" rtlCol="0" anchor="ctr"/>
          <a:lstStyle/>
          <a:p>
            <a:pPr algn="ctr" indent="0" marL="0">
              <a:buNone/>
            </a:pPr>
            <a:r>
              <a:rPr lang="en-US" sz="950" dirty="0">
                <a:solidFill>
                  <a:srgbClr val="D97706"/>
                </a:solidFill>
                <a:latin typeface="Arial" pitchFamily="34" charset="0"/>
                <a:ea typeface="Arial" pitchFamily="34" charset="-122"/>
                <a:cs typeface="Arial" pitchFamily="34" charset="-120"/>
              </a:rPr>
              <a:t>📦  db-staging</a:t>
            </a:r>
            <a:endParaRPr lang="en-US" sz="950" dirty="0"/>
          </a:p>
        </p:txBody>
      </p:sp>
      <p:sp>
        <p:nvSpPr>
          <p:cNvPr id="24" name="Shape 22"/>
          <p:cNvSpPr/>
          <p:nvPr/>
        </p:nvSpPr>
        <p:spPr>
          <a:xfrm>
            <a:off x="6135624" y="2103120"/>
            <a:ext cx="2633472" cy="1444752"/>
          </a:xfrm>
          <a:prstGeom prst="roundRect">
            <a:avLst>
              <a:gd name="adj" fmla="val 6329"/>
            </a:avLst>
          </a:prstGeom>
          <a:solidFill>
            <a:srgbClr val="FEF2F2"/>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5" name="Shape 23"/>
          <p:cNvSpPr/>
          <p:nvPr/>
        </p:nvSpPr>
        <p:spPr>
          <a:xfrm>
            <a:off x="6245352" y="2176272"/>
            <a:ext cx="2395728" cy="292608"/>
          </a:xfrm>
          <a:prstGeom prst="roundRect">
            <a:avLst>
              <a:gd name="adj" fmla="val 18750"/>
            </a:avLst>
          </a:prstGeom>
          <a:solidFill>
            <a:srgbClr val="DC2626"/>
          </a:solidFill>
          <a:ln w="12700">
            <a:solidFill>
              <a:srgbClr val="DC2626"/>
            </a:solidFill>
            <a:prstDash val="solid"/>
          </a:ln>
        </p:spPr>
      </p:sp>
      <p:sp>
        <p:nvSpPr>
          <p:cNvPr id="26" name="Text 24"/>
          <p:cNvSpPr/>
          <p:nvPr/>
        </p:nvSpPr>
        <p:spPr>
          <a:xfrm>
            <a:off x="6245352" y="2176272"/>
            <a:ext cx="239572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ns: production</a:t>
            </a:r>
            <a:endParaRPr lang="en-US" sz="1000" dirty="0"/>
          </a:p>
        </p:txBody>
      </p:sp>
      <p:sp>
        <p:nvSpPr>
          <p:cNvPr id="27" name="Shape 25"/>
          <p:cNvSpPr/>
          <p:nvPr/>
        </p:nvSpPr>
        <p:spPr>
          <a:xfrm>
            <a:off x="6272784" y="2542032"/>
            <a:ext cx="2331720" cy="402336"/>
          </a:xfrm>
          <a:prstGeom prst="roundRect">
            <a:avLst>
              <a:gd name="adj" fmla="val 22727"/>
            </a:avLst>
          </a:prstGeom>
          <a:solidFill>
            <a:srgbClr val="FFFFFF"/>
          </a:solidFill>
          <a:ln w="12700">
            <a:solidFill>
              <a:srgbClr val="DC2626"/>
            </a:solidFill>
            <a:prstDash val="solid"/>
          </a:ln>
          <a:effectLst>
            <a:outerShdw sx="100000" sy="100000" kx="0" ky="0" algn="bl" rotWithShape="0" blurRad="76200" dist="38100" dir="2700000">
              <a:srgbClr val="000000">
                <a:alpha val="10000"/>
              </a:srgbClr>
            </a:outerShdw>
          </a:effectLst>
        </p:spPr>
      </p:sp>
      <p:sp>
        <p:nvSpPr>
          <p:cNvPr id="28" name="Text 26"/>
          <p:cNvSpPr/>
          <p:nvPr/>
        </p:nvSpPr>
        <p:spPr>
          <a:xfrm>
            <a:off x="6272784" y="2542032"/>
            <a:ext cx="2331720" cy="402336"/>
          </a:xfrm>
          <a:prstGeom prst="rect">
            <a:avLst/>
          </a:prstGeom>
          <a:noFill/>
          <a:ln/>
        </p:spPr>
        <p:txBody>
          <a:bodyPr wrap="square" lIns="0" tIns="0" rIns="0" bIns="0" rtlCol="0" anchor="ctr"/>
          <a:lstStyle/>
          <a:p>
            <a:pPr algn="ctr" indent="0" marL="0">
              <a:buNone/>
            </a:pPr>
            <a:r>
              <a:rPr lang="en-US" sz="950" dirty="0">
                <a:solidFill>
                  <a:srgbClr val="DC2626"/>
                </a:solidFill>
                <a:latin typeface="Arial" pitchFamily="34" charset="0"/>
                <a:ea typeface="Arial" pitchFamily="34" charset="-122"/>
                <a:cs typeface="Arial" pitchFamily="34" charset="-120"/>
              </a:rPr>
              <a:t>📦  webapp-prod</a:t>
            </a:r>
            <a:endParaRPr lang="en-US" sz="950" dirty="0"/>
          </a:p>
        </p:txBody>
      </p:sp>
      <p:sp>
        <p:nvSpPr>
          <p:cNvPr id="29" name="Shape 27"/>
          <p:cNvSpPr/>
          <p:nvPr/>
        </p:nvSpPr>
        <p:spPr>
          <a:xfrm>
            <a:off x="6272784" y="3017520"/>
            <a:ext cx="2331720" cy="402336"/>
          </a:xfrm>
          <a:prstGeom prst="roundRect">
            <a:avLst>
              <a:gd name="adj" fmla="val 22727"/>
            </a:avLst>
          </a:prstGeom>
          <a:solidFill>
            <a:srgbClr val="FFFFFF"/>
          </a:solidFill>
          <a:ln w="12700">
            <a:solidFill>
              <a:srgbClr val="DC2626"/>
            </a:solidFill>
            <a:prstDash val="solid"/>
          </a:ln>
          <a:effectLst>
            <a:outerShdw sx="100000" sy="100000" kx="0" ky="0" algn="bl" rotWithShape="0" blurRad="76200" dist="38100" dir="2700000">
              <a:srgbClr val="000000">
                <a:alpha val="10000"/>
              </a:srgbClr>
            </a:outerShdw>
          </a:effectLst>
        </p:spPr>
      </p:sp>
      <p:sp>
        <p:nvSpPr>
          <p:cNvPr id="30" name="Text 28"/>
          <p:cNvSpPr/>
          <p:nvPr/>
        </p:nvSpPr>
        <p:spPr>
          <a:xfrm>
            <a:off x="6272784" y="3017520"/>
            <a:ext cx="2331720" cy="402336"/>
          </a:xfrm>
          <a:prstGeom prst="rect">
            <a:avLst/>
          </a:prstGeom>
          <a:noFill/>
          <a:ln/>
        </p:spPr>
        <p:txBody>
          <a:bodyPr wrap="square" lIns="0" tIns="0" rIns="0" bIns="0" rtlCol="0" anchor="ctr"/>
          <a:lstStyle/>
          <a:p>
            <a:pPr algn="ctr" indent="0" marL="0">
              <a:buNone/>
            </a:pPr>
            <a:r>
              <a:rPr lang="en-US" sz="950" dirty="0">
                <a:solidFill>
                  <a:srgbClr val="DC2626"/>
                </a:solidFill>
                <a:latin typeface="Arial" pitchFamily="34" charset="0"/>
                <a:ea typeface="Arial" pitchFamily="34" charset="-122"/>
                <a:cs typeface="Arial" pitchFamily="34" charset="-120"/>
              </a:rPr>
              <a:t>📦  db-prod</a:t>
            </a:r>
            <a:endParaRPr lang="en-US" sz="950" dirty="0"/>
          </a:p>
        </p:txBody>
      </p:sp>
      <p:sp>
        <p:nvSpPr>
          <p:cNvPr id="31" name="Text 29"/>
          <p:cNvSpPr/>
          <p:nvPr/>
        </p:nvSpPr>
        <p:spPr>
          <a:xfrm>
            <a:off x="320040" y="3822192"/>
            <a:ext cx="3657600" cy="292608"/>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Key Namespace Commands</a:t>
            </a:r>
            <a:endParaRPr lang="en-US" sz="1200" dirty="0"/>
          </a:p>
        </p:txBody>
      </p:sp>
      <p:sp>
        <p:nvSpPr>
          <p:cNvPr id="32" name="Shape 30"/>
          <p:cNvSpPr/>
          <p:nvPr/>
        </p:nvSpPr>
        <p:spPr>
          <a:xfrm>
            <a:off x="320040" y="4160520"/>
            <a:ext cx="8503920" cy="329184"/>
          </a:xfrm>
          <a:prstGeom prst="rect">
            <a:avLst/>
          </a:prstGeom>
          <a:solidFill>
            <a:srgbClr val="0F172A"/>
          </a:solidFill>
          <a:ln w="12700">
            <a:solidFill>
              <a:srgbClr val="0F172A"/>
            </a:solidFill>
            <a:prstDash val="solid"/>
          </a:ln>
        </p:spPr>
      </p:sp>
      <p:sp>
        <p:nvSpPr>
          <p:cNvPr id="33" name="Text 31"/>
          <p:cNvSpPr/>
          <p:nvPr/>
        </p:nvSpPr>
        <p:spPr>
          <a:xfrm>
            <a:off x="411480" y="4187952"/>
            <a:ext cx="475488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Command</a:t>
            </a:r>
            <a:endParaRPr lang="en-US" sz="1000" dirty="0"/>
          </a:p>
        </p:txBody>
      </p:sp>
      <p:sp>
        <p:nvSpPr>
          <p:cNvPr id="34" name="Text 32"/>
          <p:cNvSpPr/>
          <p:nvPr/>
        </p:nvSpPr>
        <p:spPr>
          <a:xfrm>
            <a:off x="5257800" y="4187952"/>
            <a:ext cx="347472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What it Does</a:t>
            </a:r>
            <a:endParaRPr lang="en-US" sz="1000" dirty="0"/>
          </a:p>
        </p:txBody>
      </p:sp>
      <p:sp>
        <p:nvSpPr>
          <p:cNvPr id="35" name="Shape 33"/>
          <p:cNvSpPr/>
          <p:nvPr/>
        </p:nvSpPr>
        <p:spPr>
          <a:xfrm>
            <a:off x="320040" y="4526280"/>
            <a:ext cx="8503920" cy="384048"/>
          </a:xfrm>
          <a:prstGeom prst="rect">
            <a:avLst/>
          </a:prstGeom>
          <a:solidFill>
            <a:srgbClr val="FFFFFF"/>
          </a:solidFill>
          <a:ln w="12700">
            <a:solidFill>
              <a:srgbClr val="E2E8F0"/>
            </a:solidFill>
            <a:prstDash val="solid"/>
          </a:ln>
        </p:spPr>
      </p:sp>
      <p:sp>
        <p:nvSpPr>
          <p:cNvPr id="36" name="Text 34"/>
          <p:cNvSpPr/>
          <p:nvPr/>
        </p:nvSpPr>
        <p:spPr>
          <a:xfrm>
            <a:off x="411480" y="4581144"/>
            <a:ext cx="5303520" cy="256032"/>
          </a:xfrm>
          <a:prstGeom prst="rect">
            <a:avLst/>
          </a:prstGeom>
          <a:noFill/>
          <a:ln/>
        </p:spPr>
        <p:txBody>
          <a:bodyPr wrap="square" lIns="0" tIns="0" rIns="0" bIns="0" rtlCol="0" anchor="ctr"/>
          <a:lstStyle/>
          <a:p>
            <a:pPr indent="0" marL="0">
              <a:buNone/>
            </a:pPr>
            <a:r>
              <a:rPr lang="en-US" sz="950" dirty="0">
                <a:solidFill>
                  <a:srgbClr val="326CE5"/>
                </a:solidFill>
                <a:latin typeface="Courier New" pitchFamily="34" charset="0"/>
                <a:ea typeface="Courier New" pitchFamily="34" charset="-122"/>
                <a:cs typeface="Courier New" pitchFamily="34" charset="-120"/>
              </a:rPr>
              <a:t>kubectl get pods -n dev</a:t>
            </a:r>
            <a:endParaRPr lang="en-US" sz="950" dirty="0"/>
          </a:p>
        </p:txBody>
      </p:sp>
      <p:sp>
        <p:nvSpPr>
          <p:cNvPr id="37" name="Text 35"/>
          <p:cNvSpPr/>
          <p:nvPr/>
        </p:nvSpPr>
        <p:spPr>
          <a:xfrm>
            <a:off x="5806440" y="4581144"/>
            <a:ext cx="2944368"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List pods in dev namespace</a:t>
            </a:r>
            <a:endParaRPr lang="en-US" sz="950" dirty="0"/>
          </a:p>
        </p:txBody>
      </p:sp>
      <p:sp>
        <p:nvSpPr>
          <p:cNvPr id="38" name="Shape 36"/>
          <p:cNvSpPr/>
          <p:nvPr/>
        </p:nvSpPr>
        <p:spPr>
          <a:xfrm>
            <a:off x="320040" y="4873752"/>
            <a:ext cx="8503920" cy="384048"/>
          </a:xfrm>
          <a:prstGeom prst="rect">
            <a:avLst/>
          </a:prstGeom>
          <a:solidFill>
            <a:srgbClr val="F1F5F9"/>
          </a:solidFill>
          <a:ln w="12700">
            <a:solidFill>
              <a:srgbClr val="E2E8F0"/>
            </a:solidFill>
            <a:prstDash val="solid"/>
          </a:ln>
        </p:spPr>
      </p:sp>
      <p:sp>
        <p:nvSpPr>
          <p:cNvPr id="39" name="Text 37"/>
          <p:cNvSpPr/>
          <p:nvPr/>
        </p:nvSpPr>
        <p:spPr>
          <a:xfrm>
            <a:off x="411480" y="4928616"/>
            <a:ext cx="5303520" cy="256032"/>
          </a:xfrm>
          <a:prstGeom prst="rect">
            <a:avLst/>
          </a:prstGeom>
          <a:noFill/>
          <a:ln/>
        </p:spPr>
        <p:txBody>
          <a:bodyPr wrap="square" lIns="0" tIns="0" rIns="0" bIns="0" rtlCol="0" anchor="ctr"/>
          <a:lstStyle/>
          <a:p>
            <a:pPr indent="0" marL="0">
              <a:buNone/>
            </a:pPr>
            <a:r>
              <a:rPr lang="en-US" sz="950" dirty="0">
                <a:solidFill>
                  <a:srgbClr val="326CE5"/>
                </a:solidFill>
                <a:latin typeface="Courier New" pitchFamily="34" charset="0"/>
                <a:ea typeface="Courier New" pitchFamily="34" charset="-122"/>
                <a:cs typeface="Courier New" pitchFamily="34" charset="-120"/>
              </a:rPr>
              <a:t>kubectl get all -n production</a:t>
            </a:r>
            <a:endParaRPr lang="en-US" sz="950" dirty="0"/>
          </a:p>
        </p:txBody>
      </p:sp>
      <p:sp>
        <p:nvSpPr>
          <p:cNvPr id="40" name="Text 38"/>
          <p:cNvSpPr/>
          <p:nvPr/>
        </p:nvSpPr>
        <p:spPr>
          <a:xfrm>
            <a:off x="5806440" y="4928616"/>
            <a:ext cx="2944368"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Everything in production</a:t>
            </a:r>
            <a:endParaRPr lang="en-US" sz="950" dirty="0"/>
          </a:p>
        </p:txBody>
      </p:sp>
      <p:sp>
        <p:nvSpPr>
          <p:cNvPr id="41" name="Shape 39"/>
          <p:cNvSpPr/>
          <p:nvPr/>
        </p:nvSpPr>
        <p:spPr>
          <a:xfrm>
            <a:off x="320040" y="5221224"/>
            <a:ext cx="8503920" cy="384048"/>
          </a:xfrm>
          <a:prstGeom prst="rect">
            <a:avLst/>
          </a:prstGeom>
          <a:solidFill>
            <a:srgbClr val="FFFFFF"/>
          </a:solidFill>
          <a:ln w="12700">
            <a:solidFill>
              <a:srgbClr val="E2E8F0"/>
            </a:solidFill>
            <a:prstDash val="solid"/>
          </a:ln>
        </p:spPr>
      </p:sp>
      <p:sp>
        <p:nvSpPr>
          <p:cNvPr id="42" name="Text 40"/>
          <p:cNvSpPr/>
          <p:nvPr/>
        </p:nvSpPr>
        <p:spPr>
          <a:xfrm>
            <a:off x="411480" y="5276088"/>
            <a:ext cx="5303520" cy="256032"/>
          </a:xfrm>
          <a:prstGeom prst="rect">
            <a:avLst/>
          </a:prstGeom>
          <a:noFill/>
          <a:ln/>
        </p:spPr>
        <p:txBody>
          <a:bodyPr wrap="square" lIns="0" tIns="0" rIns="0" bIns="0" rtlCol="0" anchor="ctr"/>
          <a:lstStyle/>
          <a:p>
            <a:pPr indent="0" marL="0">
              <a:buNone/>
            </a:pPr>
            <a:r>
              <a:rPr lang="en-US" sz="950" dirty="0">
                <a:solidFill>
                  <a:srgbClr val="326CE5"/>
                </a:solidFill>
                <a:latin typeface="Courier New" pitchFamily="34" charset="0"/>
                <a:ea typeface="Courier New" pitchFamily="34" charset="-122"/>
                <a:cs typeface="Courier New" pitchFamily="34" charset="-120"/>
              </a:rPr>
              <a:t>kubectl create ns staging</a:t>
            </a:r>
            <a:endParaRPr lang="en-US" sz="950" dirty="0"/>
          </a:p>
        </p:txBody>
      </p:sp>
      <p:sp>
        <p:nvSpPr>
          <p:cNvPr id="43" name="Text 41"/>
          <p:cNvSpPr/>
          <p:nvPr/>
        </p:nvSpPr>
        <p:spPr>
          <a:xfrm>
            <a:off x="5806440" y="5276088"/>
            <a:ext cx="2944368"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Create a namespace</a:t>
            </a:r>
            <a:endParaRPr lang="en-US" sz="950" dirty="0"/>
          </a:p>
        </p:txBody>
      </p:sp>
      <p:sp>
        <p:nvSpPr>
          <p:cNvPr id="44" name="Shape 42"/>
          <p:cNvSpPr/>
          <p:nvPr/>
        </p:nvSpPr>
        <p:spPr>
          <a:xfrm>
            <a:off x="320040" y="5568696"/>
            <a:ext cx="8503920" cy="384048"/>
          </a:xfrm>
          <a:prstGeom prst="rect">
            <a:avLst/>
          </a:prstGeom>
          <a:solidFill>
            <a:srgbClr val="F1F5F9"/>
          </a:solidFill>
          <a:ln w="12700">
            <a:solidFill>
              <a:srgbClr val="E2E8F0"/>
            </a:solidFill>
            <a:prstDash val="solid"/>
          </a:ln>
        </p:spPr>
      </p:sp>
      <p:sp>
        <p:nvSpPr>
          <p:cNvPr id="45" name="Text 43"/>
          <p:cNvSpPr/>
          <p:nvPr/>
        </p:nvSpPr>
        <p:spPr>
          <a:xfrm>
            <a:off x="411480" y="5623560"/>
            <a:ext cx="5303520" cy="256032"/>
          </a:xfrm>
          <a:prstGeom prst="rect">
            <a:avLst/>
          </a:prstGeom>
          <a:noFill/>
          <a:ln/>
        </p:spPr>
        <p:txBody>
          <a:bodyPr wrap="square" lIns="0" tIns="0" rIns="0" bIns="0" rtlCol="0" anchor="ctr"/>
          <a:lstStyle/>
          <a:p>
            <a:pPr indent="0" marL="0">
              <a:buNone/>
            </a:pPr>
            <a:r>
              <a:rPr lang="en-US" sz="950" dirty="0">
                <a:solidFill>
                  <a:srgbClr val="326CE5"/>
                </a:solidFill>
                <a:latin typeface="Courier New" pitchFamily="34" charset="0"/>
                <a:ea typeface="Courier New" pitchFamily="34" charset="-122"/>
                <a:cs typeface="Courier New" pitchFamily="34" charset="-120"/>
              </a:rPr>
              <a:t>kubectl config set-context --current --namespace=dev</a:t>
            </a:r>
            <a:endParaRPr lang="en-US" sz="950" dirty="0"/>
          </a:p>
        </p:txBody>
      </p:sp>
      <p:sp>
        <p:nvSpPr>
          <p:cNvPr id="46" name="Text 44"/>
          <p:cNvSpPr/>
          <p:nvPr/>
        </p:nvSpPr>
        <p:spPr>
          <a:xfrm>
            <a:off x="5806440" y="5623560"/>
            <a:ext cx="2944368"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Set default namespace</a:t>
            </a:r>
            <a:endParaRPr lang="en-US" sz="950" dirty="0"/>
          </a:p>
        </p:txBody>
      </p:sp>
      <p:sp>
        <p:nvSpPr>
          <p:cNvPr id="47" name="Shape 45"/>
          <p:cNvSpPr/>
          <p:nvPr/>
        </p:nvSpPr>
        <p:spPr>
          <a:xfrm>
            <a:off x="0" y="4846320"/>
            <a:ext cx="9144000" cy="297180"/>
          </a:xfrm>
          <a:prstGeom prst="rect">
            <a:avLst/>
          </a:prstGeom>
          <a:solidFill>
            <a:srgbClr val="0F172A"/>
          </a:solidFill>
          <a:ln w="12700">
            <a:solidFill>
              <a:srgbClr val="0F172A"/>
            </a:solidFill>
            <a:prstDash val="solid"/>
          </a:ln>
        </p:spPr>
      </p:sp>
      <p:sp>
        <p:nvSpPr>
          <p:cNvPr id="48" name="Text 46"/>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03: Namespaces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RESOURCE QUOTAS PER NAMESPACE</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03  •  Namespaces</a:t>
            </a:r>
            <a:endParaRPr lang="en-US" sz="950" dirty="0"/>
          </a:p>
        </p:txBody>
      </p:sp>
      <p:sp>
        <p:nvSpPr>
          <p:cNvPr id="6" name="Shape 4"/>
          <p:cNvSpPr/>
          <p:nvPr/>
        </p:nvSpPr>
        <p:spPr>
          <a:xfrm>
            <a:off x="320040" y="868680"/>
            <a:ext cx="8503920" cy="658368"/>
          </a:xfrm>
          <a:prstGeom prst="roundRect">
            <a:avLst>
              <a:gd name="adj" fmla="val 13889"/>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00" dirty="0">
                <a:solidFill>
                  <a:srgbClr val="0F172A"/>
                </a:solidFill>
                <a:latin typeface="Cambria" pitchFamily="34" charset="0"/>
                <a:ea typeface="Cambria" pitchFamily="34" charset="-122"/>
                <a:cs typeface="Cambria" pitchFamily="34" charset="-120"/>
              </a:rPr>
              <a:t>ResourceQuotas let you cap how much CPU, memory and how many Pods a namespace can use. LimitRanges set default requests and limits for all Pods in a namespace.</a:t>
            </a:r>
            <a:endParaRPr lang="en-US" sz="1200" dirty="0"/>
          </a:p>
        </p:txBody>
      </p:sp>
      <p:sp>
        <p:nvSpPr>
          <p:cNvPr id="8" name="Shape 6"/>
          <p:cNvSpPr/>
          <p:nvPr/>
        </p:nvSpPr>
        <p:spPr>
          <a:xfrm>
            <a:off x="320040" y="1664208"/>
            <a:ext cx="4160520" cy="3035808"/>
          </a:xfrm>
          <a:prstGeom prst="roundRect">
            <a:avLst>
              <a:gd name="adj" fmla="val 3012"/>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737360"/>
            <a:ext cx="38496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quota.yaml</a:t>
            </a:r>
            <a:endParaRPr lang="en-US" sz="900" dirty="0"/>
          </a:p>
        </p:txBody>
      </p:sp>
      <p:sp>
        <p:nvSpPr>
          <p:cNvPr id="10" name="Text 8"/>
          <p:cNvSpPr/>
          <p:nvPr/>
        </p:nvSpPr>
        <p:spPr>
          <a:xfrm>
            <a:off x="475488" y="1975104"/>
            <a:ext cx="384962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apiVersion: v1</a:t>
            </a:r>
            <a:endParaRPr lang="en-US" sz="950" dirty="0"/>
          </a:p>
        </p:txBody>
      </p:sp>
      <p:sp>
        <p:nvSpPr>
          <p:cNvPr id="11" name="Text 9"/>
          <p:cNvSpPr/>
          <p:nvPr/>
        </p:nvSpPr>
        <p:spPr>
          <a:xfrm>
            <a:off x="475488" y="2171700"/>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kind: ResourceQuota</a:t>
            </a:r>
            <a:endParaRPr lang="en-US" sz="950" dirty="0"/>
          </a:p>
        </p:txBody>
      </p:sp>
      <p:sp>
        <p:nvSpPr>
          <p:cNvPr id="12" name="Text 10"/>
          <p:cNvSpPr/>
          <p:nvPr/>
        </p:nvSpPr>
        <p:spPr>
          <a:xfrm>
            <a:off x="475488" y="2368296"/>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metadata:</a:t>
            </a:r>
            <a:endParaRPr lang="en-US" sz="950" dirty="0"/>
          </a:p>
        </p:txBody>
      </p:sp>
      <p:sp>
        <p:nvSpPr>
          <p:cNvPr id="13" name="Text 11"/>
          <p:cNvSpPr/>
          <p:nvPr/>
        </p:nvSpPr>
        <p:spPr>
          <a:xfrm>
            <a:off x="475488" y="2564892"/>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name: dev-quota</a:t>
            </a:r>
            <a:endParaRPr lang="en-US" sz="950" dirty="0"/>
          </a:p>
        </p:txBody>
      </p:sp>
      <p:sp>
        <p:nvSpPr>
          <p:cNvPr id="14" name="Text 12"/>
          <p:cNvSpPr/>
          <p:nvPr/>
        </p:nvSpPr>
        <p:spPr>
          <a:xfrm>
            <a:off x="475488" y="2761488"/>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namespace: dev</a:t>
            </a:r>
            <a:endParaRPr lang="en-US" sz="950" dirty="0"/>
          </a:p>
        </p:txBody>
      </p:sp>
      <p:sp>
        <p:nvSpPr>
          <p:cNvPr id="15" name="Text 13"/>
          <p:cNvSpPr/>
          <p:nvPr/>
        </p:nvSpPr>
        <p:spPr>
          <a:xfrm>
            <a:off x="475488" y="2958084"/>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spec:</a:t>
            </a:r>
            <a:endParaRPr lang="en-US" sz="950" dirty="0"/>
          </a:p>
        </p:txBody>
      </p:sp>
      <p:sp>
        <p:nvSpPr>
          <p:cNvPr id="16" name="Text 14"/>
          <p:cNvSpPr/>
          <p:nvPr/>
        </p:nvSpPr>
        <p:spPr>
          <a:xfrm>
            <a:off x="475488" y="3154680"/>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hard:</a:t>
            </a:r>
            <a:endParaRPr lang="en-US" sz="950" dirty="0"/>
          </a:p>
        </p:txBody>
      </p:sp>
      <p:sp>
        <p:nvSpPr>
          <p:cNvPr id="17" name="Text 15"/>
          <p:cNvSpPr/>
          <p:nvPr/>
        </p:nvSpPr>
        <p:spPr>
          <a:xfrm>
            <a:off x="475488" y="3351276"/>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pods: '20'</a:t>
            </a:r>
            <a:endParaRPr lang="en-US" sz="950" dirty="0"/>
          </a:p>
        </p:txBody>
      </p:sp>
      <p:sp>
        <p:nvSpPr>
          <p:cNvPr id="18" name="Text 16"/>
          <p:cNvSpPr/>
          <p:nvPr/>
        </p:nvSpPr>
        <p:spPr>
          <a:xfrm>
            <a:off x="475488" y="3547872"/>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requests.cpu: '4'</a:t>
            </a:r>
            <a:endParaRPr lang="en-US" sz="950" dirty="0"/>
          </a:p>
        </p:txBody>
      </p:sp>
      <p:sp>
        <p:nvSpPr>
          <p:cNvPr id="19" name="Text 17"/>
          <p:cNvSpPr/>
          <p:nvPr/>
        </p:nvSpPr>
        <p:spPr>
          <a:xfrm>
            <a:off x="475488" y="3744468"/>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requests.memory: 8Gi</a:t>
            </a:r>
            <a:endParaRPr lang="en-US" sz="950" dirty="0"/>
          </a:p>
        </p:txBody>
      </p:sp>
      <p:sp>
        <p:nvSpPr>
          <p:cNvPr id="20" name="Text 18"/>
          <p:cNvSpPr/>
          <p:nvPr/>
        </p:nvSpPr>
        <p:spPr>
          <a:xfrm>
            <a:off x="475488" y="3941064"/>
            <a:ext cx="3849624" cy="201168"/>
          </a:xfrm>
          <a:prstGeom prst="rect">
            <a:avLst/>
          </a:prstGeom>
          <a:noFill/>
          <a:ln/>
        </p:spPr>
        <p:txBody>
          <a:bodyPr wrap="square" lIns="0" tIns="0" rIns="0" bIns="0" rtlCol="0" anchor="ctr"/>
          <a:lstStyle/>
          <a:p>
            <a:pPr indent="0" marL="0">
              <a:buNone/>
            </a:pPr>
            <a:r>
              <a:rPr lang="en-US" sz="950" dirty="0">
                <a:solidFill>
                  <a:srgbClr val="FCA5A5"/>
                </a:solidFill>
                <a:latin typeface="Courier New" pitchFamily="34" charset="0"/>
                <a:ea typeface="Courier New" pitchFamily="34" charset="-122"/>
                <a:cs typeface="Courier New" pitchFamily="34" charset="-120"/>
              </a:rPr>
              <a:t>    limits.cpu: '8'</a:t>
            </a:r>
            <a:endParaRPr lang="en-US" sz="950" dirty="0"/>
          </a:p>
        </p:txBody>
      </p:sp>
      <p:sp>
        <p:nvSpPr>
          <p:cNvPr id="21" name="Text 19"/>
          <p:cNvSpPr/>
          <p:nvPr/>
        </p:nvSpPr>
        <p:spPr>
          <a:xfrm>
            <a:off x="475488" y="4137660"/>
            <a:ext cx="3849624" cy="201168"/>
          </a:xfrm>
          <a:prstGeom prst="rect">
            <a:avLst/>
          </a:prstGeom>
          <a:noFill/>
          <a:ln/>
        </p:spPr>
        <p:txBody>
          <a:bodyPr wrap="square" lIns="0" tIns="0" rIns="0" bIns="0" rtlCol="0" anchor="ctr"/>
          <a:lstStyle/>
          <a:p>
            <a:pPr indent="0" marL="0">
              <a:buNone/>
            </a:pPr>
            <a:r>
              <a:rPr lang="en-US" sz="950" dirty="0">
                <a:solidFill>
                  <a:srgbClr val="FCA5A5"/>
                </a:solidFill>
                <a:latin typeface="Courier New" pitchFamily="34" charset="0"/>
                <a:ea typeface="Courier New" pitchFamily="34" charset="-122"/>
                <a:cs typeface="Courier New" pitchFamily="34" charset="-120"/>
              </a:rPr>
              <a:t>    limits.memory: 16Gi</a:t>
            </a:r>
            <a:endParaRPr lang="en-US" sz="950" dirty="0"/>
          </a:p>
        </p:txBody>
      </p:sp>
      <p:sp>
        <p:nvSpPr>
          <p:cNvPr id="22" name="Shape 20"/>
          <p:cNvSpPr/>
          <p:nvPr/>
        </p:nvSpPr>
        <p:spPr>
          <a:xfrm>
            <a:off x="4663440" y="1664208"/>
            <a:ext cx="4160520" cy="1664208"/>
          </a:xfrm>
          <a:prstGeom prst="roundRect">
            <a:avLst>
              <a:gd name="adj" fmla="val 5495"/>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3" name="Shape 21"/>
          <p:cNvSpPr/>
          <p:nvPr/>
        </p:nvSpPr>
        <p:spPr>
          <a:xfrm>
            <a:off x="4818888" y="1755648"/>
            <a:ext cx="3840480" cy="310896"/>
          </a:xfrm>
          <a:prstGeom prst="roundRect">
            <a:avLst>
              <a:gd name="adj" fmla="val 17647"/>
            </a:avLst>
          </a:prstGeom>
          <a:solidFill>
            <a:srgbClr val="326CE5"/>
          </a:solidFill>
          <a:ln w="12700">
            <a:solidFill>
              <a:srgbClr val="326CE5"/>
            </a:solidFill>
            <a:prstDash val="solid"/>
          </a:ln>
        </p:spPr>
      </p:sp>
      <p:sp>
        <p:nvSpPr>
          <p:cNvPr id="24" name="Text 22"/>
          <p:cNvSpPr/>
          <p:nvPr/>
        </p:nvSpPr>
        <p:spPr>
          <a:xfrm>
            <a:off x="4818888" y="1755648"/>
            <a:ext cx="38404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Why Use Quotas?</a:t>
            </a:r>
            <a:endParaRPr lang="en-US" sz="1100" dirty="0"/>
          </a:p>
        </p:txBody>
      </p:sp>
      <p:sp>
        <p:nvSpPr>
          <p:cNvPr id="25" name="Text 23"/>
          <p:cNvSpPr/>
          <p:nvPr/>
        </p:nvSpPr>
        <p:spPr>
          <a:xfrm>
            <a:off x="4818888" y="2148840"/>
            <a:ext cx="3840480"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Prevents one team from consuming all cluster resources</a:t>
            </a:r>
            <a:endParaRPr lang="en-US" sz="950" dirty="0"/>
          </a:p>
        </p:txBody>
      </p:sp>
      <p:sp>
        <p:nvSpPr>
          <p:cNvPr id="26" name="Text 24"/>
          <p:cNvSpPr/>
          <p:nvPr/>
        </p:nvSpPr>
        <p:spPr>
          <a:xfrm>
            <a:off x="4818888" y="2441448"/>
            <a:ext cx="3840480"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Enforces cost boundaries per environment/team</a:t>
            </a:r>
            <a:endParaRPr lang="en-US" sz="950" dirty="0"/>
          </a:p>
        </p:txBody>
      </p:sp>
      <p:sp>
        <p:nvSpPr>
          <p:cNvPr id="27" name="Text 25"/>
          <p:cNvSpPr/>
          <p:nvPr/>
        </p:nvSpPr>
        <p:spPr>
          <a:xfrm>
            <a:off x="4818888" y="2734056"/>
            <a:ext cx="3840480"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Kubernetes refuses to schedule Pods that exceed the quota</a:t>
            </a:r>
            <a:endParaRPr lang="en-US" sz="950" dirty="0"/>
          </a:p>
        </p:txBody>
      </p:sp>
      <p:sp>
        <p:nvSpPr>
          <p:cNvPr id="28" name="Text 26"/>
          <p:cNvSpPr/>
          <p:nvPr/>
        </p:nvSpPr>
        <p:spPr>
          <a:xfrm>
            <a:off x="4818888" y="3026664"/>
            <a:ext cx="3840480"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View quota usage: kubectl describe quota -n dev</a:t>
            </a:r>
            <a:endParaRPr lang="en-US" sz="950" dirty="0"/>
          </a:p>
        </p:txBody>
      </p:sp>
      <p:sp>
        <p:nvSpPr>
          <p:cNvPr id="29" name="Shape 27"/>
          <p:cNvSpPr/>
          <p:nvPr/>
        </p:nvSpPr>
        <p:spPr>
          <a:xfrm>
            <a:off x="4663440" y="3493008"/>
            <a:ext cx="4160520" cy="1664208"/>
          </a:xfrm>
          <a:prstGeom prst="roundRect">
            <a:avLst>
              <a:gd name="adj" fmla="val 5495"/>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0" name="Shape 28"/>
          <p:cNvSpPr/>
          <p:nvPr/>
        </p:nvSpPr>
        <p:spPr>
          <a:xfrm>
            <a:off x="4818888" y="3584448"/>
            <a:ext cx="3840480" cy="310896"/>
          </a:xfrm>
          <a:prstGeom prst="roundRect">
            <a:avLst>
              <a:gd name="adj" fmla="val 17647"/>
            </a:avLst>
          </a:prstGeom>
          <a:solidFill>
            <a:srgbClr val="059669"/>
          </a:solidFill>
          <a:ln w="12700">
            <a:solidFill>
              <a:srgbClr val="059669"/>
            </a:solidFill>
            <a:prstDash val="solid"/>
          </a:ln>
        </p:spPr>
      </p:sp>
      <p:sp>
        <p:nvSpPr>
          <p:cNvPr id="31" name="Text 29"/>
          <p:cNvSpPr/>
          <p:nvPr/>
        </p:nvSpPr>
        <p:spPr>
          <a:xfrm>
            <a:off x="4818888" y="3584448"/>
            <a:ext cx="38404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LimitRange (defaults)</a:t>
            </a:r>
            <a:endParaRPr lang="en-US" sz="1100" dirty="0"/>
          </a:p>
        </p:txBody>
      </p:sp>
      <p:sp>
        <p:nvSpPr>
          <p:cNvPr id="32" name="Text 30"/>
          <p:cNvSpPr/>
          <p:nvPr/>
        </p:nvSpPr>
        <p:spPr>
          <a:xfrm>
            <a:off x="4818888" y="3977640"/>
            <a:ext cx="3840480"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Sets default requests/limits for Pods that don't specify them</a:t>
            </a:r>
            <a:endParaRPr lang="en-US" sz="950" dirty="0"/>
          </a:p>
        </p:txBody>
      </p:sp>
      <p:sp>
        <p:nvSpPr>
          <p:cNvPr id="33" name="Text 31"/>
          <p:cNvSpPr/>
          <p:nvPr/>
        </p:nvSpPr>
        <p:spPr>
          <a:xfrm>
            <a:off x="4818888" y="4270248"/>
            <a:ext cx="3840480"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Without LimitRange, unbounded Pods can still starve others</a:t>
            </a:r>
            <a:endParaRPr lang="en-US" sz="950" dirty="0"/>
          </a:p>
        </p:txBody>
      </p:sp>
      <p:sp>
        <p:nvSpPr>
          <p:cNvPr id="34" name="Text 32"/>
          <p:cNvSpPr/>
          <p:nvPr/>
        </p:nvSpPr>
        <p:spPr>
          <a:xfrm>
            <a:off x="4818888" y="4562856"/>
            <a:ext cx="3840480"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Applies automatically to every new Pod in the namespace</a:t>
            </a:r>
            <a:endParaRPr lang="en-US" sz="950" dirty="0"/>
          </a:p>
        </p:txBody>
      </p:sp>
      <p:sp>
        <p:nvSpPr>
          <p:cNvPr id="35" name="Text 33"/>
          <p:cNvSpPr/>
          <p:nvPr/>
        </p:nvSpPr>
        <p:spPr>
          <a:xfrm>
            <a:off x="4818888" y="4855464"/>
            <a:ext cx="3840480"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View: kubectl describe limitrange -n dev</a:t>
            </a:r>
            <a:endParaRPr lang="en-US" sz="950" dirty="0"/>
          </a:p>
        </p:txBody>
      </p:sp>
      <p:sp>
        <p:nvSpPr>
          <p:cNvPr id="36" name="Shape 34"/>
          <p:cNvSpPr/>
          <p:nvPr/>
        </p:nvSpPr>
        <p:spPr>
          <a:xfrm>
            <a:off x="320040" y="4773168"/>
            <a:ext cx="8503920" cy="384048"/>
          </a:xfrm>
          <a:prstGeom prst="roundRect">
            <a:avLst>
              <a:gd name="adj" fmla="val 23810"/>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37" name="Text 35"/>
          <p:cNvSpPr/>
          <p:nvPr/>
        </p:nvSpPr>
        <p:spPr>
          <a:xfrm>
            <a:off x="457200" y="4864608"/>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a:t>
            </a:r>
            <a:endParaRPr lang="en-US" sz="1000" dirty="0"/>
          </a:p>
        </p:txBody>
      </p:sp>
      <p:sp>
        <p:nvSpPr>
          <p:cNvPr id="38" name="Text 36"/>
          <p:cNvSpPr/>
          <p:nvPr/>
        </p:nvSpPr>
        <p:spPr>
          <a:xfrm>
            <a:off x="457200" y="5157216"/>
            <a:ext cx="8229600" cy="-118872"/>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If a Pod exceeds its memory limit it is OOMKilled and restarted. CPU is throttled — not killed. These behave differently so set both correctly.</a:t>
            </a:r>
            <a:endParaRPr lang="en-US" sz="1000" dirty="0"/>
          </a:p>
        </p:txBody>
      </p:sp>
      <p:sp>
        <p:nvSpPr>
          <p:cNvPr id="39" name="Shape 37"/>
          <p:cNvSpPr/>
          <p:nvPr/>
        </p:nvSpPr>
        <p:spPr>
          <a:xfrm>
            <a:off x="0" y="4846320"/>
            <a:ext cx="9144000" cy="297180"/>
          </a:xfrm>
          <a:prstGeom prst="rect">
            <a:avLst/>
          </a:prstGeom>
          <a:solidFill>
            <a:srgbClr val="0F172A"/>
          </a:solidFill>
          <a:ln w="12700">
            <a:solidFill>
              <a:srgbClr val="0F172A"/>
            </a:solidFill>
            <a:prstDash val="solid"/>
          </a:ln>
        </p:spPr>
      </p:sp>
      <p:sp>
        <p:nvSpPr>
          <p:cNvPr id="40" name="Text 38"/>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03: Namespaces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BEST PRACTICES — RESOURCE MGMT &amp; NAMESPACES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Day 1</a:t>
            </a:r>
            <a:endParaRPr lang="en-US" sz="950" dirty="0"/>
          </a:p>
        </p:txBody>
      </p:sp>
      <p:sp>
        <p:nvSpPr>
          <p:cNvPr id="6" name="Shape 4"/>
          <p:cNvSpPr/>
          <p:nvPr/>
        </p:nvSpPr>
        <p:spPr>
          <a:xfrm>
            <a:off x="320040" y="8961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475488" y="1060704"/>
            <a:ext cx="475488" cy="868680"/>
          </a:xfrm>
          <a:prstGeom prst="roundRect">
            <a:avLst>
              <a:gd name="adj" fmla="val 13462"/>
            </a:avLst>
          </a:prstGeom>
          <a:solidFill>
            <a:srgbClr val="326CE5"/>
          </a:solidFill>
          <a:ln w="12700">
            <a:solidFill>
              <a:srgbClr val="326CE5"/>
            </a:solidFill>
            <a:prstDash val="solid"/>
          </a:ln>
        </p:spPr>
      </p:sp>
      <p:sp>
        <p:nvSpPr>
          <p:cNvPr id="8" name="Text 6"/>
          <p:cNvSpPr/>
          <p:nvPr/>
        </p:nvSpPr>
        <p:spPr>
          <a:xfrm>
            <a:off x="475488" y="10607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9" name="Text 7"/>
          <p:cNvSpPr/>
          <p:nvPr/>
        </p:nvSpPr>
        <p:spPr>
          <a:xfrm>
            <a:off x="1097280" y="1005840"/>
            <a:ext cx="7406640" cy="384048"/>
          </a:xfrm>
          <a:prstGeom prst="rect">
            <a:avLst/>
          </a:prstGeom>
          <a:noFill/>
          <a:ln/>
        </p:spPr>
        <p:txBody>
          <a:bodyPr wrap="square" lIns="0" tIns="0" rIns="0" bIns="0" rtlCol="0" anchor="ctr"/>
          <a:lstStyle/>
          <a:p>
            <a:pPr indent="0" marL="0">
              <a:buNone/>
            </a:pPr>
            <a:r>
              <a:rPr lang="en-US" sz="1300" b="1" dirty="0">
                <a:solidFill>
                  <a:srgbClr val="326CE5"/>
                </a:solidFill>
                <a:latin typeface="Arial" pitchFamily="34" charset="0"/>
                <a:ea typeface="Arial" pitchFamily="34" charset="-122"/>
                <a:cs typeface="Arial" pitchFamily="34" charset="-120"/>
              </a:rPr>
              <a:t>💡  Always set resource requests AND limits on every container</a:t>
            </a:r>
            <a:endParaRPr lang="en-US" sz="1300" dirty="0"/>
          </a:p>
        </p:txBody>
      </p:sp>
      <p:sp>
        <p:nvSpPr>
          <p:cNvPr id="10" name="Text 8"/>
          <p:cNvSpPr/>
          <p:nvPr/>
        </p:nvSpPr>
        <p:spPr>
          <a:xfrm>
            <a:off x="1097280" y="14081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Without requests, the scheduler makes poor placement decisions. Without limits, a misbehaving container can consume all node resources and evict every other Pod. Both are required in production.</a:t>
            </a:r>
            <a:endParaRPr lang="en-US" sz="1100" dirty="0"/>
          </a:p>
        </p:txBody>
      </p:sp>
      <p:sp>
        <p:nvSpPr>
          <p:cNvPr id="11" name="Shape 9"/>
          <p:cNvSpPr/>
          <p:nvPr/>
        </p:nvSpPr>
        <p:spPr>
          <a:xfrm>
            <a:off x="320040" y="22677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2" name="Shape 10"/>
          <p:cNvSpPr/>
          <p:nvPr/>
        </p:nvSpPr>
        <p:spPr>
          <a:xfrm>
            <a:off x="475488" y="2432304"/>
            <a:ext cx="475488" cy="868680"/>
          </a:xfrm>
          <a:prstGeom prst="roundRect">
            <a:avLst>
              <a:gd name="adj" fmla="val 13462"/>
            </a:avLst>
          </a:prstGeom>
          <a:solidFill>
            <a:srgbClr val="7C3AED"/>
          </a:solidFill>
          <a:ln w="12700">
            <a:solidFill>
              <a:srgbClr val="7C3AED"/>
            </a:solidFill>
            <a:prstDash val="solid"/>
          </a:ln>
        </p:spPr>
      </p:sp>
      <p:sp>
        <p:nvSpPr>
          <p:cNvPr id="13" name="Text 11"/>
          <p:cNvSpPr/>
          <p:nvPr/>
        </p:nvSpPr>
        <p:spPr>
          <a:xfrm>
            <a:off x="475488" y="24323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4" name="Text 12"/>
          <p:cNvSpPr/>
          <p:nvPr/>
        </p:nvSpPr>
        <p:spPr>
          <a:xfrm>
            <a:off x="1097280" y="2377440"/>
            <a:ext cx="7406640" cy="384048"/>
          </a:xfrm>
          <a:prstGeom prst="rect">
            <a:avLst/>
          </a:prstGeom>
          <a:noFill/>
          <a:ln/>
        </p:spPr>
        <p:txBody>
          <a:bodyPr wrap="square" lIns="0" tIns="0" rIns="0" bIns="0" rtlCol="0" anchor="ctr"/>
          <a:lstStyle/>
          <a:p>
            <a:pPr indent="0" marL="0">
              <a:buNone/>
            </a:pPr>
            <a:r>
              <a:rPr lang="en-US" sz="1300" b="1" dirty="0">
                <a:solidFill>
                  <a:srgbClr val="7C3AED"/>
                </a:solidFill>
                <a:latin typeface="Arial" pitchFamily="34" charset="0"/>
                <a:ea typeface="Arial" pitchFamily="34" charset="-122"/>
                <a:cs typeface="Arial" pitchFamily="34" charset="-120"/>
              </a:rPr>
              <a:t>💡  Use namespaces to separate environments — never use the default namespace in production</a:t>
            </a:r>
            <a:endParaRPr lang="en-US" sz="1300" dirty="0"/>
          </a:p>
        </p:txBody>
      </p:sp>
      <p:sp>
        <p:nvSpPr>
          <p:cNvPr id="15" name="Text 13"/>
          <p:cNvSpPr/>
          <p:nvPr/>
        </p:nvSpPr>
        <p:spPr>
          <a:xfrm>
            <a:off x="1097280" y="27797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The default namespace is fine for experiments. Production workloads must have their own namespace with ResourceQuotas, RBAC, and network policies applied separately.</a:t>
            </a:r>
            <a:endParaRPr lang="en-US" sz="1100" dirty="0"/>
          </a:p>
        </p:txBody>
      </p:sp>
      <p:sp>
        <p:nvSpPr>
          <p:cNvPr id="16" name="Shape 14"/>
          <p:cNvSpPr/>
          <p:nvPr/>
        </p:nvSpPr>
        <p:spPr>
          <a:xfrm>
            <a:off x="320040" y="36393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7" name="Shape 15"/>
          <p:cNvSpPr/>
          <p:nvPr/>
        </p:nvSpPr>
        <p:spPr>
          <a:xfrm>
            <a:off x="475488" y="3803904"/>
            <a:ext cx="475488" cy="868680"/>
          </a:xfrm>
          <a:prstGeom prst="roundRect">
            <a:avLst>
              <a:gd name="adj" fmla="val 13462"/>
            </a:avLst>
          </a:prstGeom>
          <a:solidFill>
            <a:srgbClr val="DC2626"/>
          </a:solidFill>
          <a:ln w="12700">
            <a:solidFill>
              <a:srgbClr val="DC2626"/>
            </a:solidFill>
            <a:prstDash val="solid"/>
          </a:ln>
        </p:spPr>
      </p:sp>
      <p:sp>
        <p:nvSpPr>
          <p:cNvPr id="18" name="Text 16"/>
          <p:cNvSpPr/>
          <p:nvPr/>
        </p:nvSpPr>
        <p:spPr>
          <a:xfrm>
            <a:off x="475488" y="38039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9" name="Text 17"/>
          <p:cNvSpPr/>
          <p:nvPr/>
        </p:nvSpPr>
        <p:spPr>
          <a:xfrm>
            <a:off x="1097280" y="3749040"/>
            <a:ext cx="7406640" cy="384048"/>
          </a:xfrm>
          <a:prstGeom prst="rect">
            <a:avLst/>
          </a:prstGeom>
          <a:noFill/>
          <a:ln/>
        </p:spPr>
        <p:txBody>
          <a:bodyPr wrap="square" lIns="0" tIns="0" rIns="0" bIns="0" rtlCol="0" anchor="ctr"/>
          <a:lstStyle/>
          <a:p>
            <a:pPr indent="0" marL="0">
              <a:buNone/>
            </a:pPr>
            <a:r>
              <a:rPr lang="en-US" sz="1300" b="1" dirty="0">
                <a:solidFill>
                  <a:srgbClr val="DC2626"/>
                </a:solidFill>
                <a:latin typeface="Arial" pitchFamily="34" charset="0"/>
                <a:ea typeface="Arial" pitchFamily="34" charset="-122"/>
                <a:cs typeface="Arial" pitchFamily="34" charset="-120"/>
              </a:rPr>
              <a:t>💡  ConfigMaps are for config — Secrets are for sensitive data</a:t>
            </a:r>
            <a:endParaRPr lang="en-US" sz="1300" dirty="0"/>
          </a:p>
        </p:txBody>
      </p:sp>
      <p:sp>
        <p:nvSpPr>
          <p:cNvPr id="20" name="Text 18"/>
          <p:cNvSpPr/>
          <p:nvPr/>
        </p:nvSpPr>
        <p:spPr>
          <a:xfrm>
            <a:off x="1097280" y="41513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Never put passwords, API keys or tokens in a ConfigMap. They are stored in plain text. Use Kubernetes Secrets (covered next) for anything sensitive.</a:t>
            </a:r>
            <a:endParaRPr lang="en-US" sz="1100" dirty="0"/>
          </a:p>
        </p:txBody>
      </p:sp>
      <p:sp>
        <p:nvSpPr>
          <p:cNvPr id="21" name="Shape 19"/>
          <p:cNvSpPr/>
          <p:nvPr/>
        </p:nvSpPr>
        <p:spPr>
          <a:xfrm>
            <a:off x="0" y="4846320"/>
            <a:ext cx="9144000" cy="297180"/>
          </a:xfrm>
          <a:prstGeom prst="rect">
            <a:avLst/>
          </a:prstGeom>
          <a:solidFill>
            <a:srgbClr val="0F172A"/>
          </a:solidFill>
          <a:ln w="12700">
            <a:solidFill>
              <a:srgbClr val="0F172A"/>
            </a:solidFill>
            <a:prstDash val="solid"/>
          </a:ln>
        </p:spPr>
      </p:sp>
      <p:sp>
        <p:nvSpPr>
          <p:cNvPr id="22" name="Text 2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Day 1 Best Practices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2026-07-01T18:57:36Z</dcterms:created>
  <dcterms:modified xsi:type="dcterms:W3CDTF">2026-07-01T18:57:36Z</dcterms:modified>
</cp:coreProperties>
</file>