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11:15
Say: 'In Track A you did rolling updates with a single command. Now we understand the mechanics — what controls how fast the update rolls out, how to pause and resume, and how to make Kubernetes scale automatically based on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11:15 – 11:30  (15 min)
LIVE DEMO — pause mid-rollout:
kubectl set image deployment/webapp nginx=nginx:1.25
kubectl rollout pause deployment/webapp
kubectl get pods   # shows mix of old and new
kubectl rollout resume deployment/webapp
History demo:
kubectl rollout history deployment/webapp
kubectl rollout undo deployment/webapp --to-revision=1   # go back to specific version
When to use Recreate: stateful apps where two versions would conflict on a shared database schema. Rolling update would have v1 and v2 Pods running simultaneously reading/writing the same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11:30 – 11:45  (15 min)
Requires Metrics Server installed. Check: kubectl top pods
LIVE DEMO:
kubectl autoscale deployment webapp --cpu-percent=50 --min=2 --max=8
kubectl get hpa -w   # watch it
# Generate load (in another terminal):
kubectl run -i --tty load-generator --rm --image=busybox:1.28 --restart=Never -- /bin/sh -c 'while sleep 0.01; do wget -q -O- http://webapp/; done'
# Watch HPA scale up
Common question: 'What if I also use kubectl scale manually?' Manual scaling overrides HPA temporarily — HPA will correct back to its target within 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ANSWERS:
kubectl create ns dev &amp;&amp; kubectl create ns production
# configmap.yaml
apiVersion: v1
kind: ConfigMap
metadata:
  name: app-config
  namespace: dev
data:
  DATABASE_URL: postgres://db:5432/mydb
  LOG_LEVEL: info
kubectl apply -f configmap.yaml
kubectl apply -f deployment.yaml   # deployment uses envFrom: configMapRef
kubectl exec -it &lt;pod&gt; -n dev -- env | grep -E 'DATABASE|LOG'
# quota.yaml
apiVersion: v1
kind: ResourceQuota
metadata:
  name: dev-quota
  namespace: dev
spec:
  hard:
    pods: '10'
    requests.cpu: '2'
    requests.memory: 4Gi
COMMON ERRORS:
1. Pod in wrong namespace — always specify -n dev
2. ConfigMap not found — check name and namespace match exactly
3. Quota blocks pod creation — describe quota to see current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lab: walk the room and check everyone's namespace usage. The -n flag is the single biggest source of confusion on Day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Day 2 — 09:10
Say: 'Yesterday you stored config in ConfigMaps. ConfigMaps are fine for non-sensitive data. But passwords, API keys, tokens, certificates — these must NEVER go in a ConfigMap. Secrets are Kubernetes's answer. They are not perfectly secure on their own, but they are the right abstraction and integrate with external secret managers.'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 – 09:28  (18 min)
SECURITY HONEST CONVERSATION:
'Kubernetes Secrets are not truly secret by default. Base64 is encoding, not encryption. Anyone with kubectl access can decode them. In production you need either:
1. Encryption at rest (API server flag: --encryption-provider-config)
2. External secret manager: HashiCorp Vault, AWS Secrets Manager, Azure Key Vault, GCP Secret Manager
For most organisations starting out, Secrets + RBAC (so not everyone can kubectl get secret) is sufficient. External vaults are the gold standard.'
Never put passwords in YAML files checked into Git. kubectl create secret from literal avoids this.
LIVE DEMO:
kubectl create secret generic db-secret --from-literal=DB_PASSWORD=mysecret
kubectl get secret db-secret -o yaml   # shows base64
echo 'bXlzZWNyZXQ=' | base64 -d   # decodes it
kubectl exec -it &lt;pod&gt; -- env | grep DB_PASSWORD   # shows plaintext in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09:28
Say: 'Right now, if you give someone kubectl access to your cluster, they can do anything — delete pods, read secrets, deploy to production. RBAC lets you define exactly who can do what to which resources in which namespace. It is how you give a developer access to dev but not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09:28 – 09:48  (20 min)
RBAC flow: Subject (who) → has a Role/ClusterRole (what they can do) → via a RoleBinding/ClusterRoleBinding (binding)
Verbs: get, list, watch, create, update, patch, delete, deletecollection
LIVE DEMO — create a read-only role:
kubectl create role pod-reader --verb=get,list,watch --resource=pods -n dev
kubectl create rolebinding read-pods --role=pod-reader --user=alice -n dev
# Now alice can only read pods in dev, not create or delete
Check permissions:
kubectl auth can-i get pods -n dev --as=alice   # yes
kubectl auth can-i delete pods -n dev --as=alice   # no
kubectl auth can-i get pods -n production --as=alice   # no
This is the most powerful demo in Track B. Students see permission enforcement working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09:48 – 09:58  (10 min)
BREAK after this slide: 10:25 – 10:35
BP 03 — ServiceAccounts: every Pod in Kubernetes has a ServiceAccount automatically (the default one). This default SA often has more permissions than needed. Create app-specific SAs with minimal permissions and reference them in the Deployment spec:
spec:
  serviceAccountName: my-app-sa
kubectl auth can-i list pods --as=system:serviceaccount:dev:my-app-sa   # check SA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326CE5"/>
                </a:solidFill>
                <a:latin typeface="Arial" pitchFamily="34" charset="0"/>
                <a:ea typeface="Arial" pitchFamily="34" charset="-122"/>
                <a:cs typeface="Arial" pitchFamily="34" charset="-120"/>
              </a:rPr>
              <a:t>SECTION 04</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Advanced Deployments</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Update strategies, rollbacks and horizontal pod autoscaling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DEPLOYMENT UPDATE STRATEGIES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04  •  Advanced Deployments</a:t>
            </a:r>
            <a:endParaRPr lang="en-US" sz="950" dirty="0"/>
          </a:p>
        </p:txBody>
      </p:sp>
      <p:sp>
        <p:nvSpPr>
          <p:cNvPr id="6" name="Shape 4"/>
          <p:cNvSpPr/>
          <p:nvPr/>
        </p:nvSpPr>
        <p:spPr>
          <a:xfrm>
            <a:off x="320040" y="868680"/>
            <a:ext cx="8503920" cy="658368"/>
          </a:xfrm>
          <a:prstGeom prst="roundRect">
            <a:avLst>
              <a:gd name="adj" fmla="val 13889"/>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6692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Kubernetes supports two update strategies: RollingUpdate (default — zero downtime) and Recreate (all Pods stopped then started — brief downtime).</a:t>
            </a:r>
            <a:endParaRPr lang="en-US" sz="1250" dirty="0"/>
          </a:p>
        </p:txBody>
      </p:sp>
      <p:sp>
        <p:nvSpPr>
          <p:cNvPr id="8" name="Shape 6"/>
          <p:cNvSpPr/>
          <p:nvPr/>
        </p:nvSpPr>
        <p:spPr>
          <a:xfrm>
            <a:off x="320040" y="1664208"/>
            <a:ext cx="4251960" cy="3063240"/>
          </a:xfrm>
          <a:prstGeom prst="roundRect">
            <a:avLst>
              <a:gd name="adj" fmla="val 2985"/>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737360"/>
            <a:ext cx="394106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deployment strategy</a:t>
            </a:r>
            <a:endParaRPr lang="en-US" sz="900" dirty="0"/>
          </a:p>
        </p:txBody>
      </p:sp>
      <p:sp>
        <p:nvSpPr>
          <p:cNvPr id="10" name="Text 8"/>
          <p:cNvSpPr/>
          <p:nvPr/>
        </p:nvSpPr>
        <p:spPr>
          <a:xfrm>
            <a:off x="475488" y="1975104"/>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spec:</a:t>
            </a:r>
            <a:endParaRPr lang="en-US" sz="950" dirty="0"/>
          </a:p>
        </p:txBody>
      </p:sp>
      <p:sp>
        <p:nvSpPr>
          <p:cNvPr id="11" name="Text 9"/>
          <p:cNvSpPr/>
          <p:nvPr/>
        </p:nvSpPr>
        <p:spPr>
          <a:xfrm>
            <a:off x="475488" y="2171700"/>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replicas: 4</a:t>
            </a:r>
            <a:endParaRPr lang="en-US" sz="950" dirty="0"/>
          </a:p>
        </p:txBody>
      </p:sp>
      <p:sp>
        <p:nvSpPr>
          <p:cNvPr id="12" name="Text 10"/>
          <p:cNvSpPr/>
          <p:nvPr/>
        </p:nvSpPr>
        <p:spPr>
          <a:xfrm>
            <a:off x="475488" y="2368296"/>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strategy:</a:t>
            </a:r>
            <a:endParaRPr lang="en-US" sz="950" dirty="0"/>
          </a:p>
        </p:txBody>
      </p:sp>
      <p:sp>
        <p:nvSpPr>
          <p:cNvPr id="13" name="Text 11"/>
          <p:cNvSpPr/>
          <p:nvPr/>
        </p:nvSpPr>
        <p:spPr>
          <a:xfrm>
            <a:off x="475488" y="2564892"/>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type: RollingUpdate</a:t>
            </a:r>
            <a:endParaRPr lang="en-US" sz="950" dirty="0"/>
          </a:p>
        </p:txBody>
      </p:sp>
      <p:sp>
        <p:nvSpPr>
          <p:cNvPr id="14" name="Text 12"/>
          <p:cNvSpPr/>
          <p:nvPr/>
        </p:nvSpPr>
        <p:spPr>
          <a:xfrm>
            <a:off x="475488" y="2761488"/>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rollingUpdate:</a:t>
            </a:r>
            <a:endParaRPr lang="en-US" sz="950" dirty="0"/>
          </a:p>
        </p:txBody>
      </p:sp>
      <p:sp>
        <p:nvSpPr>
          <p:cNvPr id="15" name="Text 13"/>
          <p:cNvSpPr/>
          <p:nvPr/>
        </p:nvSpPr>
        <p:spPr>
          <a:xfrm>
            <a:off x="475488" y="2958084"/>
            <a:ext cx="394106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maxSurge: 1</a:t>
            </a:r>
            <a:endParaRPr lang="en-US" sz="950" dirty="0"/>
          </a:p>
        </p:txBody>
      </p:sp>
      <p:sp>
        <p:nvSpPr>
          <p:cNvPr id="16" name="Text 14"/>
          <p:cNvSpPr/>
          <p:nvPr/>
        </p:nvSpPr>
        <p:spPr>
          <a:xfrm>
            <a:off x="475488" y="3154680"/>
            <a:ext cx="394106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maxUnavailable: 0</a:t>
            </a:r>
            <a:endParaRPr lang="en-US" sz="950" dirty="0"/>
          </a:p>
        </p:txBody>
      </p:sp>
      <p:sp>
        <p:nvSpPr>
          <p:cNvPr id="17" name="Text 15"/>
          <p:cNvSpPr/>
          <p:nvPr/>
        </p:nvSpPr>
        <p:spPr>
          <a:xfrm>
            <a:off x="475488" y="3547872"/>
            <a:ext cx="394106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maxSurge: extra Pods during update</a:t>
            </a:r>
            <a:endParaRPr lang="en-US" sz="950" dirty="0"/>
          </a:p>
        </p:txBody>
      </p:sp>
      <p:sp>
        <p:nvSpPr>
          <p:cNvPr id="18" name="Text 16"/>
          <p:cNvSpPr/>
          <p:nvPr/>
        </p:nvSpPr>
        <p:spPr>
          <a:xfrm>
            <a:off x="475488" y="3744468"/>
            <a:ext cx="394106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maxUnavailable: Pods allowed down</a:t>
            </a:r>
            <a:endParaRPr lang="en-US" sz="950" dirty="0"/>
          </a:p>
        </p:txBody>
      </p:sp>
      <p:sp>
        <p:nvSpPr>
          <p:cNvPr id="19" name="Text 17"/>
          <p:cNvSpPr/>
          <p:nvPr/>
        </p:nvSpPr>
        <p:spPr>
          <a:xfrm>
            <a:off x="475488" y="3941064"/>
            <a:ext cx="394106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Both can be % or absolute number</a:t>
            </a:r>
            <a:endParaRPr lang="en-US" sz="950" dirty="0"/>
          </a:p>
        </p:txBody>
      </p:sp>
      <p:sp>
        <p:nvSpPr>
          <p:cNvPr id="20" name="Text 18"/>
          <p:cNvSpPr/>
          <p:nvPr/>
        </p:nvSpPr>
        <p:spPr>
          <a:xfrm>
            <a:off x="475488" y="4334256"/>
            <a:ext cx="394106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Rollback anytime:</a:t>
            </a:r>
            <a:endParaRPr lang="en-US" sz="950" dirty="0"/>
          </a:p>
        </p:txBody>
      </p:sp>
      <p:sp>
        <p:nvSpPr>
          <p:cNvPr id="21" name="Text 19"/>
          <p:cNvSpPr/>
          <p:nvPr/>
        </p:nvSpPr>
        <p:spPr>
          <a:xfrm>
            <a:off x="475488" y="4530852"/>
            <a:ext cx="394106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kubectl rollout undo deploy/&lt;name&gt;</a:t>
            </a:r>
            <a:endParaRPr lang="en-US" sz="950" dirty="0"/>
          </a:p>
        </p:txBody>
      </p:sp>
      <p:sp>
        <p:nvSpPr>
          <p:cNvPr id="22" name="Shape 20"/>
          <p:cNvSpPr/>
          <p:nvPr/>
        </p:nvSpPr>
        <p:spPr>
          <a:xfrm>
            <a:off x="4754880" y="1664208"/>
            <a:ext cx="406908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3" name="Text 21"/>
          <p:cNvSpPr/>
          <p:nvPr/>
        </p:nvSpPr>
        <p:spPr>
          <a:xfrm>
            <a:off x="4910328" y="1719072"/>
            <a:ext cx="3767328" cy="256032"/>
          </a:xfrm>
          <a:prstGeom prst="rect">
            <a:avLst/>
          </a:prstGeom>
          <a:noFill/>
          <a:ln/>
        </p:spPr>
        <p:txBody>
          <a:bodyPr wrap="square" lIns="0" tIns="0" rIns="0" bIns="0" rtlCol="0" anchor="ctr"/>
          <a:lstStyle/>
          <a:p>
            <a:pPr indent="0" marL="0">
              <a:buNone/>
            </a:pPr>
            <a:r>
              <a:rPr lang="en-US" sz="1150" b="1" dirty="0">
                <a:solidFill>
                  <a:srgbClr val="059669"/>
                </a:solidFill>
                <a:latin typeface="Arial" pitchFamily="34" charset="0"/>
                <a:ea typeface="Arial" pitchFamily="34" charset="-122"/>
                <a:cs typeface="Arial" pitchFamily="34" charset="-120"/>
              </a:rPr>
              <a:t>maxSurge: 1</a:t>
            </a:r>
            <a:endParaRPr lang="en-US" sz="1150" dirty="0"/>
          </a:p>
        </p:txBody>
      </p:sp>
      <p:sp>
        <p:nvSpPr>
          <p:cNvPr id="24" name="Text 22"/>
          <p:cNvSpPr/>
          <p:nvPr/>
        </p:nvSpPr>
        <p:spPr>
          <a:xfrm>
            <a:off x="4910328" y="1993392"/>
            <a:ext cx="3767328" cy="27432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During update, 1 extra Pod is created before removing an old one. Ensures full capacity is maintained throughout the rollout.</a:t>
            </a:r>
            <a:endParaRPr lang="en-US" sz="950" dirty="0"/>
          </a:p>
        </p:txBody>
      </p:sp>
      <p:sp>
        <p:nvSpPr>
          <p:cNvPr id="25" name="Shape 23"/>
          <p:cNvSpPr/>
          <p:nvPr/>
        </p:nvSpPr>
        <p:spPr>
          <a:xfrm>
            <a:off x="4754880" y="2414016"/>
            <a:ext cx="406908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6" name="Text 24"/>
          <p:cNvSpPr/>
          <p:nvPr/>
        </p:nvSpPr>
        <p:spPr>
          <a:xfrm>
            <a:off x="4910328" y="2468880"/>
            <a:ext cx="3767328" cy="256032"/>
          </a:xfrm>
          <a:prstGeom prst="rect">
            <a:avLst/>
          </a:prstGeom>
          <a:noFill/>
          <a:ln/>
        </p:spPr>
        <p:txBody>
          <a:bodyPr wrap="square" lIns="0" tIns="0" rIns="0" bIns="0" rtlCol="0" anchor="ctr"/>
          <a:lstStyle/>
          <a:p>
            <a:pPr indent="0" marL="0">
              <a:buNone/>
            </a:pPr>
            <a:r>
              <a:rPr lang="en-US" sz="1150" b="1" dirty="0">
                <a:solidFill>
                  <a:srgbClr val="326CE5"/>
                </a:solidFill>
                <a:latin typeface="Arial" pitchFamily="34" charset="0"/>
                <a:ea typeface="Arial" pitchFamily="34" charset="-122"/>
                <a:cs typeface="Arial" pitchFamily="34" charset="-120"/>
              </a:rPr>
              <a:t>maxUnavailable: 0</a:t>
            </a:r>
            <a:endParaRPr lang="en-US" sz="1150" dirty="0"/>
          </a:p>
        </p:txBody>
      </p:sp>
      <p:sp>
        <p:nvSpPr>
          <p:cNvPr id="27" name="Text 25"/>
          <p:cNvSpPr/>
          <p:nvPr/>
        </p:nvSpPr>
        <p:spPr>
          <a:xfrm>
            <a:off x="4910328" y="2743200"/>
            <a:ext cx="3767328" cy="27432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Zero Pods can be unavailable during update. Combined with maxSurge: 1, this guarantees 100% capacity at all times.</a:t>
            </a:r>
            <a:endParaRPr lang="en-US" sz="950" dirty="0"/>
          </a:p>
        </p:txBody>
      </p:sp>
      <p:sp>
        <p:nvSpPr>
          <p:cNvPr id="28" name="Shape 26"/>
          <p:cNvSpPr/>
          <p:nvPr/>
        </p:nvSpPr>
        <p:spPr>
          <a:xfrm>
            <a:off x="4754880" y="3163824"/>
            <a:ext cx="406908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9" name="Text 27"/>
          <p:cNvSpPr/>
          <p:nvPr/>
        </p:nvSpPr>
        <p:spPr>
          <a:xfrm>
            <a:off x="4910328" y="3218688"/>
            <a:ext cx="3767328" cy="256032"/>
          </a:xfrm>
          <a:prstGeom prst="rect">
            <a:avLst/>
          </a:prstGeom>
          <a:noFill/>
          <a:ln/>
        </p:spPr>
        <p:txBody>
          <a:bodyPr wrap="square" lIns="0" tIns="0" rIns="0" bIns="0" rtlCol="0" anchor="ctr"/>
          <a:lstStyle/>
          <a:p>
            <a:pPr indent="0" marL="0">
              <a:buNone/>
            </a:pPr>
            <a:r>
              <a:rPr lang="en-US" sz="1150" b="1" dirty="0">
                <a:solidFill>
                  <a:srgbClr val="D97706"/>
                </a:solidFill>
                <a:latin typeface="Arial" pitchFamily="34" charset="0"/>
                <a:ea typeface="Arial" pitchFamily="34" charset="-122"/>
                <a:cs typeface="Arial" pitchFamily="34" charset="-120"/>
              </a:rPr>
              <a:t>Rollout commands</a:t>
            </a:r>
            <a:endParaRPr lang="en-US" sz="1150" dirty="0"/>
          </a:p>
        </p:txBody>
      </p:sp>
      <p:sp>
        <p:nvSpPr>
          <p:cNvPr id="30" name="Text 28"/>
          <p:cNvSpPr/>
          <p:nvPr/>
        </p:nvSpPr>
        <p:spPr>
          <a:xfrm>
            <a:off x="4910328" y="3493008"/>
            <a:ext cx="3767328" cy="27432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Pause: kubectl rollout pause deploy/&lt;n&gt;</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Resume: kubectl rollout resume deploy/&lt;n&gt;</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History: kubectl rollout history deploy/&lt;n&gt;</a:t>
            </a:r>
            <a:endParaRPr lang="en-US" sz="950" dirty="0"/>
          </a:p>
        </p:txBody>
      </p:sp>
      <p:sp>
        <p:nvSpPr>
          <p:cNvPr id="31" name="Shape 29"/>
          <p:cNvSpPr/>
          <p:nvPr/>
        </p:nvSpPr>
        <p:spPr>
          <a:xfrm>
            <a:off x="4754880" y="3913632"/>
            <a:ext cx="406908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2" name="Text 30"/>
          <p:cNvSpPr/>
          <p:nvPr/>
        </p:nvSpPr>
        <p:spPr>
          <a:xfrm>
            <a:off x="4910328" y="3968496"/>
            <a:ext cx="3767328" cy="256032"/>
          </a:xfrm>
          <a:prstGeom prst="rect">
            <a:avLst/>
          </a:prstGeom>
          <a:noFill/>
          <a:ln/>
        </p:spPr>
        <p:txBody>
          <a:bodyPr wrap="square" lIns="0" tIns="0" rIns="0" bIns="0" rtlCol="0" anchor="ctr"/>
          <a:lstStyle/>
          <a:p>
            <a:pPr indent="0" marL="0">
              <a:buNone/>
            </a:pPr>
            <a:r>
              <a:rPr lang="en-US" sz="1150" b="1" dirty="0">
                <a:solidFill>
                  <a:srgbClr val="DC2626"/>
                </a:solidFill>
                <a:latin typeface="Arial" pitchFamily="34" charset="0"/>
                <a:ea typeface="Arial" pitchFamily="34" charset="-122"/>
                <a:cs typeface="Arial" pitchFamily="34" charset="-120"/>
              </a:rPr>
              <a:t>Recreate strategy</a:t>
            </a:r>
            <a:endParaRPr lang="en-US" sz="1150" dirty="0"/>
          </a:p>
        </p:txBody>
      </p:sp>
      <p:sp>
        <p:nvSpPr>
          <p:cNvPr id="33" name="Text 31"/>
          <p:cNvSpPr/>
          <p:nvPr/>
        </p:nvSpPr>
        <p:spPr>
          <a:xfrm>
            <a:off x="4910328" y="4242816"/>
            <a:ext cx="3767328" cy="27432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type: Recreate stops ALL old Pods first, then starts new ones. Faster but causes downtime. Use only when two versions cannot coexist.</a:t>
            </a:r>
            <a:endParaRPr lang="en-US" sz="950" dirty="0"/>
          </a:p>
        </p:txBody>
      </p:sp>
      <p:sp>
        <p:nvSpPr>
          <p:cNvPr id="34" name="Shape 32"/>
          <p:cNvSpPr/>
          <p:nvPr/>
        </p:nvSpPr>
        <p:spPr>
          <a:xfrm>
            <a:off x="0" y="4846320"/>
            <a:ext cx="9144000" cy="297180"/>
          </a:xfrm>
          <a:prstGeom prst="rect">
            <a:avLst/>
          </a:prstGeom>
          <a:solidFill>
            <a:srgbClr val="0F172A"/>
          </a:solidFill>
          <a:ln w="12700">
            <a:solidFill>
              <a:srgbClr val="0F172A"/>
            </a:solidFill>
            <a:prstDash val="solid"/>
          </a:ln>
        </p:spPr>
      </p:sp>
      <p:sp>
        <p:nvSpPr>
          <p:cNvPr id="35" name="Text 33"/>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04: Advanced Deployments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HORIZONTAL POD AUTOSCALER (HPA)</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04  •  Advanced Deployments</a:t>
            </a:r>
            <a:endParaRPr lang="en-US" sz="950" dirty="0"/>
          </a:p>
        </p:txBody>
      </p:sp>
      <p:sp>
        <p:nvSpPr>
          <p:cNvPr id="6" name="Shape 4"/>
          <p:cNvSpPr/>
          <p:nvPr/>
        </p:nvSpPr>
        <p:spPr>
          <a:xfrm>
            <a:off x="320040" y="868680"/>
            <a:ext cx="8503920" cy="713232"/>
          </a:xfrm>
          <a:prstGeom prst="roundRect">
            <a:avLst>
              <a:gd name="adj" fmla="val 12821"/>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621792"/>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HPA automatically scales the number of Pods based on CPU usage, memory usage or custom metrics. Scale up when traffic spikes, scale down when it drops — automatically, no human needed.</a:t>
            </a:r>
            <a:endParaRPr lang="en-US" sz="1250" dirty="0"/>
          </a:p>
        </p:txBody>
      </p:sp>
      <p:sp>
        <p:nvSpPr>
          <p:cNvPr id="8" name="Shape 6"/>
          <p:cNvSpPr/>
          <p:nvPr/>
        </p:nvSpPr>
        <p:spPr>
          <a:xfrm>
            <a:off x="320040" y="1719072"/>
            <a:ext cx="4892040" cy="2331720"/>
          </a:xfrm>
          <a:prstGeom prst="roundRect">
            <a:avLst>
              <a:gd name="adj" fmla="val 3922"/>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792224"/>
            <a:ext cx="458114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hpa.yaml</a:t>
            </a:r>
            <a:endParaRPr lang="en-US" sz="900" dirty="0"/>
          </a:p>
        </p:txBody>
      </p:sp>
      <p:sp>
        <p:nvSpPr>
          <p:cNvPr id="10" name="Text 8"/>
          <p:cNvSpPr/>
          <p:nvPr/>
        </p:nvSpPr>
        <p:spPr>
          <a:xfrm>
            <a:off x="475488" y="2029968"/>
            <a:ext cx="4581144" cy="201168"/>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apiVersion: autoscaling/v2</a:t>
            </a:r>
            <a:endParaRPr lang="en-US" sz="950" dirty="0"/>
          </a:p>
        </p:txBody>
      </p:sp>
      <p:sp>
        <p:nvSpPr>
          <p:cNvPr id="11" name="Text 9"/>
          <p:cNvSpPr/>
          <p:nvPr/>
        </p:nvSpPr>
        <p:spPr>
          <a:xfrm>
            <a:off x="475488" y="2226564"/>
            <a:ext cx="458114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kind: HorizontalPodAutoscaler</a:t>
            </a:r>
            <a:endParaRPr lang="en-US" sz="950" dirty="0"/>
          </a:p>
        </p:txBody>
      </p:sp>
      <p:sp>
        <p:nvSpPr>
          <p:cNvPr id="12" name="Text 10"/>
          <p:cNvSpPr/>
          <p:nvPr/>
        </p:nvSpPr>
        <p:spPr>
          <a:xfrm>
            <a:off x="475488" y="2423160"/>
            <a:ext cx="458114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metadata:</a:t>
            </a:r>
            <a:endParaRPr lang="en-US" sz="950" dirty="0"/>
          </a:p>
        </p:txBody>
      </p:sp>
      <p:sp>
        <p:nvSpPr>
          <p:cNvPr id="13" name="Text 11"/>
          <p:cNvSpPr/>
          <p:nvPr/>
        </p:nvSpPr>
        <p:spPr>
          <a:xfrm>
            <a:off x="475488" y="2619756"/>
            <a:ext cx="458114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name: webapp-hpa</a:t>
            </a:r>
            <a:endParaRPr lang="en-US" sz="950" dirty="0"/>
          </a:p>
        </p:txBody>
      </p:sp>
      <p:sp>
        <p:nvSpPr>
          <p:cNvPr id="14" name="Text 12"/>
          <p:cNvSpPr/>
          <p:nvPr/>
        </p:nvSpPr>
        <p:spPr>
          <a:xfrm>
            <a:off x="475488" y="2816352"/>
            <a:ext cx="458114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spec:</a:t>
            </a:r>
            <a:endParaRPr lang="en-US" sz="950" dirty="0"/>
          </a:p>
        </p:txBody>
      </p:sp>
      <p:sp>
        <p:nvSpPr>
          <p:cNvPr id="15" name="Text 13"/>
          <p:cNvSpPr/>
          <p:nvPr/>
        </p:nvSpPr>
        <p:spPr>
          <a:xfrm>
            <a:off x="475488" y="3012948"/>
            <a:ext cx="458114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scaleTargetRef:</a:t>
            </a:r>
            <a:endParaRPr lang="en-US" sz="950" dirty="0"/>
          </a:p>
        </p:txBody>
      </p:sp>
      <p:sp>
        <p:nvSpPr>
          <p:cNvPr id="16" name="Text 14"/>
          <p:cNvSpPr/>
          <p:nvPr/>
        </p:nvSpPr>
        <p:spPr>
          <a:xfrm>
            <a:off x="475488" y="3209544"/>
            <a:ext cx="458114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kind: Deployment</a:t>
            </a:r>
            <a:endParaRPr lang="en-US" sz="950" dirty="0"/>
          </a:p>
        </p:txBody>
      </p:sp>
      <p:sp>
        <p:nvSpPr>
          <p:cNvPr id="17" name="Text 15"/>
          <p:cNvSpPr/>
          <p:nvPr/>
        </p:nvSpPr>
        <p:spPr>
          <a:xfrm>
            <a:off x="475488" y="3406140"/>
            <a:ext cx="458114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name: webapp</a:t>
            </a:r>
            <a:endParaRPr lang="en-US" sz="950" dirty="0"/>
          </a:p>
        </p:txBody>
      </p:sp>
      <p:sp>
        <p:nvSpPr>
          <p:cNvPr id="18" name="Text 16"/>
          <p:cNvSpPr/>
          <p:nvPr/>
        </p:nvSpPr>
        <p:spPr>
          <a:xfrm>
            <a:off x="475488" y="3602736"/>
            <a:ext cx="458114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minReplicas: 2</a:t>
            </a:r>
            <a:endParaRPr lang="en-US" sz="950" dirty="0"/>
          </a:p>
        </p:txBody>
      </p:sp>
      <p:sp>
        <p:nvSpPr>
          <p:cNvPr id="19" name="Text 17"/>
          <p:cNvSpPr/>
          <p:nvPr/>
        </p:nvSpPr>
        <p:spPr>
          <a:xfrm>
            <a:off x="475488" y="3799332"/>
            <a:ext cx="458114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maxReplicas: 10</a:t>
            </a:r>
            <a:endParaRPr lang="en-US" sz="950" dirty="0"/>
          </a:p>
        </p:txBody>
      </p:sp>
      <p:sp>
        <p:nvSpPr>
          <p:cNvPr id="20" name="Text 18"/>
          <p:cNvSpPr/>
          <p:nvPr/>
        </p:nvSpPr>
        <p:spPr>
          <a:xfrm>
            <a:off x="475488" y="3995928"/>
            <a:ext cx="458114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metrics:</a:t>
            </a:r>
            <a:endParaRPr lang="en-US" sz="950" dirty="0"/>
          </a:p>
        </p:txBody>
      </p:sp>
      <p:sp>
        <p:nvSpPr>
          <p:cNvPr id="21" name="Text 19"/>
          <p:cNvSpPr/>
          <p:nvPr/>
        </p:nvSpPr>
        <p:spPr>
          <a:xfrm>
            <a:off x="475488" y="4192524"/>
            <a:ext cx="458114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 type: Resource</a:t>
            </a:r>
            <a:endParaRPr lang="en-US" sz="950" dirty="0"/>
          </a:p>
        </p:txBody>
      </p:sp>
      <p:sp>
        <p:nvSpPr>
          <p:cNvPr id="22" name="Shape 20"/>
          <p:cNvSpPr/>
          <p:nvPr/>
        </p:nvSpPr>
        <p:spPr>
          <a:xfrm>
            <a:off x="5394960" y="1719072"/>
            <a:ext cx="3429000" cy="868680"/>
          </a:xfrm>
          <a:prstGeom prst="roundRect">
            <a:avLst>
              <a:gd name="adj" fmla="val 10526"/>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3" name="Text 21"/>
          <p:cNvSpPr/>
          <p:nvPr/>
        </p:nvSpPr>
        <p:spPr>
          <a:xfrm>
            <a:off x="5532120" y="1773936"/>
            <a:ext cx="3154680" cy="256032"/>
          </a:xfrm>
          <a:prstGeom prst="rect">
            <a:avLst/>
          </a:prstGeom>
          <a:noFill/>
          <a:ln/>
        </p:spPr>
        <p:txBody>
          <a:bodyPr wrap="square" lIns="0" tIns="0" rIns="0" bIns="0" rtlCol="0" anchor="ctr"/>
          <a:lstStyle/>
          <a:p>
            <a:pPr indent="0" marL="0">
              <a:buNone/>
            </a:pPr>
            <a:r>
              <a:rPr lang="en-US" sz="1100" b="1" dirty="0">
                <a:solidFill>
                  <a:srgbClr val="DC2626"/>
                </a:solidFill>
                <a:latin typeface="Arial" pitchFamily="34" charset="0"/>
                <a:ea typeface="Arial" pitchFamily="34" charset="-122"/>
                <a:cs typeface="Arial" pitchFamily="34" charset="-120"/>
              </a:rPr>
              <a:t>📈  Scale Up Trigger</a:t>
            </a:r>
            <a:endParaRPr lang="en-US" sz="1100" dirty="0"/>
          </a:p>
        </p:txBody>
      </p:sp>
      <p:sp>
        <p:nvSpPr>
          <p:cNvPr id="24" name="Text 22"/>
          <p:cNvSpPr/>
          <p:nvPr/>
        </p:nvSpPr>
        <p:spPr>
          <a:xfrm>
            <a:off x="5532120" y="2066544"/>
            <a:ext cx="3154680" cy="43891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When average CPU &gt; targetAverageUtilization (e.g. 70%), HPA adds Pods up to maxReplicas.</a:t>
            </a:r>
            <a:endParaRPr lang="en-US" sz="950" dirty="0"/>
          </a:p>
        </p:txBody>
      </p:sp>
      <p:sp>
        <p:nvSpPr>
          <p:cNvPr id="25" name="Shape 23"/>
          <p:cNvSpPr/>
          <p:nvPr/>
        </p:nvSpPr>
        <p:spPr>
          <a:xfrm>
            <a:off x="5394960" y="2679192"/>
            <a:ext cx="3429000" cy="868680"/>
          </a:xfrm>
          <a:prstGeom prst="roundRect">
            <a:avLst>
              <a:gd name="adj" fmla="val 10526"/>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6" name="Text 24"/>
          <p:cNvSpPr/>
          <p:nvPr/>
        </p:nvSpPr>
        <p:spPr>
          <a:xfrm>
            <a:off x="5532120" y="2734056"/>
            <a:ext cx="3154680" cy="256032"/>
          </a:xfrm>
          <a:prstGeom prst="rect">
            <a:avLst/>
          </a:prstGeom>
          <a:noFill/>
          <a:ln/>
        </p:spPr>
        <p:txBody>
          <a:bodyPr wrap="square" lIns="0" tIns="0" rIns="0" bIns="0" rtlCol="0" anchor="ctr"/>
          <a:lstStyle/>
          <a:p>
            <a:pPr indent="0" marL="0">
              <a:buNone/>
            </a:pPr>
            <a:r>
              <a:rPr lang="en-US" sz="1100" b="1" dirty="0">
                <a:solidFill>
                  <a:srgbClr val="059669"/>
                </a:solidFill>
                <a:latin typeface="Arial" pitchFamily="34" charset="0"/>
                <a:ea typeface="Arial" pitchFamily="34" charset="-122"/>
                <a:cs typeface="Arial" pitchFamily="34" charset="-120"/>
              </a:rPr>
              <a:t>📉  Scale Down Behaviour</a:t>
            </a:r>
            <a:endParaRPr lang="en-US" sz="1100" dirty="0"/>
          </a:p>
        </p:txBody>
      </p:sp>
      <p:sp>
        <p:nvSpPr>
          <p:cNvPr id="27" name="Text 25"/>
          <p:cNvSpPr/>
          <p:nvPr/>
        </p:nvSpPr>
        <p:spPr>
          <a:xfrm>
            <a:off x="5532120" y="3026664"/>
            <a:ext cx="3154680" cy="43891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HPA waits 5 minutes before scaling down to avoid thrashing during short traffic spikes.</a:t>
            </a:r>
            <a:endParaRPr lang="en-US" sz="950" dirty="0"/>
          </a:p>
        </p:txBody>
      </p:sp>
      <p:sp>
        <p:nvSpPr>
          <p:cNvPr id="28" name="Shape 26"/>
          <p:cNvSpPr/>
          <p:nvPr/>
        </p:nvSpPr>
        <p:spPr>
          <a:xfrm>
            <a:off x="5394960" y="3639312"/>
            <a:ext cx="3429000" cy="868680"/>
          </a:xfrm>
          <a:prstGeom prst="roundRect">
            <a:avLst>
              <a:gd name="adj" fmla="val 10526"/>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9" name="Text 27"/>
          <p:cNvSpPr/>
          <p:nvPr/>
        </p:nvSpPr>
        <p:spPr>
          <a:xfrm>
            <a:off x="5532120" y="3694176"/>
            <a:ext cx="3154680" cy="256032"/>
          </a:xfrm>
          <a:prstGeom prst="rect">
            <a:avLst/>
          </a:prstGeom>
          <a:noFill/>
          <a:ln/>
        </p:spPr>
        <p:txBody>
          <a:bodyPr wrap="square" lIns="0" tIns="0" rIns="0" bIns="0" rtlCol="0" anchor="ctr"/>
          <a:lstStyle/>
          <a:p>
            <a:pPr indent="0" marL="0">
              <a:buNone/>
            </a:pPr>
            <a:r>
              <a:rPr lang="en-US" sz="1100" b="1" dirty="0">
                <a:solidFill>
                  <a:srgbClr val="326CE5"/>
                </a:solidFill>
                <a:latin typeface="Arial" pitchFamily="34" charset="0"/>
                <a:ea typeface="Arial" pitchFamily="34" charset="-122"/>
                <a:cs typeface="Arial" pitchFamily="34" charset="-120"/>
              </a:rPr>
              <a:t>⚡  CLI Shortcut</a:t>
            </a:r>
            <a:endParaRPr lang="en-US" sz="1100" dirty="0"/>
          </a:p>
        </p:txBody>
      </p:sp>
      <p:sp>
        <p:nvSpPr>
          <p:cNvPr id="30" name="Text 28"/>
          <p:cNvSpPr/>
          <p:nvPr/>
        </p:nvSpPr>
        <p:spPr>
          <a:xfrm>
            <a:off x="5532120" y="3986784"/>
            <a:ext cx="3154680" cy="43891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kubectl autoscale deployment webapp --cpu-percent=70 --min=2 --max=10</a:t>
            </a:r>
            <a:endParaRPr lang="en-US" sz="950" dirty="0"/>
          </a:p>
        </p:txBody>
      </p:sp>
      <p:sp>
        <p:nvSpPr>
          <p:cNvPr id="31" name="Shape 29"/>
          <p:cNvSpPr/>
          <p:nvPr/>
        </p:nvSpPr>
        <p:spPr>
          <a:xfrm>
            <a:off x="5394960" y="4599432"/>
            <a:ext cx="3429000" cy="868680"/>
          </a:xfrm>
          <a:prstGeom prst="roundRect">
            <a:avLst>
              <a:gd name="adj" fmla="val 10526"/>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2" name="Text 30"/>
          <p:cNvSpPr/>
          <p:nvPr/>
        </p:nvSpPr>
        <p:spPr>
          <a:xfrm>
            <a:off x="5532120" y="4654296"/>
            <a:ext cx="3154680" cy="256032"/>
          </a:xfrm>
          <a:prstGeom prst="rect">
            <a:avLst/>
          </a:prstGeom>
          <a:noFill/>
          <a:ln/>
        </p:spPr>
        <p:txBody>
          <a:bodyPr wrap="square" lIns="0" tIns="0" rIns="0" bIns="0" rtlCol="0" anchor="ctr"/>
          <a:lstStyle/>
          <a:p>
            <a:pPr indent="0" marL="0">
              <a:buNone/>
            </a:pPr>
            <a:r>
              <a:rPr lang="en-US" sz="1100" b="1" dirty="0">
                <a:solidFill>
                  <a:srgbClr val="D97706"/>
                </a:solidFill>
                <a:latin typeface="Arial" pitchFamily="34" charset="0"/>
                <a:ea typeface="Arial" pitchFamily="34" charset="-122"/>
                <a:cs typeface="Arial" pitchFamily="34" charset="-120"/>
              </a:rPr>
              <a:t>📊  View Current Status</a:t>
            </a:r>
            <a:endParaRPr lang="en-US" sz="1100" dirty="0"/>
          </a:p>
        </p:txBody>
      </p:sp>
      <p:sp>
        <p:nvSpPr>
          <p:cNvPr id="33" name="Text 31"/>
          <p:cNvSpPr/>
          <p:nvPr/>
        </p:nvSpPr>
        <p:spPr>
          <a:xfrm>
            <a:off x="5532120" y="4946904"/>
            <a:ext cx="3154680" cy="43891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kubectl get hpa</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kubectl describe hpa webapp-hpa</a:t>
            </a:r>
            <a:endParaRPr lang="en-US" sz="950" dirty="0"/>
          </a:p>
        </p:txBody>
      </p:sp>
      <p:sp>
        <p:nvSpPr>
          <p:cNvPr id="34" name="Shape 32"/>
          <p:cNvSpPr/>
          <p:nvPr/>
        </p:nvSpPr>
        <p:spPr>
          <a:xfrm>
            <a:off x="0" y="4846320"/>
            <a:ext cx="9144000" cy="297180"/>
          </a:xfrm>
          <a:prstGeom prst="rect">
            <a:avLst/>
          </a:prstGeom>
          <a:solidFill>
            <a:srgbClr val="0F172A"/>
          </a:solidFill>
          <a:ln w="12700">
            <a:solidFill>
              <a:srgbClr val="0F172A"/>
            </a:solidFill>
            <a:prstDash val="solid"/>
          </a:ln>
        </p:spPr>
      </p:sp>
      <p:sp>
        <p:nvSpPr>
          <p:cNvPr id="35" name="Text 33"/>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04: Advanced Deployments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326CE5"/>
          </a:solidFill>
          <a:ln w="12700">
            <a:solidFill>
              <a:srgbClr val="326CE5"/>
            </a:solidFill>
            <a:prstDash val="solid"/>
          </a:ln>
        </p:spPr>
      </p:sp>
      <p:sp>
        <p:nvSpPr>
          <p:cNvPr id="3" name="Shape 1"/>
          <p:cNvSpPr/>
          <p:nvPr/>
        </p:nvSpPr>
        <p:spPr>
          <a:xfrm>
            <a:off x="6400800" y="-731520"/>
            <a:ext cx="3840480" cy="3840480"/>
          </a:xfrm>
          <a:prstGeom prst="ellipse">
            <a:avLst/>
          </a:prstGeom>
          <a:solidFill>
            <a:srgbClr val="326CE5">
              <a:alpha val="8000"/>
            </a:srgbClr>
          </a:solidFill>
          <a:ln w="12700">
            <a:solidFill>
              <a:srgbClr val="326CE5">
                <a:alpha val="15000"/>
              </a:srgbClr>
            </a:solidFill>
            <a:prstDash val="solid"/>
          </a:ln>
        </p:spPr>
      </p:sp>
      <p:sp>
        <p:nvSpPr>
          <p:cNvPr id="4" name="Text 2"/>
          <p:cNvSpPr/>
          <p:nvPr/>
        </p:nvSpPr>
        <p:spPr>
          <a:xfrm>
            <a:off x="594360" y="365760"/>
            <a:ext cx="4572000" cy="438912"/>
          </a:xfrm>
          <a:prstGeom prst="rect">
            <a:avLst/>
          </a:prstGeom>
          <a:noFill/>
          <a:ln/>
        </p:spPr>
        <p:txBody>
          <a:bodyPr wrap="square" lIns="0" tIns="0" rIns="0" bIns="0" rtlCol="0" anchor="ctr"/>
          <a:lstStyle/>
          <a:p>
            <a:pPr indent="0" marL="0">
              <a:buNone/>
            </a:pPr>
            <a:r>
              <a:rPr lang="en-US" sz="1300" b="1" spc="200" kern="0" dirty="0">
                <a:solidFill>
                  <a:srgbClr val="326CE5"/>
                </a:solidFill>
                <a:latin typeface="Arial" pitchFamily="34" charset="0"/>
                <a:ea typeface="Arial" pitchFamily="34" charset="-122"/>
                <a:cs typeface="Arial" pitchFamily="34" charset="-120"/>
              </a:rPr>
              <a:t>🔬  LAB 1</a:t>
            </a:r>
            <a:endParaRPr lang="en-US" sz="1300" dirty="0"/>
          </a:p>
        </p:txBody>
      </p:sp>
      <p:sp>
        <p:nvSpPr>
          <p:cNvPr id="5" name="Text 3"/>
          <p:cNvSpPr/>
          <p:nvPr/>
        </p:nvSpPr>
        <p:spPr>
          <a:xfrm>
            <a:off x="594360" y="804672"/>
            <a:ext cx="822960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ConfigMaps, Namespaces &amp; Deployments</a:t>
            </a:r>
            <a:endParaRPr lang="en-US" sz="3200" dirty="0"/>
          </a:p>
        </p:txBody>
      </p:sp>
      <p:sp>
        <p:nvSpPr>
          <p:cNvPr id="6" name="Shape 4"/>
          <p:cNvSpPr/>
          <p:nvPr/>
        </p:nvSpPr>
        <p:spPr>
          <a:xfrm>
            <a:off x="594360" y="1664208"/>
            <a:ext cx="4114800" cy="27432"/>
          </a:xfrm>
          <a:prstGeom prst="rect">
            <a:avLst/>
          </a:prstGeom>
          <a:solidFill>
            <a:srgbClr val="326CE5"/>
          </a:solidFill>
          <a:ln w="12700">
            <a:solidFill>
              <a:srgbClr val="326CE5"/>
            </a:solidFill>
            <a:prstDash val="solid"/>
          </a:ln>
        </p:spPr>
      </p:sp>
      <p:sp>
        <p:nvSpPr>
          <p:cNvPr id="7" name="Shape 5"/>
          <p:cNvSpPr/>
          <p:nvPr/>
        </p:nvSpPr>
        <p:spPr>
          <a:xfrm>
            <a:off x="594360" y="1874520"/>
            <a:ext cx="292608" cy="292608"/>
          </a:xfrm>
          <a:prstGeom prst="ellipse">
            <a:avLst/>
          </a:prstGeom>
          <a:solidFill>
            <a:srgbClr val="326CE5"/>
          </a:solidFill>
          <a:ln w="12700">
            <a:solidFill>
              <a:srgbClr val="326CE5"/>
            </a:solidFill>
            <a:prstDash val="solid"/>
          </a:ln>
        </p:spPr>
      </p:sp>
      <p:sp>
        <p:nvSpPr>
          <p:cNvPr id="8" name="Text 6"/>
          <p:cNvSpPr/>
          <p:nvPr/>
        </p:nvSpPr>
        <p:spPr>
          <a:xfrm>
            <a:off x="594360" y="18745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Text 7"/>
          <p:cNvSpPr/>
          <p:nvPr/>
        </p:nvSpPr>
        <p:spPr>
          <a:xfrm>
            <a:off x="1005840" y="1874520"/>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Create namespaces: dev and production</a:t>
            </a:r>
            <a:endParaRPr lang="en-US" sz="1200" dirty="0"/>
          </a:p>
        </p:txBody>
      </p:sp>
      <p:sp>
        <p:nvSpPr>
          <p:cNvPr id="10" name="Shape 8"/>
          <p:cNvSpPr/>
          <p:nvPr/>
        </p:nvSpPr>
        <p:spPr>
          <a:xfrm>
            <a:off x="594360" y="2350008"/>
            <a:ext cx="292608" cy="292608"/>
          </a:xfrm>
          <a:prstGeom prst="ellipse">
            <a:avLst/>
          </a:prstGeom>
          <a:solidFill>
            <a:srgbClr val="326CE5"/>
          </a:solidFill>
          <a:ln w="12700">
            <a:solidFill>
              <a:srgbClr val="326CE5"/>
            </a:solidFill>
            <a:prstDash val="solid"/>
          </a:ln>
        </p:spPr>
      </p:sp>
      <p:sp>
        <p:nvSpPr>
          <p:cNvPr id="11" name="Text 9"/>
          <p:cNvSpPr/>
          <p:nvPr/>
        </p:nvSpPr>
        <p:spPr>
          <a:xfrm>
            <a:off x="594360" y="23500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2" name="Text 10"/>
          <p:cNvSpPr/>
          <p:nvPr/>
        </p:nvSpPr>
        <p:spPr>
          <a:xfrm>
            <a:off x="1005840" y="2350008"/>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Create a ConfigMap with app config (DB URL, log level)</a:t>
            </a:r>
            <a:endParaRPr lang="en-US" sz="1200" dirty="0"/>
          </a:p>
        </p:txBody>
      </p:sp>
      <p:sp>
        <p:nvSpPr>
          <p:cNvPr id="13" name="Shape 11"/>
          <p:cNvSpPr/>
          <p:nvPr/>
        </p:nvSpPr>
        <p:spPr>
          <a:xfrm>
            <a:off x="594360" y="2825496"/>
            <a:ext cx="292608" cy="292608"/>
          </a:xfrm>
          <a:prstGeom prst="ellipse">
            <a:avLst/>
          </a:prstGeom>
          <a:solidFill>
            <a:srgbClr val="326CE5"/>
          </a:solidFill>
          <a:ln w="12700">
            <a:solidFill>
              <a:srgbClr val="326CE5"/>
            </a:solidFill>
            <a:prstDash val="solid"/>
          </a:ln>
        </p:spPr>
      </p:sp>
      <p:sp>
        <p:nvSpPr>
          <p:cNvPr id="14" name="Text 12"/>
          <p:cNvSpPr/>
          <p:nvPr/>
        </p:nvSpPr>
        <p:spPr>
          <a:xfrm>
            <a:off x="594360" y="28254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Text 13"/>
          <p:cNvSpPr/>
          <p:nvPr/>
        </p:nvSpPr>
        <p:spPr>
          <a:xfrm>
            <a:off x="1005840" y="2825496"/>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Deploy nginx consuming the ConfigMap as env variables in dev namespace</a:t>
            </a:r>
            <a:endParaRPr lang="en-US" sz="1200" dirty="0"/>
          </a:p>
        </p:txBody>
      </p:sp>
      <p:sp>
        <p:nvSpPr>
          <p:cNvPr id="16" name="Shape 14"/>
          <p:cNvSpPr/>
          <p:nvPr/>
        </p:nvSpPr>
        <p:spPr>
          <a:xfrm>
            <a:off x="594360" y="3300984"/>
            <a:ext cx="292608" cy="292608"/>
          </a:xfrm>
          <a:prstGeom prst="ellipse">
            <a:avLst/>
          </a:prstGeom>
          <a:solidFill>
            <a:srgbClr val="326CE5"/>
          </a:solidFill>
          <a:ln w="12700">
            <a:solidFill>
              <a:srgbClr val="326CE5"/>
            </a:solidFill>
            <a:prstDash val="solid"/>
          </a:ln>
        </p:spPr>
      </p:sp>
      <p:sp>
        <p:nvSpPr>
          <p:cNvPr id="17" name="Text 15"/>
          <p:cNvSpPr/>
          <p:nvPr/>
        </p:nvSpPr>
        <p:spPr>
          <a:xfrm>
            <a:off x="594360" y="330098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Text 16"/>
          <p:cNvSpPr/>
          <p:nvPr/>
        </p:nvSpPr>
        <p:spPr>
          <a:xfrm>
            <a:off x="1005840" y="3300984"/>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Verify the env vars are present: kubectl exec -it &lt;pod&gt; -n dev -- env</a:t>
            </a:r>
            <a:endParaRPr lang="en-US" sz="1200" dirty="0"/>
          </a:p>
        </p:txBody>
      </p:sp>
      <p:sp>
        <p:nvSpPr>
          <p:cNvPr id="19" name="Shape 17"/>
          <p:cNvSpPr/>
          <p:nvPr/>
        </p:nvSpPr>
        <p:spPr>
          <a:xfrm>
            <a:off x="594360" y="3776472"/>
            <a:ext cx="292608" cy="292608"/>
          </a:xfrm>
          <a:prstGeom prst="ellipse">
            <a:avLst/>
          </a:prstGeom>
          <a:solidFill>
            <a:srgbClr val="326CE5"/>
          </a:solidFill>
          <a:ln w="12700">
            <a:solidFill>
              <a:srgbClr val="326CE5"/>
            </a:solidFill>
            <a:prstDash val="solid"/>
          </a:ln>
        </p:spPr>
      </p:sp>
      <p:sp>
        <p:nvSpPr>
          <p:cNvPr id="20" name="Text 18"/>
          <p:cNvSpPr/>
          <p:nvPr/>
        </p:nvSpPr>
        <p:spPr>
          <a:xfrm>
            <a:off x="594360" y="37764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1" name="Text 19"/>
          <p:cNvSpPr/>
          <p:nvPr/>
        </p:nvSpPr>
        <p:spPr>
          <a:xfrm>
            <a:off x="1005840" y="3776472"/>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Apply a ResourceQuota to dev: max 10 pods, 2 CPU, 4Gi memory</a:t>
            </a:r>
            <a:endParaRPr lang="en-US" sz="1200" dirty="0"/>
          </a:p>
        </p:txBody>
      </p:sp>
      <p:sp>
        <p:nvSpPr>
          <p:cNvPr id="22" name="Shape 20"/>
          <p:cNvSpPr/>
          <p:nvPr/>
        </p:nvSpPr>
        <p:spPr>
          <a:xfrm>
            <a:off x="594360" y="4251960"/>
            <a:ext cx="292608" cy="292608"/>
          </a:xfrm>
          <a:prstGeom prst="ellipse">
            <a:avLst/>
          </a:prstGeom>
          <a:solidFill>
            <a:srgbClr val="326CE5"/>
          </a:solidFill>
          <a:ln w="12700">
            <a:solidFill>
              <a:srgbClr val="326CE5"/>
            </a:solidFill>
            <a:prstDash val="solid"/>
          </a:ln>
        </p:spPr>
      </p:sp>
      <p:sp>
        <p:nvSpPr>
          <p:cNvPr id="23" name="Text 21"/>
          <p:cNvSpPr/>
          <p:nvPr/>
        </p:nvSpPr>
        <p:spPr>
          <a:xfrm>
            <a:off x="594360" y="42519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4" name="Text 22"/>
          <p:cNvSpPr/>
          <p:nvPr/>
        </p:nvSpPr>
        <p:spPr>
          <a:xfrm>
            <a:off x="1005840" y="4251960"/>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Configure a rolling update with maxSurge:1, maxUnavailable:0</a:t>
            </a:r>
            <a:endParaRPr lang="en-US" sz="1200" dirty="0"/>
          </a:p>
        </p:txBody>
      </p:sp>
      <p:sp>
        <p:nvSpPr>
          <p:cNvPr id="25" name="Shape 23"/>
          <p:cNvSpPr/>
          <p:nvPr/>
        </p:nvSpPr>
        <p:spPr>
          <a:xfrm>
            <a:off x="594360" y="4617720"/>
            <a:ext cx="4389120" cy="384048"/>
          </a:xfrm>
          <a:prstGeom prst="roundRect">
            <a:avLst>
              <a:gd name="adj" fmla="val 16667"/>
            </a:avLst>
          </a:prstGeom>
          <a:solidFill>
            <a:srgbClr val="326CE5">
              <a:alpha val="20000"/>
            </a:srgbClr>
          </a:solidFill>
          <a:ln w="12700">
            <a:solidFill>
              <a:srgbClr val="326CE5">
                <a:alpha val="40000"/>
              </a:srgbClr>
            </a:solidFill>
            <a:prstDash val="solid"/>
          </a:ln>
        </p:spPr>
      </p:sp>
      <p:sp>
        <p:nvSpPr>
          <p:cNvPr id="26" name="Text 24"/>
          <p:cNvSpPr/>
          <p:nvPr/>
        </p:nvSpPr>
        <p:spPr>
          <a:xfrm>
            <a:off x="594360" y="4626864"/>
            <a:ext cx="438912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  Duration: 13:00 – 16:00  •  Day 1 Afternoon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LAB 1 — ANSWERS</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170432"/>
            <a:ext cx="8503920" cy="384048"/>
          </a:xfrm>
          <a:prstGeom prst="roundRect">
            <a:avLst>
              <a:gd name="adj" fmla="val 23810"/>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207008"/>
            <a:ext cx="8229600" cy="292608"/>
          </a:xfrm>
          <a:prstGeom prst="rect">
            <a:avLst/>
          </a:prstGeom>
          <a:noFill/>
          <a:ln/>
        </p:spPr>
        <p:txBody>
          <a:bodyPr wrap="square" lIns="0" tIns="0" rIns="0" bIns="0" rtlCol="0" anchor="ctr"/>
          <a:lstStyle/>
          <a:p>
            <a:pPr indent="0" marL="0">
              <a:buNone/>
            </a:pPr>
            <a:r>
              <a:rPr lang="en-US" sz="1050" b="1" dirty="0">
                <a:solidFill>
                  <a:srgbClr val="C2410C"/>
                </a:solidFill>
                <a:latin typeface="Arial" pitchFamily="34" charset="0"/>
                <a:ea typeface="Arial" pitchFamily="34" charset="-122"/>
                <a:cs typeface="Arial" pitchFamily="34" charset="-120"/>
              </a:rPr>
              <a:t>🔒  Do not show to students. Share verbally only.</a:t>
            </a:r>
            <a:endParaRPr lang="en-US" sz="1050" dirty="0"/>
          </a:p>
        </p:txBody>
      </p:sp>
      <p:sp>
        <p:nvSpPr>
          <p:cNvPr id="10" name="Shape 8"/>
          <p:cNvSpPr/>
          <p:nvPr/>
        </p:nvSpPr>
        <p:spPr>
          <a:xfrm>
            <a:off x="320040" y="1664208"/>
            <a:ext cx="4160520" cy="1389888"/>
          </a:xfrm>
          <a:prstGeom prst="roundRect">
            <a:avLst>
              <a:gd name="adj" fmla="val 6579"/>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11" name="Text 9"/>
          <p:cNvSpPr/>
          <p:nvPr/>
        </p:nvSpPr>
        <p:spPr>
          <a:xfrm>
            <a:off x="475488" y="1737360"/>
            <a:ext cx="38496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Deployment using ConfigMap as env</a:t>
            </a:r>
            <a:endParaRPr lang="en-US" sz="900" dirty="0"/>
          </a:p>
        </p:txBody>
      </p:sp>
      <p:sp>
        <p:nvSpPr>
          <p:cNvPr id="12" name="Text 10"/>
          <p:cNvSpPr/>
          <p:nvPr/>
        </p:nvSpPr>
        <p:spPr>
          <a:xfrm>
            <a:off x="475488" y="1975104"/>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spec:</a:t>
            </a:r>
            <a:endParaRPr lang="en-US" sz="950" dirty="0"/>
          </a:p>
        </p:txBody>
      </p:sp>
      <p:sp>
        <p:nvSpPr>
          <p:cNvPr id="13" name="Text 11"/>
          <p:cNvSpPr/>
          <p:nvPr/>
        </p:nvSpPr>
        <p:spPr>
          <a:xfrm>
            <a:off x="475488" y="2171700"/>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containers:</a:t>
            </a:r>
            <a:endParaRPr lang="en-US" sz="950" dirty="0"/>
          </a:p>
        </p:txBody>
      </p:sp>
      <p:sp>
        <p:nvSpPr>
          <p:cNvPr id="14" name="Text 12"/>
          <p:cNvSpPr/>
          <p:nvPr/>
        </p:nvSpPr>
        <p:spPr>
          <a:xfrm>
            <a:off x="475488" y="2368296"/>
            <a:ext cx="38496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 name: webapp</a:t>
            </a:r>
            <a:endParaRPr lang="en-US" sz="950" dirty="0"/>
          </a:p>
        </p:txBody>
      </p:sp>
      <p:sp>
        <p:nvSpPr>
          <p:cNvPr id="15" name="Text 13"/>
          <p:cNvSpPr/>
          <p:nvPr/>
        </p:nvSpPr>
        <p:spPr>
          <a:xfrm>
            <a:off x="475488" y="2564892"/>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image: nginx:alpine</a:t>
            </a:r>
            <a:endParaRPr lang="en-US" sz="950" dirty="0"/>
          </a:p>
        </p:txBody>
      </p:sp>
      <p:sp>
        <p:nvSpPr>
          <p:cNvPr id="16" name="Text 14"/>
          <p:cNvSpPr/>
          <p:nvPr/>
        </p:nvSpPr>
        <p:spPr>
          <a:xfrm>
            <a:off x="475488" y="2761488"/>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envFrom:</a:t>
            </a:r>
            <a:endParaRPr lang="en-US" sz="950" dirty="0"/>
          </a:p>
        </p:txBody>
      </p:sp>
      <p:sp>
        <p:nvSpPr>
          <p:cNvPr id="17" name="Text 15"/>
          <p:cNvSpPr/>
          <p:nvPr/>
        </p:nvSpPr>
        <p:spPr>
          <a:xfrm>
            <a:off x="475488" y="2958084"/>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 configMapRef:</a:t>
            </a:r>
            <a:endParaRPr lang="en-US" sz="950" dirty="0"/>
          </a:p>
        </p:txBody>
      </p:sp>
      <p:sp>
        <p:nvSpPr>
          <p:cNvPr id="18" name="Text 16"/>
          <p:cNvSpPr/>
          <p:nvPr/>
        </p:nvSpPr>
        <p:spPr>
          <a:xfrm>
            <a:off x="475488" y="3154680"/>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name: app-config</a:t>
            </a:r>
            <a:endParaRPr lang="en-US" sz="950" dirty="0"/>
          </a:p>
        </p:txBody>
      </p:sp>
      <p:sp>
        <p:nvSpPr>
          <p:cNvPr id="19" name="Shape 17"/>
          <p:cNvSpPr/>
          <p:nvPr/>
        </p:nvSpPr>
        <p:spPr>
          <a:xfrm>
            <a:off x="4663440" y="1664208"/>
            <a:ext cx="4160520" cy="1389888"/>
          </a:xfrm>
          <a:prstGeom prst="roundRect">
            <a:avLst>
              <a:gd name="adj" fmla="val 6579"/>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0" name="Text 18"/>
          <p:cNvSpPr/>
          <p:nvPr/>
        </p:nvSpPr>
        <p:spPr>
          <a:xfrm>
            <a:off x="4818888" y="1737360"/>
            <a:ext cx="38496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ResourceQuota</a:t>
            </a:r>
            <a:endParaRPr lang="en-US" sz="900" dirty="0"/>
          </a:p>
        </p:txBody>
      </p:sp>
      <p:sp>
        <p:nvSpPr>
          <p:cNvPr id="21" name="Text 19"/>
          <p:cNvSpPr/>
          <p:nvPr/>
        </p:nvSpPr>
        <p:spPr>
          <a:xfrm>
            <a:off x="4818888" y="1975104"/>
            <a:ext cx="3849624" cy="201168"/>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apiVersion: v1</a:t>
            </a:r>
            <a:endParaRPr lang="en-US" sz="950" dirty="0"/>
          </a:p>
        </p:txBody>
      </p:sp>
      <p:sp>
        <p:nvSpPr>
          <p:cNvPr id="22" name="Text 20"/>
          <p:cNvSpPr/>
          <p:nvPr/>
        </p:nvSpPr>
        <p:spPr>
          <a:xfrm>
            <a:off x="4818888" y="2171700"/>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kind: ResourceQuota</a:t>
            </a:r>
            <a:endParaRPr lang="en-US" sz="950" dirty="0"/>
          </a:p>
        </p:txBody>
      </p:sp>
      <p:sp>
        <p:nvSpPr>
          <p:cNvPr id="23" name="Text 21"/>
          <p:cNvSpPr/>
          <p:nvPr/>
        </p:nvSpPr>
        <p:spPr>
          <a:xfrm>
            <a:off x="4818888" y="2368296"/>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spec:</a:t>
            </a:r>
            <a:endParaRPr lang="en-US" sz="950" dirty="0"/>
          </a:p>
        </p:txBody>
      </p:sp>
      <p:sp>
        <p:nvSpPr>
          <p:cNvPr id="24" name="Text 22"/>
          <p:cNvSpPr/>
          <p:nvPr/>
        </p:nvSpPr>
        <p:spPr>
          <a:xfrm>
            <a:off x="4818888" y="2564892"/>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hard:</a:t>
            </a:r>
            <a:endParaRPr lang="en-US" sz="950" dirty="0"/>
          </a:p>
        </p:txBody>
      </p:sp>
      <p:sp>
        <p:nvSpPr>
          <p:cNvPr id="25" name="Text 23"/>
          <p:cNvSpPr/>
          <p:nvPr/>
        </p:nvSpPr>
        <p:spPr>
          <a:xfrm>
            <a:off x="4818888" y="2761488"/>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pods: '10'</a:t>
            </a:r>
            <a:endParaRPr lang="en-US" sz="950" dirty="0"/>
          </a:p>
        </p:txBody>
      </p:sp>
      <p:sp>
        <p:nvSpPr>
          <p:cNvPr id="26" name="Text 24"/>
          <p:cNvSpPr/>
          <p:nvPr/>
        </p:nvSpPr>
        <p:spPr>
          <a:xfrm>
            <a:off x="4818888" y="2958084"/>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requests.cpu: '2'</a:t>
            </a:r>
            <a:endParaRPr lang="en-US" sz="950" dirty="0"/>
          </a:p>
        </p:txBody>
      </p:sp>
      <p:sp>
        <p:nvSpPr>
          <p:cNvPr id="27" name="Text 25"/>
          <p:cNvSpPr/>
          <p:nvPr/>
        </p:nvSpPr>
        <p:spPr>
          <a:xfrm>
            <a:off x="4818888" y="3154680"/>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requests.memory: 4Gi</a:t>
            </a:r>
            <a:endParaRPr lang="en-US" sz="950" dirty="0"/>
          </a:p>
        </p:txBody>
      </p:sp>
      <p:sp>
        <p:nvSpPr>
          <p:cNvPr id="28" name="Shape 26"/>
          <p:cNvSpPr/>
          <p:nvPr/>
        </p:nvSpPr>
        <p:spPr>
          <a:xfrm>
            <a:off x="320040" y="3127248"/>
            <a:ext cx="8503920" cy="1170432"/>
          </a:xfrm>
          <a:prstGeom prst="roundRect">
            <a:avLst>
              <a:gd name="adj" fmla="val 7813"/>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9" name="Text 27"/>
          <p:cNvSpPr/>
          <p:nvPr/>
        </p:nvSpPr>
        <p:spPr>
          <a:xfrm>
            <a:off x="475488" y="3200400"/>
            <a:ext cx="8193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Rolling update strategy + verify ConfigMap in pod</a:t>
            </a:r>
            <a:endParaRPr lang="en-US" sz="900" dirty="0"/>
          </a:p>
        </p:txBody>
      </p:sp>
      <p:sp>
        <p:nvSpPr>
          <p:cNvPr id="30" name="Text 28"/>
          <p:cNvSpPr/>
          <p:nvPr/>
        </p:nvSpPr>
        <p:spPr>
          <a:xfrm>
            <a:off x="475488" y="3438144"/>
            <a:ext cx="8193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strategy:</a:t>
            </a:r>
            <a:endParaRPr lang="en-US" sz="950" dirty="0"/>
          </a:p>
        </p:txBody>
      </p:sp>
      <p:sp>
        <p:nvSpPr>
          <p:cNvPr id="31" name="Text 29"/>
          <p:cNvSpPr/>
          <p:nvPr/>
        </p:nvSpPr>
        <p:spPr>
          <a:xfrm>
            <a:off x="475488" y="3634740"/>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type: RollingUpdate</a:t>
            </a:r>
            <a:endParaRPr lang="en-US" sz="950" dirty="0"/>
          </a:p>
        </p:txBody>
      </p:sp>
      <p:sp>
        <p:nvSpPr>
          <p:cNvPr id="32" name="Text 30"/>
          <p:cNvSpPr/>
          <p:nvPr/>
        </p:nvSpPr>
        <p:spPr>
          <a:xfrm>
            <a:off x="475488" y="3831336"/>
            <a:ext cx="8193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rollingUpdate:</a:t>
            </a:r>
            <a:endParaRPr lang="en-US" sz="950" dirty="0"/>
          </a:p>
        </p:txBody>
      </p:sp>
      <p:sp>
        <p:nvSpPr>
          <p:cNvPr id="33" name="Text 31"/>
          <p:cNvSpPr/>
          <p:nvPr/>
        </p:nvSpPr>
        <p:spPr>
          <a:xfrm>
            <a:off x="475488" y="4027932"/>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maxSurge: 1</a:t>
            </a:r>
            <a:endParaRPr lang="en-US" sz="950" dirty="0"/>
          </a:p>
        </p:txBody>
      </p:sp>
      <p:sp>
        <p:nvSpPr>
          <p:cNvPr id="34" name="Text 32"/>
          <p:cNvSpPr/>
          <p:nvPr/>
        </p:nvSpPr>
        <p:spPr>
          <a:xfrm>
            <a:off x="475488" y="4224528"/>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maxUnavailable: 0</a:t>
            </a:r>
            <a:endParaRPr lang="en-US" sz="950" dirty="0"/>
          </a:p>
        </p:txBody>
      </p:sp>
      <p:sp>
        <p:nvSpPr>
          <p:cNvPr id="35" name="Text 33"/>
          <p:cNvSpPr/>
          <p:nvPr/>
        </p:nvSpPr>
        <p:spPr>
          <a:xfrm>
            <a:off x="475488" y="4421124"/>
            <a:ext cx="819302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kubectl exec -it &lt;pod&gt; -n dev -- env | grep DATABASE_URL</a:t>
            </a:r>
            <a:endParaRPr lang="en-US" sz="950" dirty="0"/>
          </a:p>
        </p:txBody>
      </p:sp>
      <p:sp>
        <p:nvSpPr>
          <p:cNvPr id="36" name="Shape 34"/>
          <p:cNvSpPr/>
          <p:nvPr/>
        </p:nvSpPr>
        <p:spPr>
          <a:xfrm>
            <a:off x="320040" y="4370832"/>
            <a:ext cx="8503920" cy="658368"/>
          </a:xfrm>
          <a:prstGeom prst="roundRect">
            <a:avLst>
              <a:gd name="adj" fmla="val 13889"/>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37" name="Text 35"/>
          <p:cNvSpPr/>
          <p:nvPr/>
        </p:nvSpPr>
        <p:spPr>
          <a:xfrm>
            <a:off x="457200" y="4462272"/>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a:t>
            </a:r>
            <a:endParaRPr lang="en-US" sz="1000" dirty="0"/>
          </a:p>
        </p:txBody>
      </p:sp>
      <p:sp>
        <p:nvSpPr>
          <p:cNvPr id="38" name="Text 36"/>
          <p:cNvSpPr/>
          <p:nvPr/>
        </p:nvSpPr>
        <p:spPr>
          <a:xfrm>
            <a:off x="457200" y="4754880"/>
            <a:ext cx="8229600" cy="155448"/>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Most common: envFrom vs env. envFrom loads ALL configmap keys as env vars. env with valueFrom loads individual keys. Both are valid — envFrom is simpler. Second most common: namespace mismatch — ConfigMap must be in the same namespace as the Pod.</a:t>
            </a:r>
            <a:endParaRPr lang="en-US" sz="1000" dirty="0"/>
          </a:p>
        </p:txBody>
      </p:sp>
      <p:sp>
        <p:nvSpPr>
          <p:cNvPr id="39" name="Shape 37"/>
          <p:cNvSpPr/>
          <p:nvPr/>
        </p:nvSpPr>
        <p:spPr>
          <a:xfrm>
            <a:off x="0" y="4846320"/>
            <a:ext cx="9144000" cy="297180"/>
          </a:xfrm>
          <a:prstGeom prst="rect">
            <a:avLst/>
          </a:prstGeom>
          <a:solidFill>
            <a:srgbClr val="7C2D12"/>
          </a:solidFill>
          <a:ln w="12700">
            <a:solidFill>
              <a:srgbClr val="7C2D12"/>
            </a:solidFill>
            <a:prstDash val="solid"/>
          </a:ln>
        </p:spPr>
      </p:sp>
      <p:sp>
        <p:nvSpPr>
          <p:cNvPr id="40" name="Text 38"/>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Lab 1 Answers — CONFIDENTIAL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326CE5"/>
                </a:solidFill>
                <a:latin typeface="Arial" pitchFamily="34" charset="0"/>
                <a:ea typeface="Arial" pitchFamily="34" charset="-122"/>
                <a:cs typeface="Arial" pitchFamily="34" charset="-120"/>
              </a:rPr>
              <a:t>SECTION 05</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Secrets</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Managing sensitive data securely in Kubernetes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KUBERNETES SECRETS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05  •  Secrets</a:t>
            </a:r>
            <a:endParaRPr lang="en-US" sz="950" dirty="0"/>
          </a:p>
        </p:txBody>
      </p:sp>
      <p:sp>
        <p:nvSpPr>
          <p:cNvPr id="6" name="Shape 4"/>
          <p:cNvSpPr/>
          <p:nvPr/>
        </p:nvSpPr>
        <p:spPr>
          <a:xfrm>
            <a:off x="320040" y="868680"/>
            <a:ext cx="8503920" cy="658368"/>
          </a:xfrm>
          <a:prstGeom prst="roundRect">
            <a:avLst>
              <a:gd name="adj" fmla="val 13889"/>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6692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Secrets store sensitive data (passwords, tokens, certificates) as base64-encoded values. They behave like ConfigMaps but with access controls and (optionally) encryption at rest.</a:t>
            </a:r>
            <a:endParaRPr lang="en-US" sz="1250" dirty="0"/>
          </a:p>
        </p:txBody>
      </p:sp>
      <p:sp>
        <p:nvSpPr>
          <p:cNvPr id="8" name="Shape 6"/>
          <p:cNvSpPr/>
          <p:nvPr/>
        </p:nvSpPr>
        <p:spPr>
          <a:xfrm>
            <a:off x="320040" y="1664208"/>
            <a:ext cx="4251960" cy="2487168"/>
          </a:xfrm>
          <a:prstGeom prst="roundRect">
            <a:avLst>
              <a:gd name="adj" fmla="val 3676"/>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737360"/>
            <a:ext cx="394106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Create secret from CLI (recommended)</a:t>
            </a:r>
            <a:endParaRPr lang="en-US" sz="900" dirty="0"/>
          </a:p>
        </p:txBody>
      </p:sp>
      <p:sp>
        <p:nvSpPr>
          <p:cNvPr id="10" name="Text 8"/>
          <p:cNvSpPr/>
          <p:nvPr/>
        </p:nvSpPr>
        <p:spPr>
          <a:xfrm>
            <a:off x="475488" y="1975104"/>
            <a:ext cx="394106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Never write passwords in YAML files!</a:t>
            </a:r>
            <a:endParaRPr lang="en-US" sz="950" dirty="0"/>
          </a:p>
        </p:txBody>
      </p:sp>
      <p:sp>
        <p:nvSpPr>
          <p:cNvPr id="11" name="Text 9"/>
          <p:cNvSpPr/>
          <p:nvPr/>
        </p:nvSpPr>
        <p:spPr>
          <a:xfrm>
            <a:off x="475488" y="2171700"/>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kubectl create secret generic db-secret \</a:t>
            </a:r>
            <a:endParaRPr lang="en-US" sz="950" dirty="0"/>
          </a:p>
        </p:txBody>
      </p:sp>
      <p:sp>
        <p:nvSpPr>
          <p:cNvPr id="12" name="Text 10"/>
          <p:cNvSpPr/>
          <p:nvPr/>
        </p:nvSpPr>
        <p:spPr>
          <a:xfrm>
            <a:off x="475488" y="2368296"/>
            <a:ext cx="394106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--from-literal=DB_PASSWORD=mysecretpw \</a:t>
            </a:r>
            <a:endParaRPr lang="en-US" sz="950" dirty="0"/>
          </a:p>
        </p:txBody>
      </p:sp>
      <p:sp>
        <p:nvSpPr>
          <p:cNvPr id="13" name="Text 11"/>
          <p:cNvSpPr/>
          <p:nvPr/>
        </p:nvSpPr>
        <p:spPr>
          <a:xfrm>
            <a:off x="475488" y="2564892"/>
            <a:ext cx="394106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--from-literal=API_KEY=abc123 \</a:t>
            </a:r>
            <a:endParaRPr lang="en-US" sz="950" dirty="0"/>
          </a:p>
        </p:txBody>
      </p:sp>
      <p:sp>
        <p:nvSpPr>
          <p:cNvPr id="14" name="Text 12"/>
          <p:cNvSpPr/>
          <p:nvPr/>
        </p:nvSpPr>
        <p:spPr>
          <a:xfrm>
            <a:off x="475488" y="2761488"/>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-n production</a:t>
            </a:r>
            <a:endParaRPr lang="en-US" sz="950" dirty="0"/>
          </a:p>
        </p:txBody>
      </p:sp>
      <p:sp>
        <p:nvSpPr>
          <p:cNvPr id="15" name="Text 13"/>
          <p:cNvSpPr/>
          <p:nvPr/>
        </p:nvSpPr>
        <p:spPr>
          <a:xfrm>
            <a:off x="475488" y="3154680"/>
            <a:ext cx="394106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View (base64 encoded):</a:t>
            </a:r>
            <a:endParaRPr lang="en-US" sz="950" dirty="0"/>
          </a:p>
        </p:txBody>
      </p:sp>
      <p:sp>
        <p:nvSpPr>
          <p:cNvPr id="16" name="Text 14"/>
          <p:cNvSpPr/>
          <p:nvPr/>
        </p:nvSpPr>
        <p:spPr>
          <a:xfrm>
            <a:off x="475488" y="3351276"/>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kubectl get secret db-secret -o yaml</a:t>
            </a:r>
            <a:endParaRPr lang="en-US" sz="950" dirty="0"/>
          </a:p>
        </p:txBody>
      </p:sp>
      <p:sp>
        <p:nvSpPr>
          <p:cNvPr id="17" name="Text 15"/>
          <p:cNvSpPr/>
          <p:nvPr/>
        </p:nvSpPr>
        <p:spPr>
          <a:xfrm>
            <a:off x="475488" y="3744468"/>
            <a:ext cx="394106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Decode:</a:t>
            </a:r>
            <a:endParaRPr lang="en-US" sz="950" dirty="0"/>
          </a:p>
        </p:txBody>
      </p:sp>
      <p:sp>
        <p:nvSpPr>
          <p:cNvPr id="18" name="Text 16"/>
          <p:cNvSpPr/>
          <p:nvPr/>
        </p:nvSpPr>
        <p:spPr>
          <a:xfrm>
            <a:off x="475488" y="3941064"/>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kubectl get secret db-secret -o jsonpath=</a:t>
            </a:r>
            <a:endParaRPr lang="en-US" sz="950" dirty="0"/>
          </a:p>
        </p:txBody>
      </p:sp>
      <p:sp>
        <p:nvSpPr>
          <p:cNvPr id="19" name="Text 17"/>
          <p:cNvSpPr/>
          <p:nvPr/>
        </p:nvSpPr>
        <p:spPr>
          <a:xfrm>
            <a:off x="475488" y="4137660"/>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'{.data.DB_PASSWORD}' | base64 -d</a:t>
            </a:r>
            <a:endParaRPr lang="en-US" sz="950" dirty="0"/>
          </a:p>
        </p:txBody>
      </p:sp>
      <p:sp>
        <p:nvSpPr>
          <p:cNvPr id="20" name="Shape 18"/>
          <p:cNvSpPr/>
          <p:nvPr/>
        </p:nvSpPr>
        <p:spPr>
          <a:xfrm>
            <a:off x="4754880" y="1664208"/>
            <a:ext cx="4069080" cy="1572768"/>
          </a:xfrm>
          <a:prstGeom prst="roundRect">
            <a:avLst>
              <a:gd name="adj" fmla="val 581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1" name="Shape 19"/>
          <p:cNvSpPr/>
          <p:nvPr/>
        </p:nvSpPr>
        <p:spPr>
          <a:xfrm>
            <a:off x="4910328" y="1755648"/>
            <a:ext cx="3749040" cy="292608"/>
          </a:xfrm>
          <a:prstGeom prst="roundRect">
            <a:avLst>
              <a:gd name="adj" fmla="val 18750"/>
            </a:avLst>
          </a:prstGeom>
          <a:solidFill>
            <a:srgbClr val="326CE5"/>
          </a:solidFill>
          <a:ln w="12700">
            <a:solidFill>
              <a:srgbClr val="326CE5"/>
            </a:solidFill>
            <a:prstDash val="solid"/>
          </a:ln>
        </p:spPr>
      </p:sp>
      <p:sp>
        <p:nvSpPr>
          <p:cNvPr id="22" name="Text 20"/>
          <p:cNvSpPr/>
          <p:nvPr/>
        </p:nvSpPr>
        <p:spPr>
          <a:xfrm>
            <a:off x="4910328" y="1755648"/>
            <a:ext cx="37490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Use as Environment Variable</a:t>
            </a:r>
            <a:endParaRPr lang="en-US" sz="1000" dirty="0"/>
          </a:p>
        </p:txBody>
      </p:sp>
      <p:sp>
        <p:nvSpPr>
          <p:cNvPr id="23" name="Shape 21"/>
          <p:cNvSpPr/>
          <p:nvPr/>
        </p:nvSpPr>
        <p:spPr>
          <a:xfrm>
            <a:off x="4910328" y="2121408"/>
            <a:ext cx="3749040" cy="1024128"/>
          </a:xfrm>
          <a:prstGeom prst="roundRect">
            <a:avLst>
              <a:gd name="adj" fmla="val 8929"/>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4" name="Text 22"/>
          <p:cNvSpPr/>
          <p:nvPr/>
        </p:nvSpPr>
        <p:spPr>
          <a:xfrm>
            <a:off x="5001768" y="2194560"/>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env:</a:t>
            </a:r>
            <a:endParaRPr lang="en-US" sz="850" dirty="0"/>
          </a:p>
        </p:txBody>
      </p:sp>
      <p:sp>
        <p:nvSpPr>
          <p:cNvPr id="25" name="Text 23"/>
          <p:cNvSpPr/>
          <p:nvPr/>
        </p:nvSpPr>
        <p:spPr>
          <a:xfrm>
            <a:off x="5001768" y="2359152"/>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 name: DB_PASSWORD</a:t>
            </a:r>
            <a:endParaRPr lang="en-US" sz="850" dirty="0"/>
          </a:p>
        </p:txBody>
      </p:sp>
      <p:sp>
        <p:nvSpPr>
          <p:cNvPr id="26" name="Text 24"/>
          <p:cNvSpPr/>
          <p:nvPr/>
        </p:nvSpPr>
        <p:spPr>
          <a:xfrm>
            <a:off x="5001768" y="2523744"/>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valueFrom:</a:t>
            </a:r>
            <a:endParaRPr lang="en-US" sz="850" dirty="0"/>
          </a:p>
        </p:txBody>
      </p:sp>
      <p:sp>
        <p:nvSpPr>
          <p:cNvPr id="27" name="Text 25"/>
          <p:cNvSpPr/>
          <p:nvPr/>
        </p:nvSpPr>
        <p:spPr>
          <a:xfrm>
            <a:off x="5001768" y="2688336"/>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secretKeyRef:</a:t>
            </a:r>
            <a:endParaRPr lang="en-US" sz="850" dirty="0"/>
          </a:p>
        </p:txBody>
      </p:sp>
      <p:sp>
        <p:nvSpPr>
          <p:cNvPr id="28" name="Text 26"/>
          <p:cNvSpPr/>
          <p:nvPr/>
        </p:nvSpPr>
        <p:spPr>
          <a:xfrm>
            <a:off x="5001768" y="2852928"/>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name: db-secret</a:t>
            </a:r>
            <a:endParaRPr lang="en-US" sz="850" dirty="0"/>
          </a:p>
        </p:txBody>
      </p:sp>
      <p:sp>
        <p:nvSpPr>
          <p:cNvPr id="29" name="Text 27"/>
          <p:cNvSpPr/>
          <p:nvPr/>
        </p:nvSpPr>
        <p:spPr>
          <a:xfrm>
            <a:off x="5001768" y="3017520"/>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key: DB_PASSWORD</a:t>
            </a:r>
            <a:endParaRPr lang="en-US" sz="850" dirty="0"/>
          </a:p>
        </p:txBody>
      </p:sp>
      <p:sp>
        <p:nvSpPr>
          <p:cNvPr id="30" name="Shape 28"/>
          <p:cNvSpPr/>
          <p:nvPr/>
        </p:nvSpPr>
        <p:spPr>
          <a:xfrm>
            <a:off x="4754880" y="3383280"/>
            <a:ext cx="4069080" cy="1572768"/>
          </a:xfrm>
          <a:prstGeom prst="roundRect">
            <a:avLst>
              <a:gd name="adj" fmla="val 581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1" name="Shape 29"/>
          <p:cNvSpPr/>
          <p:nvPr/>
        </p:nvSpPr>
        <p:spPr>
          <a:xfrm>
            <a:off x="4910328" y="3474720"/>
            <a:ext cx="3749040" cy="292608"/>
          </a:xfrm>
          <a:prstGeom prst="roundRect">
            <a:avLst>
              <a:gd name="adj" fmla="val 18750"/>
            </a:avLst>
          </a:prstGeom>
          <a:solidFill>
            <a:srgbClr val="059669"/>
          </a:solidFill>
          <a:ln w="12700">
            <a:solidFill>
              <a:srgbClr val="059669"/>
            </a:solidFill>
            <a:prstDash val="solid"/>
          </a:ln>
        </p:spPr>
      </p:sp>
      <p:sp>
        <p:nvSpPr>
          <p:cNvPr id="32" name="Text 30"/>
          <p:cNvSpPr/>
          <p:nvPr/>
        </p:nvSpPr>
        <p:spPr>
          <a:xfrm>
            <a:off x="4910328" y="3474720"/>
            <a:ext cx="37490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Mount as Volume (file)</a:t>
            </a:r>
            <a:endParaRPr lang="en-US" sz="1000" dirty="0"/>
          </a:p>
        </p:txBody>
      </p:sp>
      <p:sp>
        <p:nvSpPr>
          <p:cNvPr id="33" name="Shape 31"/>
          <p:cNvSpPr/>
          <p:nvPr/>
        </p:nvSpPr>
        <p:spPr>
          <a:xfrm>
            <a:off x="4910328" y="3840480"/>
            <a:ext cx="3749040" cy="1024128"/>
          </a:xfrm>
          <a:prstGeom prst="roundRect">
            <a:avLst>
              <a:gd name="adj" fmla="val 8929"/>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34" name="Text 32"/>
          <p:cNvSpPr/>
          <p:nvPr/>
        </p:nvSpPr>
        <p:spPr>
          <a:xfrm>
            <a:off x="5001768" y="3913632"/>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volumes:</a:t>
            </a:r>
            <a:endParaRPr lang="en-US" sz="850" dirty="0"/>
          </a:p>
        </p:txBody>
      </p:sp>
      <p:sp>
        <p:nvSpPr>
          <p:cNvPr id="35" name="Text 33"/>
          <p:cNvSpPr/>
          <p:nvPr/>
        </p:nvSpPr>
        <p:spPr>
          <a:xfrm>
            <a:off x="5001768" y="4078224"/>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 name: secret-vol</a:t>
            </a:r>
            <a:endParaRPr lang="en-US" sz="850" dirty="0"/>
          </a:p>
        </p:txBody>
      </p:sp>
      <p:sp>
        <p:nvSpPr>
          <p:cNvPr id="36" name="Text 34"/>
          <p:cNvSpPr/>
          <p:nvPr/>
        </p:nvSpPr>
        <p:spPr>
          <a:xfrm>
            <a:off x="5001768" y="4242816"/>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secret:</a:t>
            </a:r>
            <a:endParaRPr lang="en-US" sz="850" dirty="0"/>
          </a:p>
        </p:txBody>
      </p:sp>
      <p:sp>
        <p:nvSpPr>
          <p:cNvPr id="37" name="Text 35"/>
          <p:cNvSpPr/>
          <p:nvPr/>
        </p:nvSpPr>
        <p:spPr>
          <a:xfrm>
            <a:off x="5001768" y="4407408"/>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secretName: db-secret</a:t>
            </a:r>
            <a:endParaRPr lang="en-US" sz="850" dirty="0"/>
          </a:p>
        </p:txBody>
      </p:sp>
      <p:sp>
        <p:nvSpPr>
          <p:cNvPr id="38" name="Text 36"/>
          <p:cNvSpPr/>
          <p:nvPr/>
        </p:nvSpPr>
        <p:spPr>
          <a:xfrm>
            <a:off x="5001768" y="4572000"/>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volumeMounts:</a:t>
            </a:r>
            <a:endParaRPr lang="en-US" sz="850" dirty="0"/>
          </a:p>
        </p:txBody>
      </p:sp>
      <p:sp>
        <p:nvSpPr>
          <p:cNvPr id="39" name="Text 37"/>
          <p:cNvSpPr/>
          <p:nvPr/>
        </p:nvSpPr>
        <p:spPr>
          <a:xfrm>
            <a:off x="5001768" y="4736592"/>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 mountPath: /etc/secrets</a:t>
            </a:r>
            <a:endParaRPr lang="en-US" sz="850" dirty="0"/>
          </a:p>
        </p:txBody>
      </p:sp>
      <p:sp>
        <p:nvSpPr>
          <p:cNvPr id="40" name="Text 38"/>
          <p:cNvSpPr/>
          <p:nvPr/>
        </p:nvSpPr>
        <p:spPr>
          <a:xfrm>
            <a:off x="5001768" y="4901184"/>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name: secret-vol</a:t>
            </a:r>
            <a:endParaRPr lang="en-US" sz="850" dirty="0"/>
          </a:p>
        </p:txBody>
      </p:sp>
      <p:sp>
        <p:nvSpPr>
          <p:cNvPr id="41" name="Shape 39"/>
          <p:cNvSpPr/>
          <p:nvPr/>
        </p:nvSpPr>
        <p:spPr>
          <a:xfrm>
            <a:off x="320040" y="4224528"/>
            <a:ext cx="8503920" cy="566928"/>
          </a:xfrm>
          <a:prstGeom prst="roundRect">
            <a:avLst>
              <a:gd name="adj" fmla="val 16129"/>
            </a:avLst>
          </a:prstGeom>
          <a:solidFill>
            <a:srgbClr val="FEF2F2"/>
          </a:solidFill>
          <a:ln w="12700">
            <a:solidFill>
              <a:srgbClr val="FECACA"/>
            </a:solidFill>
            <a:prstDash val="solid"/>
          </a:ln>
          <a:effectLst>
            <a:outerShdw sx="100000" sy="100000" kx="0" ky="0" algn="bl" rotWithShape="0" blurRad="76200" dist="38100" dir="2700000">
              <a:srgbClr val="000000">
                <a:alpha val="10000"/>
              </a:srgbClr>
            </a:outerShdw>
          </a:effectLst>
        </p:spPr>
      </p:sp>
      <p:sp>
        <p:nvSpPr>
          <p:cNvPr id="42" name="Text 40"/>
          <p:cNvSpPr/>
          <p:nvPr/>
        </p:nvSpPr>
        <p:spPr>
          <a:xfrm>
            <a:off x="475488" y="4261104"/>
            <a:ext cx="8229600" cy="475488"/>
          </a:xfrm>
          <a:prstGeom prst="rect">
            <a:avLst/>
          </a:prstGeom>
          <a:noFill/>
          <a:ln/>
        </p:spPr>
        <p:txBody>
          <a:bodyPr wrap="square" lIns="0" tIns="0" rIns="0" bIns="0" rtlCol="0" anchor="ctr"/>
          <a:lstStyle/>
          <a:p>
            <a:pPr indent="0" marL="0">
              <a:buNone/>
            </a:pPr>
            <a:r>
              <a:rPr lang="en-US" sz="1000" dirty="0">
                <a:solidFill>
                  <a:srgbClr val="DC2626"/>
                </a:solidFill>
                <a:latin typeface="Arial" pitchFamily="34" charset="0"/>
                <a:ea typeface="Arial" pitchFamily="34" charset="-122"/>
                <a:cs typeface="Arial" pitchFamily="34" charset="-120"/>
              </a:rPr>
              <a:t>⚠️  Base64 is NOT encryption. kubectl get secret shows the value. For real security: enable Encryption at Rest or use an external vault (HashiCorp Vault, AWS Secrets Manager, Azure Key Vault).</a:t>
            </a:r>
            <a:endParaRPr lang="en-US" sz="1000" dirty="0"/>
          </a:p>
        </p:txBody>
      </p:sp>
      <p:sp>
        <p:nvSpPr>
          <p:cNvPr id="43" name="Shape 41"/>
          <p:cNvSpPr/>
          <p:nvPr/>
        </p:nvSpPr>
        <p:spPr>
          <a:xfrm>
            <a:off x="0" y="4846320"/>
            <a:ext cx="9144000" cy="297180"/>
          </a:xfrm>
          <a:prstGeom prst="rect">
            <a:avLst/>
          </a:prstGeom>
          <a:solidFill>
            <a:srgbClr val="0F172A"/>
          </a:solidFill>
          <a:ln w="12700">
            <a:solidFill>
              <a:srgbClr val="0F172A"/>
            </a:solidFill>
            <a:prstDash val="solid"/>
          </a:ln>
        </p:spPr>
      </p:sp>
      <p:sp>
        <p:nvSpPr>
          <p:cNvPr id="44" name="Text 4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05: Secrets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326CE5"/>
                </a:solidFill>
                <a:latin typeface="Arial" pitchFamily="34" charset="0"/>
                <a:ea typeface="Arial" pitchFamily="34" charset="-122"/>
                <a:cs typeface="Arial" pitchFamily="34" charset="-120"/>
              </a:rPr>
              <a:t>SECTION 06</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RBAC</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Role-Based Access Control — who can do what in your cluster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RBAC — ROLES, ROLEBINDINGS &amp; SERVICE ACCOUNTS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06  •  RBAC</a:t>
            </a:r>
            <a:endParaRPr lang="en-US" sz="950" dirty="0"/>
          </a:p>
        </p:txBody>
      </p:sp>
      <p:sp>
        <p:nvSpPr>
          <p:cNvPr id="6" name="Shape 4"/>
          <p:cNvSpPr/>
          <p:nvPr/>
        </p:nvSpPr>
        <p:spPr>
          <a:xfrm>
            <a:off x="320040" y="868680"/>
            <a:ext cx="8503920" cy="658368"/>
          </a:xfrm>
          <a:prstGeom prst="roundRect">
            <a:avLst>
              <a:gd name="adj" fmla="val 13889"/>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6692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RBAC controls what actions (verbs) subjects (users/serviceaccounts) can perform on resources (pods, secrets, deployments) in which scope (namespace or cluster-wide).</a:t>
            </a:r>
            <a:endParaRPr lang="en-US" sz="1250" dirty="0"/>
          </a:p>
        </p:txBody>
      </p:sp>
      <p:sp>
        <p:nvSpPr>
          <p:cNvPr id="8" name="Shape 6"/>
          <p:cNvSpPr/>
          <p:nvPr/>
        </p:nvSpPr>
        <p:spPr>
          <a:xfrm>
            <a:off x="320040" y="1664208"/>
            <a:ext cx="8503920" cy="329184"/>
          </a:xfrm>
          <a:prstGeom prst="rect">
            <a:avLst/>
          </a:prstGeom>
          <a:solidFill>
            <a:srgbClr val="0F172A"/>
          </a:solidFill>
          <a:ln w="12700">
            <a:solidFill>
              <a:srgbClr val="0F172A"/>
            </a:solidFill>
            <a:prstDash val="solid"/>
          </a:ln>
        </p:spPr>
      </p:sp>
      <p:sp>
        <p:nvSpPr>
          <p:cNvPr id="9" name="Text 7"/>
          <p:cNvSpPr/>
          <p:nvPr/>
        </p:nvSpPr>
        <p:spPr>
          <a:xfrm>
            <a:off x="411480" y="1691640"/>
            <a:ext cx="1755648"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Object</a:t>
            </a:r>
            <a:endParaRPr lang="en-US" sz="1050" dirty="0"/>
          </a:p>
        </p:txBody>
      </p:sp>
      <p:sp>
        <p:nvSpPr>
          <p:cNvPr id="10" name="Text 8"/>
          <p:cNvSpPr/>
          <p:nvPr/>
        </p:nvSpPr>
        <p:spPr>
          <a:xfrm>
            <a:off x="2240280" y="1691640"/>
            <a:ext cx="1847088"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Scope</a:t>
            </a:r>
            <a:endParaRPr lang="en-US" sz="1050" dirty="0"/>
          </a:p>
        </p:txBody>
      </p:sp>
      <p:sp>
        <p:nvSpPr>
          <p:cNvPr id="11" name="Text 9"/>
          <p:cNvSpPr/>
          <p:nvPr/>
        </p:nvSpPr>
        <p:spPr>
          <a:xfrm>
            <a:off x="4160520" y="1691640"/>
            <a:ext cx="4617720"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What it Does</a:t>
            </a:r>
            <a:endParaRPr lang="en-US" sz="1050" dirty="0"/>
          </a:p>
        </p:txBody>
      </p:sp>
      <p:sp>
        <p:nvSpPr>
          <p:cNvPr id="12" name="Shape 10"/>
          <p:cNvSpPr/>
          <p:nvPr/>
        </p:nvSpPr>
        <p:spPr>
          <a:xfrm>
            <a:off x="320040" y="2029968"/>
            <a:ext cx="8503920" cy="438912"/>
          </a:xfrm>
          <a:prstGeom prst="rect">
            <a:avLst/>
          </a:prstGeom>
          <a:solidFill>
            <a:srgbClr val="FFFFFF"/>
          </a:solidFill>
          <a:ln w="12700">
            <a:solidFill>
              <a:srgbClr val="E2E8F0"/>
            </a:solidFill>
            <a:prstDash val="solid"/>
          </a:ln>
        </p:spPr>
      </p:sp>
      <p:sp>
        <p:nvSpPr>
          <p:cNvPr id="13" name="Text 11"/>
          <p:cNvSpPr/>
          <p:nvPr/>
        </p:nvSpPr>
        <p:spPr>
          <a:xfrm>
            <a:off x="411480" y="2084832"/>
            <a:ext cx="1755648" cy="310896"/>
          </a:xfrm>
          <a:prstGeom prst="rect">
            <a:avLst/>
          </a:prstGeom>
          <a:noFill/>
          <a:ln/>
        </p:spPr>
        <p:txBody>
          <a:bodyPr wrap="square" lIns="0" tIns="0" rIns="0" bIns="0" rtlCol="0" anchor="ctr"/>
          <a:lstStyle/>
          <a:p>
            <a:pPr indent="0" marL="0">
              <a:buNone/>
            </a:pPr>
            <a:r>
              <a:rPr lang="en-US" sz="1050" b="1" dirty="0">
                <a:solidFill>
                  <a:srgbClr val="326CE5"/>
                </a:solidFill>
                <a:latin typeface="Arial" pitchFamily="34" charset="0"/>
                <a:ea typeface="Arial" pitchFamily="34" charset="-122"/>
                <a:cs typeface="Arial" pitchFamily="34" charset="-120"/>
              </a:rPr>
              <a:t>Role</a:t>
            </a:r>
            <a:endParaRPr lang="en-US" sz="1050" dirty="0"/>
          </a:p>
        </p:txBody>
      </p:sp>
      <p:sp>
        <p:nvSpPr>
          <p:cNvPr id="14" name="Text 12"/>
          <p:cNvSpPr/>
          <p:nvPr/>
        </p:nvSpPr>
        <p:spPr>
          <a:xfrm>
            <a:off x="2240280" y="2084832"/>
            <a:ext cx="1847088" cy="310896"/>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Namespace</a:t>
            </a:r>
            <a:endParaRPr lang="en-US" sz="1000" dirty="0"/>
          </a:p>
        </p:txBody>
      </p:sp>
      <p:sp>
        <p:nvSpPr>
          <p:cNvPr id="15" name="Text 13"/>
          <p:cNvSpPr/>
          <p:nvPr/>
        </p:nvSpPr>
        <p:spPr>
          <a:xfrm>
            <a:off x="4160520" y="2084832"/>
            <a:ext cx="4617720" cy="310896"/>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Defines allowed actions on resources within one namespace</a:t>
            </a:r>
            <a:endParaRPr lang="en-US" sz="1000" dirty="0"/>
          </a:p>
        </p:txBody>
      </p:sp>
      <p:sp>
        <p:nvSpPr>
          <p:cNvPr id="16" name="Shape 14"/>
          <p:cNvSpPr/>
          <p:nvPr/>
        </p:nvSpPr>
        <p:spPr>
          <a:xfrm>
            <a:off x="320040" y="2505456"/>
            <a:ext cx="8503920" cy="438912"/>
          </a:xfrm>
          <a:prstGeom prst="rect">
            <a:avLst/>
          </a:prstGeom>
          <a:solidFill>
            <a:srgbClr val="F1F5F9"/>
          </a:solidFill>
          <a:ln w="12700">
            <a:solidFill>
              <a:srgbClr val="E2E8F0"/>
            </a:solidFill>
            <a:prstDash val="solid"/>
          </a:ln>
        </p:spPr>
      </p:sp>
      <p:sp>
        <p:nvSpPr>
          <p:cNvPr id="17" name="Text 15"/>
          <p:cNvSpPr/>
          <p:nvPr/>
        </p:nvSpPr>
        <p:spPr>
          <a:xfrm>
            <a:off x="411480" y="2560320"/>
            <a:ext cx="1755648" cy="310896"/>
          </a:xfrm>
          <a:prstGeom prst="rect">
            <a:avLst/>
          </a:prstGeom>
          <a:noFill/>
          <a:ln/>
        </p:spPr>
        <p:txBody>
          <a:bodyPr wrap="square" lIns="0" tIns="0" rIns="0" bIns="0" rtlCol="0" anchor="ctr"/>
          <a:lstStyle/>
          <a:p>
            <a:pPr indent="0" marL="0">
              <a:buNone/>
            </a:pPr>
            <a:r>
              <a:rPr lang="en-US" sz="1050" b="1" dirty="0">
                <a:solidFill>
                  <a:srgbClr val="2563EB"/>
                </a:solidFill>
                <a:latin typeface="Arial" pitchFamily="34" charset="0"/>
                <a:ea typeface="Arial" pitchFamily="34" charset="-122"/>
                <a:cs typeface="Arial" pitchFamily="34" charset="-120"/>
              </a:rPr>
              <a:t>ClusterRole</a:t>
            </a:r>
            <a:endParaRPr lang="en-US" sz="1050" dirty="0"/>
          </a:p>
        </p:txBody>
      </p:sp>
      <p:sp>
        <p:nvSpPr>
          <p:cNvPr id="18" name="Text 16"/>
          <p:cNvSpPr/>
          <p:nvPr/>
        </p:nvSpPr>
        <p:spPr>
          <a:xfrm>
            <a:off x="2240280" y="2560320"/>
            <a:ext cx="1847088" cy="310896"/>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Cluster-wide</a:t>
            </a:r>
            <a:endParaRPr lang="en-US" sz="1000" dirty="0"/>
          </a:p>
        </p:txBody>
      </p:sp>
      <p:sp>
        <p:nvSpPr>
          <p:cNvPr id="19" name="Text 17"/>
          <p:cNvSpPr/>
          <p:nvPr/>
        </p:nvSpPr>
        <p:spPr>
          <a:xfrm>
            <a:off x="4160520" y="2560320"/>
            <a:ext cx="4617720" cy="310896"/>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Same as Role but applies across all namespaces</a:t>
            </a:r>
            <a:endParaRPr lang="en-US" sz="1000" dirty="0"/>
          </a:p>
        </p:txBody>
      </p:sp>
      <p:sp>
        <p:nvSpPr>
          <p:cNvPr id="20" name="Shape 18"/>
          <p:cNvSpPr/>
          <p:nvPr/>
        </p:nvSpPr>
        <p:spPr>
          <a:xfrm>
            <a:off x="320040" y="2980944"/>
            <a:ext cx="8503920" cy="438912"/>
          </a:xfrm>
          <a:prstGeom prst="rect">
            <a:avLst/>
          </a:prstGeom>
          <a:solidFill>
            <a:srgbClr val="FFFFFF"/>
          </a:solidFill>
          <a:ln w="12700">
            <a:solidFill>
              <a:srgbClr val="E2E8F0"/>
            </a:solidFill>
            <a:prstDash val="solid"/>
          </a:ln>
        </p:spPr>
      </p:sp>
      <p:sp>
        <p:nvSpPr>
          <p:cNvPr id="21" name="Text 19"/>
          <p:cNvSpPr/>
          <p:nvPr/>
        </p:nvSpPr>
        <p:spPr>
          <a:xfrm>
            <a:off x="411480" y="3035808"/>
            <a:ext cx="1755648" cy="310896"/>
          </a:xfrm>
          <a:prstGeom prst="rect">
            <a:avLst/>
          </a:prstGeom>
          <a:noFill/>
          <a:ln/>
        </p:spPr>
        <p:txBody>
          <a:bodyPr wrap="square" lIns="0" tIns="0" rIns="0" bIns="0" rtlCol="0" anchor="ctr"/>
          <a:lstStyle/>
          <a:p>
            <a:pPr indent="0" marL="0">
              <a:buNone/>
            </a:pPr>
            <a:r>
              <a:rPr lang="en-US" sz="1050" b="1" dirty="0">
                <a:solidFill>
                  <a:srgbClr val="059669"/>
                </a:solidFill>
                <a:latin typeface="Arial" pitchFamily="34" charset="0"/>
                <a:ea typeface="Arial" pitchFamily="34" charset="-122"/>
                <a:cs typeface="Arial" pitchFamily="34" charset="-120"/>
              </a:rPr>
              <a:t>RoleBinding</a:t>
            </a:r>
            <a:endParaRPr lang="en-US" sz="1050" dirty="0"/>
          </a:p>
        </p:txBody>
      </p:sp>
      <p:sp>
        <p:nvSpPr>
          <p:cNvPr id="22" name="Text 20"/>
          <p:cNvSpPr/>
          <p:nvPr/>
        </p:nvSpPr>
        <p:spPr>
          <a:xfrm>
            <a:off x="2240280" y="3035808"/>
            <a:ext cx="1847088" cy="310896"/>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Namespace</a:t>
            </a:r>
            <a:endParaRPr lang="en-US" sz="1000" dirty="0"/>
          </a:p>
        </p:txBody>
      </p:sp>
      <p:sp>
        <p:nvSpPr>
          <p:cNvPr id="23" name="Text 21"/>
          <p:cNvSpPr/>
          <p:nvPr/>
        </p:nvSpPr>
        <p:spPr>
          <a:xfrm>
            <a:off x="4160520" y="3035808"/>
            <a:ext cx="4617720" cy="310896"/>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Binds a Role to a user or ServiceAccount within a namespace</a:t>
            </a:r>
            <a:endParaRPr lang="en-US" sz="1000" dirty="0"/>
          </a:p>
        </p:txBody>
      </p:sp>
      <p:sp>
        <p:nvSpPr>
          <p:cNvPr id="24" name="Shape 22"/>
          <p:cNvSpPr/>
          <p:nvPr/>
        </p:nvSpPr>
        <p:spPr>
          <a:xfrm>
            <a:off x="320040" y="3456432"/>
            <a:ext cx="8503920" cy="438912"/>
          </a:xfrm>
          <a:prstGeom prst="rect">
            <a:avLst/>
          </a:prstGeom>
          <a:solidFill>
            <a:srgbClr val="F1F5F9"/>
          </a:solidFill>
          <a:ln w="12700">
            <a:solidFill>
              <a:srgbClr val="E2E8F0"/>
            </a:solidFill>
            <a:prstDash val="solid"/>
          </a:ln>
        </p:spPr>
      </p:sp>
      <p:sp>
        <p:nvSpPr>
          <p:cNvPr id="25" name="Text 23"/>
          <p:cNvSpPr/>
          <p:nvPr/>
        </p:nvSpPr>
        <p:spPr>
          <a:xfrm>
            <a:off x="411480" y="3511296"/>
            <a:ext cx="1755648" cy="310896"/>
          </a:xfrm>
          <a:prstGeom prst="rect">
            <a:avLst/>
          </a:prstGeom>
          <a:noFill/>
          <a:ln/>
        </p:spPr>
        <p:txBody>
          <a:bodyPr wrap="square" lIns="0" tIns="0" rIns="0" bIns="0" rtlCol="0" anchor="ctr"/>
          <a:lstStyle/>
          <a:p>
            <a:pPr indent="0" marL="0">
              <a:buNone/>
            </a:pPr>
            <a:r>
              <a:rPr lang="en-US" sz="1050" b="1" dirty="0">
                <a:solidFill>
                  <a:srgbClr val="7C3AED"/>
                </a:solidFill>
                <a:latin typeface="Arial" pitchFamily="34" charset="0"/>
                <a:ea typeface="Arial" pitchFamily="34" charset="-122"/>
                <a:cs typeface="Arial" pitchFamily="34" charset="-120"/>
              </a:rPr>
              <a:t>ClusterRoleBinding</a:t>
            </a:r>
            <a:endParaRPr lang="en-US" sz="1050" dirty="0"/>
          </a:p>
        </p:txBody>
      </p:sp>
      <p:sp>
        <p:nvSpPr>
          <p:cNvPr id="26" name="Text 24"/>
          <p:cNvSpPr/>
          <p:nvPr/>
        </p:nvSpPr>
        <p:spPr>
          <a:xfrm>
            <a:off x="2240280" y="3511296"/>
            <a:ext cx="1847088" cy="310896"/>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Cluster-wide</a:t>
            </a:r>
            <a:endParaRPr lang="en-US" sz="1000" dirty="0"/>
          </a:p>
        </p:txBody>
      </p:sp>
      <p:sp>
        <p:nvSpPr>
          <p:cNvPr id="27" name="Text 25"/>
          <p:cNvSpPr/>
          <p:nvPr/>
        </p:nvSpPr>
        <p:spPr>
          <a:xfrm>
            <a:off x="4160520" y="3511296"/>
            <a:ext cx="4617720" cy="310896"/>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Binds a ClusterRole to a user cluster-wide</a:t>
            </a:r>
            <a:endParaRPr lang="en-US" sz="1000" dirty="0"/>
          </a:p>
        </p:txBody>
      </p:sp>
      <p:sp>
        <p:nvSpPr>
          <p:cNvPr id="28" name="Shape 26"/>
          <p:cNvSpPr/>
          <p:nvPr/>
        </p:nvSpPr>
        <p:spPr>
          <a:xfrm>
            <a:off x="320040" y="3931920"/>
            <a:ext cx="8503920" cy="438912"/>
          </a:xfrm>
          <a:prstGeom prst="rect">
            <a:avLst/>
          </a:prstGeom>
          <a:solidFill>
            <a:srgbClr val="FFFFFF"/>
          </a:solidFill>
          <a:ln w="12700">
            <a:solidFill>
              <a:srgbClr val="E2E8F0"/>
            </a:solidFill>
            <a:prstDash val="solid"/>
          </a:ln>
        </p:spPr>
      </p:sp>
      <p:sp>
        <p:nvSpPr>
          <p:cNvPr id="29" name="Text 27"/>
          <p:cNvSpPr/>
          <p:nvPr/>
        </p:nvSpPr>
        <p:spPr>
          <a:xfrm>
            <a:off x="411480" y="3986784"/>
            <a:ext cx="1755648" cy="310896"/>
          </a:xfrm>
          <a:prstGeom prst="rect">
            <a:avLst/>
          </a:prstGeom>
          <a:noFill/>
          <a:ln/>
        </p:spPr>
        <p:txBody>
          <a:bodyPr wrap="square" lIns="0" tIns="0" rIns="0" bIns="0" rtlCol="0" anchor="ctr"/>
          <a:lstStyle/>
          <a:p>
            <a:pPr indent="0" marL="0">
              <a:buNone/>
            </a:pPr>
            <a:r>
              <a:rPr lang="en-US" sz="1050" b="1" dirty="0">
                <a:solidFill>
                  <a:srgbClr val="D97706"/>
                </a:solidFill>
                <a:latin typeface="Arial" pitchFamily="34" charset="0"/>
                <a:ea typeface="Arial" pitchFamily="34" charset="-122"/>
                <a:cs typeface="Arial" pitchFamily="34" charset="-120"/>
              </a:rPr>
              <a:t>ServiceAccount</a:t>
            </a:r>
            <a:endParaRPr lang="en-US" sz="1050" dirty="0"/>
          </a:p>
        </p:txBody>
      </p:sp>
      <p:sp>
        <p:nvSpPr>
          <p:cNvPr id="30" name="Text 28"/>
          <p:cNvSpPr/>
          <p:nvPr/>
        </p:nvSpPr>
        <p:spPr>
          <a:xfrm>
            <a:off x="2240280" y="3986784"/>
            <a:ext cx="1847088" cy="310896"/>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Namespace</a:t>
            </a:r>
            <a:endParaRPr lang="en-US" sz="1000" dirty="0"/>
          </a:p>
        </p:txBody>
      </p:sp>
      <p:sp>
        <p:nvSpPr>
          <p:cNvPr id="31" name="Text 29"/>
          <p:cNvSpPr/>
          <p:nvPr/>
        </p:nvSpPr>
        <p:spPr>
          <a:xfrm>
            <a:off x="4160520" y="3986784"/>
            <a:ext cx="4617720" cy="310896"/>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An identity for Pods (not humans) — used for pod-to-API communication</a:t>
            </a:r>
            <a:endParaRPr lang="en-US" sz="1000" dirty="0"/>
          </a:p>
        </p:txBody>
      </p:sp>
      <p:sp>
        <p:nvSpPr>
          <p:cNvPr id="32" name="Shape 30"/>
          <p:cNvSpPr/>
          <p:nvPr/>
        </p:nvSpPr>
        <p:spPr>
          <a:xfrm>
            <a:off x="320040" y="4498848"/>
            <a:ext cx="8503920" cy="1207008"/>
          </a:xfrm>
          <a:prstGeom prst="roundRect">
            <a:avLst>
              <a:gd name="adj" fmla="val 7576"/>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33" name="Text 31"/>
          <p:cNvSpPr/>
          <p:nvPr/>
        </p:nvSpPr>
        <p:spPr>
          <a:xfrm>
            <a:off x="475488" y="4572000"/>
            <a:ext cx="8193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Role + RoleBinding example</a:t>
            </a:r>
            <a:endParaRPr lang="en-US" sz="900" dirty="0"/>
          </a:p>
        </p:txBody>
      </p:sp>
      <p:sp>
        <p:nvSpPr>
          <p:cNvPr id="34" name="Text 32"/>
          <p:cNvSpPr/>
          <p:nvPr/>
        </p:nvSpPr>
        <p:spPr>
          <a:xfrm>
            <a:off x="475488" y="4809744"/>
            <a:ext cx="819302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Role: can get/list pods in dev namespace</a:t>
            </a:r>
            <a:endParaRPr lang="en-US" sz="950" dirty="0"/>
          </a:p>
        </p:txBody>
      </p:sp>
      <p:sp>
        <p:nvSpPr>
          <p:cNvPr id="35" name="Text 33"/>
          <p:cNvSpPr/>
          <p:nvPr/>
        </p:nvSpPr>
        <p:spPr>
          <a:xfrm>
            <a:off x="475488" y="5006340"/>
            <a:ext cx="8193024" cy="201168"/>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kind: Role   apiVersion: rbac.authorization.k8s.io/v1</a:t>
            </a:r>
            <a:endParaRPr lang="en-US" sz="950" dirty="0"/>
          </a:p>
        </p:txBody>
      </p:sp>
      <p:sp>
        <p:nvSpPr>
          <p:cNvPr id="36" name="Text 34"/>
          <p:cNvSpPr/>
          <p:nvPr/>
        </p:nvSpPr>
        <p:spPr>
          <a:xfrm>
            <a:off x="475488" y="5202936"/>
            <a:ext cx="8193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metadata: { name: pod-reader, namespace: dev }</a:t>
            </a:r>
            <a:endParaRPr lang="en-US" sz="950" dirty="0"/>
          </a:p>
        </p:txBody>
      </p:sp>
      <p:sp>
        <p:nvSpPr>
          <p:cNvPr id="37" name="Text 35"/>
          <p:cNvSpPr/>
          <p:nvPr/>
        </p:nvSpPr>
        <p:spPr>
          <a:xfrm>
            <a:off x="475488" y="5399532"/>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rules: [{ apiGroups: [''], resources: ['pods'], verbs: ['get','list','watch'] }]</a:t>
            </a:r>
            <a:endParaRPr lang="en-US" sz="950" dirty="0"/>
          </a:p>
        </p:txBody>
      </p:sp>
      <p:sp>
        <p:nvSpPr>
          <p:cNvPr id="38" name="Shape 36"/>
          <p:cNvSpPr/>
          <p:nvPr/>
        </p:nvSpPr>
        <p:spPr>
          <a:xfrm>
            <a:off x="0" y="4846320"/>
            <a:ext cx="9144000" cy="297180"/>
          </a:xfrm>
          <a:prstGeom prst="rect">
            <a:avLst/>
          </a:prstGeom>
          <a:solidFill>
            <a:srgbClr val="0F172A"/>
          </a:solidFill>
          <a:ln w="12700">
            <a:solidFill>
              <a:srgbClr val="0F172A"/>
            </a:solidFill>
            <a:prstDash val="solid"/>
          </a:ln>
        </p:spPr>
      </p:sp>
      <p:sp>
        <p:nvSpPr>
          <p:cNvPr id="39" name="Text 37"/>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06: RBAC</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RBAC BEST PRACTICES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06  •  RBAC</a:t>
            </a:r>
            <a:endParaRPr lang="en-US" sz="950" dirty="0"/>
          </a:p>
        </p:txBody>
      </p:sp>
      <p:sp>
        <p:nvSpPr>
          <p:cNvPr id="6" name="Shape 4"/>
          <p:cNvSpPr/>
          <p:nvPr/>
        </p:nvSpPr>
        <p:spPr>
          <a:xfrm>
            <a:off x="320040" y="8961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475488" y="1060704"/>
            <a:ext cx="475488" cy="868680"/>
          </a:xfrm>
          <a:prstGeom prst="roundRect">
            <a:avLst>
              <a:gd name="adj" fmla="val 13462"/>
            </a:avLst>
          </a:prstGeom>
          <a:solidFill>
            <a:srgbClr val="326CE5"/>
          </a:solidFill>
          <a:ln w="12700">
            <a:solidFill>
              <a:srgbClr val="326CE5"/>
            </a:solidFill>
            <a:prstDash val="solid"/>
          </a:ln>
        </p:spPr>
      </p:sp>
      <p:sp>
        <p:nvSpPr>
          <p:cNvPr id="8" name="Text 6"/>
          <p:cNvSpPr/>
          <p:nvPr/>
        </p:nvSpPr>
        <p:spPr>
          <a:xfrm>
            <a:off x="475488" y="10607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9" name="Text 7"/>
          <p:cNvSpPr/>
          <p:nvPr/>
        </p:nvSpPr>
        <p:spPr>
          <a:xfrm>
            <a:off x="1097280" y="1005840"/>
            <a:ext cx="7406640" cy="384048"/>
          </a:xfrm>
          <a:prstGeom prst="rect">
            <a:avLst/>
          </a:prstGeom>
          <a:noFill/>
          <a:ln/>
        </p:spPr>
        <p:txBody>
          <a:bodyPr wrap="square" lIns="0" tIns="0" rIns="0" bIns="0" rtlCol="0" anchor="ctr"/>
          <a:lstStyle/>
          <a:p>
            <a:pPr indent="0" marL="0">
              <a:buNone/>
            </a:pPr>
            <a:r>
              <a:rPr lang="en-US" sz="1300" b="1" dirty="0">
                <a:solidFill>
                  <a:srgbClr val="326CE5"/>
                </a:solidFill>
                <a:latin typeface="Arial" pitchFamily="34" charset="0"/>
                <a:ea typeface="Arial" pitchFamily="34" charset="-122"/>
                <a:cs typeface="Arial" pitchFamily="34" charset="-120"/>
              </a:rPr>
              <a:t>💡  Principle of Least Privilege</a:t>
            </a:r>
            <a:endParaRPr lang="en-US" sz="1300" dirty="0"/>
          </a:p>
        </p:txBody>
      </p:sp>
      <p:sp>
        <p:nvSpPr>
          <p:cNvPr id="10" name="Text 8"/>
          <p:cNvSpPr/>
          <p:nvPr/>
        </p:nvSpPr>
        <p:spPr>
          <a:xfrm>
            <a:off x="1097280" y="14081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Grant only the minimum permissions needed. A developer deploying to dev should not have delete rights on production. Start with no permissions and add only what is needed.</a:t>
            </a:r>
            <a:endParaRPr lang="en-US" sz="1100" dirty="0"/>
          </a:p>
        </p:txBody>
      </p:sp>
      <p:sp>
        <p:nvSpPr>
          <p:cNvPr id="11" name="Shape 9"/>
          <p:cNvSpPr/>
          <p:nvPr/>
        </p:nvSpPr>
        <p:spPr>
          <a:xfrm>
            <a:off x="320040" y="22677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2" name="Shape 10"/>
          <p:cNvSpPr/>
          <p:nvPr/>
        </p:nvSpPr>
        <p:spPr>
          <a:xfrm>
            <a:off x="475488" y="2432304"/>
            <a:ext cx="475488" cy="868680"/>
          </a:xfrm>
          <a:prstGeom prst="roundRect">
            <a:avLst>
              <a:gd name="adj" fmla="val 13462"/>
            </a:avLst>
          </a:prstGeom>
          <a:solidFill>
            <a:srgbClr val="7C3AED"/>
          </a:solidFill>
          <a:ln w="12700">
            <a:solidFill>
              <a:srgbClr val="7C3AED"/>
            </a:solidFill>
            <a:prstDash val="solid"/>
          </a:ln>
        </p:spPr>
      </p:sp>
      <p:sp>
        <p:nvSpPr>
          <p:cNvPr id="13" name="Text 11"/>
          <p:cNvSpPr/>
          <p:nvPr/>
        </p:nvSpPr>
        <p:spPr>
          <a:xfrm>
            <a:off x="475488" y="24323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4" name="Text 12"/>
          <p:cNvSpPr/>
          <p:nvPr/>
        </p:nvSpPr>
        <p:spPr>
          <a:xfrm>
            <a:off x="1097280" y="2377440"/>
            <a:ext cx="7406640" cy="384048"/>
          </a:xfrm>
          <a:prstGeom prst="rect">
            <a:avLst/>
          </a:prstGeom>
          <a:noFill/>
          <a:ln/>
        </p:spPr>
        <p:txBody>
          <a:bodyPr wrap="square" lIns="0" tIns="0" rIns="0" bIns="0" rtlCol="0" anchor="ctr"/>
          <a:lstStyle/>
          <a:p>
            <a:pPr indent="0" marL="0">
              <a:buNone/>
            </a:pPr>
            <a:r>
              <a:rPr lang="en-US" sz="1300" b="1" dirty="0">
                <a:solidFill>
                  <a:srgbClr val="7C3AED"/>
                </a:solidFill>
                <a:latin typeface="Arial" pitchFamily="34" charset="0"/>
                <a:ea typeface="Arial" pitchFamily="34" charset="-122"/>
                <a:cs typeface="Arial" pitchFamily="34" charset="-120"/>
              </a:rPr>
              <a:t>💡  Use Roles (namespace-scoped) not ClusterRoles where possible</a:t>
            </a:r>
            <a:endParaRPr lang="en-US" sz="1300" dirty="0"/>
          </a:p>
        </p:txBody>
      </p:sp>
      <p:sp>
        <p:nvSpPr>
          <p:cNvPr id="15" name="Text 13"/>
          <p:cNvSpPr/>
          <p:nvPr/>
        </p:nvSpPr>
        <p:spPr>
          <a:xfrm>
            <a:off x="1097280" y="27797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ClusterRoles apply cluster-wide — a mistake can affect all namespaces. Use namespace-scoped Roles for team and environment access. Reserve ClusterRoles for cluster admins.</a:t>
            </a:r>
            <a:endParaRPr lang="en-US" sz="1100" dirty="0"/>
          </a:p>
        </p:txBody>
      </p:sp>
      <p:sp>
        <p:nvSpPr>
          <p:cNvPr id="16" name="Shape 14"/>
          <p:cNvSpPr/>
          <p:nvPr/>
        </p:nvSpPr>
        <p:spPr>
          <a:xfrm>
            <a:off x="320040" y="36393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7" name="Shape 15"/>
          <p:cNvSpPr/>
          <p:nvPr/>
        </p:nvSpPr>
        <p:spPr>
          <a:xfrm>
            <a:off x="475488" y="3803904"/>
            <a:ext cx="475488" cy="868680"/>
          </a:xfrm>
          <a:prstGeom prst="roundRect">
            <a:avLst>
              <a:gd name="adj" fmla="val 13462"/>
            </a:avLst>
          </a:prstGeom>
          <a:solidFill>
            <a:srgbClr val="059669"/>
          </a:solidFill>
          <a:ln w="12700">
            <a:solidFill>
              <a:srgbClr val="059669"/>
            </a:solidFill>
            <a:prstDash val="solid"/>
          </a:ln>
        </p:spPr>
      </p:sp>
      <p:sp>
        <p:nvSpPr>
          <p:cNvPr id="18" name="Text 16"/>
          <p:cNvSpPr/>
          <p:nvPr/>
        </p:nvSpPr>
        <p:spPr>
          <a:xfrm>
            <a:off x="475488" y="38039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9" name="Text 17"/>
          <p:cNvSpPr/>
          <p:nvPr/>
        </p:nvSpPr>
        <p:spPr>
          <a:xfrm>
            <a:off x="1097280" y="3749040"/>
            <a:ext cx="7406640" cy="384048"/>
          </a:xfrm>
          <a:prstGeom prst="rect">
            <a:avLst/>
          </a:prstGeom>
          <a:noFill/>
          <a:ln/>
        </p:spPr>
        <p:txBody>
          <a:bodyPr wrap="square" lIns="0" tIns="0" rIns="0" bIns="0" rtlCol="0" anchor="ctr"/>
          <a:lstStyle/>
          <a:p>
            <a:pPr indent="0" marL="0">
              <a:buNone/>
            </a:pPr>
            <a:r>
              <a:rPr lang="en-US" sz="1300" b="1" dirty="0">
                <a:solidFill>
                  <a:srgbClr val="059669"/>
                </a:solidFill>
                <a:latin typeface="Arial" pitchFamily="34" charset="0"/>
                <a:ea typeface="Arial" pitchFamily="34" charset="-122"/>
                <a:cs typeface="Arial" pitchFamily="34" charset="-120"/>
              </a:rPr>
              <a:t>💡  Use ServiceAccounts for applications — not human users</a:t>
            </a:r>
            <a:endParaRPr lang="en-US" sz="1300" dirty="0"/>
          </a:p>
        </p:txBody>
      </p:sp>
      <p:sp>
        <p:nvSpPr>
          <p:cNvPr id="20" name="Text 18"/>
          <p:cNvSpPr/>
          <p:nvPr/>
        </p:nvSpPr>
        <p:spPr>
          <a:xfrm>
            <a:off x="1097280" y="41513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Pods need their own identity to call the Kubernetes API. Create dedicated ServiceAccounts per application with minimal permissions. Never use the default ServiceAccount in production.</a:t>
            </a:r>
            <a:endParaRPr lang="en-US" sz="1100" dirty="0"/>
          </a:p>
        </p:txBody>
      </p:sp>
      <p:sp>
        <p:nvSpPr>
          <p:cNvPr id="21" name="Shape 19"/>
          <p:cNvSpPr/>
          <p:nvPr/>
        </p:nvSpPr>
        <p:spPr>
          <a:xfrm>
            <a:off x="0" y="4846320"/>
            <a:ext cx="9144000" cy="297180"/>
          </a:xfrm>
          <a:prstGeom prst="rect">
            <a:avLst/>
          </a:prstGeom>
          <a:solidFill>
            <a:srgbClr val="0F172A"/>
          </a:solidFill>
          <a:ln w="12700">
            <a:solidFill>
              <a:srgbClr val="0F172A"/>
            </a:solidFill>
            <a:prstDash val="solid"/>
          </a:ln>
        </p:spPr>
      </p:sp>
      <p:sp>
        <p:nvSpPr>
          <p:cNvPr id="22" name="Text 20"/>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06: RBAC</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2026-07-01T19:00:14Z</dcterms:created>
  <dcterms:modified xsi:type="dcterms:W3CDTF">2026-07-01T19:00:14Z</dcterms:modified>
</cp:coreProperties>
</file>