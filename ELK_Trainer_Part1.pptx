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 STACK TRAINER GUIDE — PART 1 OF 6
This is a 2-day course covering the full ELK stack:
Day 1: Elasticsearch fundamentals + Logstash pipeline
Day 2: Kibana — search, visualise, alert
All three components run in Docker. Students need Docker Desktop installed and at least 4GB RAM allocated.
Part 1 covers: Title, Prep, Agenda, What is ELK, Docker Setup.
Do NOT project this file. Keep on second monitor or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BIGGEST RISK: One of the three containers fails to start. Elasticsearch uses the most memory — if Docker Desktop has less than 4GB allocated, ES will crash with exit code 137 (OOMKilled).
Fix for ES memory: add to docker-compose.yml under elasticsearch environment:
- 'ES_JAVA_OPTS=-Xms512m -Xmx512m'
This reduces ES heap to 512MB — enough for training.
Logstash takes 60-90 seconds to start after Elasticsearch is ready. If Logstash shows 'connection refused' errors in its logs, it is just starting — wait.
Kibana takes 30-60 seconds after Logstash. Total cold-start time: approximately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09:00 – 09:10
Opening: 'By end of Day 1 you will have real log data flowing from a file through Logstash into Elasticsearch. By end of Day 2 you will have a live dashboard visualising that data and an alert firing when something goes wrong. That is the full ELK pipeline — built and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Say: 'Before we open a terminal or type a single command, I want to make sure you understand WHY ELK exists. The problem it solves is one every team with more than a handful of servers hits eventually.'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 09:22  (12 min)
This is the motivating slide. Spend real time here — if students feel the pain, the solution makes sense.
Ask the group: 'Has anyone ever had to SSH into multiple servers to find an error? How long did it take?'
Real story: 'A team has 30 microservices. A user reports an error. The error could have originated in any of 30 services. Without centralised logging, debugging takes hours. With ELK, you search 'error correlation-id:abc123' and see the full request trace across all 30 services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09:22 – 09:35  (13 min)
Walk through each letter:
'E = Elasticsearch — this is the database. Everything gets stored here. It is designed for full-text search so finding log lines is instant.'
'L = Logstash — this is the pipe. It reads your log files, parses them into structured data, and ships them to Elasticsearch.'
'K = Kibana — this is the window. It connects to Elasticsearch and lets you search, visualise and alert on your data through a browser.'
Common question: 'What about Beats?' Say: 'Beats are lightweight agents that run on your servers and ship data to Logstash or directly to Elasticsearch. Filebeat ships log files, Metricbeat ships server metrics. We cover Beats on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09:35 – 09:44  (9 min)
Draw the flow on the whiteboard while explaining:
'Logs → Logstash (parse and clean) → Elasticsearch (store and index) → Kibana (search and visualise)'
Beats footnote: 'In a real deployment you would have Filebeat running on every server, shipping logs to a central Logstash instance. In this training we send logs directly to Logstash from a file to keep things simple.'
Use cases: connect these to real pain points from the previous slide. 'Remember the 20-server problem? Centralised log search solves it. Alerting means you know before users complain.'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Say: 'In a production environment, each ELK component runs on dedicated servers. For training, we run all three in Docker on your machine. One docker-compose file, one command, full stack running in under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 10:00  (16 min)
LIVE DEMO — show and explain each section:
1. All three images are version 8.11.0 — they MUST match. Mixing versions causes errors.
2. discovery.type=single-node — ES normally clusters multiple nodes. This tells it to run solo.
3. xpack.security.enabled=false — disables authentication for training. Never do this in production.
4. ES_JAVA_OPTS — limits Elasticsearch heap memory. Critical for laptops.
5. depends_on — Logstash and Kibana wait for Elasticsearch to start first.
6. Volume mounts — ./pipeline for Logstash config, ./logs for the sample log file.
Key point: 'The containers talk to each other by service name — kibana connects to elasticsearch:9200 because that is the service name in the compose file. Docker networking handles the DNS.'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10:00 – 10:12  (12 min)
LIVE DEMO — run these commands:
docker-compose up -d
docker-compose ps   # shows all three containers and their status
curl http://localhost:9200   # ES responds with JSON
curl http://localhost:9600   # Logstash responds with status
# Open browser to localhost:5601
Startup order matters:
1. Elasticsearch starts first (~45 seconds)
2. Logstash starts when ES is ready (~60 seconds)
3. Kibana starts when ES is ready (~90 seconds)
Total cold start: 3-4 minutes. Run this BEFORE teaching starts.
BREAK: 10:25 – 10:35
During break: ensure all students have the stack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bookmarked during the first 30 minutes of Day 1. The OOMKilled error (exit code 137) is by far the most common — it means Docker doesn't have enough RAM.
The vm.max_map_count error only occurs on Linux hosts. On Windows and macOS with Docker Desktop, this is handled automatically inside the Docker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C2D12"/>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583680" y="-1097280"/>
            <a:ext cx="4114800" cy="4114800"/>
          </a:xfrm>
          <a:prstGeom prst="ellipse">
            <a:avLst/>
          </a:prstGeom>
          <a:solidFill>
            <a:srgbClr val="EF4444">
              <a:alpha val="12000"/>
            </a:srgbClr>
          </a:solidFill>
          <a:ln w="12700">
            <a:solidFill>
              <a:srgbClr val="EF4444">
                <a:alpha val="22000"/>
              </a:srgbClr>
            </a:solidFill>
            <a:prstDash val="solid"/>
          </a:ln>
        </p:spPr>
      </p:sp>
      <p:sp>
        <p:nvSpPr>
          <p:cNvPr id="4" name="Text 2"/>
          <p:cNvSpPr/>
          <p:nvPr/>
        </p:nvSpPr>
        <p:spPr>
          <a:xfrm>
            <a:off x="594360" y="822960"/>
            <a:ext cx="822960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ELK STACK</a:t>
            </a:r>
            <a:endParaRPr lang="en-US" sz="5200" dirty="0"/>
          </a:p>
        </p:txBody>
      </p:sp>
      <p:sp>
        <p:nvSpPr>
          <p:cNvPr id="5" name="Text 3"/>
          <p:cNvSpPr/>
          <p:nvPr/>
        </p:nvSpPr>
        <p:spPr>
          <a:xfrm>
            <a:off x="594360" y="1719072"/>
            <a:ext cx="7315200" cy="594360"/>
          </a:xfrm>
          <a:prstGeom prst="rect">
            <a:avLst/>
          </a:prstGeom>
          <a:noFill/>
          <a:ln/>
        </p:spPr>
        <p:txBody>
          <a:bodyPr wrap="square" lIns="0" tIns="0" rIns="0" bIns="0" rtlCol="0" anchor="ctr"/>
          <a:lstStyle/>
          <a:p>
            <a:pPr indent="0" marL="0">
              <a:buNone/>
            </a:pPr>
            <a:r>
              <a:rPr lang="en-US" sz="2000" dirty="0">
                <a:solidFill>
                  <a:srgbClr val="FCA5A5"/>
                </a:solidFill>
                <a:latin typeface="Cambria" pitchFamily="34" charset="0"/>
                <a:ea typeface="Cambria" pitchFamily="34" charset="-122"/>
                <a:cs typeface="Cambria" pitchFamily="34" charset="-120"/>
              </a:rPr>
              <a:t>Trainer Guide  —  Part 1 of 6  —  Day 1 Morning</a:t>
            </a:r>
            <a:endParaRPr lang="en-US" sz="2000" dirty="0"/>
          </a:p>
        </p:txBody>
      </p:sp>
      <p:sp>
        <p:nvSpPr>
          <p:cNvPr id="6" name="Shape 4"/>
          <p:cNvSpPr/>
          <p:nvPr/>
        </p:nvSpPr>
        <p:spPr>
          <a:xfrm>
            <a:off x="594360" y="2423160"/>
            <a:ext cx="4572000" cy="27432"/>
          </a:xfrm>
          <a:prstGeom prst="rect">
            <a:avLst/>
          </a:prstGeom>
          <a:solidFill>
            <a:srgbClr val="EF4444"/>
          </a:solidFill>
          <a:ln w="12700">
            <a:solidFill>
              <a:srgbClr val="EF4444"/>
            </a:solidFill>
            <a:prstDash val="solid"/>
          </a:ln>
        </p:spPr>
      </p:sp>
      <p:sp>
        <p:nvSpPr>
          <p:cNvPr id="7" name="Text 5"/>
          <p:cNvSpPr/>
          <p:nvPr/>
        </p:nvSpPr>
        <p:spPr>
          <a:xfrm>
            <a:off x="594360" y="2578608"/>
            <a:ext cx="7772400" cy="329184"/>
          </a:xfrm>
          <a:prstGeom prst="rect">
            <a:avLst/>
          </a:prstGeom>
          <a:noFill/>
          <a:ln/>
        </p:spPr>
        <p:txBody>
          <a:bodyPr wrap="square" lIns="0" tIns="0" rIns="0" bIns="0" rtlCol="0" anchor="ctr"/>
          <a:lstStyle/>
          <a:p>
            <a:pPr indent="0" marL="0">
              <a:buNone/>
            </a:pPr>
            <a:r>
              <a:rPr lang="en-US" sz="1200" b="1" dirty="0">
                <a:solidFill>
                  <a:srgbClr val="FCA5A5"/>
                </a:solidFill>
                <a:latin typeface="Arial" pitchFamily="34" charset="0"/>
                <a:ea typeface="Arial" pitchFamily="34" charset="-122"/>
                <a:cs typeface="Arial" pitchFamily="34" charset="-120"/>
              </a:rPr>
              <a:t>🔒  Trainer only — not for distribution to students.</a:t>
            </a:r>
            <a:endParaRPr lang="en-US" sz="1200" dirty="0"/>
          </a:p>
        </p:txBody>
      </p:sp>
      <p:sp>
        <p:nvSpPr>
          <p:cNvPr id="8" name="Text 6"/>
          <p:cNvSpPr/>
          <p:nvPr/>
        </p:nvSpPr>
        <p:spPr>
          <a:xfrm>
            <a:off x="594360" y="2944368"/>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Covers  </a:t>
            </a:r>
            <a:pPr indent="0" marL="0">
              <a:buNone/>
            </a:pPr>
            <a:r>
              <a:rPr lang="en-US" sz="1150" dirty="0">
                <a:solidFill>
                  <a:srgbClr val="FCA5A5"/>
                </a:solidFill>
                <a:latin typeface="Arial" pitchFamily="34" charset="0"/>
                <a:ea typeface="Arial" pitchFamily="34" charset="-122"/>
                <a:cs typeface="Arial" pitchFamily="34" charset="-120"/>
              </a:rPr>
              <a:t>Title, Prep, Agenda, Section 01 (What is ELK), Section 02 (Docker Setup)</a:t>
            </a:r>
            <a:endParaRPr lang="en-US" sz="1150" dirty="0"/>
          </a:p>
        </p:txBody>
      </p:sp>
      <p:sp>
        <p:nvSpPr>
          <p:cNvPr id="9" name="Text 7"/>
          <p:cNvSpPr/>
          <p:nvPr/>
        </p:nvSpPr>
        <p:spPr>
          <a:xfrm>
            <a:off x="594360" y="3310128"/>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Stack  </a:t>
            </a:r>
            <a:pPr indent="0" marL="0">
              <a:buNone/>
            </a:pPr>
            <a:r>
              <a:rPr lang="en-US" sz="1150" dirty="0">
                <a:solidFill>
                  <a:srgbClr val="FCA5A5"/>
                </a:solidFill>
                <a:latin typeface="Arial" pitchFamily="34" charset="0"/>
                <a:ea typeface="Arial" pitchFamily="34" charset="-122"/>
                <a:cs typeface="Arial" pitchFamily="34" charset="-120"/>
              </a:rPr>
              <a:t>Elasticsearch 8.11 + Logstash 8.11 + Kibana 8.11 — all running in Docker</a:t>
            </a:r>
            <a:endParaRPr lang="en-US" sz="1150" dirty="0"/>
          </a:p>
        </p:txBody>
      </p:sp>
      <p:sp>
        <p:nvSpPr>
          <p:cNvPr id="10" name="Text 8"/>
          <p:cNvSpPr/>
          <p:nvPr/>
        </p:nvSpPr>
        <p:spPr>
          <a:xfrm>
            <a:off x="594360" y="3675888"/>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Students  </a:t>
            </a:r>
            <a:pPr indent="0" marL="0">
              <a:buNone/>
            </a:pPr>
            <a:r>
              <a:rPr lang="en-US" sz="1150" dirty="0">
                <a:solidFill>
                  <a:srgbClr val="FCA5A5"/>
                </a:solidFill>
                <a:latin typeface="Arial" pitchFamily="34" charset="0"/>
                <a:ea typeface="Arial" pitchFamily="34" charset="-122"/>
                <a:cs typeface="Arial" pitchFamily="34" charset="-120"/>
              </a:rPr>
              <a:t>Follow on shared trainer screen — no separate student file needed.</a:t>
            </a:r>
            <a:endParaRPr lang="en-US" sz="1150" dirty="0"/>
          </a:p>
        </p:txBody>
      </p:sp>
      <p:sp>
        <p:nvSpPr>
          <p:cNvPr id="11" name="Shape 9"/>
          <p:cNvSpPr/>
          <p:nvPr/>
        </p:nvSpPr>
        <p:spPr>
          <a:xfrm>
            <a:off x="0" y="4754880"/>
            <a:ext cx="9144000" cy="388620"/>
          </a:xfrm>
          <a:prstGeom prst="rect">
            <a:avLst/>
          </a:prstGeom>
          <a:solidFill>
            <a:srgbClr val="450A0A"/>
          </a:solidFill>
          <a:ln w="12700">
            <a:solidFill>
              <a:srgbClr val="450A0A"/>
            </a:solidFill>
            <a:prstDash val="solid"/>
          </a:ln>
        </p:spPr>
      </p:sp>
      <p:sp>
        <p:nvSpPr>
          <p:cNvPr id="12" name="Text 10"/>
          <p:cNvSpPr/>
          <p:nvPr/>
        </p:nvSpPr>
        <p:spPr>
          <a:xfrm>
            <a:off x="457200" y="4773168"/>
            <a:ext cx="8229600" cy="320040"/>
          </a:xfrm>
          <a:prstGeom prst="rect">
            <a:avLst/>
          </a:prstGeom>
          <a:noFill/>
          <a:ln/>
        </p:spPr>
        <p:txBody>
          <a:bodyPr wrap="square" lIns="0" tIns="0" rIns="0" bIns="0" rtlCol="0" anchor="ctr"/>
          <a:lstStyle/>
          <a:p>
            <a:pPr algn="ctr" indent="0" marL="0">
              <a:buNone/>
            </a:pPr>
            <a:r>
              <a:rPr lang="en-US" sz="1000" dirty="0">
                <a:solidFill>
                  <a:srgbClr val="FCA5A5"/>
                </a:solidFill>
                <a:latin typeface="Arial" pitchFamily="34" charset="0"/>
                <a:ea typeface="Arial" pitchFamily="34" charset="-122"/>
                <a:cs typeface="Arial" pitchFamily="34" charset="-120"/>
              </a:rPr>
              <a:t>CONFIDENTIAL — TRAINER USE ONLY — Do Not Distribute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TRAINER PREPARATION — ELK STACK</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2697480" cy="3657600"/>
          </a:xfrm>
          <a:prstGeom prst="roundRect">
            <a:avLst>
              <a:gd name="adj" fmla="val 3390"/>
            </a:avLst>
          </a:prstGeom>
          <a:solidFill>
            <a:srgbClr val="DBEA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29768" y="1316736"/>
            <a:ext cx="2487168" cy="347472"/>
          </a:xfrm>
          <a:prstGeom prst="roundRect">
            <a:avLst>
              <a:gd name="adj" fmla="val 15789"/>
            </a:avLst>
          </a:prstGeom>
          <a:solidFill>
            <a:srgbClr val="0077CC"/>
          </a:solidFill>
          <a:ln w="12700">
            <a:solidFill>
              <a:srgbClr val="0077CC"/>
            </a:solidFill>
            <a:prstDash val="solid"/>
          </a:ln>
        </p:spPr>
      </p:sp>
      <p:sp>
        <p:nvSpPr>
          <p:cNvPr id="10" name="Text 8"/>
          <p:cNvSpPr/>
          <p:nvPr/>
        </p:nvSpPr>
        <p:spPr>
          <a:xfrm>
            <a:off x="429768"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Before Training Day</a:t>
            </a:r>
            <a:endParaRPr lang="en-US" sz="950" dirty="0"/>
          </a:p>
        </p:txBody>
      </p:sp>
      <p:sp>
        <p:nvSpPr>
          <p:cNvPr id="11" name="Text 9"/>
          <p:cNvSpPr/>
          <p:nvPr/>
        </p:nvSpPr>
        <p:spPr>
          <a:xfrm>
            <a:off x="484632"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Pull all three images: docker pull elasticsearch:8.11.0 logstash:8.11.0 kibana:8.11.0</a:t>
            </a:r>
            <a:endParaRPr lang="en-US" sz="950" dirty="0"/>
          </a:p>
        </p:txBody>
      </p:sp>
      <p:sp>
        <p:nvSpPr>
          <p:cNvPr id="12" name="Text 10"/>
          <p:cNvSpPr/>
          <p:nvPr/>
        </p:nvSpPr>
        <p:spPr>
          <a:xfrm>
            <a:off x="484632"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Test docker-compose up — confirm all three containers start cleanly</a:t>
            </a:r>
            <a:endParaRPr lang="en-US" sz="950" dirty="0"/>
          </a:p>
        </p:txBody>
      </p:sp>
      <p:sp>
        <p:nvSpPr>
          <p:cNvPr id="13" name="Text 11"/>
          <p:cNvSpPr/>
          <p:nvPr/>
        </p:nvSpPr>
        <p:spPr>
          <a:xfrm>
            <a:off x="484632"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Verify Elasticsearch: curl http://localhost:9200 → returns cluster info JSON</a:t>
            </a:r>
            <a:endParaRPr lang="en-US" sz="950" dirty="0"/>
          </a:p>
        </p:txBody>
      </p:sp>
      <p:sp>
        <p:nvSpPr>
          <p:cNvPr id="14" name="Text 12"/>
          <p:cNvSpPr/>
          <p:nvPr/>
        </p:nvSpPr>
        <p:spPr>
          <a:xfrm>
            <a:off x="484632"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Verify Kibana: open http://localhost:5601 — loads without error</a:t>
            </a:r>
            <a:endParaRPr lang="en-US" sz="950" dirty="0"/>
          </a:p>
        </p:txBody>
      </p:sp>
      <p:sp>
        <p:nvSpPr>
          <p:cNvPr id="15" name="Text 13"/>
          <p:cNvSpPr/>
          <p:nvPr/>
        </p:nvSpPr>
        <p:spPr>
          <a:xfrm>
            <a:off x="484632"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Prepare sample Apache log file (5000 lines) in the lab folder</a:t>
            </a:r>
            <a:endParaRPr lang="en-US" sz="950" dirty="0"/>
          </a:p>
        </p:txBody>
      </p:sp>
      <p:sp>
        <p:nvSpPr>
          <p:cNvPr id="16" name="Text 14"/>
          <p:cNvSpPr/>
          <p:nvPr/>
        </p:nvSpPr>
        <p:spPr>
          <a:xfrm>
            <a:off x="484632" y="413308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Test full pipeline: logs → Logstash → Elasticsearch → visible in Kibana</a:t>
            </a:r>
            <a:endParaRPr lang="en-US" sz="950" dirty="0"/>
          </a:p>
        </p:txBody>
      </p:sp>
      <p:sp>
        <p:nvSpPr>
          <p:cNvPr id="17" name="Shape 15"/>
          <p:cNvSpPr/>
          <p:nvPr/>
        </p:nvSpPr>
        <p:spPr>
          <a:xfrm>
            <a:off x="3172968" y="1207008"/>
            <a:ext cx="2697480" cy="3657600"/>
          </a:xfrm>
          <a:prstGeom prst="roundRect">
            <a:avLst>
              <a:gd name="adj" fmla="val 3390"/>
            </a:avLst>
          </a:prstGeom>
          <a:solidFill>
            <a:srgbClr val="E6FAF9"/>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8" name="Shape 16"/>
          <p:cNvSpPr/>
          <p:nvPr/>
        </p:nvSpPr>
        <p:spPr>
          <a:xfrm>
            <a:off x="3282696" y="1316736"/>
            <a:ext cx="2487168" cy="347472"/>
          </a:xfrm>
          <a:prstGeom prst="roundRect">
            <a:avLst>
              <a:gd name="adj" fmla="val 15789"/>
            </a:avLst>
          </a:prstGeom>
          <a:solidFill>
            <a:srgbClr val="00BFB3"/>
          </a:solidFill>
          <a:ln w="12700">
            <a:solidFill>
              <a:srgbClr val="00BFB3"/>
            </a:solidFill>
            <a:prstDash val="solid"/>
          </a:ln>
        </p:spPr>
      </p:sp>
      <p:sp>
        <p:nvSpPr>
          <p:cNvPr id="19" name="Text 17"/>
          <p:cNvSpPr/>
          <p:nvPr/>
        </p:nvSpPr>
        <p:spPr>
          <a:xfrm>
            <a:off x="3282696"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Day 1 — Before 09:00</a:t>
            </a:r>
            <a:endParaRPr lang="en-US" sz="950" dirty="0"/>
          </a:p>
        </p:txBody>
      </p:sp>
      <p:sp>
        <p:nvSpPr>
          <p:cNvPr id="20" name="Text 18"/>
          <p:cNvSpPr/>
          <p:nvPr/>
        </p:nvSpPr>
        <p:spPr>
          <a:xfrm>
            <a:off x="3337560"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Run docker-compose up -d — all containers started before students arrive</a:t>
            </a:r>
            <a:endParaRPr lang="en-US" sz="950" dirty="0"/>
          </a:p>
        </p:txBody>
      </p:sp>
      <p:sp>
        <p:nvSpPr>
          <p:cNvPr id="21" name="Text 19"/>
          <p:cNvSpPr/>
          <p:nvPr/>
        </p:nvSpPr>
        <p:spPr>
          <a:xfrm>
            <a:off x="3337560"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Confirm all three: docker-compose ps (all show 'Up')</a:t>
            </a:r>
            <a:endParaRPr lang="en-US" sz="950" dirty="0"/>
          </a:p>
        </p:txBody>
      </p:sp>
      <p:sp>
        <p:nvSpPr>
          <p:cNvPr id="22" name="Text 20"/>
          <p:cNvSpPr/>
          <p:nvPr/>
        </p:nvSpPr>
        <p:spPr>
          <a:xfrm>
            <a:off x="3337560"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Open terminal with curl commands ready for ES demos</a:t>
            </a:r>
            <a:endParaRPr lang="en-US" sz="950" dirty="0"/>
          </a:p>
        </p:txBody>
      </p:sp>
      <p:sp>
        <p:nvSpPr>
          <p:cNvPr id="23" name="Text 21"/>
          <p:cNvSpPr/>
          <p:nvPr/>
        </p:nvSpPr>
        <p:spPr>
          <a:xfrm>
            <a:off x="3337560"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Have docker-compose.yml open in VS Code to show students</a:t>
            </a:r>
            <a:endParaRPr lang="en-US" sz="950" dirty="0"/>
          </a:p>
        </p:txBody>
      </p:sp>
      <p:sp>
        <p:nvSpPr>
          <p:cNvPr id="24" name="Text 22"/>
          <p:cNvSpPr/>
          <p:nvPr/>
        </p:nvSpPr>
        <p:spPr>
          <a:xfrm>
            <a:off x="3337560"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Check sample log file is in the correct volume-mounted directory</a:t>
            </a:r>
            <a:endParaRPr lang="en-US" sz="950" dirty="0"/>
          </a:p>
        </p:txBody>
      </p:sp>
      <p:sp>
        <p:nvSpPr>
          <p:cNvPr id="25" name="Shape 23"/>
          <p:cNvSpPr/>
          <p:nvPr/>
        </p:nvSpPr>
        <p:spPr>
          <a:xfrm>
            <a:off x="6025896" y="1207008"/>
            <a:ext cx="2697480" cy="3657600"/>
          </a:xfrm>
          <a:prstGeom prst="roundRect">
            <a:avLst>
              <a:gd name="adj" fmla="val 3390"/>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6" name="Shape 24"/>
          <p:cNvSpPr/>
          <p:nvPr/>
        </p:nvSpPr>
        <p:spPr>
          <a:xfrm>
            <a:off x="6135624" y="1316736"/>
            <a:ext cx="2487168" cy="347472"/>
          </a:xfrm>
          <a:prstGeom prst="roundRect">
            <a:avLst>
              <a:gd name="adj" fmla="val 15789"/>
            </a:avLst>
          </a:prstGeom>
          <a:solidFill>
            <a:srgbClr val="8B5CF6"/>
          </a:solidFill>
          <a:ln w="12700">
            <a:solidFill>
              <a:srgbClr val="8B5CF6"/>
            </a:solidFill>
            <a:prstDash val="solid"/>
          </a:ln>
        </p:spPr>
      </p:sp>
      <p:sp>
        <p:nvSpPr>
          <p:cNvPr id="27" name="Text 25"/>
          <p:cNvSpPr/>
          <p:nvPr/>
        </p:nvSpPr>
        <p:spPr>
          <a:xfrm>
            <a:off x="6135624"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Day 2 — Before 09:00</a:t>
            </a:r>
            <a:endParaRPr lang="en-US" sz="950" dirty="0"/>
          </a:p>
        </p:txBody>
      </p:sp>
      <p:sp>
        <p:nvSpPr>
          <p:cNvPr id="28" name="Text 26"/>
          <p:cNvSpPr/>
          <p:nvPr/>
        </p:nvSpPr>
        <p:spPr>
          <a:xfrm>
            <a:off x="6190488"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Confirm Kibana is still running: http://localhost:5601</a:t>
            </a:r>
            <a:endParaRPr lang="en-US" sz="950" dirty="0"/>
          </a:p>
        </p:txBody>
      </p:sp>
      <p:sp>
        <p:nvSpPr>
          <p:cNvPr id="29" name="Text 27"/>
          <p:cNvSpPr/>
          <p:nvPr/>
        </p:nvSpPr>
        <p:spPr>
          <a:xfrm>
            <a:off x="6190488"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Verify Lab 1 data is in Elasticsearch: curl localhost:9200/_cat/indices</a:t>
            </a:r>
            <a:endParaRPr lang="en-US" sz="950" dirty="0"/>
          </a:p>
        </p:txBody>
      </p:sp>
      <p:sp>
        <p:nvSpPr>
          <p:cNvPr id="30" name="Text 28"/>
          <p:cNvSpPr/>
          <p:nvPr/>
        </p:nvSpPr>
        <p:spPr>
          <a:xfrm>
            <a:off x="6190488"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Load Kibana sample data as backup if Lab 1 data missing</a:t>
            </a:r>
            <a:endParaRPr lang="en-US" sz="950" dirty="0"/>
          </a:p>
        </p:txBody>
      </p:sp>
      <p:sp>
        <p:nvSpPr>
          <p:cNvPr id="31" name="Text 29"/>
          <p:cNvSpPr/>
          <p:nvPr/>
        </p:nvSpPr>
        <p:spPr>
          <a:xfrm>
            <a:off x="6190488"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Have a saved search and one visualisation pre-built as fallback demo</a:t>
            </a:r>
            <a:endParaRPr lang="en-US" sz="950" dirty="0"/>
          </a:p>
        </p:txBody>
      </p:sp>
      <p:sp>
        <p:nvSpPr>
          <p:cNvPr id="32" name="Text 30"/>
          <p:cNvSpPr/>
          <p:nvPr/>
        </p:nvSpPr>
        <p:spPr>
          <a:xfrm>
            <a:off x="6190488"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Prepare alert connector (email or webhook) for Section 16</a:t>
            </a:r>
            <a:endParaRPr lang="en-US" sz="950" dirty="0"/>
          </a:p>
        </p:txBody>
      </p:sp>
      <p:sp>
        <p:nvSpPr>
          <p:cNvPr id="33" name="Shape 31"/>
          <p:cNvSpPr/>
          <p:nvPr/>
        </p:nvSpPr>
        <p:spPr>
          <a:xfrm>
            <a:off x="0" y="4846320"/>
            <a:ext cx="9144000" cy="297180"/>
          </a:xfrm>
          <a:prstGeom prst="rect">
            <a:avLst/>
          </a:prstGeom>
          <a:solidFill>
            <a:srgbClr val="7C2D12"/>
          </a:solidFill>
          <a:ln w="12700">
            <a:solidFill>
              <a:srgbClr val="7C2D12"/>
            </a:solidFill>
            <a:prstDash val="solid"/>
          </a:ln>
        </p:spPr>
      </p:sp>
      <p:sp>
        <p:nvSpPr>
          <p:cNvPr id="34" name="Text 3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ELK Stack Preparation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AGENDA — 2 DAY ELK STACK PROGRAMME</a:t>
            </a:r>
            <a:endParaRPr lang="en-US" sz="2000" dirty="0"/>
          </a:p>
        </p:txBody>
      </p:sp>
      <p:sp>
        <p:nvSpPr>
          <p:cNvPr id="4" name="Shape 2"/>
          <p:cNvSpPr/>
          <p:nvPr/>
        </p:nvSpPr>
        <p:spPr>
          <a:xfrm>
            <a:off x="7178040" y="109728"/>
            <a:ext cx="1600200" cy="475488"/>
          </a:xfrm>
          <a:prstGeom prst="roundRect">
            <a:avLst>
              <a:gd name="adj" fmla="val 11538"/>
            </a:avLst>
          </a:prstGeom>
          <a:solidFill>
            <a:srgbClr val="0077CC"/>
          </a:solidFill>
          <a:ln w="12700">
            <a:solidFill>
              <a:srgbClr val="0077C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Overview</a:t>
            </a:r>
            <a:endParaRPr lang="en-US" sz="950" dirty="0"/>
          </a:p>
        </p:txBody>
      </p:sp>
      <p:sp>
        <p:nvSpPr>
          <p:cNvPr id="6" name="Shape 4"/>
          <p:cNvSpPr/>
          <p:nvPr/>
        </p:nvSpPr>
        <p:spPr>
          <a:xfrm>
            <a:off x="320040" y="841248"/>
            <a:ext cx="4114800" cy="4096512"/>
          </a:xfrm>
          <a:prstGeom prst="roundRect">
            <a:avLst>
              <a:gd name="adj" fmla="val 2232"/>
            </a:avLst>
          </a:prstGeom>
          <a:solidFill>
            <a:srgbClr val="FFFFF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84632" y="960120"/>
            <a:ext cx="1097280" cy="384048"/>
          </a:xfrm>
          <a:prstGeom prst="roundRect">
            <a:avLst>
              <a:gd name="adj" fmla="val 14286"/>
            </a:avLst>
          </a:prstGeom>
          <a:solidFill>
            <a:srgbClr val="00BFB3"/>
          </a:solidFill>
          <a:ln w="12700">
            <a:solidFill>
              <a:srgbClr val="00BFB3"/>
            </a:solidFill>
            <a:prstDash val="solid"/>
          </a:ln>
        </p:spPr>
      </p:sp>
      <p:sp>
        <p:nvSpPr>
          <p:cNvPr id="8" name="Text 6"/>
          <p:cNvSpPr/>
          <p:nvPr/>
        </p:nvSpPr>
        <p:spPr>
          <a:xfrm>
            <a:off x="484632" y="960120"/>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DAY 1</a:t>
            </a:r>
            <a:endParaRPr lang="en-US" sz="1100" dirty="0"/>
          </a:p>
        </p:txBody>
      </p:sp>
      <p:sp>
        <p:nvSpPr>
          <p:cNvPr id="9" name="Text 7"/>
          <p:cNvSpPr/>
          <p:nvPr/>
        </p:nvSpPr>
        <p:spPr>
          <a:xfrm>
            <a:off x="484632" y="1417320"/>
            <a:ext cx="3749040" cy="41148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Elasticsearch &amp; Logstash</a:t>
            </a:r>
            <a:endParaRPr lang="en-US" sz="1400" dirty="0"/>
          </a:p>
        </p:txBody>
      </p:sp>
      <p:sp>
        <p:nvSpPr>
          <p:cNvPr id="10" name="Shape 8"/>
          <p:cNvSpPr/>
          <p:nvPr/>
        </p:nvSpPr>
        <p:spPr>
          <a:xfrm>
            <a:off x="521208" y="1920240"/>
            <a:ext cx="237744" cy="237744"/>
          </a:xfrm>
          <a:prstGeom prst="ellipse">
            <a:avLst/>
          </a:prstGeom>
          <a:solidFill>
            <a:srgbClr val="00BFB3"/>
          </a:solidFill>
          <a:ln w="12700">
            <a:solidFill>
              <a:srgbClr val="00BFB3"/>
            </a:solidFill>
            <a:prstDash val="solid"/>
          </a:ln>
        </p:spPr>
      </p:sp>
      <p:sp>
        <p:nvSpPr>
          <p:cNvPr id="11" name="Text 9"/>
          <p:cNvSpPr/>
          <p:nvPr/>
        </p:nvSpPr>
        <p:spPr>
          <a:xfrm>
            <a:off x="521208" y="19202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2" name="Text 10"/>
          <p:cNvSpPr/>
          <p:nvPr/>
        </p:nvSpPr>
        <p:spPr>
          <a:xfrm>
            <a:off x="850392" y="1920240"/>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What is ELK &amp; Why — the problem it solves</a:t>
            </a:r>
            <a:endParaRPr lang="en-US" sz="1050" dirty="0"/>
          </a:p>
        </p:txBody>
      </p:sp>
      <p:sp>
        <p:nvSpPr>
          <p:cNvPr id="13" name="Shape 11"/>
          <p:cNvSpPr/>
          <p:nvPr/>
        </p:nvSpPr>
        <p:spPr>
          <a:xfrm>
            <a:off x="521208" y="2450592"/>
            <a:ext cx="237744" cy="237744"/>
          </a:xfrm>
          <a:prstGeom prst="ellipse">
            <a:avLst/>
          </a:prstGeom>
          <a:solidFill>
            <a:srgbClr val="00BFB3"/>
          </a:solidFill>
          <a:ln w="12700">
            <a:solidFill>
              <a:srgbClr val="00BFB3"/>
            </a:solidFill>
            <a:prstDash val="solid"/>
          </a:ln>
        </p:spPr>
      </p:sp>
      <p:sp>
        <p:nvSpPr>
          <p:cNvPr id="14" name="Text 12"/>
          <p:cNvSpPr/>
          <p:nvPr/>
        </p:nvSpPr>
        <p:spPr>
          <a:xfrm>
            <a:off x="521208" y="24505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5" name="Text 13"/>
          <p:cNvSpPr/>
          <p:nvPr/>
        </p:nvSpPr>
        <p:spPr>
          <a:xfrm>
            <a:off x="850392" y="2450592"/>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Docker Setup — start the full stack</a:t>
            </a:r>
            <a:endParaRPr lang="en-US" sz="1050" dirty="0"/>
          </a:p>
        </p:txBody>
      </p:sp>
      <p:sp>
        <p:nvSpPr>
          <p:cNvPr id="16" name="Shape 14"/>
          <p:cNvSpPr/>
          <p:nvPr/>
        </p:nvSpPr>
        <p:spPr>
          <a:xfrm>
            <a:off x="521208" y="2980944"/>
            <a:ext cx="237744" cy="237744"/>
          </a:xfrm>
          <a:prstGeom prst="ellipse">
            <a:avLst/>
          </a:prstGeom>
          <a:solidFill>
            <a:srgbClr val="00BFB3"/>
          </a:solidFill>
          <a:ln w="12700">
            <a:solidFill>
              <a:srgbClr val="00BFB3"/>
            </a:solidFill>
            <a:prstDash val="solid"/>
          </a:ln>
        </p:spPr>
      </p:sp>
      <p:sp>
        <p:nvSpPr>
          <p:cNvPr id="17" name="Text 15"/>
          <p:cNvSpPr/>
          <p:nvPr/>
        </p:nvSpPr>
        <p:spPr>
          <a:xfrm>
            <a:off x="521208" y="29809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8" name="Text 16"/>
          <p:cNvSpPr/>
          <p:nvPr/>
        </p:nvSpPr>
        <p:spPr>
          <a:xfrm>
            <a:off x="850392" y="2980944"/>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Elasticsearch — indices, documents, mappings, querying</a:t>
            </a:r>
            <a:endParaRPr lang="en-US" sz="1050" dirty="0"/>
          </a:p>
        </p:txBody>
      </p:sp>
      <p:sp>
        <p:nvSpPr>
          <p:cNvPr id="19" name="Shape 17"/>
          <p:cNvSpPr/>
          <p:nvPr/>
        </p:nvSpPr>
        <p:spPr>
          <a:xfrm>
            <a:off x="521208" y="3511296"/>
            <a:ext cx="237744" cy="237744"/>
          </a:xfrm>
          <a:prstGeom prst="ellipse">
            <a:avLst/>
          </a:prstGeom>
          <a:solidFill>
            <a:srgbClr val="00BFB3"/>
          </a:solidFill>
          <a:ln w="12700">
            <a:solidFill>
              <a:srgbClr val="00BFB3"/>
            </a:solidFill>
            <a:prstDash val="solid"/>
          </a:ln>
        </p:spPr>
      </p:sp>
      <p:sp>
        <p:nvSpPr>
          <p:cNvPr id="20" name="Text 18"/>
          <p:cNvSpPr/>
          <p:nvPr/>
        </p:nvSpPr>
        <p:spPr>
          <a:xfrm>
            <a:off x="521208" y="35112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1" name="Text 19"/>
          <p:cNvSpPr/>
          <p:nvPr/>
        </p:nvSpPr>
        <p:spPr>
          <a:xfrm>
            <a:off x="850392" y="3511296"/>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Logstash — pipeline config, grok, filters, outputs</a:t>
            </a:r>
            <a:endParaRPr lang="en-US" sz="1050" dirty="0"/>
          </a:p>
        </p:txBody>
      </p:sp>
      <p:sp>
        <p:nvSpPr>
          <p:cNvPr id="22" name="Shape 20"/>
          <p:cNvSpPr/>
          <p:nvPr/>
        </p:nvSpPr>
        <p:spPr>
          <a:xfrm>
            <a:off x="521208" y="4041648"/>
            <a:ext cx="237744" cy="237744"/>
          </a:xfrm>
          <a:prstGeom prst="ellipse">
            <a:avLst/>
          </a:prstGeom>
          <a:solidFill>
            <a:srgbClr val="00BFB3"/>
          </a:solidFill>
          <a:ln w="12700">
            <a:solidFill>
              <a:srgbClr val="00BFB3"/>
            </a:solidFill>
            <a:prstDash val="solid"/>
          </a:ln>
        </p:spPr>
      </p:sp>
      <p:sp>
        <p:nvSpPr>
          <p:cNvPr id="23" name="Text 21"/>
          <p:cNvSpPr/>
          <p:nvPr/>
        </p:nvSpPr>
        <p:spPr>
          <a:xfrm>
            <a:off x="521208" y="40416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4" name="Text 22"/>
          <p:cNvSpPr/>
          <p:nvPr/>
        </p:nvSpPr>
        <p:spPr>
          <a:xfrm>
            <a:off x="850392" y="4041648"/>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Lab 1 — Ship Apache logs through full pipeline</a:t>
            </a:r>
            <a:endParaRPr lang="en-US" sz="1050" dirty="0"/>
          </a:p>
        </p:txBody>
      </p:sp>
      <p:sp>
        <p:nvSpPr>
          <p:cNvPr id="25" name="Shape 23"/>
          <p:cNvSpPr/>
          <p:nvPr/>
        </p:nvSpPr>
        <p:spPr>
          <a:xfrm>
            <a:off x="4754880" y="841248"/>
            <a:ext cx="4114800" cy="4096512"/>
          </a:xfrm>
          <a:prstGeom prst="roundRect">
            <a:avLst>
              <a:gd name="adj" fmla="val 2232"/>
            </a:avLst>
          </a:prstGeom>
          <a:solidFill>
            <a:srgbClr val="FFFFF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6" name="Shape 24"/>
          <p:cNvSpPr/>
          <p:nvPr/>
        </p:nvSpPr>
        <p:spPr>
          <a:xfrm>
            <a:off x="4919472" y="960120"/>
            <a:ext cx="1097280" cy="384048"/>
          </a:xfrm>
          <a:prstGeom prst="roundRect">
            <a:avLst>
              <a:gd name="adj" fmla="val 14286"/>
            </a:avLst>
          </a:prstGeom>
          <a:solidFill>
            <a:srgbClr val="8B5CF6"/>
          </a:solidFill>
          <a:ln w="12700">
            <a:solidFill>
              <a:srgbClr val="8B5CF6"/>
            </a:solidFill>
            <a:prstDash val="solid"/>
          </a:ln>
        </p:spPr>
      </p:sp>
      <p:sp>
        <p:nvSpPr>
          <p:cNvPr id="27" name="Text 25"/>
          <p:cNvSpPr/>
          <p:nvPr/>
        </p:nvSpPr>
        <p:spPr>
          <a:xfrm>
            <a:off x="4919472" y="960120"/>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DAY 2</a:t>
            </a:r>
            <a:endParaRPr lang="en-US" sz="1100" dirty="0"/>
          </a:p>
        </p:txBody>
      </p:sp>
      <p:sp>
        <p:nvSpPr>
          <p:cNvPr id="28" name="Text 26"/>
          <p:cNvSpPr/>
          <p:nvPr/>
        </p:nvSpPr>
        <p:spPr>
          <a:xfrm>
            <a:off x="4919472" y="1417320"/>
            <a:ext cx="3749040" cy="41148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Kibana — Search, Visualise, Alert</a:t>
            </a:r>
            <a:endParaRPr lang="en-US" sz="1400" dirty="0"/>
          </a:p>
        </p:txBody>
      </p:sp>
      <p:sp>
        <p:nvSpPr>
          <p:cNvPr id="29" name="Shape 27"/>
          <p:cNvSpPr/>
          <p:nvPr/>
        </p:nvSpPr>
        <p:spPr>
          <a:xfrm>
            <a:off x="4956048" y="1920240"/>
            <a:ext cx="237744" cy="237744"/>
          </a:xfrm>
          <a:prstGeom prst="ellipse">
            <a:avLst/>
          </a:prstGeom>
          <a:solidFill>
            <a:srgbClr val="8B5CF6"/>
          </a:solidFill>
          <a:ln w="12700">
            <a:solidFill>
              <a:srgbClr val="8B5CF6"/>
            </a:solidFill>
            <a:prstDash val="solid"/>
          </a:ln>
        </p:spPr>
      </p:sp>
      <p:sp>
        <p:nvSpPr>
          <p:cNvPr id="30" name="Text 28"/>
          <p:cNvSpPr/>
          <p:nvPr/>
        </p:nvSpPr>
        <p:spPr>
          <a:xfrm>
            <a:off x="4956048" y="19202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1" name="Text 29"/>
          <p:cNvSpPr/>
          <p:nvPr/>
        </p:nvSpPr>
        <p:spPr>
          <a:xfrm>
            <a:off x="5285232" y="1920240"/>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Kibana interface, Data Views, Discover</a:t>
            </a:r>
            <a:endParaRPr lang="en-US" sz="1050" dirty="0"/>
          </a:p>
        </p:txBody>
      </p:sp>
      <p:sp>
        <p:nvSpPr>
          <p:cNvPr id="32" name="Shape 30"/>
          <p:cNvSpPr/>
          <p:nvPr/>
        </p:nvSpPr>
        <p:spPr>
          <a:xfrm>
            <a:off x="4956048" y="2450592"/>
            <a:ext cx="237744" cy="237744"/>
          </a:xfrm>
          <a:prstGeom prst="ellipse">
            <a:avLst/>
          </a:prstGeom>
          <a:solidFill>
            <a:srgbClr val="8B5CF6"/>
          </a:solidFill>
          <a:ln w="12700">
            <a:solidFill>
              <a:srgbClr val="8B5CF6"/>
            </a:solidFill>
            <a:prstDash val="solid"/>
          </a:ln>
        </p:spPr>
      </p:sp>
      <p:sp>
        <p:nvSpPr>
          <p:cNvPr id="33" name="Text 31"/>
          <p:cNvSpPr/>
          <p:nvPr/>
        </p:nvSpPr>
        <p:spPr>
          <a:xfrm>
            <a:off x="4956048" y="24505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34" name="Text 32"/>
          <p:cNvSpPr/>
          <p:nvPr/>
        </p:nvSpPr>
        <p:spPr>
          <a:xfrm>
            <a:off x="5285232" y="2450592"/>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KQL — Kibana Query Language</a:t>
            </a:r>
            <a:endParaRPr lang="en-US" sz="1050" dirty="0"/>
          </a:p>
        </p:txBody>
      </p:sp>
      <p:sp>
        <p:nvSpPr>
          <p:cNvPr id="35" name="Shape 33"/>
          <p:cNvSpPr/>
          <p:nvPr/>
        </p:nvSpPr>
        <p:spPr>
          <a:xfrm>
            <a:off x="4956048" y="2980944"/>
            <a:ext cx="237744" cy="237744"/>
          </a:xfrm>
          <a:prstGeom prst="ellipse">
            <a:avLst/>
          </a:prstGeom>
          <a:solidFill>
            <a:srgbClr val="8B5CF6"/>
          </a:solidFill>
          <a:ln w="12700">
            <a:solidFill>
              <a:srgbClr val="8B5CF6"/>
            </a:solidFill>
            <a:prstDash val="solid"/>
          </a:ln>
        </p:spPr>
      </p:sp>
      <p:sp>
        <p:nvSpPr>
          <p:cNvPr id="36" name="Text 34"/>
          <p:cNvSpPr/>
          <p:nvPr/>
        </p:nvSpPr>
        <p:spPr>
          <a:xfrm>
            <a:off x="4956048" y="29809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7" name="Text 35"/>
          <p:cNvSpPr/>
          <p:nvPr/>
        </p:nvSpPr>
        <p:spPr>
          <a:xfrm>
            <a:off x="5285232" y="2980944"/>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Lens visualisations and Dashboards</a:t>
            </a:r>
            <a:endParaRPr lang="en-US" sz="1050" dirty="0"/>
          </a:p>
        </p:txBody>
      </p:sp>
      <p:sp>
        <p:nvSpPr>
          <p:cNvPr id="38" name="Shape 36"/>
          <p:cNvSpPr/>
          <p:nvPr/>
        </p:nvSpPr>
        <p:spPr>
          <a:xfrm>
            <a:off x="4956048" y="3511296"/>
            <a:ext cx="237744" cy="237744"/>
          </a:xfrm>
          <a:prstGeom prst="ellipse">
            <a:avLst/>
          </a:prstGeom>
          <a:solidFill>
            <a:srgbClr val="8B5CF6"/>
          </a:solidFill>
          <a:ln w="12700">
            <a:solidFill>
              <a:srgbClr val="8B5CF6"/>
            </a:solidFill>
            <a:prstDash val="solid"/>
          </a:ln>
        </p:spPr>
      </p:sp>
      <p:sp>
        <p:nvSpPr>
          <p:cNvPr id="39" name="Text 37"/>
          <p:cNvSpPr/>
          <p:nvPr/>
        </p:nvSpPr>
        <p:spPr>
          <a:xfrm>
            <a:off x="4956048" y="35112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40" name="Text 38"/>
          <p:cNvSpPr/>
          <p:nvPr/>
        </p:nvSpPr>
        <p:spPr>
          <a:xfrm>
            <a:off x="5285232" y="3511296"/>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Alerting, Beats overview, ILM</a:t>
            </a:r>
            <a:endParaRPr lang="en-US" sz="1050" dirty="0"/>
          </a:p>
        </p:txBody>
      </p:sp>
      <p:sp>
        <p:nvSpPr>
          <p:cNvPr id="41" name="Shape 39"/>
          <p:cNvSpPr/>
          <p:nvPr/>
        </p:nvSpPr>
        <p:spPr>
          <a:xfrm>
            <a:off x="4956048" y="4041648"/>
            <a:ext cx="237744" cy="237744"/>
          </a:xfrm>
          <a:prstGeom prst="ellipse">
            <a:avLst/>
          </a:prstGeom>
          <a:solidFill>
            <a:srgbClr val="8B5CF6"/>
          </a:solidFill>
          <a:ln w="12700">
            <a:solidFill>
              <a:srgbClr val="8B5CF6"/>
            </a:solidFill>
            <a:prstDash val="solid"/>
          </a:ln>
        </p:spPr>
      </p:sp>
      <p:sp>
        <p:nvSpPr>
          <p:cNvPr id="42" name="Text 40"/>
          <p:cNvSpPr/>
          <p:nvPr/>
        </p:nvSpPr>
        <p:spPr>
          <a:xfrm>
            <a:off x="4956048" y="40416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43" name="Text 41"/>
          <p:cNvSpPr/>
          <p:nvPr/>
        </p:nvSpPr>
        <p:spPr>
          <a:xfrm>
            <a:off x="5285232" y="4041648"/>
            <a:ext cx="3401568" cy="4572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Lab 2 — Build a full dashboard + alert</a:t>
            </a:r>
            <a:endParaRPr lang="en-US" sz="1050" dirty="0"/>
          </a:p>
        </p:txBody>
      </p:sp>
      <p:sp>
        <p:nvSpPr>
          <p:cNvPr id="44" name="Shape 42"/>
          <p:cNvSpPr/>
          <p:nvPr/>
        </p:nvSpPr>
        <p:spPr>
          <a:xfrm>
            <a:off x="320040" y="5010912"/>
            <a:ext cx="8503920" cy="320040"/>
          </a:xfrm>
          <a:prstGeom prst="roundRect">
            <a:avLst>
              <a:gd name="adj" fmla="val 28571"/>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45" name="Text 43"/>
          <p:cNvSpPr/>
          <p:nvPr/>
        </p:nvSpPr>
        <p:spPr>
          <a:xfrm>
            <a:off x="457200" y="5102352"/>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46" name="Text 44"/>
          <p:cNvSpPr/>
          <p:nvPr/>
        </p:nvSpPr>
        <p:spPr>
          <a:xfrm>
            <a:off x="457200" y="5394960"/>
            <a:ext cx="8229600" cy="-182880"/>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Each day: 09:00–12:00 teaching (break at 10:25), 12:00–13:00 lunch, 13:00–16:00 lab. Unfinished lab tasks are homework.</a:t>
            </a:r>
            <a:endParaRPr lang="en-US" sz="1000" dirty="0"/>
          </a:p>
        </p:txBody>
      </p:sp>
      <p:sp>
        <p:nvSpPr>
          <p:cNvPr id="47" name="Shape 45"/>
          <p:cNvSpPr/>
          <p:nvPr/>
        </p:nvSpPr>
        <p:spPr>
          <a:xfrm>
            <a:off x="0" y="4846320"/>
            <a:ext cx="9144000" cy="297180"/>
          </a:xfrm>
          <a:prstGeom prst="rect">
            <a:avLst/>
          </a:prstGeom>
          <a:solidFill>
            <a:srgbClr val="0F172A"/>
          </a:solidFill>
          <a:ln w="12700">
            <a:solidFill>
              <a:srgbClr val="0F172A"/>
            </a:solidFill>
            <a:prstDash val="solid"/>
          </a:ln>
        </p:spPr>
      </p:sp>
      <p:sp>
        <p:nvSpPr>
          <p:cNvPr id="48" name="Text 46"/>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ELK Stack 2-Day Agenda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077CC"/>
          </a:solidFill>
          <a:ln w="12700">
            <a:solidFill>
              <a:srgbClr val="0077CC"/>
            </a:solidFill>
            <a:prstDash val="solid"/>
          </a:ln>
        </p:spPr>
      </p:sp>
      <p:sp>
        <p:nvSpPr>
          <p:cNvPr id="3" name="Shape 1"/>
          <p:cNvSpPr/>
          <p:nvPr/>
        </p:nvSpPr>
        <p:spPr>
          <a:xfrm>
            <a:off x="5943600" y="-914400"/>
            <a:ext cx="4572000" cy="4572000"/>
          </a:xfrm>
          <a:prstGeom prst="ellipse">
            <a:avLst/>
          </a:prstGeom>
          <a:solidFill>
            <a:srgbClr val="0077CC">
              <a:alpha val="10000"/>
            </a:srgbClr>
          </a:solidFill>
          <a:ln w="12700">
            <a:solidFill>
              <a:srgbClr val="0077CC">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077CC"/>
                </a:solidFill>
                <a:latin typeface="Arial" pitchFamily="34" charset="0"/>
                <a:ea typeface="Arial" pitchFamily="34" charset="-122"/>
                <a:cs typeface="Arial" pitchFamily="34" charset="-120"/>
              </a:rPr>
              <a:t>SECTION 01</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What is ELK?</a:t>
            </a:r>
            <a:endParaRPr lang="en-US" sz="44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The problem ELK solves and how the components fit together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PROBLEM ELK SOLVES</a:t>
            </a:r>
            <a:endParaRPr lang="en-US" sz="2000" dirty="0"/>
          </a:p>
        </p:txBody>
      </p:sp>
      <p:sp>
        <p:nvSpPr>
          <p:cNvPr id="4" name="Shape 2"/>
          <p:cNvSpPr/>
          <p:nvPr/>
        </p:nvSpPr>
        <p:spPr>
          <a:xfrm>
            <a:off x="7178040" y="109728"/>
            <a:ext cx="1600200" cy="475488"/>
          </a:xfrm>
          <a:prstGeom prst="roundRect">
            <a:avLst>
              <a:gd name="adj" fmla="val 11538"/>
            </a:avLst>
          </a:prstGeom>
          <a:solidFill>
            <a:srgbClr val="0077CC"/>
          </a:solidFill>
          <a:ln w="12700">
            <a:solidFill>
              <a:srgbClr val="0077C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ELK?</a:t>
            </a:r>
            <a:endParaRPr lang="en-US" sz="950" dirty="0"/>
          </a:p>
        </p:txBody>
      </p:sp>
      <p:sp>
        <p:nvSpPr>
          <p:cNvPr id="6" name="Shape 4"/>
          <p:cNvSpPr/>
          <p:nvPr/>
        </p:nvSpPr>
        <p:spPr>
          <a:xfrm>
            <a:off x="320040" y="868680"/>
            <a:ext cx="8503920" cy="749808"/>
          </a:xfrm>
          <a:prstGeom prst="roundRect">
            <a:avLst>
              <a:gd name="adj" fmla="val 12195"/>
            </a:avLst>
          </a:prstGeom>
          <a:solidFill>
            <a:srgbClr val="FEF2F2"/>
          </a:solidFill>
          <a:ln w="12700">
            <a:solidFill>
              <a:srgbClr val="FECACA"/>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58368"/>
          </a:xfrm>
          <a:prstGeom prst="rect">
            <a:avLst/>
          </a:prstGeom>
          <a:noFill/>
          <a:ln/>
        </p:spPr>
        <p:txBody>
          <a:bodyPr wrap="square" lIns="0" tIns="0" rIns="0" bIns="0" rtlCol="0" anchor="ctr"/>
          <a:lstStyle/>
          <a:p>
            <a:pPr indent="0" marL="0">
              <a:buNone/>
            </a:pPr>
            <a:r>
              <a:rPr lang="en-US" sz="1300" dirty="0">
                <a:solidFill>
                  <a:srgbClr val="0F172A"/>
                </a:solidFill>
                <a:latin typeface="Cambria" pitchFamily="34" charset="0"/>
                <a:ea typeface="Cambria" pitchFamily="34" charset="-122"/>
                <a:cs typeface="Cambria" pitchFamily="34" charset="-120"/>
              </a:rPr>
              <a:t>Your app runs on 20 servers. Something breaks at 3am. You SSH into each server, grep through log files one by one, trying to find where the error started. This takes hours.</a:t>
            </a:r>
            <a:endParaRPr lang="en-US" sz="1300" dirty="0"/>
          </a:p>
        </p:txBody>
      </p:sp>
      <p:sp>
        <p:nvSpPr>
          <p:cNvPr id="8" name="Shape 6"/>
          <p:cNvSpPr/>
          <p:nvPr/>
        </p:nvSpPr>
        <p:spPr>
          <a:xfrm>
            <a:off x="320040" y="1783080"/>
            <a:ext cx="4114800" cy="1261872"/>
          </a:xfrm>
          <a:prstGeom prst="roundRect">
            <a:avLst>
              <a:gd name="adj" fmla="val 724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84632" y="1874520"/>
            <a:ext cx="3794760" cy="292608"/>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  Logs on 20 Servers</a:t>
            </a:r>
            <a:endParaRPr lang="en-US" sz="1250" dirty="0"/>
          </a:p>
        </p:txBody>
      </p:sp>
      <p:sp>
        <p:nvSpPr>
          <p:cNvPr id="10" name="Text 8"/>
          <p:cNvSpPr/>
          <p:nvPr/>
        </p:nvSpPr>
        <p:spPr>
          <a:xfrm>
            <a:off x="484632" y="2221992"/>
            <a:ext cx="3794760" cy="74980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Each server writes logs to its own files. When something breaks you have no way to search across all of them at once. You SSH in one by one.</a:t>
            </a:r>
            <a:endParaRPr lang="en-US" sz="1050" dirty="0"/>
          </a:p>
        </p:txBody>
      </p:sp>
      <p:sp>
        <p:nvSpPr>
          <p:cNvPr id="11" name="Shape 9"/>
          <p:cNvSpPr/>
          <p:nvPr/>
        </p:nvSpPr>
        <p:spPr>
          <a:xfrm>
            <a:off x="4709160" y="1783080"/>
            <a:ext cx="4114800" cy="1261872"/>
          </a:xfrm>
          <a:prstGeom prst="roundRect">
            <a:avLst>
              <a:gd name="adj" fmla="val 724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2" name="Text 10"/>
          <p:cNvSpPr/>
          <p:nvPr/>
        </p:nvSpPr>
        <p:spPr>
          <a:xfrm>
            <a:off x="4873752" y="1874520"/>
            <a:ext cx="3794760" cy="292608"/>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  No Central Search</a:t>
            </a:r>
            <a:endParaRPr lang="en-US" sz="1250" dirty="0"/>
          </a:p>
        </p:txBody>
      </p:sp>
      <p:sp>
        <p:nvSpPr>
          <p:cNvPr id="13" name="Text 11"/>
          <p:cNvSpPr/>
          <p:nvPr/>
        </p:nvSpPr>
        <p:spPr>
          <a:xfrm>
            <a:off x="4873752" y="2221992"/>
            <a:ext cx="3794760" cy="74980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grep works for one file on one server. It tells you nothing about what happened on the other 19 servers at the same time.</a:t>
            </a:r>
            <a:endParaRPr lang="en-US" sz="1050" dirty="0"/>
          </a:p>
        </p:txBody>
      </p:sp>
      <p:sp>
        <p:nvSpPr>
          <p:cNvPr id="14" name="Shape 12"/>
          <p:cNvSpPr/>
          <p:nvPr/>
        </p:nvSpPr>
        <p:spPr>
          <a:xfrm>
            <a:off x="320040" y="3172968"/>
            <a:ext cx="4114800" cy="1261872"/>
          </a:xfrm>
          <a:prstGeom prst="roundRect">
            <a:avLst>
              <a:gd name="adj" fmla="val 724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5" name="Text 13"/>
          <p:cNvSpPr/>
          <p:nvPr/>
        </p:nvSpPr>
        <p:spPr>
          <a:xfrm>
            <a:off x="484632" y="3264408"/>
            <a:ext cx="3794760" cy="292608"/>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  No Visibility</a:t>
            </a:r>
            <a:endParaRPr lang="en-US" sz="1250" dirty="0"/>
          </a:p>
        </p:txBody>
      </p:sp>
      <p:sp>
        <p:nvSpPr>
          <p:cNvPr id="16" name="Text 14"/>
          <p:cNvSpPr/>
          <p:nvPr/>
        </p:nvSpPr>
        <p:spPr>
          <a:xfrm>
            <a:off x="484632" y="3611880"/>
            <a:ext cx="3794760" cy="74980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You cannot answer 'how many 500 errors happened in the last hour across all servers?' without writing custom scripts.</a:t>
            </a:r>
            <a:endParaRPr lang="en-US" sz="1050" dirty="0"/>
          </a:p>
        </p:txBody>
      </p:sp>
      <p:sp>
        <p:nvSpPr>
          <p:cNvPr id="17" name="Shape 15"/>
          <p:cNvSpPr/>
          <p:nvPr/>
        </p:nvSpPr>
        <p:spPr>
          <a:xfrm>
            <a:off x="4709160" y="3172968"/>
            <a:ext cx="4114800" cy="1261872"/>
          </a:xfrm>
          <a:prstGeom prst="roundRect">
            <a:avLst>
              <a:gd name="adj" fmla="val 7246"/>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8" name="Text 16"/>
          <p:cNvSpPr/>
          <p:nvPr/>
        </p:nvSpPr>
        <p:spPr>
          <a:xfrm>
            <a:off x="4873752" y="3264408"/>
            <a:ext cx="3794760" cy="292608"/>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  Too Slow</a:t>
            </a:r>
            <a:endParaRPr lang="en-US" sz="1250" dirty="0"/>
          </a:p>
        </p:txBody>
      </p:sp>
      <p:sp>
        <p:nvSpPr>
          <p:cNvPr id="19" name="Text 17"/>
          <p:cNvSpPr/>
          <p:nvPr/>
        </p:nvSpPr>
        <p:spPr>
          <a:xfrm>
            <a:off x="4873752" y="3611880"/>
            <a:ext cx="3794760" cy="74980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By the time you find the root cause across 20 servers, the incident has been affecting users for hours. You need real-time visibility.</a:t>
            </a:r>
            <a:endParaRPr lang="en-US" sz="1050" dirty="0"/>
          </a:p>
        </p:txBody>
      </p:sp>
      <p:sp>
        <p:nvSpPr>
          <p:cNvPr id="20" name="Shape 18"/>
          <p:cNvSpPr/>
          <p:nvPr/>
        </p:nvSpPr>
        <p:spPr>
          <a:xfrm>
            <a:off x="0" y="4846320"/>
            <a:ext cx="9144000" cy="297180"/>
          </a:xfrm>
          <a:prstGeom prst="rect">
            <a:avLst/>
          </a:prstGeom>
          <a:solidFill>
            <a:srgbClr val="0F172A"/>
          </a:solidFill>
          <a:ln w="12700">
            <a:solidFill>
              <a:srgbClr val="0F172A"/>
            </a:solidFill>
            <a:prstDash val="solid"/>
          </a:ln>
        </p:spPr>
      </p:sp>
      <p:sp>
        <p:nvSpPr>
          <p:cNvPr id="21" name="Text 1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ELK?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THE ELK STACK?</a:t>
            </a:r>
            <a:endParaRPr lang="en-US" sz="2000" dirty="0"/>
          </a:p>
        </p:txBody>
      </p:sp>
      <p:sp>
        <p:nvSpPr>
          <p:cNvPr id="4" name="Shape 2"/>
          <p:cNvSpPr/>
          <p:nvPr/>
        </p:nvSpPr>
        <p:spPr>
          <a:xfrm>
            <a:off x="7178040" y="109728"/>
            <a:ext cx="1600200" cy="475488"/>
          </a:xfrm>
          <a:prstGeom prst="roundRect">
            <a:avLst>
              <a:gd name="adj" fmla="val 11538"/>
            </a:avLst>
          </a:prstGeom>
          <a:solidFill>
            <a:srgbClr val="0077CC"/>
          </a:solidFill>
          <a:ln w="12700">
            <a:solidFill>
              <a:srgbClr val="0077C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ELK?</a:t>
            </a:r>
            <a:endParaRPr lang="en-US" sz="950" dirty="0"/>
          </a:p>
        </p:txBody>
      </p:sp>
      <p:sp>
        <p:nvSpPr>
          <p:cNvPr id="6" name="Shape 4"/>
          <p:cNvSpPr/>
          <p:nvPr/>
        </p:nvSpPr>
        <p:spPr>
          <a:xfrm>
            <a:off x="320040" y="868680"/>
            <a:ext cx="8503920" cy="713232"/>
          </a:xfrm>
          <a:prstGeom prst="roundRect">
            <a:avLst>
              <a:gd name="adj" fmla="val 12821"/>
            </a:avLst>
          </a:prstGeom>
          <a:solidFill>
            <a:srgbClr val="DBEAFE"/>
          </a:solidFill>
          <a:ln w="12700">
            <a:solidFill>
              <a:srgbClr val="93C5FD"/>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21792"/>
          </a:xfrm>
          <a:prstGeom prst="rect">
            <a:avLst/>
          </a:prstGeom>
          <a:noFill/>
          <a:ln/>
        </p:spPr>
        <p:txBody>
          <a:bodyPr wrap="square" lIns="0" tIns="0" rIns="0" bIns="0" rtlCol="0" anchor="ctr"/>
          <a:lstStyle/>
          <a:p>
            <a:pPr indent="0" marL="0">
              <a:buNone/>
            </a:pPr>
            <a:r>
              <a:rPr lang="en-US" sz="1300" dirty="0">
                <a:solidFill>
                  <a:srgbClr val="0F172A"/>
                </a:solidFill>
                <a:latin typeface="Cambria" pitchFamily="34" charset="0"/>
                <a:ea typeface="Cambria" pitchFamily="34" charset="-122"/>
                <a:cs typeface="Cambria" pitchFamily="34" charset="-120"/>
              </a:rPr>
              <a:t>ELK is a collection of three open-source tools that together provide a complete pipeline for collecting, processing, storing and visualising log data at any scale.</a:t>
            </a:r>
            <a:endParaRPr lang="en-US" sz="1300" dirty="0"/>
          </a:p>
        </p:txBody>
      </p:sp>
      <p:sp>
        <p:nvSpPr>
          <p:cNvPr id="8" name="Shape 6"/>
          <p:cNvSpPr/>
          <p:nvPr/>
        </p:nvSpPr>
        <p:spPr>
          <a:xfrm>
            <a:off x="320040" y="1719072"/>
            <a:ext cx="2697480" cy="2944368"/>
          </a:xfrm>
          <a:prstGeom prst="roundRect">
            <a:avLst>
              <a:gd name="adj" fmla="val 3390"/>
            </a:avLst>
          </a:prstGeom>
          <a:solidFill>
            <a:srgbClr val="E6FAF9"/>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84632" y="1810512"/>
            <a:ext cx="713232" cy="713232"/>
          </a:xfrm>
          <a:prstGeom prst="ellipse">
            <a:avLst/>
          </a:prstGeom>
          <a:solidFill>
            <a:srgbClr val="00BFB3"/>
          </a:solidFill>
          <a:ln w="12700">
            <a:solidFill>
              <a:srgbClr val="00BFB3"/>
            </a:solidFill>
            <a:prstDash val="solid"/>
          </a:ln>
        </p:spPr>
      </p:sp>
      <p:sp>
        <p:nvSpPr>
          <p:cNvPr id="10" name="Text 8"/>
          <p:cNvSpPr/>
          <p:nvPr/>
        </p:nvSpPr>
        <p:spPr>
          <a:xfrm>
            <a:off x="484632" y="1810512"/>
            <a:ext cx="713232" cy="713232"/>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E</a:t>
            </a:r>
            <a:endParaRPr lang="en-US" sz="2800" dirty="0"/>
          </a:p>
        </p:txBody>
      </p:sp>
      <p:sp>
        <p:nvSpPr>
          <p:cNvPr id="11" name="Text 9"/>
          <p:cNvSpPr/>
          <p:nvPr/>
        </p:nvSpPr>
        <p:spPr>
          <a:xfrm>
            <a:off x="1307592" y="1847088"/>
            <a:ext cx="1572768" cy="292608"/>
          </a:xfrm>
          <a:prstGeom prst="rect">
            <a:avLst/>
          </a:prstGeom>
          <a:noFill/>
          <a:ln/>
        </p:spPr>
        <p:txBody>
          <a:bodyPr wrap="square" lIns="0" tIns="0" rIns="0" bIns="0" rtlCol="0" anchor="ctr"/>
          <a:lstStyle/>
          <a:p>
            <a:pPr indent="0" marL="0">
              <a:buNone/>
            </a:pPr>
            <a:r>
              <a:rPr lang="en-US" sz="1300" b="1" dirty="0">
                <a:solidFill>
                  <a:srgbClr val="00BFB3"/>
                </a:solidFill>
                <a:latin typeface="Cambria" pitchFamily="34" charset="0"/>
                <a:ea typeface="Cambria" pitchFamily="34" charset="-122"/>
                <a:cs typeface="Cambria" pitchFamily="34" charset="-120"/>
              </a:rPr>
              <a:t>Elasticsearch</a:t>
            </a:r>
            <a:endParaRPr lang="en-US" sz="1300" dirty="0"/>
          </a:p>
        </p:txBody>
      </p:sp>
      <p:sp>
        <p:nvSpPr>
          <p:cNvPr id="12" name="Text 10"/>
          <p:cNvSpPr/>
          <p:nvPr/>
        </p:nvSpPr>
        <p:spPr>
          <a:xfrm>
            <a:off x="1307592" y="2176272"/>
            <a:ext cx="157276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Store &amp; Search</a:t>
            </a:r>
            <a:endParaRPr lang="en-US" sz="1000" dirty="0"/>
          </a:p>
        </p:txBody>
      </p:sp>
      <p:sp>
        <p:nvSpPr>
          <p:cNvPr id="13" name="Text 11"/>
          <p:cNvSpPr/>
          <p:nvPr/>
        </p:nvSpPr>
        <p:spPr>
          <a:xfrm>
            <a:off x="484632" y="2633472"/>
            <a:ext cx="2423160" cy="18288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 distributed search and analytics engine. Stores all your log data as JSON documents. Makes every field instantly searchable across billions of records in milliseconds.</a:t>
            </a:r>
            <a:endParaRPr lang="en-US" sz="1050" dirty="0"/>
          </a:p>
        </p:txBody>
      </p:sp>
      <p:sp>
        <p:nvSpPr>
          <p:cNvPr id="14" name="Shape 12"/>
          <p:cNvSpPr/>
          <p:nvPr/>
        </p:nvSpPr>
        <p:spPr>
          <a:xfrm>
            <a:off x="3172968" y="1719072"/>
            <a:ext cx="2697480" cy="2944368"/>
          </a:xfrm>
          <a:prstGeom prst="roundRect">
            <a:avLst>
              <a:gd name="adj" fmla="val 3390"/>
            </a:avLst>
          </a:prstGeom>
          <a:solidFill>
            <a:srgbClr val="FEE2E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5" name="Shape 13"/>
          <p:cNvSpPr/>
          <p:nvPr/>
        </p:nvSpPr>
        <p:spPr>
          <a:xfrm>
            <a:off x="3337560" y="1810512"/>
            <a:ext cx="713232" cy="713232"/>
          </a:xfrm>
          <a:prstGeom prst="ellipse">
            <a:avLst/>
          </a:prstGeom>
          <a:solidFill>
            <a:srgbClr val="F4659C"/>
          </a:solidFill>
          <a:ln w="12700">
            <a:solidFill>
              <a:srgbClr val="F4659C"/>
            </a:solidFill>
            <a:prstDash val="solid"/>
          </a:ln>
        </p:spPr>
      </p:sp>
      <p:sp>
        <p:nvSpPr>
          <p:cNvPr id="16" name="Text 14"/>
          <p:cNvSpPr/>
          <p:nvPr/>
        </p:nvSpPr>
        <p:spPr>
          <a:xfrm>
            <a:off x="3337560" y="1810512"/>
            <a:ext cx="713232" cy="713232"/>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L</a:t>
            </a:r>
            <a:endParaRPr lang="en-US" sz="2800" dirty="0"/>
          </a:p>
        </p:txBody>
      </p:sp>
      <p:sp>
        <p:nvSpPr>
          <p:cNvPr id="17" name="Text 15"/>
          <p:cNvSpPr/>
          <p:nvPr/>
        </p:nvSpPr>
        <p:spPr>
          <a:xfrm>
            <a:off x="4160520" y="1847088"/>
            <a:ext cx="1572768" cy="292608"/>
          </a:xfrm>
          <a:prstGeom prst="rect">
            <a:avLst/>
          </a:prstGeom>
          <a:noFill/>
          <a:ln/>
        </p:spPr>
        <p:txBody>
          <a:bodyPr wrap="square" lIns="0" tIns="0" rIns="0" bIns="0" rtlCol="0" anchor="ctr"/>
          <a:lstStyle/>
          <a:p>
            <a:pPr indent="0" marL="0">
              <a:buNone/>
            </a:pPr>
            <a:r>
              <a:rPr lang="en-US" sz="1300" b="1" dirty="0">
                <a:solidFill>
                  <a:srgbClr val="F4659C"/>
                </a:solidFill>
                <a:latin typeface="Cambria" pitchFamily="34" charset="0"/>
                <a:ea typeface="Cambria" pitchFamily="34" charset="-122"/>
                <a:cs typeface="Cambria" pitchFamily="34" charset="-120"/>
              </a:rPr>
              <a:t>Logstash</a:t>
            </a:r>
            <a:endParaRPr lang="en-US" sz="1300" dirty="0"/>
          </a:p>
        </p:txBody>
      </p:sp>
      <p:sp>
        <p:nvSpPr>
          <p:cNvPr id="18" name="Text 16"/>
          <p:cNvSpPr/>
          <p:nvPr/>
        </p:nvSpPr>
        <p:spPr>
          <a:xfrm>
            <a:off x="4160520" y="2176272"/>
            <a:ext cx="157276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Collect &amp; Process</a:t>
            </a:r>
            <a:endParaRPr lang="en-US" sz="1000" dirty="0"/>
          </a:p>
        </p:txBody>
      </p:sp>
      <p:sp>
        <p:nvSpPr>
          <p:cNvPr id="19" name="Text 17"/>
          <p:cNvSpPr/>
          <p:nvPr/>
        </p:nvSpPr>
        <p:spPr>
          <a:xfrm>
            <a:off x="3337560" y="2633472"/>
            <a:ext cx="2423160" cy="18288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 server-side data processing pipeline. Reads logs from files, systems, APIs. Parses, transforms and enriches them — then ships them to Elasticsearch.</a:t>
            </a:r>
            <a:endParaRPr lang="en-US" sz="1050" dirty="0"/>
          </a:p>
        </p:txBody>
      </p:sp>
      <p:sp>
        <p:nvSpPr>
          <p:cNvPr id="20" name="Shape 18"/>
          <p:cNvSpPr/>
          <p:nvPr/>
        </p:nvSpPr>
        <p:spPr>
          <a:xfrm>
            <a:off x="6025896" y="1719072"/>
            <a:ext cx="2697480" cy="2944368"/>
          </a:xfrm>
          <a:prstGeom prst="roundRect">
            <a:avLst>
              <a:gd name="adj" fmla="val 3390"/>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1" name="Shape 19"/>
          <p:cNvSpPr/>
          <p:nvPr/>
        </p:nvSpPr>
        <p:spPr>
          <a:xfrm>
            <a:off x="6190488" y="1810512"/>
            <a:ext cx="713232" cy="713232"/>
          </a:xfrm>
          <a:prstGeom prst="ellipse">
            <a:avLst/>
          </a:prstGeom>
          <a:solidFill>
            <a:srgbClr val="8B5CF6"/>
          </a:solidFill>
          <a:ln w="12700">
            <a:solidFill>
              <a:srgbClr val="8B5CF6"/>
            </a:solidFill>
            <a:prstDash val="solid"/>
          </a:ln>
        </p:spPr>
      </p:sp>
      <p:sp>
        <p:nvSpPr>
          <p:cNvPr id="22" name="Text 20"/>
          <p:cNvSpPr/>
          <p:nvPr/>
        </p:nvSpPr>
        <p:spPr>
          <a:xfrm>
            <a:off x="6190488" y="1810512"/>
            <a:ext cx="713232" cy="713232"/>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K</a:t>
            </a:r>
            <a:endParaRPr lang="en-US" sz="2800" dirty="0"/>
          </a:p>
        </p:txBody>
      </p:sp>
      <p:sp>
        <p:nvSpPr>
          <p:cNvPr id="23" name="Text 21"/>
          <p:cNvSpPr/>
          <p:nvPr/>
        </p:nvSpPr>
        <p:spPr>
          <a:xfrm>
            <a:off x="7013448" y="1847088"/>
            <a:ext cx="1572768" cy="292608"/>
          </a:xfrm>
          <a:prstGeom prst="rect">
            <a:avLst/>
          </a:prstGeom>
          <a:noFill/>
          <a:ln/>
        </p:spPr>
        <p:txBody>
          <a:bodyPr wrap="square" lIns="0" tIns="0" rIns="0" bIns="0" rtlCol="0" anchor="ctr"/>
          <a:lstStyle/>
          <a:p>
            <a:pPr indent="0" marL="0">
              <a:buNone/>
            </a:pPr>
            <a:r>
              <a:rPr lang="en-US" sz="1300" b="1" dirty="0">
                <a:solidFill>
                  <a:srgbClr val="8B5CF6"/>
                </a:solidFill>
                <a:latin typeface="Cambria" pitchFamily="34" charset="0"/>
                <a:ea typeface="Cambria" pitchFamily="34" charset="-122"/>
                <a:cs typeface="Cambria" pitchFamily="34" charset="-120"/>
              </a:rPr>
              <a:t>Kibana</a:t>
            </a:r>
            <a:endParaRPr lang="en-US" sz="1300" dirty="0"/>
          </a:p>
        </p:txBody>
      </p:sp>
      <p:sp>
        <p:nvSpPr>
          <p:cNvPr id="24" name="Text 22"/>
          <p:cNvSpPr/>
          <p:nvPr/>
        </p:nvSpPr>
        <p:spPr>
          <a:xfrm>
            <a:off x="7013448" y="2176272"/>
            <a:ext cx="157276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Visualise &amp; Alert</a:t>
            </a:r>
            <a:endParaRPr lang="en-US" sz="1000" dirty="0"/>
          </a:p>
        </p:txBody>
      </p:sp>
      <p:sp>
        <p:nvSpPr>
          <p:cNvPr id="25" name="Text 23"/>
          <p:cNvSpPr/>
          <p:nvPr/>
        </p:nvSpPr>
        <p:spPr>
          <a:xfrm>
            <a:off x="6190488" y="2633472"/>
            <a:ext cx="2423160" cy="182880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The web interface for Elasticsearch. Search logs, build dashboards, create alerts, explore data — all through a browser. No coding required.</a:t>
            </a:r>
            <a:endParaRPr lang="en-US" sz="1050" dirty="0"/>
          </a:p>
        </p:txBody>
      </p:sp>
      <p:sp>
        <p:nvSpPr>
          <p:cNvPr id="26" name="Shape 24"/>
          <p:cNvSpPr/>
          <p:nvPr/>
        </p:nvSpPr>
        <p:spPr>
          <a:xfrm>
            <a:off x="0" y="4846320"/>
            <a:ext cx="9144000" cy="297180"/>
          </a:xfrm>
          <a:prstGeom prst="rect">
            <a:avLst/>
          </a:prstGeom>
          <a:solidFill>
            <a:srgbClr val="0F172A"/>
          </a:solidFill>
          <a:ln w="12700">
            <a:solidFill>
              <a:srgbClr val="0F172A"/>
            </a:solidFill>
            <a:prstDash val="solid"/>
          </a:ln>
        </p:spPr>
      </p:sp>
      <p:sp>
        <p:nvSpPr>
          <p:cNvPr id="27" name="Text 25"/>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ELK?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ELK DATA FLOW — END TO END</a:t>
            </a:r>
            <a:endParaRPr lang="en-US" sz="2000" dirty="0"/>
          </a:p>
        </p:txBody>
      </p:sp>
      <p:sp>
        <p:nvSpPr>
          <p:cNvPr id="4" name="Shape 2"/>
          <p:cNvSpPr/>
          <p:nvPr/>
        </p:nvSpPr>
        <p:spPr>
          <a:xfrm>
            <a:off x="7178040" y="109728"/>
            <a:ext cx="1600200" cy="475488"/>
          </a:xfrm>
          <a:prstGeom prst="roundRect">
            <a:avLst>
              <a:gd name="adj" fmla="val 11538"/>
            </a:avLst>
          </a:prstGeom>
          <a:solidFill>
            <a:srgbClr val="0077CC"/>
          </a:solidFill>
          <a:ln w="12700">
            <a:solidFill>
              <a:srgbClr val="0077C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ELK?</a:t>
            </a:r>
            <a:endParaRPr lang="en-US" sz="950" dirty="0"/>
          </a:p>
        </p:txBody>
      </p:sp>
      <p:sp>
        <p:nvSpPr>
          <p:cNvPr id="6" name="Shape 4"/>
          <p:cNvSpPr/>
          <p:nvPr/>
        </p:nvSpPr>
        <p:spPr>
          <a:xfrm>
            <a:off x="320040" y="868680"/>
            <a:ext cx="8503920" cy="1810512"/>
          </a:xfrm>
          <a:prstGeom prst="roundRect">
            <a:avLst>
              <a:gd name="adj" fmla="val 5051"/>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32688"/>
            <a:ext cx="8229600" cy="256032"/>
          </a:xfrm>
          <a:prstGeom prst="rect">
            <a:avLst/>
          </a:prstGeom>
          <a:noFill/>
          <a:ln/>
        </p:spPr>
        <p:txBody>
          <a:bodyPr wrap="square" lIns="0" tIns="0" rIns="0" bIns="0" rtlCol="0" anchor="ctr"/>
          <a:lstStyle/>
          <a:p>
            <a:pPr indent="0" marL="0">
              <a:buNone/>
            </a:pPr>
            <a:r>
              <a:rPr lang="en-US" sz="1000" b="1" spc="300" kern="0" dirty="0">
                <a:solidFill>
                  <a:srgbClr val="64748B"/>
                </a:solidFill>
                <a:latin typeface="Arial" pitchFamily="34" charset="0"/>
                <a:ea typeface="Arial" pitchFamily="34" charset="-122"/>
                <a:cs typeface="Arial" pitchFamily="34" charset="-120"/>
              </a:rPr>
              <a:t>DATA FLOW</a:t>
            </a:r>
            <a:endParaRPr lang="en-US" sz="1000" dirty="0"/>
          </a:p>
        </p:txBody>
      </p:sp>
      <p:sp>
        <p:nvSpPr>
          <p:cNvPr id="8" name="Shape 6"/>
          <p:cNvSpPr/>
          <p:nvPr/>
        </p:nvSpPr>
        <p:spPr>
          <a:xfrm>
            <a:off x="475488" y="1261872"/>
            <a:ext cx="1938528" cy="1207008"/>
          </a:xfrm>
          <a:prstGeom prst="roundRect">
            <a:avLst>
              <a:gd name="adj" fmla="val 6061"/>
            </a:avLst>
          </a:prstGeom>
          <a:solidFill>
            <a:srgbClr val="1E293B"/>
          </a:solidFill>
          <a:ln w="25400">
            <a:solidFill>
              <a:srgbClr val="475569"/>
            </a:solidFill>
            <a:prstDash val="solid"/>
          </a:ln>
        </p:spPr>
      </p:sp>
      <p:sp>
        <p:nvSpPr>
          <p:cNvPr id="9" name="Text 7"/>
          <p:cNvSpPr/>
          <p:nvPr/>
        </p:nvSpPr>
        <p:spPr>
          <a:xfrm>
            <a:off x="475488" y="1325880"/>
            <a:ext cx="1938528" cy="347472"/>
          </a:xfrm>
          <a:prstGeom prst="rect">
            <a:avLst/>
          </a:prstGeom>
          <a:noFill/>
          <a:ln/>
        </p:spPr>
        <p:txBody>
          <a:bodyPr wrap="square" lIns="0" tIns="0" rIns="0" bIns="0" rtlCol="0" anchor="ctr"/>
          <a:lstStyle/>
          <a:p>
            <a:pPr algn="ctr" indent="0" marL="0">
              <a:buNone/>
            </a:pPr>
            <a:r>
              <a:rPr lang="en-US" sz="1200" b="1" dirty="0">
                <a:solidFill>
                  <a:srgbClr val="475569"/>
                </a:solidFill>
                <a:latin typeface="Cambria" pitchFamily="34" charset="0"/>
                <a:ea typeface="Cambria" pitchFamily="34" charset="-122"/>
                <a:cs typeface="Cambria" pitchFamily="34" charset="-120"/>
              </a:rPr>
              <a:t>Log Sources</a:t>
            </a:r>
            <a:endParaRPr lang="en-US" sz="1200" dirty="0"/>
          </a:p>
        </p:txBody>
      </p:sp>
      <p:sp>
        <p:nvSpPr>
          <p:cNvPr id="10" name="Text 8"/>
          <p:cNvSpPr/>
          <p:nvPr/>
        </p:nvSpPr>
        <p:spPr>
          <a:xfrm>
            <a:off x="475488" y="1691640"/>
            <a:ext cx="1938528" cy="71323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app servers</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nginx, apache</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DB logs</a:t>
            </a:r>
            <a:endParaRPr lang="en-US" sz="1000" dirty="0"/>
          </a:p>
        </p:txBody>
      </p:sp>
      <p:sp>
        <p:nvSpPr>
          <p:cNvPr id="11" name="Text 9"/>
          <p:cNvSpPr/>
          <p:nvPr/>
        </p:nvSpPr>
        <p:spPr>
          <a:xfrm>
            <a:off x="2432304" y="1664208"/>
            <a:ext cx="201168" cy="320040"/>
          </a:xfrm>
          <a:prstGeom prst="rect">
            <a:avLst/>
          </a:prstGeom>
          <a:noFill/>
          <a:ln/>
        </p:spPr>
        <p:txBody>
          <a:bodyPr wrap="square" lIns="0" tIns="0" rIns="0" bIns="0" rtlCol="0" anchor="ctr"/>
          <a:lstStyle/>
          <a:p>
            <a:pPr algn="ctr" indent="0" marL="0">
              <a:buNone/>
            </a:pPr>
            <a:r>
              <a:rPr lang="en-US" sz="1800" dirty="0">
                <a:solidFill>
                  <a:srgbClr val="475569"/>
                </a:solidFill>
              </a:rPr>
              <a:t>→</a:t>
            </a:r>
            <a:endParaRPr lang="en-US" sz="1800" dirty="0"/>
          </a:p>
        </p:txBody>
      </p:sp>
      <p:sp>
        <p:nvSpPr>
          <p:cNvPr id="12" name="Shape 10"/>
          <p:cNvSpPr/>
          <p:nvPr/>
        </p:nvSpPr>
        <p:spPr>
          <a:xfrm>
            <a:off x="2651760" y="1261872"/>
            <a:ext cx="1938528" cy="1207008"/>
          </a:xfrm>
          <a:prstGeom prst="roundRect">
            <a:avLst>
              <a:gd name="adj" fmla="val 6061"/>
            </a:avLst>
          </a:prstGeom>
          <a:solidFill>
            <a:srgbClr val="2D1529"/>
          </a:solidFill>
          <a:ln w="25400">
            <a:solidFill>
              <a:srgbClr val="F4659C"/>
            </a:solidFill>
            <a:prstDash val="solid"/>
          </a:ln>
        </p:spPr>
      </p:sp>
      <p:sp>
        <p:nvSpPr>
          <p:cNvPr id="13" name="Text 11"/>
          <p:cNvSpPr/>
          <p:nvPr/>
        </p:nvSpPr>
        <p:spPr>
          <a:xfrm>
            <a:off x="2651760" y="1325880"/>
            <a:ext cx="1938528" cy="347472"/>
          </a:xfrm>
          <a:prstGeom prst="rect">
            <a:avLst/>
          </a:prstGeom>
          <a:noFill/>
          <a:ln/>
        </p:spPr>
        <p:txBody>
          <a:bodyPr wrap="square" lIns="0" tIns="0" rIns="0" bIns="0" rtlCol="0" anchor="ctr"/>
          <a:lstStyle/>
          <a:p>
            <a:pPr algn="ctr" indent="0" marL="0">
              <a:buNone/>
            </a:pPr>
            <a:r>
              <a:rPr lang="en-US" sz="1200" b="1" dirty="0">
                <a:solidFill>
                  <a:srgbClr val="F4659C"/>
                </a:solidFill>
                <a:latin typeface="Cambria" pitchFamily="34" charset="0"/>
                <a:ea typeface="Cambria" pitchFamily="34" charset="-122"/>
                <a:cs typeface="Cambria" pitchFamily="34" charset="-120"/>
              </a:rPr>
              <a:t>Logstash</a:t>
            </a:r>
            <a:endParaRPr lang="en-US" sz="1200" dirty="0"/>
          </a:p>
        </p:txBody>
      </p:sp>
      <p:sp>
        <p:nvSpPr>
          <p:cNvPr id="14" name="Text 12"/>
          <p:cNvSpPr/>
          <p:nvPr/>
        </p:nvSpPr>
        <p:spPr>
          <a:xfrm>
            <a:off x="2651760" y="1691640"/>
            <a:ext cx="1938528" cy="71323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parse</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transform</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enrich</a:t>
            </a:r>
            <a:endParaRPr lang="en-US" sz="1000" dirty="0"/>
          </a:p>
        </p:txBody>
      </p:sp>
      <p:sp>
        <p:nvSpPr>
          <p:cNvPr id="15" name="Text 13"/>
          <p:cNvSpPr/>
          <p:nvPr/>
        </p:nvSpPr>
        <p:spPr>
          <a:xfrm>
            <a:off x="4608576" y="1664208"/>
            <a:ext cx="201168" cy="320040"/>
          </a:xfrm>
          <a:prstGeom prst="rect">
            <a:avLst/>
          </a:prstGeom>
          <a:noFill/>
          <a:ln/>
        </p:spPr>
        <p:txBody>
          <a:bodyPr wrap="square" lIns="0" tIns="0" rIns="0" bIns="0" rtlCol="0" anchor="ctr"/>
          <a:lstStyle/>
          <a:p>
            <a:pPr algn="ctr" indent="0" marL="0">
              <a:buNone/>
            </a:pPr>
            <a:r>
              <a:rPr lang="en-US" sz="1800" dirty="0">
                <a:solidFill>
                  <a:srgbClr val="475569"/>
                </a:solidFill>
              </a:rPr>
              <a:t>→</a:t>
            </a:r>
            <a:endParaRPr lang="en-US" sz="1800" dirty="0"/>
          </a:p>
        </p:txBody>
      </p:sp>
      <p:sp>
        <p:nvSpPr>
          <p:cNvPr id="16" name="Shape 14"/>
          <p:cNvSpPr/>
          <p:nvPr/>
        </p:nvSpPr>
        <p:spPr>
          <a:xfrm>
            <a:off x="4828032" y="1261872"/>
            <a:ext cx="1938528" cy="1207008"/>
          </a:xfrm>
          <a:prstGeom prst="roundRect">
            <a:avLst>
              <a:gd name="adj" fmla="val 6061"/>
            </a:avLst>
          </a:prstGeom>
          <a:solidFill>
            <a:srgbClr val="0F2926"/>
          </a:solidFill>
          <a:ln w="25400">
            <a:solidFill>
              <a:srgbClr val="00BFB3"/>
            </a:solidFill>
            <a:prstDash val="solid"/>
          </a:ln>
        </p:spPr>
      </p:sp>
      <p:sp>
        <p:nvSpPr>
          <p:cNvPr id="17" name="Text 15"/>
          <p:cNvSpPr/>
          <p:nvPr/>
        </p:nvSpPr>
        <p:spPr>
          <a:xfrm>
            <a:off x="4828032" y="1325880"/>
            <a:ext cx="1938528" cy="347472"/>
          </a:xfrm>
          <a:prstGeom prst="rect">
            <a:avLst/>
          </a:prstGeom>
          <a:noFill/>
          <a:ln/>
        </p:spPr>
        <p:txBody>
          <a:bodyPr wrap="square" lIns="0" tIns="0" rIns="0" bIns="0" rtlCol="0" anchor="ctr"/>
          <a:lstStyle/>
          <a:p>
            <a:pPr algn="ctr" indent="0" marL="0">
              <a:buNone/>
            </a:pPr>
            <a:r>
              <a:rPr lang="en-US" sz="1200" b="1" dirty="0">
                <a:solidFill>
                  <a:srgbClr val="00BFB3"/>
                </a:solidFill>
                <a:latin typeface="Cambria" pitchFamily="34" charset="0"/>
                <a:ea typeface="Cambria" pitchFamily="34" charset="-122"/>
                <a:cs typeface="Cambria" pitchFamily="34" charset="-120"/>
              </a:rPr>
              <a:t>Elasticsearch</a:t>
            </a:r>
            <a:endParaRPr lang="en-US" sz="1200" dirty="0"/>
          </a:p>
        </p:txBody>
      </p:sp>
      <p:sp>
        <p:nvSpPr>
          <p:cNvPr id="18" name="Text 16"/>
          <p:cNvSpPr/>
          <p:nvPr/>
        </p:nvSpPr>
        <p:spPr>
          <a:xfrm>
            <a:off x="4828032" y="1691640"/>
            <a:ext cx="1938528" cy="71323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index</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store</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search</a:t>
            </a:r>
            <a:endParaRPr lang="en-US" sz="1000" dirty="0"/>
          </a:p>
        </p:txBody>
      </p:sp>
      <p:sp>
        <p:nvSpPr>
          <p:cNvPr id="19" name="Text 17"/>
          <p:cNvSpPr/>
          <p:nvPr/>
        </p:nvSpPr>
        <p:spPr>
          <a:xfrm>
            <a:off x="6784848" y="1664208"/>
            <a:ext cx="201168" cy="320040"/>
          </a:xfrm>
          <a:prstGeom prst="rect">
            <a:avLst/>
          </a:prstGeom>
          <a:noFill/>
          <a:ln/>
        </p:spPr>
        <p:txBody>
          <a:bodyPr wrap="square" lIns="0" tIns="0" rIns="0" bIns="0" rtlCol="0" anchor="ctr"/>
          <a:lstStyle/>
          <a:p>
            <a:pPr algn="ctr" indent="0" marL="0">
              <a:buNone/>
            </a:pPr>
            <a:r>
              <a:rPr lang="en-US" sz="1800" dirty="0">
                <a:solidFill>
                  <a:srgbClr val="475569"/>
                </a:solidFill>
              </a:rPr>
              <a:t>→</a:t>
            </a:r>
            <a:endParaRPr lang="en-US" sz="1800" dirty="0"/>
          </a:p>
        </p:txBody>
      </p:sp>
      <p:sp>
        <p:nvSpPr>
          <p:cNvPr id="20" name="Shape 18"/>
          <p:cNvSpPr/>
          <p:nvPr/>
        </p:nvSpPr>
        <p:spPr>
          <a:xfrm>
            <a:off x="7004304" y="1261872"/>
            <a:ext cx="1938528" cy="1207008"/>
          </a:xfrm>
          <a:prstGeom prst="roundRect">
            <a:avLst>
              <a:gd name="adj" fmla="val 6061"/>
            </a:avLst>
          </a:prstGeom>
          <a:solidFill>
            <a:srgbClr val="1E1531"/>
          </a:solidFill>
          <a:ln w="25400">
            <a:solidFill>
              <a:srgbClr val="8B5CF6"/>
            </a:solidFill>
            <a:prstDash val="solid"/>
          </a:ln>
        </p:spPr>
      </p:sp>
      <p:sp>
        <p:nvSpPr>
          <p:cNvPr id="21" name="Text 19"/>
          <p:cNvSpPr/>
          <p:nvPr/>
        </p:nvSpPr>
        <p:spPr>
          <a:xfrm>
            <a:off x="7004304" y="1325880"/>
            <a:ext cx="1938528" cy="347472"/>
          </a:xfrm>
          <a:prstGeom prst="rect">
            <a:avLst/>
          </a:prstGeom>
          <a:noFill/>
          <a:ln/>
        </p:spPr>
        <p:txBody>
          <a:bodyPr wrap="square" lIns="0" tIns="0" rIns="0" bIns="0" rtlCol="0" anchor="ctr"/>
          <a:lstStyle/>
          <a:p>
            <a:pPr algn="ctr" indent="0" marL="0">
              <a:buNone/>
            </a:pPr>
            <a:r>
              <a:rPr lang="en-US" sz="1200" b="1" dirty="0">
                <a:solidFill>
                  <a:srgbClr val="8B5CF6"/>
                </a:solidFill>
                <a:latin typeface="Cambria" pitchFamily="34" charset="0"/>
                <a:ea typeface="Cambria" pitchFamily="34" charset="-122"/>
                <a:cs typeface="Cambria" pitchFamily="34" charset="-120"/>
              </a:rPr>
              <a:t>Kibana</a:t>
            </a:r>
            <a:endParaRPr lang="en-US" sz="1200" dirty="0"/>
          </a:p>
        </p:txBody>
      </p:sp>
      <p:sp>
        <p:nvSpPr>
          <p:cNvPr id="22" name="Text 20"/>
          <p:cNvSpPr/>
          <p:nvPr/>
        </p:nvSpPr>
        <p:spPr>
          <a:xfrm>
            <a:off x="7004304" y="1691640"/>
            <a:ext cx="1938528" cy="71323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search</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visualise</a:t>
            </a:r>
            <a:endParaRPr lang="en-US" sz="1000" dirty="0"/>
          </a:p>
          <a:p>
            <a:pPr algn="ctr" indent="0" marL="0">
              <a:buNone/>
            </a:pPr>
            <a:r>
              <a:rPr lang="en-US" sz="1000" dirty="0">
                <a:solidFill>
                  <a:srgbClr val="94A3B8"/>
                </a:solidFill>
                <a:latin typeface="Arial" pitchFamily="34" charset="0"/>
                <a:ea typeface="Arial" pitchFamily="34" charset="-122"/>
                <a:cs typeface="Arial" pitchFamily="34" charset="-120"/>
              </a:rPr>
              <a:t>alert</a:t>
            </a:r>
            <a:endParaRPr lang="en-US" sz="1000" dirty="0"/>
          </a:p>
        </p:txBody>
      </p:sp>
      <p:sp>
        <p:nvSpPr>
          <p:cNvPr id="23" name="Shape 21"/>
          <p:cNvSpPr/>
          <p:nvPr/>
        </p:nvSpPr>
        <p:spPr>
          <a:xfrm>
            <a:off x="320040" y="2816352"/>
            <a:ext cx="8503920" cy="658368"/>
          </a:xfrm>
          <a:prstGeom prst="roundRect">
            <a:avLst>
              <a:gd name="adj" fmla="val 13889"/>
            </a:avLst>
          </a:prstGeom>
          <a:solidFill>
            <a:srgbClr val="FEF3C7"/>
          </a:solidFill>
          <a:ln w="12700">
            <a:solidFill>
              <a:srgbClr val="FCD34D"/>
            </a:solidFill>
            <a:prstDash val="solid"/>
          </a:ln>
          <a:effectLst>
            <a:outerShdw sx="100000" sy="100000" kx="0" ky="0" algn="bl" rotWithShape="0" blurRad="76200" dist="38100" dir="2700000">
              <a:srgbClr val="000000">
                <a:alpha val="10000"/>
              </a:srgbClr>
            </a:outerShdw>
          </a:effectLst>
        </p:spPr>
      </p:sp>
      <p:sp>
        <p:nvSpPr>
          <p:cNvPr id="24" name="Text 22"/>
          <p:cNvSpPr/>
          <p:nvPr/>
        </p:nvSpPr>
        <p:spPr>
          <a:xfrm>
            <a:off x="475488" y="2880360"/>
            <a:ext cx="8229600" cy="256032"/>
          </a:xfrm>
          <a:prstGeom prst="rect">
            <a:avLst/>
          </a:prstGeom>
          <a:noFill/>
          <a:ln/>
        </p:spPr>
        <p:txBody>
          <a:bodyPr wrap="square" lIns="0" tIns="0" rIns="0" bIns="0" rtlCol="0" anchor="ctr"/>
          <a:lstStyle/>
          <a:p>
            <a:pPr indent="0" marL="0">
              <a:buNone/>
            </a:pPr>
            <a:r>
              <a:rPr lang="en-US" sz="1150" b="1" dirty="0">
                <a:solidFill>
                  <a:srgbClr val="F5A700"/>
                </a:solidFill>
                <a:latin typeface="Arial" pitchFamily="34" charset="0"/>
                <a:ea typeface="Arial" pitchFamily="34" charset="-122"/>
                <a:cs typeface="Arial" pitchFamily="34" charset="-120"/>
              </a:rPr>
              <a:t>📦  Beats (optional but common)</a:t>
            </a:r>
            <a:endParaRPr lang="en-US" sz="1150" dirty="0"/>
          </a:p>
        </p:txBody>
      </p:sp>
      <p:sp>
        <p:nvSpPr>
          <p:cNvPr id="25" name="Text 23"/>
          <p:cNvSpPr/>
          <p:nvPr/>
        </p:nvSpPr>
        <p:spPr>
          <a:xfrm>
            <a:off x="475488" y="3154680"/>
            <a:ext cx="8229600" cy="2560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Lightweight agents on each server — Filebeat ships log files, Metricbeat ships CPU/memory stats. They send directly to Logstash or Elasticsearch. Covered on Day 2.</a:t>
            </a:r>
            <a:endParaRPr lang="en-US" sz="1050" dirty="0"/>
          </a:p>
        </p:txBody>
      </p:sp>
      <p:sp>
        <p:nvSpPr>
          <p:cNvPr id="26" name="Shape 24"/>
          <p:cNvSpPr/>
          <p:nvPr/>
        </p:nvSpPr>
        <p:spPr>
          <a:xfrm>
            <a:off x="320040" y="3584448"/>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7" name="Text 25"/>
          <p:cNvSpPr/>
          <p:nvPr/>
        </p:nvSpPr>
        <p:spPr>
          <a:xfrm>
            <a:off x="457200" y="3639312"/>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Centralised Log Search</a:t>
            </a:r>
            <a:endParaRPr lang="en-US" sz="1150" dirty="0"/>
          </a:p>
        </p:txBody>
      </p:sp>
      <p:sp>
        <p:nvSpPr>
          <p:cNvPr id="28" name="Text 26"/>
          <p:cNvSpPr/>
          <p:nvPr/>
        </p:nvSpPr>
        <p:spPr>
          <a:xfrm>
            <a:off x="457200" y="3913632"/>
            <a:ext cx="3840480" cy="20116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Search all servers simultaneously in milliseconds</a:t>
            </a:r>
            <a:endParaRPr lang="en-US" sz="1000" dirty="0"/>
          </a:p>
        </p:txBody>
      </p:sp>
      <p:sp>
        <p:nvSpPr>
          <p:cNvPr id="29" name="Shape 27"/>
          <p:cNvSpPr/>
          <p:nvPr/>
        </p:nvSpPr>
        <p:spPr>
          <a:xfrm>
            <a:off x="4709160" y="3584448"/>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0" name="Text 28"/>
          <p:cNvSpPr/>
          <p:nvPr/>
        </p:nvSpPr>
        <p:spPr>
          <a:xfrm>
            <a:off x="4846320" y="3639312"/>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Real-Time Dashboards</a:t>
            </a:r>
            <a:endParaRPr lang="en-US" sz="1150" dirty="0"/>
          </a:p>
        </p:txBody>
      </p:sp>
      <p:sp>
        <p:nvSpPr>
          <p:cNvPr id="31" name="Text 29"/>
          <p:cNvSpPr/>
          <p:nvPr/>
        </p:nvSpPr>
        <p:spPr>
          <a:xfrm>
            <a:off x="4846320" y="3913632"/>
            <a:ext cx="3840480" cy="20116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Live charts of error rates, response times, traffic</a:t>
            </a:r>
            <a:endParaRPr lang="en-US" sz="1000" dirty="0"/>
          </a:p>
        </p:txBody>
      </p:sp>
      <p:sp>
        <p:nvSpPr>
          <p:cNvPr id="32" name="Shape 30"/>
          <p:cNvSpPr/>
          <p:nvPr/>
        </p:nvSpPr>
        <p:spPr>
          <a:xfrm>
            <a:off x="320040" y="4242816"/>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3" name="Text 31"/>
          <p:cNvSpPr/>
          <p:nvPr/>
        </p:nvSpPr>
        <p:spPr>
          <a:xfrm>
            <a:off x="457200" y="4297680"/>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Alerting</a:t>
            </a:r>
            <a:endParaRPr lang="en-US" sz="1150" dirty="0"/>
          </a:p>
        </p:txBody>
      </p:sp>
      <p:sp>
        <p:nvSpPr>
          <p:cNvPr id="34" name="Text 32"/>
          <p:cNvSpPr/>
          <p:nvPr/>
        </p:nvSpPr>
        <p:spPr>
          <a:xfrm>
            <a:off x="457200" y="4572000"/>
            <a:ext cx="3840480" cy="20116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Get notified when error rate spikes above threshold</a:t>
            </a:r>
            <a:endParaRPr lang="en-US" sz="1000" dirty="0"/>
          </a:p>
        </p:txBody>
      </p:sp>
      <p:sp>
        <p:nvSpPr>
          <p:cNvPr id="35" name="Shape 33"/>
          <p:cNvSpPr/>
          <p:nvPr/>
        </p:nvSpPr>
        <p:spPr>
          <a:xfrm>
            <a:off x="4709160" y="4242816"/>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6" name="Text 34"/>
          <p:cNvSpPr/>
          <p:nvPr/>
        </p:nvSpPr>
        <p:spPr>
          <a:xfrm>
            <a:off x="4846320" y="4297680"/>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Security / SIEM</a:t>
            </a:r>
            <a:endParaRPr lang="en-US" sz="1150" dirty="0"/>
          </a:p>
        </p:txBody>
      </p:sp>
      <p:sp>
        <p:nvSpPr>
          <p:cNvPr id="37" name="Text 35"/>
          <p:cNvSpPr/>
          <p:nvPr/>
        </p:nvSpPr>
        <p:spPr>
          <a:xfrm>
            <a:off x="4846320" y="4572000"/>
            <a:ext cx="3840480" cy="20116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Detect threats by correlating events across systems</a:t>
            </a:r>
            <a:endParaRPr lang="en-US" sz="1000" dirty="0"/>
          </a:p>
        </p:txBody>
      </p:sp>
      <p:sp>
        <p:nvSpPr>
          <p:cNvPr id="38" name="Shape 36"/>
          <p:cNvSpPr/>
          <p:nvPr/>
        </p:nvSpPr>
        <p:spPr>
          <a:xfrm>
            <a:off x="0" y="4846320"/>
            <a:ext cx="9144000" cy="297180"/>
          </a:xfrm>
          <a:prstGeom prst="rect">
            <a:avLst/>
          </a:prstGeom>
          <a:solidFill>
            <a:srgbClr val="0F172A"/>
          </a:solidFill>
          <a:ln w="12700">
            <a:solidFill>
              <a:srgbClr val="0F172A"/>
            </a:solidFill>
            <a:prstDash val="solid"/>
          </a:ln>
        </p:spPr>
      </p:sp>
      <p:sp>
        <p:nvSpPr>
          <p:cNvPr id="39" name="Text 37"/>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ELK?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0BFB3"/>
          </a:solidFill>
          <a:ln w="12700">
            <a:solidFill>
              <a:srgbClr val="00BFB3"/>
            </a:solidFill>
            <a:prstDash val="solid"/>
          </a:ln>
        </p:spPr>
      </p:sp>
      <p:sp>
        <p:nvSpPr>
          <p:cNvPr id="3" name="Shape 1"/>
          <p:cNvSpPr/>
          <p:nvPr/>
        </p:nvSpPr>
        <p:spPr>
          <a:xfrm>
            <a:off x="5943600" y="-914400"/>
            <a:ext cx="4572000" cy="4572000"/>
          </a:xfrm>
          <a:prstGeom prst="ellipse">
            <a:avLst/>
          </a:prstGeom>
          <a:solidFill>
            <a:srgbClr val="00BFB3">
              <a:alpha val="10000"/>
            </a:srgbClr>
          </a:solidFill>
          <a:ln w="12700">
            <a:solidFill>
              <a:srgbClr val="00BFB3">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0BFB3"/>
                </a:solidFill>
                <a:latin typeface="Arial" pitchFamily="34" charset="0"/>
                <a:ea typeface="Arial" pitchFamily="34" charset="-122"/>
                <a:cs typeface="Arial" pitchFamily="34" charset="-120"/>
              </a:rPr>
              <a:t>SECTION 02</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Docker Setup</a:t>
            </a:r>
            <a:endParaRPr lang="en-US" sz="44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Starting the full ELK stack with one command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DOCKER COMPOSE — ELK STACK</a:t>
            </a:r>
            <a:endParaRPr lang="en-US" sz="2000" dirty="0"/>
          </a:p>
        </p:txBody>
      </p:sp>
      <p:sp>
        <p:nvSpPr>
          <p:cNvPr id="4" name="Shape 2"/>
          <p:cNvSpPr/>
          <p:nvPr/>
        </p:nvSpPr>
        <p:spPr>
          <a:xfrm>
            <a:off x="7178040" y="109728"/>
            <a:ext cx="1600200" cy="475488"/>
          </a:xfrm>
          <a:prstGeom prst="roundRect">
            <a:avLst>
              <a:gd name="adj" fmla="val 11538"/>
            </a:avLst>
          </a:prstGeom>
          <a:solidFill>
            <a:srgbClr val="0077CC"/>
          </a:solidFill>
          <a:ln w="12700">
            <a:solidFill>
              <a:srgbClr val="0077C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02  •  Docker Setup</a:t>
            </a:r>
            <a:endParaRPr lang="en-US" sz="950" dirty="0"/>
          </a:p>
        </p:txBody>
      </p:sp>
      <p:sp>
        <p:nvSpPr>
          <p:cNvPr id="6" name="Shape 4"/>
          <p:cNvSpPr/>
          <p:nvPr/>
        </p:nvSpPr>
        <p:spPr>
          <a:xfrm>
            <a:off x="320040" y="868680"/>
            <a:ext cx="8503920" cy="566928"/>
          </a:xfrm>
          <a:prstGeom prst="roundRect">
            <a:avLst>
              <a:gd name="adj" fmla="val 16129"/>
            </a:avLst>
          </a:prstGeom>
          <a:solidFill>
            <a:srgbClr val="DBEAFE"/>
          </a:solidFill>
          <a:ln w="12700">
            <a:solidFill>
              <a:srgbClr val="93C5FD"/>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475488"/>
          </a:xfrm>
          <a:prstGeom prst="rect">
            <a:avLst/>
          </a:prstGeom>
          <a:noFill/>
          <a:ln/>
        </p:spPr>
        <p:txBody>
          <a:bodyPr wrap="square" lIns="0" tIns="0" rIns="0" bIns="0" rtlCol="0" anchor="ctr"/>
          <a:lstStyle/>
          <a:p>
            <a:pPr indent="0" marL="0">
              <a:buNone/>
            </a:pPr>
            <a:r>
              <a:rPr lang="en-US" sz="1200" dirty="0">
                <a:solidFill>
                  <a:srgbClr val="0F172A"/>
                </a:solidFill>
                <a:latin typeface="Cambria" pitchFamily="34" charset="0"/>
                <a:ea typeface="Cambria" pitchFamily="34" charset="-122"/>
                <a:cs typeface="Cambria" pitchFamily="34" charset="-120"/>
              </a:rPr>
              <a:t>One docker-compose.yml file starts all three containers. All must be the same version. Security is disabled for training simplicity.</a:t>
            </a:r>
            <a:endParaRPr lang="en-US" sz="1200" dirty="0"/>
          </a:p>
        </p:txBody>
      </p:sp>
      <p:sp>
        <p:nvSpPr>
          <p:cNvPr id="8" name="Shape 6"/>
          <p:cNvSpPr/>
          <p:nvPr/>
        </p:nvSpPr>
        <p:spPr>
          <a:xfrm>
            <a:off x="320040" y="1536192"/>
            <a:ext cx="8503920" cy="3456432"/>
          </a:xfrm>
          <a:prstGeom prst="roundRect">
            <a:avLst>
              <a:gd name="adj" fmla="val 2646"/>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609344"/>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docker-compose.yml</a:t>
            </a:r>
            <a:endParaRPr lang="en-US" sz="900" dirty="0"/>
          </a:p>
        </p:txBody>
      </p:sp>
      <p:sp>
        <p:nvSpPr>
          <p:cNvPr id="10" name="Text 8"/>
          <p:cNvSpPr/>
          <p:nvPr/>
        </p:nvSpPr>
        <p:spPr>
          <a:xfrm>
            <a:off x="475488" y="1847088"/>
            <a:ext cx="819302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version: '3.8'</a:t>
            </a:r>
            <a:endParaRPr lang="en-US" sz="950" dirty="0"/>
          </a:p>
        </p:txBody>
      </p:sp>
      <p:sp>
        <p:nvSpPr>
          <p:cNvPr id="11" name="Text 9"/>
          <p:cNvSpPr/>
          <p:nvPr/>
        </p:nvSpPr>
        <p:spPr>
          <a:xfrm>
            <a:off x="475488" y="2043684"/>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services:</a:t>
            </a:r>
            <a:endParaRPr lang="en-US" sz="950" dirty="0"/>
          </a:p>
        </p:txBody>
      </p:sp>
      <p:sp>
        <p:nvSpPr>
          <p:cNvPr id="12" name="Text 10"/>
          <p:cNvSpPr/>
          <p:nvPr/>
        </p:nvSpPr>
        <p:spPr>
          <a:xfrm>
            <a:off x="475488" y="2240280"/>
            <a:ext cx="8193024" cy="201168"/>
          </a:xfrm>
          <a:prstGeom prst="rect">
            <a:avLst/>
          </a:prstGeom>
          <a:noFill/>
          <a:ln/>
        </p:spPr>
        <p:txBody>
          <a:bodyPr wrap="square" lIns="0" tIns="0" rIns="0" bIns="0" rtlCol="0" anchor="ctr"/>
          <a:lstStyle/>
          <a:p>
            <a:pPr indent="0" marL="0">
              <a:buNone/>
            </a:pPr>
            <a:r>
              <a:rPr lang="en-US" sz="950" dirty="0">
                <a:solidFill>
                  <a:srgbClr val="00BFB3"/>
                </a:solidFill>
                <a:latin typeface="Courier New" pitchFamily="34" charset="0"/>
                <a:ea typeface="Courier New" pitchFamily="34" charset="-122"/>
                <a:cs typeface="Courier New" pitchFamily="34" charset="-120"/>
              </a:rPr>
              <a:t>  elasticsearch:</a:t>
            </a:r>
            <a:endParaRPr lang="en-US" sz="950" dirty="0"/>
          </a:p>
        </p:txBody>
      </p:sp>
      <p:sp>
        <p:nvSpPr>
          <p:cNvPr id="13" name="Text 11"/>
          <p:cNvSpPr/>
          <p:nvPr/>
        </p:nvSpPr>
        <p:spPr>
          <a:xfrm>
            <a:off x="475488" y="2436876"/>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image: elasticsearch:8.11.0</a:t>
            </a:r>
            <a:endParaRPr lang="en-US" sz="950" dirty="0"/>
          </a:p>
        </p:txBody>
      </p:sp>
      <p:sp>
        <p:nvSpPr>
          <p:cNvPr id="14" name="Text 12"/>
          <p:cNvSpPr/>
          <p:nvPr/>
        </p:nvSpPr>
        <p:spPr>
          <a:xfrm>
            <a:off x="475488" y="2633472"/>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environment:</a:t>
            </a:r>
            <a:endParaRPr lang="en-US" sz="950" dirty="0"/>
          </a:p>
        </p:txBody>
      </p:sp>
      <p:sp>
        <p:nvSpPr>
          <p:cNvPr id="15" name="Text 13"/>
          <p:cNvSpPr/>
          <p:nvPr/>
        </p:nvSpPr>
        <p:spPr>
          <a:xfrm>
            <a:off x="475488" y="2830068"/>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discovery.type=single-node</a:t>
            </a:r>
            <a:endParaRPr lang="en-US" sz="950" dirty="0"/>
          </a:p>
        </p:txBody>
      </p:sp>
      <p:sp>
        <p:nvSpPr>
          <p:cNvPr id="16" name="Text 14"/>
          <p:cNvSpPr/>
          <p:nvPr/>
        </p:nvSpPr>
        <p:spPr>
          <a:xfrm>
            <a:off x="475488" y="3026664"/>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xpack.security.enabled=false</a:t>
            </a:r>
            <a:endParaRPr lang="en-US" sz="950" dirty="0"/>
          </a:p>
        </p:txBody>
      </p:sp>
      <p:sp>
        <p:nvSpPr>
          <p:cNvPr id="17" name="Text 15"/>
          <p:cNvSpPr/>
          <p:nvPr/>
        </p:nvSpPr>
        <p:spPr>
          <a:xfrm>
            <a:off x="475488" y="3223260"/>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'ES_JAVA_OPTS=-Xms1g -Xmx1g'</a:t>
            </a:r>
            <a:endParaRPr lang="en-US" sz="950" dirty="0"/>
          </a:p>
        </p:txBody>
      </p:sp>
      <p:sp>
        <p:nvSpPr>
          <p:cNvPr id="18" name="Text 16"/>
          <p:cNvSpPr/>
          <p:nvPr/>
        </p:nvSpPr>
        <p:spPr>
          <a:xfrm>
            <a:off x="475488" y="3419856"/>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ports: ['9200:9200']</a:t>
            </a:r>
            <a:endParaRPr lang="en-US" sz="950" dirty="0"/>
          </a:p>
        </p:txBody>
      </p:sp>
      <p:sp>
        <p:nvSpPr>
          <p:cNvPr id="19" name="Text 17"/>
          <p:cNvSpPr/>
          <p:nvPr/>
        </p:nvSpPr>
        <p:spPr>
          <a:xfrm>
            <a:off x="475488" y="3616452"/>
            <a:ext cx="8193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  logstash:</a:t>
            </a:r>
            <a:endParaRPr lang="en-US" sz="950" dirty="0"/>
          </a:p>
        </p:txBody>
      </p:sp>
      <p:sp>
        <p:nvSpPr>
          <p:cNvPr id="20" name="Text 18"/>
          <p:cNvSpPr/>
          <p:nvPr/>
        </p:nvSpPr>
        <p:spPr>
          <a:xfrm>
            <a:off x="475488" y="3813048"/>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image: logstash:8.11.0</a:t>
            </a:r>
            <a:endParaRPr lang="en-US" sz="950" dirty="0"/>
          </a:p>
        </p:txBody>
      </p:sp>
      <p:sp>
        <p:nvSpPr>
          <p:cNvPr id="21" name="Text 19"/>
          <p:cNvSpPr/>
          <p:nvPr/>
        </p:nvSpPr>
        <p:spPr>
          <a:xfrm>
            <a:off x="475488" y="4009644"/>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volumes:</a:t>
            </a:r>
            <a:endParaRPr lang="en-US" sz="950" dirty="0"/>
          </a:p>
        </p:txBody>
      </p:sp>
      <p:sp>
        <p:nvSpPr>
          <p:cNvPr id="22" name="Text 20"/>
          <p:cNvSpPr/>
          <p:nvPr/>
        </p:nvSpPr>
        <p:spPr>
          <a:xfrm>
            <a:off x="475488" y="4206240"/>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./pipeline:/usr/share/logstash/pipeline</a:t>
            </a:r>
            <a:endParaRPr lang="en-US" sz="950" dirty="0"/>
          </a:p>
        </p:txBody>
      </p:sp>
      <p:sp>
        <p:nvSpPr>
          <p:cNvPr id="23" name="Text 21"/>
          <p:cNvSpPr/>
          <p:nvPr/>
        </p:nvSpPr>
        <p:spPr>
          <a:xfrm>
            <a:off x="475488" y="4402836"/>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./logs:/logs</a:t>
            </a:r>
            <a:endParaRPr lang="en-US" sz="950" dirty="0"/>
          </a:p>
        </p:txBody>
      </p:sp>
      <p:sp>
        <p:nvSpPr>
          <p:cNvPr id="24" name="Text 22"/>
          <p:cNvSpPr/>
          <p:nvPr/>
        </p:nvSpPr>
        <p:spPr>
          <a:xfrm>
            <a:off x="475488" y="4599432"/>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ports: ['5044:5044','9600:9600']</a:t>
            </a:r>
            <a:endParaRPr lang="en-US" sz="950" dirty="0"/>
          </a:p>
        </p:txBody>
      </p:sp>
      <p:sp>
        <p:nvSpPr>
          <p:cNvPr id="25" name="Text 23"/>
          <p:cNvSpPr/>
          <p:nvPr/>
        </p:nvSpPr>
        <p:spPr>
          <a:xfrm>
            <a:off x="475488" y="4796028"/>
            <a:ext cx="819302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    depends_on: [elasticsearch]</a:t>
            </a:r>
            <a:endParaRPr lang="en-US" sz="950" dirty="0"/>
          </a:p>
        </p:txBody>
      </p:sp>
      <p:sp>
        <p:nvSpPr>
          <p:cNvPr id="26" name="Text 24"/>
          <p:cNvSpPr/>
          <p:nvPr/>
        </p:nvSpPr>
        <p:spPr>
          <a:xfrm>
            <a:off x="475488" y="4992624"/>
            <a:ext cx="8193024" cy="201168"/>
          </a:xfrm>
          <a:prstGeom prst="rect">
            <a:avLst/>
          </a:prstGeom>
          <a:noFill/>
          <a:ln/>
        </p:spPr>
        <p:txBody>
          <a:bodyPr wrap="square" lIns="0" tIns="0" rIns="0" bIns="0" rtlCol="0" anchor="ctr"/>
          <a:lstStyle/>
          <a:p>
            <a:pPr indent="0" marL="0">
              <a:buNone/>
            </a:pPr>
            <a:r>
              <a:rPr lang="en-US" sz="950" dirty="0">
                <a:solidFill>
                  <a:srgbClr val="8B5CF6"/>
                </a:solidFill>
                <a:latin typeface="Courier New" pitchFamily="34" charset="0"/>
                <a:ea typeface="Courier New" pitchFamily="34" charset="-122"/>
                <a:cs typeface="Courier New" pitchFamily="34" charset="-120"/>
              </a:rPr>
              <a:t>  kibana:</a:t>
            </a:r>
            <a:endParaRPr lang="en-US" sz="950" dirty="0"/>
          </a:p>
        </p:txBody>
      </p:sp>
      <p:sp>
        <p:nvSpPr>
          <p:cNvPr id="27" name="Text 25"/>
          <p:cNvSpPr/>
          <p:nvPr/>
        </p:nvSpPr>
        <p:spPr>
          <a:xfrm>
            <a:off x="475488" y="5189220"/>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image: kibana:8.11.0</a:t>
            </a:r>
            <a:endParaRPr lang="en-US" sz="950" dirty="0"/>
          </a:p>
        </p:txBody>
      </p:sp>
      <p:sp>
        <p:nvSpPr>
          <p:cNvPr id="28" name="Text 26"/>
          <p:cNvSpPr/>
          <p:nvPr/>
        </p:nvSpPr>
        <p:spPr>
          <a:xfrm>
            <a:off x="475488" y="5385816"/>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environment:</a:t>
            </a:r>
            <a:endParaRPr lang="en-US" sz="950" dirty="0"/>
          </a:p>
        </p:txBody>
      </p:sp>
      <p:sp>
        <p:nvSpPr>
          <p:cNvPr id="29" name="Text 27"/>
          <p:cNvSpPr/>
          <p:nvPr/>
        </p:nvSpPr>
        <p:spPr>
          <a:xfrm>
            <a:off x="475488" y="5582412"/>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ELASTICSEARCH_HOSTS=http://elasticsearch:9200</a:t>
            </a:r>
            <a:endParaRPr lang="en-US" sz="950" dirty="0"/>
          </a:p>
        </p:txBody>
      </p:sp>
      <p:sp>
        <p:nvSpPr>
          <p:cNvPr id="30" name="Text 28"/>
          <p:cNvSpPr/>
          <p:nvPr/>
        </p:nvSpPr>
        <p:spPr>
          <a:xfrm>
            <a:off x="475488" y="5779008"/>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ports: ['5601:5601']</a:t>
            </a:r>
            <a:endParaRPr lang="en-US" sz="950" dirty="0"/>
          </a:p>
        </p:txBody>
      </p:sp>
      <p:sp>
        <p:nvSpPr>
          <p:cNvPr id="31" name="Text 29"/>
          <p:cNvSpPr/>
          <p:nvPr/>
        </p:nvSpPr>
        <p:spPr>
          <a:xfrm>
            <a:off x="475488" y="5975604"/>
            <a:ext cx="819302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    depends_on: [elasticsearch]</a:t>
            </a:r>
            <a:endParaRPr lang="en-US" sz="950" dirty="0"/>
          </a:p>
        </p:txBody>
      </p:sp>
      <p:sp>
        <p:nvSpPr>
          <p:cNvPr id="32" name="Shape 30"/>
          <p:cNvSpPr/>
          <p:nvPr/>
        </p:nvSpPr>
        <p:spPr>
          <a:xfrm>
            <a:off x="0" y="4846320"/>
            <a:ext cx="9144000" cy="297180"/>
          </a:xfrm>
          <a:prstGeom prst="rect">
            <a:avLst/>
          </a:prstGeom>
          <a:solidFill>
            <a:srgbClr val="0F172A"/>
          </a:solidFill>
          <a:ln w="12700">
            <a:solidFill>
              <a:srgbClr val="0F172A"/>
            </a:solidFill>
            <a:prstDash val="solid"/>
          </a:ln>
        </p:spPr>
      </p:sp>
      <p:sp>
        <p:nvSpPr>
          <p:cNvPr id="33" name="Text 31"/>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02: Docker Setup</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START THE STACK &amp; VERIFY</a:t>
            </a:r>
            <a:endParaRPr lang="en-US" sz="2000" dirty="0"/>
          </a:p>
        </p:txBody>
      </p:sp>
      <p:sp>
        <p:nvSpPr>
          <p:cNvPr id="4" name="Shape 2"/>
          <p:cNvSpPr/>
          <p:nvPr/>
        </p:nvSpPr>
        <p:spPr>
          <a:xfrm>
            <a:off x="7178040" y="109728"/>
            <a:ext cx="1600200" cy="475488"/>
          </a:xfrm>
          <a:prstGeom prst="roundRect">
            <a:avLst>
              <a:gd name="adj" fmla="val 11538"/>
            </a:avLst>
          </a:prstGeom>
          <a:solidFill>
            <a:srgbClr val="0077CC"/>
          </a:solidFill>
          <a:ln w="12700">
            <a:solidFill>
              <a:srgbClr val="0077C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02  •  Docker Setup</a:t>
            </a:r>
            <a:endParaRPr lang="en-US" sz="950" dirty="0"/>
          </a:p>
        </p:txBody>
      </p:sp>
      <p:sp>
        <p:nvSpPr>
          <p:cNvPr id="6" name="Text 4"/>
          <p:cNvSpPr/>
          <p:nvPr/>
        </p:nvSpPr>
        <p:spPr>
          <a:xfrm>
            <a:off x="320040" y="868680"/>
            <a:ext cx="3657600" cy="292608"/>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Start the Stack</a:t>
            </a:r>
            <a:endParaRPr lang="en-US" sz="1300" dirty="0"/>
          </a:p>
        </p:txBody>
      </p:sp>
      <p:sp>
        <p:nvSpPr>
          <p:cNvPr id="7" name="Shape 5"/>
          <p:cNvSpPr/>
          <p:nvPr/>
        </p:nvSpPr>
        <p:spPr>
          <a:xfrm>
            <a:off x="320040" y="1234440"/>
            <a:ext cx="8503920" cy="896112"/>
          </a:xfrm>
          <a:prstGeom prst="roundRect">
            <a:avLst>
              <a:gd name="adj" fmla="val 1020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8" name="Text 6"/>
          <p:cNvSpPr/>
          <p:nvPr/>
        </p:nvSpPr>
        <p:spPr>
          <a:xfrm>
            <a:off x="475488" y="1344168"/>
            <a:ext cx="8193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From the directory containing docker-compose.yml:</a:t>
            </a:r>
            <a:endParaRPr lang="en-US" sz="950" dirty="0"/>
          </a:p>
        </p:txBody>
      </p:sp>
      <p:sp>
        <p:nvSpPr>
          <p:cNvPr id="9" name="Text 7"/>
          <p:cNvSpPr/>
          <p:nvPr/>
        </p:nvSpPr>
        <p:spPr>
          <a:xfrm>
            <a:off x="475488" y="1540764"/>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docker-compose up -d</a:t>
            </a:r>
            <a:endParaRPr lang="en-US" sz="950" dirty="0"/>
          </a:p>
        </p:txBody>
      </p:sp>
      <p:sp>
        <p:nvSpPr>
          <p:cNvPr id="10" name="Text 8"/>
          <p:cNvSpPr/>
          <p:nvPr/>
        </p:nvSpPr>
        <p:spPr>
          <a:xfrm>
            <a:off x="475488" y="1737360"/>
            <a:ext cx="8193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docker-compose ps          # check all three are Up</a:t>
            </a:r>
            <a:endParaRPr lang="en-US" sz="950" dirty="0"/>
          </a:p>
        </p:txBody>
      </p:sp>
      <p:sp>
        <p:nvSpPr>
          <p:cNvPr id="11" name="Text 9"/>
          <p:cNvSpPr/>
          <p:nvPr/>
        </p:nvSpPr>
        <p:spPr>
          <a:xfrm>
            <a:off x="320040" y="2240280"/>
            <a:ext cx="4572000" cy="292608"/>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Verify Each Component</a:t>
            </a:r>
            <a:endParaRPr lang="en-US" sz="1300" dirty="0"/>
          </a:p>
        </p:txBody>
      </p:sp>
      <p:sp>
        <p:nvSpPr>
          <p:cNvPr id="12" name="Shape 10"/>
          <p:cNvSpPr/>
          <p:nvPr/>
        </p:nvSpPr>
        <p:spPr>
          <a:xfrm>
            <a:off x="320040" y="2606040"/>
            <a:ext cx="8503920" cy="658368"/>
          </a:xfrm>
          <a:prstGeom prst="roundRect">
            <a:avLst>
              <a:gd name="adj" fmla="val 13889"/>
            </a:avLst>
          </a:prstGeom>
          <a:solidFill>
            <a:srgbClr val="E6FAF9"/>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3" name="Shape 11"/>
          <p:cNvSpPr/>
          <p:nvPr/>
        </p:nvSpPr>
        <p:spPr>
          <a:xfrm>
            <a:off x="475488" y="2715768"/>
            <a:ext cx="1444752" cy="420624"/>
          </a:xfrm>
          <a:prstGeom prst="roundRect">
            <a:avLst>
              <a:gd name="adj" fmla="val 13043"/>
            </a:avLst>
          </a:prstGeom>
          <a:solidFill>
            <a:srgbClr val="00BFB3"/>
          </a:solidFill>
          <a:ln w="12700">
            <a:solidFill>
              <a:srgbClr val="00BFB3"/>
            </a:solidFill>
            <a:prstDash val="solid"/>
          </a:ln>
        </p:spPr>
      </p:sp>
      <p:sp>
        <p:nvSpPr>
          <p:cNvPr id="14" name="Text 12"/>
          <p:cNvSpPr/>
          <p:nvPr/>
        </p:nvSpPr>
        <p:spPr>
          <a:xfrm>
            <a:off x="475488" y="2715768"/>
            <a:ext cx="144475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Elasticsearch</a:t>
            </a:r>
            <a:endParaRPr lang="en-US" sz="1050" dirty="0"/>
          </a:p>
        </p:txBody>
      </p:sp>
      <p:sp>
        <p:nvSpPr>
          <p:cNvPr id="15" name="Text 13"/>
          <p:cNvSpPr/>
          <p:nvPr/>
        </p:nvSpPr>
        <p:spPr>
          <a:xfrm>
            <a:off x="2057400" y="2679192"/>
            <a:ext cx="4114800" cy="256032"/>
          </a:xfrm>
          <a:prstGeom prst="rect">
            <a:avLst/>
          </a:prstGeom>
          <a:noFill/>
          <a:ln/>
        </p:spPr>
        <p:txBody>
          <a:bodyPr wrap="square" lIns="0" tIns="0" rIns="0" bIns="0" rtlCol="0" anchor="ctr"/>
          <a:lstStyle/>
          <a:p>
            <a:pPr indent="0" marL="0">
              <a:buNone/>
            </a:pPr>
            <a:r>
              <a:rPr lang="en-US" sz="950" dirty="0">
                <a:solidFill>
                  <a:srgbClr val="00BFB3"/>
                </a:solidFill>
                <a:latin typeface="Courier New" pitchFamily="34" charset="0"/>
                <a:ea typeface="Courier New" pitchFamily="34" charset="-122"/>
                <a:cs typeface="Courier New" pitchFamily="34" charset="-120"/>
              </a:rPr>
              <a:t>curl http://localhost:9200</a:t>
            </a:r>
            <a:endParaRPr lang="en-US" sz="950" dirty="0"/>
          </a:p>
        </p:txBody>
      </p:sp>
      <p:sp>
        <p:nvSpPr>
          <p:cNvPr id="16" name="Text 14"/>
          <p:cNvSpPr/>
          <p:nvPr/>
        </p:nvSpPr>
        <p:spPr>
          <a:xfrm>
            <a:off x="2057400" y="2953512"/>
            <a:ext cx="632764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 "name": "...", "cluster_name": "docker-cluster", "tagline": "You Know, for Search" }</a:t>
            </a:r>
            <a:endParaRPr lang="en-US" sz="950" dirty="0"/>
          </a:p>
        </p:txBody>
      </p:sp>
      <p:sp>
        <p:nvSpPr>
          <p:cNvPr id="17" name="Shape 15"/>
          <p:cNvSpPr/>
          <p:nvPr/>
        </p:nvSpPr>
        <p:spPr>
          <a:xfrm>
            <a:off x="320040" y="3355848"/>
            <a:ext cx="8503920" cy="658368"/>
          </a:xfrm>
          <a:prstGeom prst="roundRect">
            <a:avLst>
              <a:gd name="adj" fmla="val 13889"/>
            </a:avLst>
          </a:prstGeom>
          <a:solidFill>
            <a:srgbClr val="FEE2E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8" name="Shape 16"/>
          <p:cNvSpPr/>
          <p:nvPr/>
        </p:nvSpPr>
        <p:spPr>
          <a:xfrm>
            <a:off x="475488" y="3465576"/>
            <a:ext cx="1444752" cy="420624"/>
          </a:xfrm>
          <a:prstGeom prst="roundRect">
            <a:avLst>
              <a:gd name="adj" fmla="val 13043"/>
            </a:avLst>
          </a:prstGeom>
          <a:solidFill>
            <a:srgbClr val="F4659C"/>
          </a:solidFill>
          <a:ln w="12700">
            <a:solidFill>
              <a:srgbClr val="F4659C"/>
            </a:solidFill>
            <a:prstDash val="solid"/>
          </a:ln>
        </p:spPr>
      </p:sp>
      <p:sp>
        <p:nvSpPr>
          <p:cNvPr id="19" name="Text 17"/>
          <p:cNvSpPr/>
          <p:nvPr/>
        </p:nvSpPr>
        <p:spPr>
          <a:xfrm>
            <a:off x="475488" y="3465576"/>
            <a:ext cx="144475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Logstash</a:t>
            </a:r>
            <a:endParaRPr lang="en-US" sz="1050" dirty="0"/>
          </a:p>
        </p:txBody>
      </p:sp>
      <p:sp>
        <p:nvSpPr>
          <p:cNvPr id="20" name="Text 18"/>
          <p:cNvSpPr/>
          <p:nvPr/>
        </p:nvSpPr>
        <p:spPr>
          <a:xfrm>
            <a:off x="2057400" y="3429000"/>
            <a:ext cx="4114800" cy="256032"/>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curl http://localhost:9600</a:t>
            </a:r>
            <a:endParaRPr lang="en-US" sz="950" dirty="0"/>
          </a:p>
        </p:txBody>
      </p:sp>
      <p:sp>
        <p:nvSpPr>
          <p:cNvPr id="21" name="Text 19"/>
          <p:cNvSpPr/>
          <p:nvPr/>
        </p:nvSpPr>
        <p:spPr>
          <a:xfrm>
            <a:off x="2057400" y="3703320"/>
            <a:ext cx="632764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 "host": "...", "version": "8.11.0", "status": "green" }</a:t>
            </a:r>
            <a:endParaRPr lang="en-US" sz="950" dirty="0"/>
          </a:p>
        </p:txBody>
      </p:sp>
      <p:sp>
        <p:nvSpPr>
          <p:cNvPr id="22" name="Shape 20"/>
          <p:cNvSpPr/>
          <p:nvPr/>
        </p:nvSpPr>
        <p:spPr>
          <a:xfrm>
            <a:off x="320040" y="4105656"/>
            <a:ext cx="8503920" cy="658368"/>
          </a:xfrm>
          <a:prstGeom prst="roundRect">
            <a:avLst>
              <a:gd name="adj" fmla="val 13889"/>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Shape 21"/>
          <p:cNvSpPr/>
          <p:nvPr/>
        </p:nvSpPr>
        <p:spPr>
          <a:xfrm>
            <a:off x="475488" y="4215384"/>
            <a:ext cx="1444752" cy="420624"/>
          </a:xfrm>
          <a:prstGeom prst="roundRect">
            <a:avLst>
              <a:gd name="adj" fmla="val 13043"/>
            </a:avLst>
          </a:prstGeom>
          <a:solidFill>
            <a:srgbClr val="8B5CF6"/>
          </a:solidFill>
          <a:ln w="12700">
            <a:solidFill>
              <a:srgbClr val="8B5CF6"/>
            </a:solidFill>
            <a:prstDash val="solid"/>
          </a:ln>
        </p:spPr>
      </p:sp>
      <p:sp>
        <p:nvSpPr>
          <p:cNvPr id="24" name="Text 22"/>
          <p:cNvSpPr/>
          <p:nvPr/>
        </p:nvSpPr>
        <p:spPr>
          <a:xfrm>
            <a:off x="475488" y="4215384"/>
            <a:ext cx="144475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Kibana</a:t>
            </a:r>
            <a:endParaRPr lang="en-US" sz="1050" dirty="0"/>
          </a:p>
        </p:txBody>
      </p:sp>
      <p:sp>
        <p:nvSpPr>
          <p:cNvPr id="25" name="Text 23"/>
          <p:cNvSpPr/>
          <p:nvPr/>
        </p:nvSpPr>
        <p:spPr>
          <a:xfrm>
            <a:off x="2057400" y="4178808"/>
            <a:ext cx="4114800" cy="256032"/>
          </a:xfrm>
          <a:prstGeom prst="rect">
            <a:avLst/>
          </a:prstGeom>
          <a:noFill/>
          <a:ln/>
        </p:spPr>
        <p:txBody>
          <a:bodyPr wrap="square" lIns="0" tIns="0" rIns="0" bIns="0" rtlCol="0" anchor="ctr"/>
          <a:lstStyle/>
          <a:p>
            <a:pPr indent="0" marL="0">
              <a:buNone/>
            </a:pPr>
            <a:r>
              <a:rPr lang="en-US" sz="950" dirty="0">
                <a:solidFill>
                  <a:srgbClr val="8B5CF6"/>
                </a:solidFill>
                <a:latin typeface="Courier New" pitchFamily="34" charset="0"/>
                <a:ea typeface="Courier New" pitchFamily="34" charset="-122"/>
                <a:cs typeface="Courier New" pitchFamily="34" charset="-120"/>
              </a:rPr>
              <a:t>Open http://localhost:5601 in browser</a:t>
            </a:r>
            <a:endParaRPr lang="en-US" sz="950" dirty="0"/>
          </a:p>
        </p:txBody>
      </p:sp>
      <p:sp>
        <p:nvSpPr>
          <p:cNvPr id="26" name="Text 24"/>
          <p:cNvSpPr/>
          <p:nvPr/>
        </p:nvSpPr>
        <p:spPr>
          <a:xfrm>
            <a:off x="2057400" y="4453128"/>
            <a:ext cx="632764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Kibana home page loads — 'Welcome to Elastic'</a:t>
            </a:r>
            <a:endParaRPr lang="en-US" sz="950" dirty="0"/>
          </a:p>
        </p:txBody>
      </p:sp>
      <p:sp>
        <p:nvSpPr>
          <p:cNvPr id="27" name="Shape 25"/>
          <p:cNvSpPr/>
          <p:nvPr/>
        </p:nvSpPr>
        <p:spPr>
          <a:xfrm>
            <a:off x="320040" y="4919472"/>
            <a:ext cx="8503920" cy="347472"/>
          </a:xfrm>
          <a:prstGeom prst="roundRect">
            <a:avLst>
              <a:gd name="adj" fmla="val 26316"/>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28" name="Text 26"/>
          <p:cNvSpPr/>
          <p:nvPr/>
        </p:nvSpPr>
        <p:spPr>
          <a:xfrm>
            <a:off x="457200" y="5010912"/>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29" name="Text 27"/>
          <p:cNvSpPr/>
          <p:nvPr/>
        </p:nvSpPr>
        <p:spPr>
          <a:xfrm>
            <a:off x="457200" y="5303520"/>
            <a:ext cx="8229600" cy="-155448"/>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If Kibana shows 'Kibana server is not ready yet' — wait 60 more seconds. It takes 2-3 minutes to fully initialise after Elasticsearch is ready.</a:t>
            </a:r>
            <a:endParaRPr lang="en-US" sz="1000" dirty="0"/>
          </a:p>
        </p:txBody>
      </p:sp>
      <p:sp>
        <p:nvSpPr>
          <p:cNvPr id="30" name="Shape 28"/>
          <p:cNvSpPr/>
          <p:nvPr/>
        </p:nvSpPr>
        <p:spPr>
          <a:xfrm>
            <a:off x="0" y="4846320"/>
            <a:ext cx="9144000" cy="297180"/>
          </a:xfrm>
          <a:prstGeom prst="rect">
            <a:avLst/>
          </a:prstGeom>
          <a:solidFill>
            <a:srgbClr val="0F172A"/>
          </a:solidFill>
          <a:ln w="12700">
            <a:solidFill>
              <a:srgbClr val="0F172A"/>
            </a:solidFill>
            <a:prstDash val="solid"/>
          </a:ln>
        </p:spPr>
      </p:sp>
      <p:sp>
        <p:nvSpPr>
          <p:cNvPr id="31" name="Text 2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02: Docker Setup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COMMON SETUP ERRORS — QUICK REFERENCE</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8503920" cy="329184"/>
          </a:xfrm>
          <a:prstGeom prst="rect">
            <a:avLst/>
          </a:prstGeom>
          <a:solidFill>
            <a:srgbClr val="0F172A"/>
          </a:solidFill>
          <a:ln w="12700">
            <a:solidFill>
              <a:srgbClr val="0F172A"/>
            </a:solidFill>
            <a:prstDash val="solid"/>
          </a:ln>
        </p:spPr>
      </p:sp>
      <p:sp>
        <p:nvSpPr>
          <p:cNvPr id="9" name="Text 7"/>
          <p:cNvSpPr/>
          <p:nvPr/>
        </p:nvSpPr>
        <p:spPr>
          <a:xfrm>
            <a:off x="411480" y="1234440"/>
            <a:ext cx="2304288"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Error</a:t>
            </a:r>
            <a:endParaRPr lang="en-US" sz="1000" dirty="0"/>
          </a:p>
        </p:txBody>
      </p:sp>
      <p:sp>
        <p:nvSpPr>
          <p:cNvPr id="10" name="Text 8"/>
          <p:cNvSpPr/>
          <p:nvPr/>
        </p:nvSpPr>
        <p:spPr>
          <a:xfrm>
            <a:off x="2788920" y="1234440"/>
            <a:ext cx="2450592"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Cause</a:t>
            </a:r>
            <a:endParaRPr lang="en-US" sz="1000" dirty="0"/>
          </a:p>
        </p:txBody>
      </p:sp>
      <p:sp>
        <p:nvSpPr>
          <p:cNvPr id="11" name="Text 9"/>
          <p:cNvSpPr/>
          <p:nvPr/>
        </p:nvSpPr>
        <p:spPr>
          <a:xfrm>
            <a:off x="5321808" y="1234440"/>
            <a:ext cx="342900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Quick Fix</a:t>
            </a:r>
            <a:endParaRPr lang="en-US" sz="1000" dirty="0"/>
          </a:p>
        </p:txBody>
      </p:sp>
      <p:sp>
        <p:nvSpPr>
          <p:cNvPr id="12" name="Shape 10"/>
          <p:cNvSpPr/>
          <p:nvPr/>
        </p:nvSpPr>
        <p:spPr>
          <a:xfrm>
            <a:off x="320040" y="1572768"/>
            <a:ext cx="8503920" cy="438912"/>
          </a:xfrm>
          <a:prstGeom prst="rect">
            <a:avLst/>
          </a:prstGeom>
          <a:solidFill>
            <a:srgbClr val="FFFFFF"/>
          </a:solidFill>
          <a:ln w="12700">
            <a:solidFill>
              <a:srgbClr val="E2E8F0"/>
            </a:solidFill>
            <a:prstDash val="solid"/>
          </a:ln>
        </p:spPr>
      </p:sp>
      <p:sp>
        <p:nvSpPr>
          <p:cNvPr id="13" name="Text 11"/>
          <p:cNvSpPr/>
          <p:nvPr/>
        </p:nvSpPr>
        <p:spPr>
          <a:xfrm>
            <a:off x="411480" y="1627632"/>
            <a:ext cx="2304288" cy="320040"/>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elasticsearch exited with code 137</a:t>
            </a:r>
            <a:endParaRPr lang="en-US" sz="850" dirty="0"/>
          </a:p>
        </p:txBody>
      </p:sp>
      <p:sp>
        <p:nvSpPr>
          <p:cNvPr id="14" name="Text 12"/>
          <p:cNvSpPr/>
          <p:nvPr/>
        </p:nvSpPr>
        <p:spPr>
          <a:xfrm>
            <a:off x="2788920" y="1627632"/>
            <a:ext cx="2450592"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Container OOMKilled — not enough RAM</a:t>
            </a:r>
            <a:endParaRPr lang="en-US" sz="900" dirty="0"/>
          </a:p>
        </p:txBody>
      </p:sp>
      <p:sp>
        <p:nvSpPr>
          <p:cNvPr id="15" name="Text 13"/>
          <p:cNvSpPr/>
          <p:nvPr/>
        </p:nvSpPr>
        <p:spPr>
          <a:xfrm>
            <a:off x="5321808" y="1627632"/>
            <a:ext cx="3429000" cy="320040"/>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Increase Docker Desktop RAM to 4GB+ OR set ES_JAVA_OPTS=-Xms512m -Xmx512m</a:t>
            </a:r>
            <a:endParaRPr lang="en-US" sz="900" dirty="0"/>
          </a:p>
        </p:txBody>
      </p:sp>
      <p:sp>
        <p:nvSpPr>
          <p:cNvPr id="16" name="Shape 14"/>
          <p:cNvSpPr/>
          <p:nvPr/>
        </p:nvSpPr>
        <p:spPr>
          <a:xfrm>
            <a:off x="320040" y="2048256"/>
            <a:ext cx="8503920" cy="438912"/>
          </a:xfrm>
          <a:prstGeom prst="rect">
            <a:avLst/>
          </a:prstGeom>
          <a:solidFill>
            <a:srgbClr val="F1F5F9"/>
          </a:solidFill>
          <a:ln w="12700">
            <a:solidFill>
              <a:srgbClr val="E2E8F0"/>
            </a:solidFill>
            <a:prstDash val="solid"/>
          </a:ln>
        </p:spPr>
      </p:sp>
      <p:sp>
        <p:nvSpPr>
          <p:cNvPr id="17" name="Text 15"/>
          <p:cNvSpPr/>
          <p:nvPr/>
        </p:nvSpPr>
        <p:spPr>
          <a:xfrm>
            <a:off x="411480" y="2103120"/>
            <a:ext cx="2304288" cy="320040"/>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max virtual memory areas vm.max_map_count too low</a:t>
            </a:r>
            <a:endParaRPr lang="en-US" sz="850" dirty="0"/>
          </a:p>
        </p:txBody>
      </p:sp>
      <p:sp>
        <p:nvSpPr>
          <p:cNvPr id="18" name="Text 16"/>
          <p:cNvSpPr/>
          <p:nvPr/>
        </p:nvSpPr>
        <p:spPr>
          <a:xfrm>
            <a:off x="2788920" y="2103120"/>
            <a:ext cx="2450592"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Linux kernel setting too low for ES</a:t>
            </a:r>
            <a:endParaRPr lang="en-US" sz="900" dirty="0"/>
          </a:p>
        </p:txBody>
      </p:sp>
      <p:sp>
        <p:nvSpPr>
          <p:cNvPr id="19" name="Text 17"/>
          <p:cNvSpPr/>
          <p:nvPr/>
        </p:nvSpPr>
        <p:spPr>
          <a:xfrm>
            <a:off x="5321808" y="2103120"/>
            <a:ext cx="3429000" cy="320040"/>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Run: sysctl -w vm.max_map_count=262144 (add to /etc/sysctl.conf for persistence)</a:t>
            </a:r>
            <a:endParaRPr lang="en-US" sz="900" dirty="0"/>
          </a:p>
        </p:txBody>
      </p:sp>
      <p:sp>
        <p:nvSpPr>
          <p:cNvPr id="20" name="Shape 18"/>
          <p:cNvSpPr/>
          <p:nvPr/>
        </p:nvSpPr>
        <p:spPr>
          <a:xfrm>
            <a:off x="320040" y="2523744"/>
            <a:ext cx="8503920" cy="438912"/>
          </a:xfrm>
          <a:prstGeom prst="rect">
            <a:avLst/>
          </a:prstGeom>
          <a:solidFill>
            <a:srgbClr val="FFFFFF"/>
          </a:solidFill>
          <a:ln w="12700">
            <a:solidFill>
              <a:srgbClr val="E2E8F0"/>
            </a:solidFill>
            <a:prstDash val="solid"/>
          </a:ln>
        </p:spPr>
      </p:sp>
      <p:sp>
        <p:nvSpPr>
          <p:cNvPr id="21" name="Text 19"/>
          <p:cNvSpPr/>
          <p:nvPr/>
        </p:nvSpPr>
        <p:spPr>
          <a:xfrm>
            <a:off x="411480" y="2578608"/>
            <a:ext cx="2304288" cy="320040"/>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Kibana server is not ready yet</a:t>
            </a:r>
            <a:endParaRPr lang="en-US" sz="850" dirty="0"/>
          </a:p>
        </p:txBody>
      </p:sp>
      <p:sp>
        <p:nvSpPr>
          <p:cNvPr id="22" name="Text 20"/>
          <p:cNvSpPr/>
          <p:nvPr/>
        </p:nvSpPr>
        <p:spPr>
          <a:xfrm>
            <a:off x="2788920" y="2578608"/>
            <a:ext cx="2450592"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Kibana still starting or ES not ready</a:t>
            </a:r>
            <a:endParaRPr lang="en-US" sz="900" dirty="0"/>
          </a:p>
        </p:txBody>
      </p:sp>
      <p:sp>
        <p:nvSpPr>
          <p:cNvPr id="23" name="Text 21"/>
          <p:cNvSpPr/>
          <p:nvPr/>
        </p:nvSpPr>
        <p:spPr>
          <a:xfrm>
            <a:off x="5321808" y="2578608"/>
            <a:ext cx="3429000" cy="320040"/>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Wait 2-3 minutes. Check ES is up first: curl localhost:9200</a:t>
            </a:r>
            <a:endParaRPr lang="en-US" sz="900" dirty="0"/>
          </a:p>
        </p:txBody>
      </p:sp>
      <p:sp>
        <p:nvSpPr>
          <p:cNvPr id="24" name="Shape 22"/>
          <p:cNvSpPr/>
          <p:nvPr/>
        </p:nvSpPr>
        <p:spPr>
          <a:xfrm>
            <a:off x="320040" y="2999232"/>
            <a:ext cx="8503920" cy="438912"/>
          </a:xfrm>
          <a:prstGeom prst="rect">
            <a:avLst/>
          </a:prstGeom>
          <a:solidFill>
            <a:srgbClr val="F1F5F9"/>
          </a:solidFill>
          <a:ln w="12700">
            <a:solidFill>
              <a:srgbClr val="E2E8F0"/>
            </a:solidFill>
            <a:prstDash val="solid"/>
          </a:ln>
        </p:spPr>
      </p:sp>
      <p:sp>
        <p:nvSpPr>
          <p:cNvPr id="25" name="Text 23"/>
          <p:cNvSpPr/>
          <p:nvPr/>
        </p:nvSpPr>
        <p:spPr>
          <a:xfrm>
            <a:off x="411480" y="3054096"/>
            <a:ext cx="2304288" cy="320040"/>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Logstash: connection refused to 9200</a:t>
            </a:r>
            <a:endParaRPr lang="en-US" sz="850" dirty="0"/>
          </a:p>
        </p:txBody>
      </p:sp>
      <p:sp>
        <p:nvSpPr>
          <p:cNvPr id="26" name="Text 24"/>
          <p:cNvSpPr/>
          <p:nvPr/>
        </p:nvSpPr>
        <p:spPr>
          <a:xfrm>
            <a:off x="2788920" y="3054096"/>
            <a:ext cx="2450592"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Logstash started before Elasticsearch was ready</a:t>
            </a:r>
            <a:endParaRPr lang="en-US" sz="900" dirty="0"/>
          </a:p>
        </p:txBody>
      </p:sp>
      <p:sp>
        <p:nvSpPr>
          <p:cNvPr id="27" name="Text 25"/>
          <p:cNvSpPr/>
          <p:nvPr/>
        </p:nvSpPr>
        <p:spPr>
          <a:xfrm>
            <a:off x="5321808" y="3054096"/>
            <a:ext cx="3429000" cy="320040"/>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docker-compose restart logstash — ES depends_on is advisory, not a health check</a:t>
            </a:r>
            <a:endParaRPr lang="en-US" sz="900" dirty="0"/>
          </a:p>
        </p:txBody>
      </p:sp>
      <p:sp>
        <p:nvSpPr>
          <p:cNvPr id="28" name="Shape 26"/>
          <p:cNvSpPr/>
          <p:nvPr/>
        </p:nvSpPr>
        <p:spPr>
          <a:xfrm>
            <a:off x="320040" y="3474720"/>
            <a:ext cx="8503920" cy="438912"/>
          </a:xfrm>
          <a:prstGeom prst="rect">
            <a:avLst/>
          </a:prstGeom>
          <a:solidFill>
            <a:srgbClr val="FFFFFF"/>
          </a:solidFill>
          <a:ln w="12700">
            <a:solidFill>
              <a:srgbClr val="E2E8F0"/>
            </a:solidFill>
            <a:prstDash val="solid"/>
          </a:ln>
        </p:spPr>
      </p:sp>
      <p:sp>
        <p:nvSpPr>
          <p:cNvPr id="29" name="Text 27"/>
          <p:cNvSpPr/>
          <p:nvPr/>
        </p:nvSpPr>
        <p:spPr>
          <a:xfrm>
            <a:off x="411480" y="3529584"/>
            <a:ext cx="2304288" cy="320040"/>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port is already allocated</a:t>
            </a:r>
            <a:endParaRPr lang="en-US" sz="850" dirty="0"/>
          </a:p>
        </p:txBody>
      </p:sp>
      <p:sp>
        <p:nvSpPr>
          <p:cNvPr id="30" name="Text 28"/>
          <p:cNvSpPr/>
          <p:nvPr/>
        </p:nvSpPr>
        <p:spPr>
          <a:xfrm>
            <a:off x="2788920" y="3529584"/>
            <a:ext cx="2450592"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Another process using 9200, 5601 or 5044</a:t>
            </a:r>
            <a:endParaRPr lang="en-US" sz="900" dirty="0"/>
          </a:p>
        </p:txBody>
      </p:sp>
      <p:sp>
        <p:nvSpPr>
          <p:cNvPr id="31" name="Text 29"/>
          <p:cNvSpPr/>
          <p:nvPr/>
        </p:nvSpPr>
        <p:spPr>
          <a:xfrm>
            <a:off x="5321808" y="3529584"/>
            <a:ext cx="3429000" cy="320040"/>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Find and stop the process: netstat -ano | findstr :9200 (Windows)</a:t>
            </a:r>
            <a:endParaRPr lang="en-US" sz="900" dirty="0"/>
          </a:p>
        </p:txBody>
      </p:sp>
      <p:sp>
        <p:nvSpPr>
          <p:cNvPr id="32" name="Shape 30"/>
          <p:cNvSpPr/>
          <p:nvPr/>
        </p:nvSpPr>
        <p:spPr>
          <a:xfrm>
            <a:off x="320040" y="3950208"/>
            <a:ext cx="8503920" cy="438912"/>
          </a:xfrm>
          <a:prstGeom prst="rect">
            <a:avLst/>
          </a:prstGeom>
          <a:solidFill>
            <a:srgbClr val="F1F5F9"/>
          </a:solidFill>
          <a:ln w="12700">
            <a:solidFill>
              <a:srgbClr val="E2E8F0"/>
            </a:solidFill>
            <a:prstDash val="solid"/>
          </a:ln>
        </p:spPr>
      </p:sp>
      <p:sp>
        <p:nvSpPr>
          <p:cNvPr id="33" name="Text 31"/>
          <p:cNvSpPr/>
          <p:nvPr/>
        </p:nvSpPr>
        <p:spPr>
          <a:xfrm>
            <a:off x="411480" y="4005072"/>
            <a:ext cx="2304288" cy="320040"/>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no such file or directory: ./pipeline</a:t>
            </a:r>
            <a:endParaRPr lang="en-US" sz="850" dirty="0"/>
          </a:p>
        </p:txBody>
      </p:sp>
      <p:sp>
        <p:nvSpPr>
          <p:cNvPr id="34" name="Text 32"/>
          <p:cNvSpPr/>
          <p:nvPr/>
        </p:nvSpPr>
        <p:spPr>
          <a:xfrm>
            <a:off x="2788920" y="4005072"/>
            <a:ext cx="2450592"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docker-compose run from wrong directory</a:t>
            </a:r>
            <a:endParaRPr lang="en-US" sz="900" dirty="0"/>
          </a:p>
        </p:txBody>
      </p:sp>
      <p:sp>
        <p:nvSpPr>
          <p:cNvPr id="35" name="Text 33"/>
          <p:cNvSpPr/>
          <p:nvPr/>
        </p:nvSpPr>
        <p:spPr>
          <a:xfrm>
            <a:off x="5321808" y="4005072"/>
            <a:ext cx="3429000" cy="320040"/>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Must run from the directory containing docker-compose.yml AND the pipeline/ folder</a:t>
            </a:r>
            <a:endParaRPr lang="en-US" sz="900" dirty="0"/>
          </a:p>
        </p:txBody>
      </p:sp>
      <p:sp>
        <p:nvSpPr>
          <p:cNvPr id="36" name="Shape 34"/>
          <p:cNvSpPr/>
          <p:nvPr/>
        </p:nvSpPr>
        <p:spPr>
          <a:xfrm>
            <a:off x="0" y="4846320"/>
            <a:ext cx="9144000" cy="297180"/>
          </a:xfrm>
          <a:prstGeom prst="rect">
            <a:avLst/>
          </a:prstGeom>
          <a:solidFill>
            <a:srgbClr val="7C2D12"/>
          </a:solidFill>
          <a:ln w="12700">
            <a:solidFill>
              <a:srgbClr val="7C2D12"/>
            </a:solidFill>
            <a:prstDash val="solid"/>
          </a:ln>
        </p:spPr>
      </p:sp>
      <p:sp>
        <p:nvSpPr>
          <p:cNvPr id="37" name="Text 35"/>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Setup Errors —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2026-07-02T08:38:03Z</dcterms:created>
  <dcterms:modified xsi:type="dcterms:W3CDTF">2026-07-02T08:38:03Z</dcterms:modified>
</cp:coreProperties>
</file>