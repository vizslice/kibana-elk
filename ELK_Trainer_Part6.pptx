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TRAINER GUIDE
TIMING: 13:00 – 16:00 (3 hours)
PRE-LAB CHECK:
1. docker-compose ps — all 3 containers Up
2. curl localhost:9200/_cat/indices — apache-logs-* index exists with documents
3. If no data: students redo Lab 1 pipeline or load Kibana sample web logs
STEP 1 — DATA VIEW:
Stack Management → Data Views → Create data view
Index pattern: apache-logs-*  |  Timestamp: @timestamp
Save. Navigate to Discover — confirm documents appear.
STEP 2 — 4 VISUALISATIONS:
a) Bar chart: X=@timestamp (1h), Y=Count  → 'Requests Over Time'
b) Pie: Slice by=response (terms), Count  → 'Status Code Distribution'
c) Data Table: Rows=request.keyword (top 10), Count  → 'Top URLs'
d) Metric: Count  → 'Total Requests'
STEP 3 — DASHBOARD:
Dashboards → Create → Add from library → select all 4
Arrange: Total Requests top-left, Requests Over Time top-right, Pie bottom-left, Top URLs bottom-right
Save as 'Apache Access Log Dashboard'
STEP 4 — FILTER:
Type 'response &gt;= 400' in KQL bar — all panels should update
Change time range to verify time picker affects all panels
Save with filter applied
STEP 5 — ALERT:
Stack Management → Rules → Create rule → Elasticsearch query
Name: High Error Rate  |  Query: response &gt;= 500
Condition: count &gt; 5 in last 5 minutes  |  Check every 1 minute
Action: Server log (no setup needed)
Save. View in Rules list.
BONUS — FILEBEAT:
Install: winget install Elastic.Filebeat
Configure filebeat.yml:
  filebeat.inputs: [{type: log, paths: [./logs/access.log]}]
  output.logstash: {hosts: ['localhost:5044']}
Start: filebeat -e
Watch new events appear in Kibana Discover
COMMON ERRORS:
1. No documents in data view → wrong index pattern. Try apache-logs-* not apache-logs
2. Time range shows 0 — logs are from January 2024. Set time picker to Jan 2024 or 'last 5 years'
3. Alert never fires → lower threshold to 1, regenerate some requests, wait 1 min
4. Filebeat can't connect → check Logstash port 5044 is open: netstat -an | grep 5044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blocker: students don't see data because the default 'Last 15 minutes' time range has no logs. The sample log file dates are from early 2024. Always direct students to check the time range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open during both labs. The top 3 errors (_grokparsefailure, wrong @timestamp, 0 results in Kibana) account for 80% of student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16:00 – 16:10
Ask: 'Who now feels confident they could set up the ELK stack at work next week?' Show of hands.
Close message: 'You built the whole stack — from raw logs to live dashboard with alerting. This is exactly what operations, DevOps and SRE teams use in production. The only difference is scale — more servers, more data, more Logstash pipelines. The architecture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3-5 minutes on this. Students often ask 'what should I learn next?' Point them to:
1. Elastic documentation — the best free resource
2. Elastic Learn platform (free courses)
3. Filebeat modules as the fastest way to get real value immediately
4. ECK if they are on Kubernetes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ELK STACK TRAINER GUIDE
All 6 parts:
Part 1 (11 slides): Title, Prep, Agenda, What is ELK, Docker Setup
Part 2 (12 slides): ES Fundamentals, ES Architecture, ES Querying
Part 3 (11 slides): Logstash, Grok, Inputs, Outputs, Lab 1 + Answers, Day 1 Summary
Part 4 (11 slides): Day 2 Opening, Kibana Overview, Data Views, Discover, KQL
Part 5 (10 slides): Lens, Dashboards, Alerting, Beats, ILM, Lab 2 preview
Part 6 (6 slides): Lab 2, Answers, Error Reference, Course Summary, Next Steps, Close
Total: 61 slides
Post-training:
docker-compose down -v   # stop and remove containers + volumes
Share: docker-compose.yml, pipeline/apache.conf, sample access.log
Send: elastic.co/docs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8B5CF6"/>
          </a:solidFill>
          <a:ln w="12700">
            <a:solidFill>
              <a:srgbClr val="8B5CF6"/>
            </a:solidFill>
            <a:prstDash val="solid"/>
          </a:ln>
        </p:spPr>
      </p:sp>
      <p:sp>
        <p:nvSpPr>
          <p:cNvPr id="3" name="Shape 1"/>
          <p:cNvSpPr/>
          <p:nvPr/>
        </p:nvSpPr>
        <p:spPr>
          <a:xfrm>
            <a:off x="6400800" y="-731520"/>
            <a:ext cx="3840480" cy="3840480"/>
          </a:xfrm>
          <a:prstGeom prst="ellipse">
            <a:avLst/>
          </a:prstGeom>
          <a:solidFill>
            <a:srgbClr val="8B5CF6">
              <a:alpha val="8000"/>
            </a:srgbClr>
          </a:solidFill>
          <a:ln w="12700">
            <a:solidFill>
              <a:srgbClr val="8B5CF6">
                <a:alpha val="15000"/>
              </a:srgbClr>
            </a:solidFill>
            <a:prstDash val="solid"/>
          </a:ln>
        </p:spPr>
      </p:sp>
      <p:sp>
        <p:nvSpPr>
          <p:cNvPr id="4" name="Text 2"/>
          <p:cNvSpPr/>
          <p:nvPr/>
        </p:nvSpPr>
        <p:spPr>
          <a:xfrm>
            <a:off x="594360" y="365760"/>
            <a:ext cx="4572000" cy="438912"/>
          </a:xfrm>
          <a:prstGeom prst="rect">
            <a:avLst/>
          </a:prstGeom>
          <a:noFill/>
          <a:ln/>
        </p:spPr>
        <p:txBody>
          <a:bodyPr wrap="square" lIns="0" tIns="0" rIns="0" bIns="0" rtlCol="0" anchor="ctr"/>
          <a:lstStyle/>
          <a:p>
            <a:pPr indent="0" marL="0">
              <a:buNone/>
            </a:pPr>
            <a:r>
              <a:rPr lang="en-US" sz="1300" b="1" spc="200" kern="0" dirty="0">
                <a:solidFill>
                  <a:srgbClr val="8B5CF6"/>
                </a:solidFill>
                <a:latin typeface="Arial" pitchFamily="34" charset="0"/>
                <a:ea typeface="Arial" pitchFamily="34" charset="-122"/>
                <a:cs typeface="Arial" pitchFamily="34" charset="-120"/>
              </a:rPr>
              <a:t>🔬  LAB 2</a:t>
            </a:r>
            <a:endParaRPr lang="en-US" sz="1300" dirty="0"/>
          </a:p>
        </p:txBody>
      </p:sp>
      <p:sp>
        <p:nvSpPr>
          <p:cNvPr id="5" name="Text 3"/>
          <p:cNvSpPr/>
          <p:nvPr/>
        </p:nvSpPr>
        <p:spPr>
          <a:xfrm>
            <a:off x="594360" y="804672"/>
            <a:ext cx="822960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Build a Dashboard, Alert &amp; Filebeat</a:t>
            </a:r>
            <a:endParaRPr lang="en-US" sz="2800" dirty="0"/>
          </a:p>
        </p:txBody>
      </p:sp>
      <p:sp>
        <p:nvSpPr>
          <p:cNvPr id="6" name="Shape 4"/>
          <p:cNvSpPr/>
          <p:nvPr/>
        </p:nvSpPr>
        <p:spPr>
          <a:xfrm>
            <a:off x="594360" y="1664208"/>
            <a:ext cx="4114800" cy="27432"/>
          </a:xfrm>
          <a:prstGeom prst="rect">
            <a:avLst/>
          </a:prstGeom>
          <a:solidFill>
            <a:srgbClr val="8B5CF6"/>
          </a:solidFill>
          <a:ln w="12700">
            <a:solidFill>
              <a:srgbClr val="8B5CF6"/>
            </a:solidFill>
            <a:prstDash val="solid"/>
          </a:ln>
        </p:spPr>
      </p:sp>
      <p:sp>
        <p:nvSpPr>
          <p:cNvPr id="7" name="Shape 5"/>
          <p:cNvSpPr/>
          <p:nvPr/>
        </p:nvSpPr>
        <p:spPr>
          <a:xfrm>
            <a:off x="594360" y="1874520"/>
            <a:ext cx="292608" cy="292608"/>
          </a:xfrm>
          <a:prstGeom prst="ellipse">
            <a:avLst/>
          </a:prstGeom>
          <a:solidFill>
            <a:srgbClr val="8B5CF6"/>
          </a:solidFill>
          <a:ln w="12700">
            <a:solidFill>
              <a:srgbClr val="8B5CF6"/>
            </a:solidFill>
            <a:prstDash val="solid"/>
          </a:ln>
        </p:spPr>
      </p:sp>
      <p:sp>
        <p:nvSpPr>
          <p:cNvPr id="8" name="Text 6"/>
          <p:cNvSpPr/>
          <p:nvPr/>
        </p:nvSpPr>
        <p:spPr>
          <a:xfrm>
            <a:off x="594360" y="18745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1005840" y="1874520"/>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Create a Data View for apache-logs-* with @timestamp as time field</a:t>
            </a:r>
            <a:endParaRPr lang="en-US" sz="1150" dirty="0"/>
          </a:p>
        </p:txBody>
      </p:sp>
      <p:sp>
        <p:nvSpPr>
          <p:cNvPr id="10" name="Shape 8"/>
          <p:cNvSpPr/>
          <p:nvPr/>
        </p:nvSpPr>
        <p:spPr>
          <a:xfrm>
            <a:off x="594360" y="2350008"/>
            <a:ext cx="292608" cy="292608"/>
          </a:xfrm>
          <a:prstGeom prst="ellipse">
            <a:avLst/>
          </a:prstGeom>
          <a:solidFill>
            <a:srgbClr val="8B5CF6"/>
          </a:solidFill>
          <a:ln w="12700">
            <a:solidFill>
              <a:srgbClr val="8B5CF6"/>
            </a:solidFill>
            <a:prstDash val="solid"/>
          </a:ln>
        </p:spPr>
      </p:sp>
      <p:sp>
        <p:nvSpPr>
          <p:cNvPr id="11" name="Text 9"/>
          <p:cNvSpPr/>
          <p:nvPr/>
        </p:nvSpPr>
        <p:spPr>
          <a:xfrm>
            <a:off x="594360" y="2350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10"/>
          <p:cNvSpPr/>
          <p:nvPr/>
        </p:nvSpPr>
        <p:spPr>
          <a:xfrm>
            <a:off x="1005840" y="2350008"/>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Build 4 Lens visualisations: requests over time, status code pie, top 10 URLs table, avg bytes metric</a:t>
            </a:r>
            <a:endParaRPr lang="en-US" sz="1150" dirty="0"/>
          </a:p>
        </p:txBody>
      </p:sp>
      <p:sp>
        <p:nvSpPr>
          <p:cNvPr id="13" name="Shape 11"/>
          <p:cNvSpPr/>
          <p:nvPr/>
        </p:nvSpPr>
        <p:spPr>
          <a:xfrm>
            <a:off x="594360" y="2825496"/>
            <a:ext cx="292608" cy="292608"/>
          </a:xfrm>
          <a:prstGeom prst="ellipse">
            <a:avLst/>
          </a:prstGeom>
          <a:solidFill>
            <a:srgbClr val="8B5CF6"/>
          </a:solidFill>
          <a:ln w="12700">
            <a:solidFill>
              <a:srgbClr val="8B5CF6"/>
            </a:solidFill>
            <a:prstDash val="solid"/>
          </a:ln>
        </p:spPr>
      </p:sp>
      <p:sp>
        <p:nvSpPr>
          <p:cNvPr id="14" name="Text 12"/>
          <p:cNvSpPr/>
          <p:nvPr/>
        </p:nvSpPr>
        <p:spPr>
          <a:xfrm>
            <a:off x="594360" y="28254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005840" y="2825496"/>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Create a dashboard and add all 4 visualisations — arrange and save</a:t>
            </a:r>
            <a:endParaRPr lang="en-US" sz="1150" dirty="0"/>
          </a:p>
        </p:txBody>
      </p:sp>
      <p:sp>
        <p:nvSpPr>
          <p:cNvPr id="16" name="Shape 14"/>
          <p:cNvSpPr/>
          <p:nvPr/>
        </p:nvSpPr>
        <p:spPr>
          <a:xfrm>
            <a:off x="594360" y="3300984"/>
            <a:ext cx="292608" cy="292608"/>
          </a:xfrm>
          <a:prstGeom prst="ellipse">
            <a:avLst/>
          </a:prstGeom>
          <a:solidFill>
            <a:srgbClr val="8B5CF6"/>
          </a:solidFill>
          <a:ln w="12700">
            <a:solidFill>
              <a:srgbClr val="8B5CF6"/>
            </a:solidFill>
            <a:prstDash val="solid"/>
          </a:ln>
        </p:spPr>
      </p:sp>
      <p:sp>
        <p:nvSpPr>
          <p:cNvPr id="17" name="Text 15"/>
          <p:cNvSpPr/>
          <p:nvPr/>
        </p:nvSpPr>
        <p:spPr>
          <a:xfrm>
            <a:off x="594360"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Text 16"/>
          <p:cNvSpPr/>
          <p:nvPr/>
        </p:nvSpPr>
        <p:spPr>
          <a:xfrm>
            <a:off x="1005840" y="3300984"/>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Apply a KQL filter (response &gt;= 400) — verify all panels update</a:t>
            </a:r>
            <a:endParaRPr lang="en-US" sz="1150" dirty="0"/>
          </a:p>
        </p:txBody>
      </p:sp>
      <p:sp>
        <p:nvSpPr>
          <p:cNvPr id="19" name="Shape 17"/>
          <p:cNvSpPr/>
          <p:nvPr/>
        </p:nvSpPr>
        <p:spPr>
          <a:xfrm>
            <a:off x="594360" y="3776472"/>
            <a:ext cx="292608" cy="292608"/>
          </a:xfrm>
          <a:prstGeom prst="ellipse">
            <a:avLst/>
          </a:prstGeom>
          <a:solidFill>
            <a:srgbClr val="8B5CF6"/>
          </a:solidFill>
          <a:ln w="12700">
            <a:solidFill>
              <a:srgbClr val="8B5CF6"/>
            </a:solidFill>
            <a:prstDash val="solid"/>
          </a:ln>
        </p:spPr>
      </p:sp>
      <p:sp>
        <p:nvSpPr>
          <p:cNvPr id="20" name="Text 18"/>
          <p:cNvSpPr/>
          <p:nvPr/>
        </p:nvSpPr>
        <p:spPr>
          <a:xfrm>
            <a:off x="594360" y="3776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1" name="Text 19"/>
          <p:cNvSpPr/>
          <p:nvPr/>
        </p:nvSpPr>
        <p:spPr>
          <a:xfrm>
            <a:off x="1005840" y="3776472"/>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Create an alert rule: fire when 500 errors exceed 5 in 5 minutes</a:t>
            </a:r>
            <a:endParaRPr lang="en-US" sz="1150" dirty="0"/>
          </a:p>
        </p:txBody>
      </p:sp>
      <p:sp>
        <p:nvSpPr>
          <p:cNvPr id="22" name="Shape 20"/>
          <p:cNvSpPr/>
          <p:nvPr/>
        </p:nvSpPr>
        <p:spPr>
          <a:xfrm>
            <a:off x="594360" y="4251960"/>
            <a:ext cx="292608" cy="292608"/>
          </a:xfrm>
          <a:prstGeom prst="ellipse">
            <a:avLst/>
          </a:prstGeom>
          <a:solidFill>
            <a:srgbClr val="8B5CF6"/>
          </a:solidFill>
          <a:ln w="12700">
            <a:solidFill>
              <a:srgbClr val="8B5CF6"/>
            </a:solidFill>
            <a:prstDash val="solid"/>
          </a:ln>
        </p:spPr>
      </p:sp>
      <p:sp>
        <p:nvSpPr>
          <p:cNvPr id="23" name="Text 21"/>
          <p:cNvSpPr/>
          <p:nvPr/>
        </p:nvSpPr>
        <p:spPr>
          <a:xfrm>
            <a:off x="594360" y="4251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4" name="Text 22"/>
          <p:cNvSpPr/>
          <p:nvPr/>
        </p:nvSpPr>
        <p:spPr>
          <a:xfrm>
            <a:off x="1005840" y="4251960"/>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Bonus: install Filebeat, ship access.log to Logstash, see live data in dashboard</a:t>
            </a:r>
            <a:endParaRPr lang="en-US" sz="1150" dirty="0"/>
          </a:p>
        </p:txBody>
      </p:sp>
      <p:sp>
        <p:nvSpPr>
          <p:cNvPr id="25" name="Shape 23"/>
          <p:cNvSpPr/>
          <p:nvPr/>
        </p:nvSpPr>
        <p:spPr>
          <a:xfrm>
            <a:off x="594360" y="4617720"/>
            <a:ext cx="4389120" cy="384048"/>
          </a:xfrm>
          <a:prstGeom prst="roundRect">
            <a:avLst>
              <a:gd name="adj" fmla="val 16667"/>
            </a:avLst>
          </a:prstGeom>
          <a:solidFill>
            <a:srgbClr val="8B5CF6">
              <a:alpha val="20000"/>
            </a:srgbClr>
          </a:solidFill>
          <a:ln w="12700">
            <a:solidFill>
              <a:srgbClr val="8B5CF6">
                <a:alpha val="40000"/>
              </a:srgbClr>
            </a:solidFill>
            <a:prstDash val="solid"/>
          </a:ln>
        </p:spPr>
      </p:sp>
      <p:sp>
        <p:nvSpPr>
          <p:cNvPr id="26" name="Text 24"/>
          <p:cNvSpPr/>
          <p:nvPr/>
        </p:nvSpPr>
        <p:spPr>
          <a:xfrm>
            <a:off x="594360" y="4626864"/>
            <a:ext cx="438912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  Duration: 13:00 – 16:00  •  Day 2 Afternoon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LAB 2 — STEP-BY-STEP ANSWERS</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170432"/>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207008"/>
            <a:ext cx="8229600" cy="292608"/>
          </a:xfrm>
          <a:prstGeom prst="rect">
            <a:avLst/>
          </a:prstGeom>
          <a:noFill/>
          <a:ln/>
        </p:spPr>
        <p:txBody>
          <a:bodyPr wrap="square" lIns="0" tIns="0" rIns="0" bIns="0" rtlCol="0" anchor="ctr"/>
          <a:lstStyle/>
          <a:p>
            <a:pPr indent="0" marL="0">
              <a:buNone/>
            </a:pPr>
            <a:r>
              <a:rPr lang="en-US" sz="1050" b="1" dirty="0">
                <a:solidFill>
                  <a:srgbClr val="C2410C"/>
                </a:solidFill>
                <a:latin typeface="Arial" pitchFamily="34" charset="0"/>
                <a:ea typeface="Arial" pitchFamily="34" charset="-122"/>
                <a:cs typeface="Arial" pitchFamily="34" charset="-120"/>
              </a:rPr>
              <a:t>🔒  Do not show to students. Use verbally when a student is stuck.</a:t>
            </a:r>
            <a:endParaRPr lang="en-US" sz="1050" dirty="0"/>
          </a:p>
        </p:txBody>
      </p:sp>
      <p:sp>
        <p:nvSpPr>
          <p:cNvPr id="10" name="Shape 8"/>
          <p:cNvSpPr/>
          <p:nvPr/>
        </p:nvSpPr>
        <p:spPr>
          <a:xfrm>
            <a:off x="320040" y="1664208"/>
            <a:ext cx="850392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1" name="Shape 9"/>
          <p:cNvSpPr/>
          <p:nvPr/>
        </p:nvSpPr>
        <p:spPr>
          <a:xfrm>
            <a:off x="475488" y="1755648"/>
            <a:ext cx="8229600" cy="292608"/>
          </a:xfrm>
          <a:prstGeom prst="roundRect">
            <a:avLst>
              <a:gd name="adj" fmla="val 18750"/>
            </a:avLst>
          </a:prstGeom>
          <a:solidFill>
            <a:srgbClr val="8B5CF6"/>
          </a:solidFill>
          <a:ln w="12700">
            <a:solidFill>
              <a:srgbClr val="8B5CF6"/>
            </a:solidFill>
            <a:prstDash val="solid"/>
          </a:ln>
        </p:spPr>
      </p:sp>
      <p:sp>
        <p:nvSpPr>
          <p:cNvPr id="12" name="Text 10"/>
          <p:cNvSpPr/>
          <p:nvPr/>
        </p:nvSpPr>
        <p:spPr>
          <a:xfrm>
            <a:off x="475488" y="1755648"/>
            <a:ext cx="82296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Lens Bar Chart — Requests Over Time</a:t>
            </a:r>
            <a:endParaRPr lang="en-US" sz="1100" dirty="0"/>
          </a:p>
        </p:txBody>
      </p:sp>
      <p:sp>
        <p:nvSpPr>
          <p:cNvPr id="13" name="Text 11"/>
          <p:cNvSpPr/>
          <p:nvPr/>
        </p:nvSpPr>
        <p:spPr>
          <a:xfrm>
            <a:off x="594360" y="2139696"/>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Visualise Library → Create → Lens</a:t>
            </a:r>
            <a:endParaRPr lang="en-US" sz="950" dirty="0"/>
          </a:p>
        </p:txBody>
      </p:sp>
      <p:sp>
        <p:nvSpPr>
          <p:cNvPr id="14" name="Text 12"/>
          <p:cNvSpPr/>
          <p:nvPr/>
        </p:nvSpPr>
        <p:spPr>
          <a:xfrm>
            <a:off x="594360" y="2322576"/>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Chart type: Bar vertical stacked</a:t>
            </a:r>
            <a:endParaRPr lang="en-US" sz="950" dirty="0"/>
          </a:p>
        </p:txBody>
      </p:sp>
      <p:sp>
        <p:nvSpPr>
          <p:cNvPr id="15" name="Text 13"/>
          <p:cNvSpPr/>
          <p:nvPr/>
        </p:nvSpPr>
        <p:spPr>
          <a:xfrm>
            <a:off x="594360" y="2505456"/>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Horizontal axis: @timestamp → date histogram → interval Auto</a:t>
            </a:r>
            <a:endParaRPr lang="en-US" sz="950" dirty="0"/>
          </a:p>
        </p:txBody>
      </p:sp>
      <p:sp>
        <p:nvSpPr>
          <p:cNvPr id="16" name="Text 14"/>
          <p:cNvSpPr/>
          <p:nvPr/>
        </p:nvSpPr>
        <p:spPr>
          <a:xfrm>
            <a:off x="594360" y="2688336"/>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Vertical axis: Count of records</a:t>
            </a:r>
            <a:endParaRPr lang="en-US" sz="950" dirty="0"/>
          </a:p>
        </p:txBody>
      </p:sp>
      <p:sp>
        <p:nvSpPr>
          <p:cNvPr id="17" name="Text 15"/>
          <p:cNvSpPr/>
          <p:nvPr/>
        </p:nvSpPr>
        <p:spPr>
          <a:xfrm>
            <a:off x="594360" y="2871216"/>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Break down by: response (terms, top 5)</a:t>
            </a:r>
            <a:endParaRPr lang="en-US" sz="950" dirty="0"/>
          </a:p>
        </p:txBody>
      </p:sp>
      <p:sp>
        <p:nvSpPr>
          <p:cNvPr id="18" name="Text 16"/>
          <p:cNvSpPr/>
          <p:nvPr/>
        </p:nvSpPr>
        <p:spPr>
          <a:xfrm>
            <a:off x="594360" y="3054096"/>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Save as 'Requests Over Time'</a:t>
            </a:r>
            <a:endParaRPr lang="en-US" sz="950" dirty="0"/>
          </a:p>
        </p:txBody>
      </p:sp>
      <p:sp>
        <p:nvSpPr>
          <p:cNvPr id="19" name="Shape 17"/>
          <p:cNvSpPr/>
          <p:nvPr/>
        </p:nvSpPr>
        <p:spPr>
          <a:xfrm>
            <a:off x="320040" y="3383280"/>
            <a:ext cx="850392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0" name="Shape 18"/>
          <p:cNvSpPr/>
          <p:nvPr/>
        </p:nvSpPr>
        <p:spPr>
          <a:xfrm>
            <a:off x="475488" y="3474720"/>
            <a:ext cx="8229600" cy="292608"/>
          </a:xfrm>
          <a:prstGeom prst="roundRect">
            <a:avLst>
              <a:gd name="adj" fmla="val 18750"/>
            </a:avLst>
          </a:prstGeom>
          <a:solidFill>
            <a:srgbClr val="DC2626"/>
          </a:solidFill>
          <a:ln w="12700">
            <a:solidFill>
              <a:srgbClr val="DC2626"/>
            </a:solidFill>
            <a:prstDash val="solid"/>
          </a:ln>
        </p:spPr>
      </p:sp>
      <p:sp>
        <p:nvSpPr>
          <p:cNvPr id="21" name="Text 19"/>
          <p:cNvSpPr/>
          <p:nvPr/>
        </p:nvSpPr>
        <p:spPr>
          <a:xfrm>
            <a:off x="475488" y="3474720"/>
            <a:ext cx="82296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Alert Rule — High Error Rate</a:t>
            </a:r>
            <a:endParaRPr lang="en-US" sz="1100" dirty="0"/>
          </a:p>
        </p:txBody>
      </p:sp>
      <p:sp>
        <p:nvSpPr>
          <p:cNvPr id="22" name="Text 20"/>
          <p:cNvSpPr/>
          <p:nvPr/>
        </p:nvSpPr>
        <p:spPr>
          <a:xfrm>
            <a:off x="594360" y="3858768"/>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Stack Management → Rules → Create rule</a:t>
            </a:r>
            <a:endParaRPr lang="en-US" sz="950" dirty="0"/>
          </a:p>
        </p:txBody>
      </p:sp>
      <p:sp>
        <p:nvSpPr>
          <p:cNvPr id="23" name="Text 21"/>
          <p:cNvSpPr/>
          <p:nvPr/>
        </p:nvSpPr>
        <p:spPr>
          <a:xfrm>
            <a:off x="594360" y="4041648"/>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Type: Elasticsearch query rule</a:t>
            </a:r>
            <a:endParaRPr lang="en-US" sz="950" dirty="0"/>
          </a:p>
        </p:txBody>
      </p:sp>
      <p:sp>
        <p:nvSpPr>
          <p:cNvPr id="24" name="Text 22"/>
          <p:cNvSpPr/>
          <p:nvPr/>
        </p:nvSpPr>
        <p:spPr>
          <a:xfrm>
            <a:off x="594360" y="4224528"/>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Query (KQL): response &gt;= 500</a:t>
            </a:r>
            <a:endParaRPr lang="en-US" sz="950" dirty="0"/>
          </a:p>
        </p:txBody>
      </p:sp>
      <p:sp>
        <p:nvSpPr>
          <p:cNvPr id="25" name="Text 23"/>
          <p:cNvSpPr/>
          <p:nvPr/>
        </p:nvSpPr>
        <p:spPr>
          <a:xfrm>
            <a:off x="594360" y="4407408"/>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Condition: count IS ABOVE 5</a:t>
            </a:r>
            <a:endParaRPr lang="en-US" sz="950" dirty="0"/>
          </a:p>
        </p:txBody>
      </p:sp>
      <p:sp>
        <p:nvSpPr>
          <p:cNvPr id="26" name="Text 24"/>
          <p:cNvSpPr/>
          <p:nvPr/>
        </p:nvSpPr>
        <p:spPr>
          <a:xfrm>
            <a:off x="594360" y="4590288"/>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Time window: 5 minutes  |  Check every: 1 minute</a:t>
            </a:r>
            <a:endParaRPr lang="en-US" sz="950" dirty="0"/>
          </a:p>
        </p:txBody>
      </p:sp>
      <p:sp>
        <p:nvSpPr>
          <p:cNvPr id="27" name="Text 25"/>
          <p:cNvSpPr/>
          <p:nvPr/>
        </p:nvSpPr>
        <p:spPr>
          <a:xfrm>
            <a:off x="594360" y="4773168"/>
            <a:ext cx="8138160" cy="182880"/>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  Action: Server log → Save</a:t>
            </a:r>
            <a:endParaRPr lang="en-US" sz="950" dirty="0"/>
          </a:p>
        </p:txBody>
      </p:sp>
      <p:sp>
        <p:nvSpPr>
          <p:cNvPr id="28" name="Shape 26"/>
          <p:cNvSpPr/>
          <p:nvPr/>
        </p:nvSpPr>
        <p:spPr>
          <a:xfrm>
            <a:off x="320040" y="5138928"/>
            <a:ext cx="8503920" cy="347472"/>
          </a:xfrm>
          <a:prstGeom prst="roundRect">
            <a:avLst>
              <a:gd name="adj" fmla="val 26316"/>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457200" y="5230368"/>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  —  Time range tip</a:t>
            </a:r>
            <a:endParaRPr lang="en-US" sz="1000" dirty="0"/>
          </a:p>
        </p:txBody>
      </p:sp>
      <p:sp>
        <p:nvSpPr>
          <p:cNvPr id="30" name="Text 28"/>
          <p:cNvSpPr/>
          <p:nvPr/>
        </p:nvSpPr>
        <p:spPr>
          <a:xfrm>
            <a:off x="457200" y="5522976"/>
            <a:ext cx="8229600" cy="-155448"/>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If students see 0 results: their logs are from Jan 2024. Set absolute time range: 01 Jan 2024 → 01 Feb 2024.</a:t>
            </a:r>
            <a:endParaRPr lang="en-US" sz="1000" dirty="0"/>
          </a:p>
        </p:txBody>
      </p:sp>
      <p:sp>
        <p:nvSpPr>
          <p:cNvPr id="31" name="Shape 29"/>
          <p:cNvSpPr/>
          <p:nvPr/>
        </p:nvSpPr>
        <p:spPr>
          <a:xfrm>
            <a:off x="0" y="4846320"/>
            <a:ext cx="9144000" cy="297180"/>
          </a:xfrm>
          <a:prstGeom prst="rect">
            <a:avLst/>
          </a:prstGeom>
          <a:solidFill>
            <a:srgbClr val="7C2D12"/>
          </a:solidFill>
          <a:ln w="12700">
            <a:solidFill>
              <a:srgbClr val="7C2D12"/>
            </a:solidFill>
            <a:prstDash val="solid"/>
          </a:ln>
        </p:spPr>
      </p:sp>
      <p:sp>
        <p:nvSpPr>
          <p:cNvPr id="32" name="Text 3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Lab 2 Answers — 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ELK COMMON ERRORS — FULL REFERENCE</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8503920" cy="329184"/>
          </a:xfrm>
          <a:prstGeom prst="rect">
            <a:avLst/>
          </a:prstGeom>
          <a:solidFill>
            <a:srgbClr val="0F172A"/>
          </a:solidFill>
          <a:ln w="12700">
            <a:solidFill>
              <a:srgbClr val="0F172A"/>
            </a:solidFill>
            <a:prstDash val="solid"/>
          </a:ln>
        </p:spPr>
      </p:sp>
      <p:sp>
        <p:nvSpPr>
          <p:cNvPr id="9" name="Text 7"/>
          <p:cNvSpPr/>
          <p:nvPr/>
        </p:nvSpPr>
        <p:spPr>
          <a:xfrm>
            <a:off x="411480" y="1234440"/>
            <a:ext cx="219456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Error</a:t>
            </a:r>
            <a:endParaRPr lang="en-US" sz="1000" dirty="0"/>
          </a:p>
        </p:txBody>
      </p:sp>
      <p:sp>
        <p:nvSpPr>
          <p:cNvPr id="10" name="Text 8"/>
          <p:cNvSpPr/>
          <p:nvPr/>
        </p:nvSpPr>
        <p:spPr>
          <a:xfrm>
            <a:off x="2670048" y="1234440"/>
            <a:ext cx="242316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Cause</a:t>
            </a:r>
            <a:endParaRPr lang="en-US" sz="1000" dirty="0"/>
          </a:p>
        </p:txBody>
      </p:sp>
      <p:sp>
        <p:nvSpPr>
          <p:cNvPr id="11" name="Text 9"/>
          <p:cNvSpPr/>
          <p:nvPr/>
        </p:nvSpPr>
        <p:spPr>
          <a:xfrm>
            <a:off x="5166360" y="1234440"/>
            <a:ext cx="361188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Quick Fix</a:t>
            </a:r>
            <a:endParaRPr lang="en-US" sz="1000" dirty="0"/>
          </a:p>
        </p:txBody>
      </p:sp>
      <p:sp>
        <p:nvSpPr>
          <p:cNvPr id="12" name="Shape 10"/>
          <p:cNvSpPr/>
          <p:nvPr/>
        </p:nvSpPr>
        <p:spPr>
          <a:xfrm>
            <a:off x="320040" y="1572768"/>
            <a:ext cx="8503920" cy="420624"/>
          </a:xfrm>
          <a:prstGeom prst="rect">
            <a:avLst/>
          </a:prstGeom>
          <a:solidFill>
            <a:srgbClr val="FFFFFF"/>
          </a:solidFill>
          <a:ln w="12700">
            <a:solidFill>
              <a:srgbClr val="E2E8F0"/>
            </a:solidFill>
            <a:prstDash val="solid"/>
          </a:ln>
        </p:spPr>
      </p:sp>
      <p:sp>
        <p:nvSpPr>
          <p:cNvPr id="13" name="Text 11"/>
          <p:cNvSpPr/>
          <p:nvPr/>
        </p:nvSpPr>
        <p:spPr>
          <a:xfrm>
            <a:off x="411480" y="1627632"/>
            <a:ext cx="2194560" cy="310896"/>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_grokparsefailure tag on documents</a:t>
            </a:r>
            <a:endParaRPr lang="en-US" sz="850" dirty="0"/>
          </a:p>
        </p:txBody>
      </p:sp>
      <p:sp>
        <p:nvSpPr>
          <p:cNvPr id="14" name="Text 12"/>
          <p:cNvSpPr/>
          <p:nvPr/>
        </p:nvSpPr>
        <p:spPr>
          <a:xfrm>
            <a:off x="2670048" y="1627632"/>
            <a:ext cx="242316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Grok pattern didn't match the log line format</a:t>
            </a:r>
            <a:endParaRPr lang="en-US" sz="900" dirty="0"/>
          </a:p>
        </p:txBody>
      </p:sp>
      <p:sp>
        <p:nvSpPr>
          <p:cNvPr id="15" name="Text 13"/>
          <p:cNvSpPr/>
          <p:nvPr/>
        </p:nvSpPr>
        <p:spPr>
          <a:xfrm>
            <a:off x="5166360" y="1627632"/>
            <a:ext cx="3611880"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Use Kibana Dev Tools → Grok Debugger to test pattern against a sample log line</a:t>
            </a:r>
            <a:endParaRPr lang="en-US" sz="900" dirty="0"/>
          </a:p>
        </p:txBody>
      </p:sp>
      <p:sp>
        <p:nvSpPr>
          <p:cNvPr id="16" name="Shape 14"/>
          <p:cNvSpPr/>
          <p:nvPr/>
        </p:nvSpPr>
        <p:spPr>
          <a:xfrm>
            <a:off x="320040" y="2029968"/>
            <a:ext cx="8503920" cy="420624"/>
          </a:xfrm>
          <a:prstGeom prst="rect">
            <a:avLst/>
          </a:prstGeom>
          <a:solidFill>
            <a:srgbClr val="F1F5F9"/>
          </a:solidFill>
          <a:ln w="12700">
            <a:solidFill>
              <a:srgbClr val="E2E8F0"/>
            </a:solidFill>
            <a:prstDash val="solid"/>
          </a:ln>
        </p:spPr>
      </p:sp>
      <p:sp>
        <p:nvSpPr>
          <p:cNvPr id="17" name="Text 15"/>
          <p:cNvSpPr/>
          <p:nvPr/>
        </p:nvSpPr>
        <p:spPr>
          <a:xfrm>
            <a:off x="411480" y="2084832"/>
            <a:ext cx="2194560" cy="310896"/>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@timestamp shows today's date (wrong)</a:t>
            </a:r>
            <a:endParaRPr lang="en-US" sz="850" dirty="0"/>
          </a:p>
        </p:txBody>
      </p:sp>
      <p:sp>
        <p:nvSpPr>
          <p:cNvPr id="18" name="Text 16"/>
          <p:cNvSpPr/>
          <p:nvPr/>
        </p:nvSpPr>
        <p:spPr>
          <a:xfrm>
            <a:off x="2670048" y="2084832"/>
            <a:ext cx="242316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date filter missing from Logstash pipeline</a:t>
            </a:r>
            <a:endParaRPr lang="en-US" sz="900" dirty="0"/>
          </a:p>
        </p:txBody>
      </p:sp>
      <p:sp>
        <p:nvSpPr>
          <p:cNvPr id="19" name="Text 17"/>
          <p:cNvSpPr/>
          <p:nvPr/>
        </p:nvSpPr>
        <p:spPr>
          <a:xfrm>
            <a:off x="5166360" y="2084832"/>
            <a:ext cx="3611880"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Add date filter: match ['timestamp','dd/MMM/yyyy:HH:mm:ss Z'] target '@timestamp'</a:t>
            </a:r>
            <a:endParaRPr lang="en-US" sz="900" dirty="0"/>
          </a:p>
        </p:txBody>
      </p:sp>
      <p:sp>
        <p:nvSpPr>
          <p:cNvPr id="20" name="Shape 18"/>
          <p:cNvSpPr/>
          <p:nvPr/>
        </p:nvSpPr>
        <p:spPr>
          <a:xfrm>
            <a:off x="320040" y="2487168"/>
            <a:ext cx="8503920" cy="420624"/>
          </a:xfrm>
          <a:prstGeom prst="rect">
            <a:avLst/>
          </a:prstGeom>
          <a:solidFill>
            <a:srgbClr val="FFFFFF"/>
          </a:solidFill>
          <a:ln w="12700">
            <a:solidFill>
              <a:srgbClr val="E2E8F0"/>
            </a:solidFill>
            <a:prstDash val="solid"/>
          </a:ln>
        </p:spPr>
      </p:sp>
      <p:sp>
        <p:nvSpPr>
          <p:cNvPr id="21" name="Text 19"/>
          <p:cNvSpPr/>
          <p:nvPr/>
        </p:nvSpPr>
        <p:spPr>
          <a:xfrm>
            <a:off x="411480" y="2542032"/>
            <a:ext cx="2194560" cy="310896"/>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response field is type text not integer</a:t>
            </a:r>
            <a:endParaRPr lang="en-US" sz="850" dirty="0"/>
          </a:p>
        </p:txBody>
      </p:sp>
      <p:sp>
        <p:nvSpPr>
          <p:cNvPr id="22" name="Text 20"/>
          <p:cNvSpPr/>
          <p:nvPr/>
        </p:nvSpPr>
        <p:spPr>
          <a:xfrm>
            <a:off x="2670048" y="2542032"/>
            <a:ext cx="242316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mutate convert missing from pipeline</a:t>
            </a:r>
            <a:endParaRPr lang="en-US" sz="900" dirty="0"/>
          </a:p>
        </p:txBody>
      </p:sp>
      <p:sp>
        <p:nvSpPr>
          <p:cNvPr id="23" name="Text 21"/>
          <p:cNvSpPr/>
          <p:nvPr/>
        </p:nvSpPr>
        <p:spPr>
          <a:xfrm>
            <a:off x="5166360" y="2542032"/>
            <a:ext cx="3611880"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Add: mutate { convert =&gt; { 'response' =&gt; 'integer' } }</a:t>
            </a:r>
            <a:endParaRPr lang="en-US" sz="900" dirty="0"/>
          </a:p>
        </p:txBody>
      </p:sp>
      <p:sp>
        <p:nvSpPr>
          <p:cNvPr id="24" name="Shape 22"/>
          <p:cNvSpPr/>
          <p:nvPr/>
        </p:nvSpPr>
        <p:spPr>
          <a:xfrm>
            <a:off x="320040" y="2944368"/>
            <a:ext cx="8503920" cy="420624"/>
          </a:xfrm>
          <a:prstGeom prst="rect">
            <a:avLst/>
          </a:prstGeom>
          <a:solidFill>
            <a:srgbClr val="F1F5F9"/>
          </a:solidFill>
          <a:ln w="12700">
            <a:solidFill>
              <a:srgbClr val="E2E8F0"/>
            </a:solidFill>
            <a:prstDash val="solid"/>
          </a:ln>
        </p:spPr>
      </p:sp>
      <p:sp>
        <p:nvSpPr>
          <p:cNvPr id="25" name="Text 23"/>
          <p:cNvSpPr/>
          <p:nvPr/>
        </p:nvSpPr>
        <p:spPr>
          <a:xfrm>
            <a:off x="411480" y="2999232"/>
            <a:ext cx="2194560" cy="310896"/>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Kibana shows 0 results</a:t>
            </a:r>
            <a:endParaRPr lang="en-US" sz="850" dirty="0"/>
          </a:p>
        </p:txBody>
      </p:sp>
      <p:sp>
        <p:nvSpPr>
          <p:cNvPr id="26" name="Text 24"/>
          <p:cNvSpPr/>
          <p:nvPr/>
        </p:nvSpPr>
        <p:spPr>
          <a:xfrm>
            <a:off x="2670048" y="2999232"/>
            <a:ext cx="242316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Time range doesn't cover the log dates</a:t>
            </a:r>
            <a:endParaRPr lang="en-US" sz="900" dirty="0"/>
          </a:p>
        </p:txBody>
      </p:sp>
      <p:sp>
        <p:nvSpPr>
          <p:cNvPr id="27" name="Text 25"/>
          <p:cNvSpPr/>
          <p:nvPr/>
        </p:nvSpPr>
        <p:spPr>
          <a:xfrm>
            <a:off x="5166360" y="2999232"/>
            <a:ext cx="3611880"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Set absolute time range matching the log file dates (e.g. Jan 2024)</a:t>
            </a:r>
            <a:endParaRPr lang="en-US" sz="900" dirty="0"/>
          </a:p>
        </p:txBody>
      </p:sp>
      <p:sp>
        <p:nvSpPr>
          <p:cNvPr id="28" name="Shape 26"/>
          <p:cNvSpPr/>
          <p:nvPr/>
        </p:nvSpPr>
        <p:spPr>
          <a:xfrm>
            <a:off x="320040" y="3401568"/>
            <a:ext cx="8503920" cy="420624"/>
          </a:xfrm>
          <a:prstGeom prst="rect">
            <a:avLst/>
          </a:prstGeom>
          <a:solidFill>
            <a:srgbClr val="FFFFFF"/>
          </a:solidFill>
          <a:ln w="12700">
            <a:solidFill>
              <a:srgbClr val="E2E8F0"/>
            </a:solidFill>
            <a:prstDash val="solid"/>
          </a:ln>
        </p:spPr>
      </p:sp>
      <p:sp>
        <p:nvSpPr>
          <p:cNvPr id="29" name="Text 27"/>
          <p:cNvSpPr/>
          <p:nvPr/>
        </p:nvSpPr>
        <p:spPr>
          <a:xfrm>
            <a:off x="411480" y="3456432"/>
            <a:ext cx="2194560" cy="310896"/>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Data View shows 0 fields</a:t>
            </a:r>
            <a:endParaRPr lang="en-US" sz="850" dirty="0"/>
          </a:p>
        </p:txBody>
      </p:sp>
      <p:sp>
        <p:nvSpPr>
          <p:cNvPr id="30" name="Text 28"/>
          <p:cNvSpPr/>
          <p:nvPr/>
        </p:nvSpPr>
        <p:spPr>
          <a:xfrm>
            <a:off x="2670048" y="3456432"/>
            <a:ext cx="242316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No documents in the index yet</a:t>
            </a:r>
            <a:endParaRPr lang="en-US" sz="900" dirty="0"/>
          </a:p>
        </p:txBody>
      </p:sp>
      <p:sp>
        <p:nvSpPr>
          <p:cNvPr id="31" name="Text 29"/>
          <p:cNvSpPr/>
          <p:nvPr/>
        </p:nvSpPr>
        <p:spPr>
          <a:xfrm>
            <a:off x="5166360" y="3456432"/>
            <a:ext cx="3611880"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Check Logstash ran: curl localhost:9200/apache-logs-*/_count</a:t>
            </a:r>
            <a:endParaRPr lang="en-US" sz="900" dirty="0"/>
          </a:p>
        </p:txBody>
      </p:sp>
      <p:sp>
        <p:nvSpPr>
          <p:cNvPr id="32" name="Shape 30"/>
          <p:cNvSpPr/>
          <p:nvPr/>
        </p:nvSpPr>
        <p:spPr>
          <a:xfrm>
            <a:off x="320040" y="3858768"/>
            <a:ext cx="8503920" cy="420624"/>
          </a:xfrm>
          <a:prstGeom prst="rect">
            <a:avLst/>
          </a:prstGeom>
          <a:solidFill>
            <a:srgbClr val="F1F5F9"/>
          </a:solidFill>
          <a:ln w="12700">
            <a:solidFill>
              <a:srgbClr val="E2E8F0"/>
            </a:solidFill>
            <a:prstDash val="solid"/>
          </a:ln>
        </p:spPr>
      </p:sp>
      <p:sp>
        <p:nvSpPr>
          <p:cNvPr id="33" name="Text 31"/>
          <p:cNvSpPr/>
          <p:nvPr/>
        </p:nvSpPr>
        <p:spPr>
          <a:xfrm>
            <a:off x="411480" y="3913632"/>
            <a:ext cx="2194560" cy="310896"/>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Alert never fires</a:t>
            </a:r>
            <a:endParaRPr lang="en-US" sz="850" dirty="0"/>
          </a:p>
        </p:txBody>
      </p:sp>
      <p:sp>
        <p:nvSpPr>
          <p:cNvPr id="34" name="Text 32"/>
          <p:cNvSpPr/>
          <p:nvPr/>
        </p:nvSpPr>
        <p:spPr>
          <a:xfrm>
            <a:off x="2670048" y="3913632"/>
            <a:ext cx="242316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Threshold too high or not enough 500 errors in data</a:t>
            </a:r>
            <a:endParaRPr lang="en-US" sz="900" dirty="0"/>
          </a:p>
        </p:txBody>
      </p:sp>
      <p:sp>
        <p:nvSpPr>
          <p:cNvPr id="35" name="Text 33"/>
          <p:cNvSpPr/>
          <p:nvPr/>
        </p:nvSpPr>
        <p:spPr>
          <a:xfrm>
            <a:off x="5166360" y="3913632"/>
            <a:ext cx="3611880"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Lower threshold to 1. Generate 500s: curl localhost:9200/doesnotexist to get ES 404s</a:t>
            </a:r>
            <a:endParaRPr lang="en-US" sz="900" dirty="0"/>
          </a:p>
        </p:txBody>
      </p:sp>
      <p:sp>
        <p:nvSpPr>
          <p:cNvPr id="36" name="Shape 34"/>
          <p:cNvSpPr/>
          <p:nvPr/>
        </p:nvSpPr>
        <p:spPr>
          <a:xfrm>
            <a:off x="320040" y="4315968"/>
            <a:ext cx="8503920" cy="420624"/>
          </a:xfrm>
          <a:prstGeom prst="rect">
            <a:avLst/>
          </a:prstGeom>
          <a:solidFill>
            <a:srgbClr val="FFFFFF"/>
          </a:solidFill>
          <a:ln w="12700">
            <a:solidFill>
              <a:srgbClr val="E2E8F0"/>
            </a:solidFill>
            <a:prstDash val="solid"/>
          </a:ln>
        </p:spPr>
      </p:sp>
      <p:sp>
        <p:nvSpPr>
          <p:cNvPr id="37" name="Text 35"/>
          <p:cNvSpPr/>
          <p:nvPr/>
        </p:nvSpPr>
        <p:spPr>
          <a:xfrm>
            <a:off x="411480" y="4370832"/>
            <a:ext cx="2194560" cy="310896"/>
          </a:xfrm>
          <a:prstGeom prst="rect">
            <a:avLst/>
          </a:prstGeom>
          <a:noFill/>
          <a:ln/>
        </p:spPr>
        <p:txBody>
          <a:bodyPr wrap="square" lIns="0" tIns="0" rIns="0" bIns="0" rtlCol="0" anchor="ctr"/>
          <a:lstStyle/>
          <a:p>
            <a:pPr indent="0" marL="0">
              <a:buNone/>
            </a:pPr>
            <a:r>
              <a:rPr lang="en-US" sz="850" dirty="0">
                <a:solidFill>
                  <a:srgbClr val="EF4444"/>
                </a:solidFill>
                <a:latin typeface="Courier New" pitchFamily="34" charset="0"/>
                <a:ea typeface="Courier New" pitchFamily="34" charset="-122"/>
                <a:cs typeface="Courier New" pitchFamily="34" charset="-120"/>
              </a:rPr>
              <a:t>Elasticsearch exit code 137</a:t>
            </a:r>
            <a:endParaRPr lang="en-US" sz="850" dirty="0"/>
          </a:p>
        </p:txBody>
      </p:sp>
      <p:sp>
        <p:nvSpPr>
          <p:cNvPr id="38" name="Text 36"/>
          <p:cNvSpPr/>
          <p:nvPr/>
        </p:nvSpPr>
        <p:spPr>
          <a:xfrm>
            <a:off x="2670048" y="4370832"/>
            <a:ext cx="242316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OOMKilled — Docker Desktop has insufficient RAM</a:t>
            </a:r>
            <a:endParaRPr lang="en-US" sz="900" dirty="0"/>
          </a:p>
        </p:txBody>
      </p:sp>
      <p:sp>
        <p:nvSpPr>
          <p:cNvPr id="39" name="Text 37"/>
          <p:cNvSpPr/>
          <p:nvPr/>
        </p:nvSpPr>
        <p:spPr>
          <a:xfrm>
            <a:off x="5166360" y="4370832"/>
            <a:ext cx="3611880"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Increase Docker Desktop RAM to 4GB+ or reduce: ES_JAVA_OPTS=-Xms512m -Xmx512m</a:t>
            </a:r>
            <a:endParaRPr lang="en-US" sz="900" dirty="0"/>
          </a:p>
        </p:txBody>
      </p:sp>
      <p:sp>
        <p:nvSpPr>
          <p:cNvPr id="40" name="Shape 38"/>
          <p:cNvSpPr/>
          <p:nvPr/>
        </p:nvSpPr>
        <p:spPr>
          <a:xfrm>
            <a:off x="0" y="4846320"/>
            <a:ext cx="9144000" cy="297180"/>
          </a:xfrm>
          <a:prstGeom prst="rect">
            <a:avLst/>
          </a:prstGeom>
          <a:solidFill>
            <a:srgbClr val="7C2D12"/>
          </a:solidFill>
          <a:ln w="12700">
            <a:solidFill>
              <a:srgbClr val="7C2D12"/>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Error Reference — CONFIDENTIAL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ELK STACK — WHAT YOU BUILT OVER 2 DAYS</a:t>
            </a:r>
            <a:endParaRPr lang="en-US" sz="2000" dirty="0"/>
          </a:p>
        </p:txBody>
      </p:sp>
      <p:sp>
        <p:nvSpPr>
          <p:cNvPr id="4" name="Shape 2"/>
          <p:cNvSpPr/>
          <p:nvPr/>
        </p:nvSpPr>
        <p:spPr>
          <a:xfrm>
            <a:off x="7178040" y="109728"/>
            <a:ext cx="1600200" cy="475488"/>
          </a:xfrm>
          <a:prstGeom prst="roundRect">
            <a:avLst>
              <a:gd name="adj" fmla="val 11538"/>
            </a:avLst>
          </a:prstGeom>
          <a:solidFill>
            <a:srgbClr val="8B5CF6"/>
          </a:solidFill>
          <a:ln w="12700">
            <a:solidFill>
              <a:srgbClr val="8B5CF6"/>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Course Summary</a:t>
            </a:r>
            <a:endParaRPr lang="en-US" sz="950" dirty="0"/>
          </a:p>
        </p:txBody>
      </p:sp>
      <p:sp>
        <p:nvSpPr>
          <p:cNvPr id="6" name="Shape 4"/>
          <p:cNvSpPr/>
          <p:nvPr/>
        </p:nvSpPr>
        <p:spPr>
          <a:xfrm>
            <a:off x="320040" y="868680"/>
            <a:ext cx="8503920" cy="621792"/>
          </a:xfrm>
          <a:prstGeom prst="roundRect">
            <a:avLst>
              <a:gd name="adj" fmla="val 14706"/>
            </a:avLst>
          </a:prstGeom>
          <a:solidFill>
            <a:srgbClr val="FEF3C7"/>
          </a:solidFill>
          <a:ln w="12700">
            <a:solidFill>
              <a:srgbClr val="FCD34D"/>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30352"/>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You built a complete, working ELK stack. Real logs flow from a file through Logstash, into Elasticsearch, and are visualised in Kibana with live alerting. This is production-ready architecture.</a:t>
            </a:r>
            <a:endParaRPr lang="en-US" sz="1200" dirty="0"/>
          </a:p>
        </p:txBody>
      </p:sp>
      <p:sp>
        <p:nvSpPr>
          <p:cNvPr id="8" name="Shape 6"/>
          <p:cNvSpPr/>
          <p:nvPr/>
        </p:nvSpPr>
        <p:spPr>
          <a:xfrm>
            <a:off x="320040" y="1627632"/>
            <a:ext cx="2697480" cy="1536192"/>
          </a:xfrm>
          <a:prstGeom prst="roundRect">
            <a:avLst>
              <a:gd name="adj" fmla="val 5952"/>
            </a:avLst>
          </a:prstGeom>
          <a:solidFill>
            <a:srgbClr val="DBEA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29768" y="1719072"/>
            <a:ext cx="502920" cy="384048"/>
          </a:xfrm>
          <a:prstGeom prst="roundRect">
            <a:avLst>
              <a:gd name="adj" fmla="val 14286"/>
            </a:avLst>
          </a:prstGeom>
          <a:solidFill>
            <a:srgbClr val="0077CC"/>
          </a:solidFill>
          <a:ln w="12700">
            <a:solidFill>
              <a:srgbClr val="0077CC"/>
            </a:solidFill>
            <a:prstDash val="solid"/>
          </a:ln>
        </p:spPr>
      </p:sp>
      <p:sp>
        <p:nvSpPr>
          <p:cNvPr id="10" name="Text 8"/>
          <p:cNvSpPr/>
          <p:nvPr/>
        </p:nvSpPr>
        <p:spPr>
          <a:xfrm>
            <a:off x="429768" y="1719072"/>
            <a:ext cx="5029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01-02</a:t>
            </a:r>
            <a:endParaRPr lang="en-US" sz="900" dirty="0"/>
          </a:p>
        </p:txBody>
      </p:sp>
      <p:sp>
        <p:nvSpPr>
          <p:cNvPr id="11" name="Text 9"/>
          <p:cNvSpPr/>
          <p:nvPr/>
        </p:nvSpPr>
        <p:spPr>
          <a:xfrm>
            <a:off x="1005840" y="1737360"/>
            <a:ext cx="1901952" cy="347472"/>
          </a:xfrm>
          <a:prstGeom prst="rect">
            <a:avLst/>
          </a:prstGeom>
          <a:noFill/>
          <a:ln/>
        </p:spPr>
        <p:txBody>
          <a:bodyPr wrap="square" lIns="0" tIns="0" rIns="0" bIns="0" rtlCol="0" anchor="ctr"/>
          <a:lstStyle/>
          <a:p>
            <a:pPr indent="0" marL="0">
              <a:buNone/>
            </a:pPr>
            <a:r>
              <a:rPr lang="en-US" sz="1050" b="1" dirty="0">
                <a:solidFill>
                  <a:srgbClr val="0077CC"/>
                </a:solidFill>
                <a:latin typeface="Cambria" pitchFamily="34" charset="0"/>
                <a:ea typeface="Cambria" pitchFamily="34" charset="-122"/>
                <a:cs typeface="Cambria" pitchFamily="34" charset="-120"/>
              </a:rPr>
              <a:t>What is ELK + Docker</a:t>
            </a:r>
            <a:endParaRPr lang="en-US" sz="1050" dirty="0"/>
          </a:p>
        </p:txBody>
      </p:sp>
      <p:sp>
        <p:nvSpPr>
          <p:cNvPr id="12" name="Text 10"/>
          <p:cNvSpPr/>
          <p:nvPr/>
        </p:nvSpPr>
        <p:spPr>
          <a:xfrm>
            <a:off x="457200" y="2194560"/>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Centralised logging problem</a:t>
            </a:r>
            <a:endParaRPr lang="en-US" sz="950" dirty="0"/>
          </a:p>
        </p:txBody>
      </p:sp>
      <p:sp>
        <p:nvSpPr>
          <p:cNvPr id="13" name="Text 11"/>
          <p:cNvSpPr/>
          <p:nvPr/>
        </p:nvSpPr>
        <p:spPr>
          <a:xfrm>
            <a:off x="457200" y="2487168"/>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E+L+K components + data flow</a:t>
            </a:r>
            <a:endParaRPr lang="en-US" sz="950" dirty="0"/>
          </a:p>
        </p:txBody>
      </p:sp>
      <p:sp>
        <p:nvSpPr>
          <p:cNvPr id="14" name="Text 12"/>
          <p:cNvSpPr/>
          <p:nvPr/>
        </p:nvSpPr>
        <p:spPr>
          <a:xfrm>
            <a:off x="457200" y="2779776"/>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docker-compose.yml + verify all 3</a:t>
            </a:r>
            <a:endParaRPr lang="en-US" sz="950" dirty="0"/>
          </a:p>
        </p:txBody>
      </p:sp>
      <p:sp>
        <p:nvSpPr>
          <p:cNvPr id="15" name="Shape 13"/>
          <p:cNvSpPr/>
          <p:nvPr/>
        </p:nvSpPr>
        <p:spPr>
          <a:xfrm>
            <a:off x="3172968" y="1627632"/>
            <a:ext cx="2697480" cy="1536192"/>
          </a:xfrm>
          <a:prstGeom prst="roundRect">
            <a:avLst>
              <a:gd name="adj" fmla="val 5952"/>
            </a:avLst>
          </a:prstGeom>
          <a:solidFill>
            <a:srgbClr val="E6FAF9"/>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6" name="Shape 14"/>
          <p:cNvSpPr/>
          <p:nvPr/>
        </p:nvSpPr>
        <p:spPr>
          <a:xfrm>
            <a:off x="3282696" y="1719072"/>
            <a:ext cx="502920" cy="384048"/>
          </a:xfrm>
          <a:prstGeom prst="roundRect">
            <a:avLst>
              <a:gd name="adj" fmla="val 14286"/>
            </a:avLst>
          </a:prstGeom>
          <a:solidFill>
            <a:srgbClr val="00BFB3"/>
          </a:solidFill>
          <a:ln w="12700">
            <a:solidFill>
              <a:srgbClr val="00BFB3"/>
            </a:solidFill>
            <a:prstDash val="solid"/>
          </a:ln>
        </p:spPr>
      </p:sp>
      <p:sp>
        <p:nvSpPr>
          <p:cNvPr id="17" name="Text 15"/>
          <p:cNvSpPr/>
          <p:nvPr/>
        </p:nvSpPr>
        <p:spPr>
          <a:xfrm>
            <a:off x="3282696" y="1719072"/>
            <a:ext cx="5029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03-05</a:t>
            </a:r>
            <a:endParaRPr lang="en-US" sz="900" dirty="0"/>
          </a:p>
        </p:txBody>
      </p:sp>
      <p:sp>
        <p:nvSpPr>
          <p:cNvPr id="18" name="Text 16"/>
          <p:cNvSpPr/>
          <p:nvPr/>
        </p:nvSpPr>
        <p:spPr>
          <a:xfrm>
            <a:off x="3858768" y="1737360"/>
            <a:ext cx="1901952" cy="347472"/>
          </a:xfrm>
          <a:prstGeom prst="rect">
            <a:avLst/>
          </a:prstGeom>
          <a:noFill/>
          <a:ln/>
        </p:spPr>
        <p:txBody>
          <a:bodyPr wrap="square" lIns="0" tIns="0" rIns="0" bIns="0" rtlCol="0" anchor="ctr"/>
          <a:lstStyle/>
          <a:p>
            <a:pPr indent="0" marL="0">
              <a:buNone/>
            </a:pPr>
            <a:r>
              <a:rPr lang="en-US" sz="1050" b="1" dirty="0">
                <a:solidFill>
                  <a:srgbClr val="00BFB3"/>
                </a:solidFill>
                <a:latin typeface="Cambria" pitchFamily="34" charset="0"/>
                <a:ea typeface="Cambria" pitchFamily="34" charset="-122"/>
                <a:cs typeface="Cambria" pitchFamily="34" charset="-120"/>
              </a:rPr>
              <a:t>Elasticsearch</a:t>
            </a:r>
            <a:endParaRPr lang="en-US" sz="1050" dirty="0"/>
          </a:p>
        </p:txBody>
      </p:sp>
      <p:sp>
        <p:nvSpPr>
          <p:cNvPr id="19" name="Text 17"/>
          <p:cNvSpPr/>
          <p:nvPr/>
        </p:nvSpPr>
        <p:spPr>
          <a:xfrm>
            <a:off x="3310128" y="2194560"/>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Indices, documents, mappings</a:t>
            </a:r>
            <a:endParaRPr lang="en-US" sz="950" dirty="0"/>
          </a:p>
        </p:txBody>
      </p:sp>
      <p:sp>
        <p:nvSpPr>
          <p:cNvPr id="20" name="Text 18"/>
          <p:cNvSpPr/>
          <p:nvPr/>
        </p:nvSpPr>
        <p:spPr>
          <a:xfrm>
            <a:off x="3310128" y="2487168"/>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Clusters, nodes, shards</a:t>
            </a:r>
            <a:endParaRPr lang="en-US" sz="950" dirty="0"/>
          </a:p>
        </p:txBody>
      </p:sp>
      <p:sp>
        <p:nvSpPr>
          <p:cNvPr id="21" name="Text 19"/>
          <p:cNvSpPr/>
          <p:nvPr/>
        </p:nvSpPr>
        <p:spPr>
          <a:xfrm>
            <a:off x="3310128" y="2779776"/>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REST API + Query DSL</a:t>
            </a:r>
            <a:endParaRPr lang="en-US" sz="950" dirty="0"/>
          </a:p>
        </p:txBody>
      </p:sp>
      <p:sp>
        <p:nvSpPr>
          <p:cNvPr id="22" name="Shape 20"/>
          <p:cNvSpPr/>
          <p:nvPr/>
        </p:nvSpPr>
        <p:spPr>
          <a:xfrm>
            <a:off x="6025896" y="1627632"/>
            <a:ext cx="2697480" cy="1536192"/>
          </a:xfrm>
          <a:prstGeom prst="roundRect">
            <a:avLst>
              <a:gd name="adj" fmla="val 5952"/>
            </a:avLst>
          </a:prstGeom>
          <a:solidFill>
            <a:srgbClr val="FEE2E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Shape 21"/>
          <p:cNvSpPr/>
          <p:nvPr/>
        </p:nvSpPr>
        <p:spPr>
          <a:xfrm>
            <a:off x="6135624" y="1719072"/>
            <a:ext cx="502920" cy="384048"/>
          </a:xfrm>
          <a:prstGeom prst="roundRect">
            <a:avLst>
              <a:gd name="adj" fmla="val 14286"/>
            </a:avLst>
          </a:prstGeom>
          <a:solidFill>
            <a:srgbClr val="F4659C"/>
          </a:solidFill>
          <a:ln w="12700">
            <a:solidFill>
              <a:srgbClr val="F4659C"/>
            </a:solidFill>
            <a:prstDash val="solid"/>
          </a:ln>
        </p:spPr>
      </p:sp>
      <p:sp>
        <p:nvSpPr>
          <p:cNvPr id="24" name="Text 22"/>
          <p:cNvSpPr/>
          <p:nvPr/>
        </p:nvSpPr>
        <p:spPr>
          <a:xfrm>
            <a:off x="6135624" y="1719072"/>
            <a:ext cx="5029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06-09</a:t>
            </a:r>
            <a:endParaRPr lang="en-US" sz="900" dirty="0"/>
          </a:p>
        </p:txBody>
      </p:sp>
      <p:sp>
        <p:nvSpPr>
          <p:cNvPr id="25" name="Text 23"/>
          <p:cNvSpPr/>
          <p:nvPr/>
        </p:nvSpPr>
        <p:spPr>
          <a:xfrm>
            <a:off x="6711696" y="1737360"/>
            <a:ext cx="1901952" cy="347472"/>
          </a:xfrm>
          <a:prstGeom prst="rect">
            <a:avLst/>
          </a:prstGeom>
          <a:noFill/>
          <a:ln/>
        </p:spPr>
        <p:txBody>
          <a:bodyPr wrap="square" lIns="0" tIns="0" rIns="0" bIns="0" rtlCol="0" anchor="ctr"/>
          <a:lstStyle/>
          <a:p>
            <a:pPr indent="0" marL="0">
              <a:buNone/>
            </a:pPr>
            <a:r>
              <a:rPr lang="en-US" sz="1050" b="1" dirty="0">
                <a:solidFill>
                  <a:srgbClr val="F4659C"/>
                </a:solidFill>
                <a:latin typeface="Cambria" pitchFamily="34" charset="0"/>
                <a:ea typeface="Cambria" pitchFamily="34" charset="-122"/>
                <a:cs typeface="Cambria" pitchFamily="34" charset="-120"/>
              </a:rPr>
              <a:t>Logstash</a:t>
            </a:r>
            <a:endParaRPr lang="en-US" sz="1050" dirty="0"/>
          </a:p>
        </p:txBody>
      </p:sp>
      <p:sp>
        <p:nvSpPr>
          <p:cNvPr id="26" name="Text 24"/>
          <p:cNvSpPr/>
          <p:nvPr/>
        </p:nvSpPr>
        <p:spPr>
          <a:xfrm>
            <a:off x="6163056" y="2194560"/>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Pipeline config (.conf)</a:t>
            </a:r>
            <a:endParaRPr lang="en-US" sz="950" dirty="0"/>
          </a:p>
        </p:txBody>
      </p:sp>
      <p:sp>
        <p:nvSpPr>
          <p:cNvPr id="27" name="Text 25"/>
          <p:cNvSpPr/>
          <p:nvPr/>
        </p:nvSpPr>
        <p:spPr>
          <a:xfrm>
            <a:off x="6163056" y="2487168"/>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grok + date + mutate</a:t>
            </a:r>
            <a:endParaRPr lang="en-US" sz="950" dirty="0"/>
          </a:p>
        </p:txBody>
      </p:sp>
      <p:sp>
        <p:nvSpPr>
          <p:cNvPr id="28" name="Text 26"/>
          <p:cNvSpPr/>
          <p:nvPr/>
        </p:nvSpPr>
        <p:spPr>
          <a:xfrm>
            <a:off x="6163056" y="2779776"/>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file → ES output</a:t>
            </a:r>
            <a:endParaRPr lang="en-US" sz="950" dirty="0"/>
          </a:p>
        </p:txBody>
      </p:sp>
      <p:sp>
        <p:nvSpPr>
          <p:cNvPr id="29" name="Shape 27"/>
          <p:cNvSpPr/>
          <p:nvPr/>
        </p:nvSpPr>
        <p:spPr>
          <a:xfrm>
            <a:off x="320040" y="3255264"/>
            <a:ext cx="2697480" cy="1536192"/>
          </a:xfrm>
          <a:prstGeom prst="roundRect">
            <a:avLst>
              <a:gd name="adj" fmla="val 5952"/>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0" name="Shape 28"/>
          <p:cNvSpPr/>
          <p:nvPr/>
        </p:nvSpPr>
        <p:spPr>
          <a:xfrm>
            <a:off x="429768" y="3346704"/>
            <a:ext cx="502920" cy="384048"/>
          </a:xfrm>
          <a:prstGeom prst="roundRect">
            <a:avLst>
              <a:gd name="adj" fmla="val 14286"/>
            </a:avLst>
          </a:prstGeom>
          <a:solidFill>
            <a:srgbClr val="8B5CF6"/>
          </a:solidFill>
          <a:ln w="12700">
            <a:solidFill>
              <a:srgbClr val="8B5CF6"/>
            </a:solidFill>
            <a:prstDash val="solid"/>
          </a:ln>
        </p:spPr>
      </p:sp>
      <p:sp>
        <p:nvSpPr>
          <p:cNvPr id="31" name="Text 29"/>
          <p:cNvSpPr/>
          <p:nvPr/>
        </p:nvSpPr>
        <p:spPr>
          <a:xfrm>
            <a:off x="429768" y="3346704"/>
            <a:ext cx="5029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10-13</a:t>
            </a:r>
            <a:endParaRPr lang="en-US" sz="900" dirty="0"/>
          </a:p>
        </p:txBody>
      </p:sp>
      <p:sp>
        <p:nvSpPr>
          <p:cNvPr id="32" name="Text 30"/>
          <p:cNvSpPr/>
          <p:nvPr/>
        </p:nvSpPr>
        <p:spPr>
          <a:xfrm>
            <a:off x="1005840" y="3364992"/>
            <a:ext cx="1901952" cy="347472"/>
          </a:xfrm>
          <a:prstGeom prst="rect">
            <a:avLst/>
          </a:prstGeom>
          <a:noFill/>
          <a:ln/>
        </p:spPr>
        <p:txBody>
          <a:bodyPr wrap="square" lIns="0" tIns="0" rIns="0" bIns="0" rtlCol="0" anchor="ctr"/>
          <a:lstStyle/>
          <a:p>
            <a:pPr indent="0" marL="0">
              <a:buNone/>
            </a:pPr>
            <a:r>
              <a:rPr lang="en-US" sz="1050" b="1" dirty="0">
                <a:solidFill>
                  <a:srgbClr val="8B5CF6"/>
                </a:solidFill>
                <a:latin typeface="Cambria" pitchFamily="34" charset="0"/>
                <a:ea typeface="Cambria" pitchFamily="34" charset="-122"/>
                <a:cs typeface="Cambria" pitchFamily="34" charset="-120"/>
              </a:rPr>
              <a:t>Kibana — Search</a:t>
            </a:r>
            <a:endParaRPr lang="en-US" sz="1050" dirty="0"/>
          </a:p>
        </p:txBody>
      </p:sp>
      <p:sp>
        <p:nvSpPr>
          <p:cNvPr id="33" name="Text 31"/>
          <p:cNvSpPr/>
          <p:nvPr/>
        </p:nvSpPr>
        <p:spPr>
          <a:xfrm>
            <a:off x="457200" y="3822192"/>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Data Views + Discover</a:t>
            </a:r>
            <a:endParaRPr lang="en-US" sz="950" dirty="0"/>
          </a:p>
        </p:txBody>
      </p:sp>
      <p:sp>
        <p:nvSpPr>
          <p:cNvPr id="34" name="Text 32"/>
          <p:cNvSpPr/>
          <p:nvPr/>
        </p:nvSpPr>
        <p:spPr>
          <a:xfrm>
            <a:off x="457200" y="4114800"/>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KQL query language</a:t>
            </a:r>
            <a:endParaRPr lang="en-US" sz="950" dirty="0"/>
          </a:p>
        </p:txBody>
      </p:sp>
      <p:sp>
        <p:nvSpPr>
          <p:cNvPr id="35" name="Text 33"/>
          <p:cNvSpPr/>
          <p:nvPr/>
        </p:nvSpPr>
        <p:spPr>
          <a:xfrm>
            <a:off x="457200" y="4407408"/>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Saved searches</a:t>
            </a:r>
            <a:endParaRPr lang="en-US" sz="950" dirty="0"/>
          </a:p>
        </p:txBody>
      </p:sp>
      <p:sp>
        <p:nvSpPr>
          <p:cNvPr id="36" name="Shape 34"/>
          <p:cNvSpPr/>
          <p:nvPr/>
        </p:nvSpPr>
        <p:spPr>
          <a:xfrm>
            <a:off x="3172968" y="3255264"/>
            <a:ext cx="2697480" cy="1536192"/>
          </a:xfrm>
          <a:prstGeom prst="roundRect">
            <a:avLst>
              <a:gd name="adj" fmla="val 5952"/>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7" name="Shape 35"/>
          <p:cNvSpPr/>
          <p:nvPr/>
        </p:nvSpPr>
        <p:spPr>
          <a:xfrm>
            <a:off x="3282696" y="3346704"/>
            <a:ext cx="502920" cy="384048"/>
          </a:xfrm>
          <a:prstGeom prst="roundRect">
            <a:avLst>
              <a:gd name="adj" fmla="val 14286"/>
            </a:avLst>
          </a:prstGeom>
          <a:solidFill>
            <a:srgbClr val="7C3AED"/>
          </a:solidFill>
          <a:ln w="12700">
            <a:solidFill>
              <a:srgbClr val="7C3AED"/>
            </a:solidFill>
            <a:prstDash val="solid"/>
          </a:ln>
        </p:spPr>
      </p:sp>
      <p:sp>
        <p:nvSpPr>
          <p:cNvPr id="38" name="Text 36"/>
          <p:cNvSpPr/>
          <p:nvPr/>
        </p:nvSpPr>
        <p:spPr>
          <a:xfrm>
            <a:off x="3282696" y="3346704"/>
            <a:ext cx="5029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14-15</a:t>
            </a:r>
            <a:endParaRPr lang="en-US" sz="900" dirty="0"/>
          </a:p>
        </p:txBody>
      </p:sp>
      <p:sp>
        <p:nvSpPr>
          <p:cNvPr id="39" name="Text 37"/>
          <p:cNvSpPr/>
          <p:nvPr/>
        </p:nvSpPr>
        <p:spPr>
          <a:xfrm>
            <a:off x="3858768" y="3364992"/>
            <a:ext cx="1901952" cy="347472"/>
          </a:xfrm>
          <a:prstGeom prst="rect">
            <a:avLst/>
          </a:prstGeom>
          <a:noFill/>
          <a:ln/>
        </p:spPr>
        <p:txBody>
          <a:bodyPr wrap="square" lIns="0" tIns="0" rIns="0" bIns="0" rtlCol="0" anchor="ctr"/>
          <a:lstStyle/>
          <a:p>
            <a:pPr indent="0" marL="0">
              <a:buNone/>
            </a:pPr>
            <a:r>
              <a:rPr lang="en-US" sz="1050" b="1" dirty="0">
                <a:solidFill>
                  <a:srgbClr val="7C3AED"/>
                </a:solidFill>
                <a:latin typeface="Cambria" pitchFamily="34" charset="0"/>
                <a:ea typeface="Cambria" pitchFamily="34" charset="-122"/>
                <a:cs typeface="Cambria" pitchFamily="34" charset="-120"/>
              </a:rPr>
              <a:t>Kibana — Visualise</a:t>
            </a:r>
            <a:endParaRPr lang="en-US" sz="1050" dirty="0"/>
          </a:p>
        </p:txBody>
      </p:sp>
      <p:sp>
        <p:nvSpPr>
          <p:cNvPr id="40" name="Text 38"/>
          <p:cNvSpPr/>
          <p:nvPr/>
        </p:nvSpPr>
        <p:spPr>
          <a:xfrm>
            <a:off x="3310128" y="3822192"/>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Lens drag-and-drop charts</a:t>
            </a:r>
            <a:endParaRPr lang="en-US" sz="950" dirty="0"/>
          </a:p>
        </p:txBody>
      </p:sp>
      <p:sp>
        <p:nvSpPr>
          <p:cNvPr id="41" name="Text 39"/>
          <p:cNvSpPr/>
          <p:nvPr/>
        </p:nvSpPr>
        <p:spPr>
          <a:xfrm>
            <a:off x="3310128" y="4114800"/>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Bar, Pie, Metric, Table</a:t>
            </a:r>
            <a:endParaRPr lang="en-US" sz="950" dirty="0"/>
          </a:p>
        </p:txBody>
      </p:sp>
      <p:sp>
        <p:nvSpPr>
          <p:cNvPr id="42" name="Text 40"/>
          <p:cNvSpPr/>
          <p:nvPr/>
        </p:nvSpPr>
        <p:spPr>
          <a:xfrm>
            <a:off x="3310128" y="4407408"/>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Dashboards + sharing</a:t>
            </a:r>
            <a:endParaRPr lang="en-US" sz="950" dirty="0"/>
          </a:p>
        </p:txBody>
      </p:sp>
      <p:sp>
        <p:nvSpPr>
          <p:cNvPr id="43" name="Shape 41"/>
          <p:cNvSpPr/>
          <p:nvPr/>
        </p:nvSpPr>
        <p:spPr>
          <a:xfrm>
            <a:off x="6025896" y="3255264"/>
            <a:ext cx="2697480" cy="1536192"/>
          </a:xfrm>
          <a:prstGeom prst="roundRect">
            <a:avLst>
              <a:gd name="adj" fmla="val 5952"/>
            </a:avLst>
          </a:prstGeom>
          <a:solidFill>
            <a:srgbClr val="FEF2F2"/>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44" name="Shape 42"/>
          <p:cNvSpPr/>
          <p:nvPr/>
        </p:nvSpPr>
        <p:spPr>
          <a:xfrm>
            <a:off x="6135624" y="3346704"/>
            <a:ext cx="502920" cy="384048"/>
          </a:xfrm>
          <a:prstGeom prst="roundRect">
            <a:avLst>
              <a:gd name="adj" fmla="val 14286"/>
            </a:avLst>
          </a:prstGeom>
          <a:solidFill>
            <a:srgbClr val="DC2626"/>
          </a:solidFill>
          <a:ln w="12700">
            <a:solidFill>
              <a:srgbClr val="DC2626"/>
            </a:solidFill>
            <a:prstDash val="solid"/>
          </a:ln>
        </p:spPr>
      </p:sp>
      <p:sp>
        <p:nvSpPr>
          <p:cNvPr id="45" name="Text 43"/>
          <p:cNvSpPr/>
          <p:nvPr/>
        </p:nvSpPr>
        <p:spPr>
          <a:xfrm>
            <a:off x="6135624" y="3346704"/>
            <a:ext cx="5029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16-18</a:t>
            </a:r>
            <a:endParaRPr lang="en-US" sz="900" dirty="0"/>
          </a:p>
        </p:txBody>
      </p:sp>
      <p:sp>
        <p:nvSpPr>
          <p:cNvPr id="46" name="Text 44"/>
          <p:cNvSpPr/>
          <p:nvPr/>
        </p:nvSpPr>
        <p:spPr>
          <a:xfrm>
            <a:off x="6711696" y="3364992"/>
            <a:ext cx="1901952" cy="347472"/>
          </a:xfrm>
          <a:prstGeom prst="rect">
            <a:avLst/>
          </a:prstGeom>
          <a:noFill/>
          <a:ln/>
        </p:spPr>
        <p:txBody>
          <a:bodyPr wrap="square" lIns="0" tIns="0" rIns="0" bIns="0" rtlCol="0" anchor="ctr"/>
          <a:lstStyle/>
          <a:p>
            <a:pPr indent="0" marL="0">
              <a:buNone/>
            </a:pPr>
            <a:r>
              <a:rPr lang="en-US" sz="1050" b="1" dirty="0">
                <a:solidFill>
                  <a:srgbClr val="DC2626"/>
                </a:solidFill>
                <a:latin typeface="Cambria" pitchFamily="34" charset="0"/>
                <a:ea typeface="Cambria" pitchFamily="34" charset="-122"/>
                <a:cs typeface="Cambria" pitchFamily="34" charset="-120"/>
              </a:rPr>
              <a:t>Ops + Alerting</a:t>
            </a:r>
            <a:endParaRPr lang="en-US" sz="1050" dirty="0"/>
          </a:p>
        </p:txBody>
      </p:sp>
      <p:sp>
        <p:nvSpPr>
          <p:cNvPr id="47" name="Text 45"/>
          <p:cNvSpPr/>
          <p:nvPr/>
        </p:nvSpPr>
        <p:spPr>
          <a:xfrm>
            <a:off x="6163056" y="3822192"/>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Alerting rules + connectors</a:t>
            </a:r>
            <a:endParaRPr lang="en-US" sz="950" dirty="0"/>
          </a:p>
        </p:txBody>
      </p:sp>
      <p:sp>
        <p:nvSpPr>
          <p:cNvPr id="48" name="Text 46"/>
          <p:cNvSpPr/>
          <p:nvPr/>
        </p:nvSpPr>
        <p:spPr>
          <a:xfrm>
            <a:off x="6163056" y="4114800"/>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Beats — Filebeat, Metricbeat</a:t>
            </a:r>
            <a:endParaRPr lang="en-US" sz="950" dirty="0"/>
          </a:p>
        </p:txBody>
      </p:sp>
      <p:sp>
        <p:nvSpPr>
          <p:cNvPr id="49" name="Text 47"/>
          <p:cNvSpPr/>
          <p:nvPr/>
        </p:nvSpPr>
        <p:spPr>
          <a:xfrm>
            <a:off x="6163056" y="4407408"/>
            <a:ext cx="2487168" cy="25603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ILM — index lifecycle</a:t>
            </a:r>
            <a:endParaRPr lang="en-US" sz="950" dirty="0"/>
          </a:p>
        </p:txBody>
      </p:sp>
      <p:sp>
        <p:nvSpPr>
          <p:cNvPr id="50" name="Shape 48"/>
          <p:cNvSpPr/>
          <p:nvPr/>
        </p:nvSpPr>
        <p:spPr>
          <a:xfrm>
            <a:off x="0" y="4846320"/>
            <a:ext cx="9144000" cy="297180"/>
          </a:xfrm>
          <a:prstGeom prst="rect">
            <a:avLst/>
          </a:prstGeom>
          <a:solidFill>
            <a:srgbClr val="0F172A"/>
          </a:solidFill>
          <a:ln w="12700">
            <a:solidFill>
              <a:srgbClr val="0F172A"/>
            </a:solidFill>
            <a:prstDash val="solid"/>
          </a:ln>
        </p:spPr>
      </p:sp>
      <p:sp>
        <p:nvSpPr>
          <p:cNvPr id="51" name="Text 4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Course Summary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NEXT STEPS — WHERE TO GO FROM HERE</a:t>
            </a:r>
            <a:endParaRPr lang="en-US" sz="2000" dirty="0"/>
          </a:p>
        </p:txBody>
      </p:sp>
      <p:sp>
        <p:nvSpPr>
          <p:cNvPr id="4" name="Shape 2"/>
          <p:cNvSpPr/>
          <p:nvPr/>
        </p:nvSpPr>
        <p:spPr>
          <a:xfrm>
            <a:off x="7178040" y="109728"/>
            <a:ext cx="1600200" cy="475488"/>
          </a:xfrm>
          <a:prstGeom prst="roundRect">
            <a:avLst>
              <a:gd name="adj" fmla="val 11538"/>
            </a:avLst>
          </a:prstGeom>
          <a:solidFill>
            <a:srgbClr val="8B5CF6"/>
          </a:solidFill>
          <a:ln w="12700">
            <a:solidFill>
              <a:srgbClr val="8B5CF6"/>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After Training</a:t>
            </a:r>
            <a:endParaRPr lang="en-US" sz="950" dirty="0"/>
          </a:p>
        </p:txBody>
      </p:sp>
      <p:sp>
        <p:nvSpPr>
          <p:cNvPr id="6" name="Shape 4"/>
          <p:cNvSpPr/>
          <p:nvPr/>
        </p:nvSpPr>
        <p:spPr>
          <a:xfrm>
            <a:off x="320040" y="868680"/>
            <a:ext cx="8503920" cy="566928"/>
          </a:xfrm>
          <a:prstGeom prst="roundRect">
            <a:avLst>
              <a:gd name="adj" fmla="val 16129"/>
            </a:avLst>
          </a:prstGeom>
          <a:solidFill>
            <a:srgbClr val="DBEAFE"/>
          </a:solidFill>
          <a:ln w="12700">
            <a:solidFill>
              <a:srgbClr val="93C5FD"/>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47548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You have the foundation. Here is what to explore next to go deeper with ELK in production.</a:t>
            </a:r>
            <a:endParaRPr lang="en-US" sz="1250" dirty="0"/>
          </a:p>
        </p:txBody>
      </p:sp>
      <p:sp>
        <p:nvSpPr>
          <p:cNvPr id="8" name="Shape 6"/>
          <p:cNvSpPr/>
          <p:nvPr/>
        </p:nvSpPr>
        <p:spPr>
          <a:xfrm>
            <a:off x="320040" y="1572768"/>
            <a:ext cx="269748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57200" y="1645920"/>
            <a:ext cx="2423160" cy="292608"/>
          </a:xfrm>
          <a:prstGeom prst="rect">
            <a:avLst/>
          </a:prstGeom>
          <a:noFill/>
          <a:ln/>
        </p:spPr>
        <p:txBody>
          <a:bodyPr wrap="square" lIns="0" tIns="0" rIns="0" bIns="0" rtlCol="0" anchor="ctr"/>
          <a:lstStyle/>
          <a:p>
            <a:pPr indent="0" marL="0">
              <a:buNone/>
            </a:pPr>
            <a:r>
              <a:rPr lang="en-US" sz="1200" b="1" dirty="0">
                <a:solidFill>
                  <a:srgbClr val="DC2626"/>
                </a:solidFill>
                <a:latin typeface="Arial" pitchFamily="34" charset="0"/>
                <a:ea typeface="Arial" pitchFamily="34" charset="-122"/>
                <a:cs typeface="Arial" pitchFamily="34" charset="-120"/>
              </a:rPr>
              <a:t>🔒  Enable Security</a:t>
            </a:r>
            <a:endParaRPr lang="en-US" sz="1200" dirty="0"/>
          </a:p>
        </p:txBody>
      </p:sp>
      <p:sp>
        <p:nvSpPr>
          <p:cNvPr id="10" name="Text 8"/>
          <p:cNvSpPr/>
          <p:nvPr/>
        </p:nvSpPr>
        <p:spPr>
          <a:xfrm>
            <a:off x="457200" y="1975104"/>
            <a:ext cx="2423160" cy="80467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Turn on xpack.security.enabled=true, create users and roles. Never run ELK without security in production.</a:t>
            </a:r>
            <a:endParaRPr lang="en-US" sz="1000" dirty="0"/>
          </a:p>
        </p:txBody>
      </p:sp>
      <p:sp>
        <p:nvSpPr>
          <p:cNvPr id="11" name="Shape 9"/>
          <p:cNvSpPr/>
          <p:nvPr/>
        </p:nvSpPr>
        <p:spPr>
          <a:xfrm>
            <a:off x="3172968" y="1572768"/>
            <a:ext cx="269748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2" name="Text 10"/>
          <p:cNvSpPr/>
          <p:nvPr/>
        </p:nvSpPr>
        <p:spPr>
          <a:xfrm>
            <a:off x="3310128" y="1645920"/>
            <a:ext cx="2423160" cy="292608"/>
          </a:xfrm>
          <a:prstGeom prst="rect">
            <a:avLst/>
          </a:prstGeom>
          <a:noFill/>
          <a:ln/>
        </p:spPr>
        <p:txBody>
          <a:bodyPr wrap="square" lIns="0" tIns="0" rIns="0" bIns="0" rtlCol="0" anchor="ctr"/>
          <a:lstStyle/>
          <a:p>
            <a:pPr indent="0" marL="0">
              <a:buNone/>
            </a:pPr>
            <a:r>
              <a:rPr lang="en-US" sz="1200" b="1" dirty="0">
                <a:solidFill>
                  <a:srgbClr val="F5A700"/>
                </a:solidFill>
                <a:latin typeface="Arial" pitchFamily="34" charset="0"/>
                <a:ea typeface="Arial" pitchFamily="34" charset="-122"/>
                <a:cs typeface="Arial" pitchFamily="34" charset="-120"/>
              </a:rPr>
              <a:t>📦  Filebeat Modules</a:t>
            </a:r>
            <a:endParaRPr lang="en-US" sz="1200" dirty="0"/>
          </a:p>
        </p:txBody>
      </p:sp>
      <p:sp>
        <p:nvSpPr>
          <p:cNvPr id="13" name="Text 11"/>
          <p:cNvSpPr/>
          <p:nvPr/>
        </p:nvSpPr>
        <p:spPr>
          <a:xfrm>
            <a:off x="3310128" y="1975104"/>
            <a:ext cx="2423160" cy="80467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Use Filebeat's built-in modules for nginx, Docker, Kubernetes, MySQL. Pre-built parsers and dashboards in one command.</a:t>
            </a:r>
            <a:endParaRPr lang="en-US" sz="1000" dirty="0"/>
          </a:p>
        </p:txBody>
      </p:sp>
      <p:sp>
        <p:nvSpPr>
          <p:cNvPr id="14" name="Shape 12"/>
          <p:cNvSpPr/>
          <p:nvPr/>
        </p:nvSpPr>
        <p:spPr>
          <a:xfrm>
            <a:off x="6025896" y="1572768"/>
            <a:ext cx="269748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5" name="Text 13"/>
          <p:cNvSpPr/>
          <p:nvPr/>
        </p:nvSpPr>
        <p:spPr>
          <a:xfrm>
            <a:off x="6163056" y="1645920"/>
            <a:ext cx="2423160" cy="292608"/>
          </a:xfrm>
          <a:prstGeom prst="rect">
            <a:avLst/>
          </a:prstGeom>
          <a:noFill/>
          <a:ln/>
        </p:spPr>
        <p:txBody>
          <a:bodyPr wrap="square" lIns="0" tIns="0" rIns="0" bIns="0" rtlCol="0" anchor="ctr"/>
          <a:lstStyle/>
          <a:p>
            <a:pPr indent="0" marL="0">
              <a:buNone/>
            </a:pPr>
            <a:r>
              <a:rPr lang="en-US" sz="1200" b="1" dirty="0">
                <a:solidFill>
                  <a:srgbClr val="7C3AED"/>
                </a:solidFill>
                <a:latin typeface="Arial" pitchFamily="34" charset="0"/>
                <a:ea typeface="Arial" pitchFamily="34" charset="-122"/>
                <a:cs typeface="Arial" pitchFamily="34" charset="-120"/>
              </a:rPr>
              <a:t>🤖  Machine Learning</a:t>
            </a:r>
            <a:endParaRPr lang="en-US" sz="1200" dirty="0"/>
          </a:p>
        </p:txBody>
      </p:sp>
      <p:sp>
        <p:nvSpPr>
          <p:cNvPr id="16" name="Text 14"/>
          <p:cNvSpPr/>
          <p:nvPr/>
        </p:nvSpPr>
        <p:spPr>
          <a:xfrm>
            <a:off x="6163056" y="1975104"/>
            <a:ext cx="2423160" cy="80467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Anomaly detection on your time-series data. Kibana ML finds unusual patterns automatically — no thresholds needed.</a:t>
            </a:r>
            <a:endParaRPr lang="en-US" sz="1000" dirty="0"/>
          </a:p>
        </p:txBody>
      </p:sp>
      <p:sp>
        <p:nvSpPr>
          <p:cNvPr id="17" name="Shape 15"/>
          <p:cNvSpPr/>
          <p:nvPr/>
        </p:nvSpPr>
        <p:spPr>
          <a:xfrm>
            <a:off x="320040" y="2990088"/>
            <a:ext cx="269748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8" name="Text 16"/>
          <p:cNvSpPr/>
          <p:nvPr/>
        </p:nvSpPr>
        <p:spPr>
          <a:xfrm>
            <a:off x="457200" y="3063240"/>
            <a:ext cx="2423160" cy="292608"/>
          </a:xfrm>
          <a:prstGeom prst="rect">
            <a:avLst/>
          </a:prstGeom>
          <a:noFill/>
          <a:ln/>
        </p:spPr>
        <p:txBody>
          <a:bodyPr wrap="square" lIns="0" tIns="0" rIns="0" bIns="0" rtlCol="0" anchor="ctr"/>
          <a:lstStyle/>
          <a:p>
            <a:pPr indent="0" marL="0">
              <a:buNone/>
            </a:pPr>
            <a:r>
              <a:rPr lang="en-US" sz="1200" b="1" dirty="0">
                <a:solidFill>
                  <a:srgbClr val="00BFB3"/>
                </a:solidFill>
                <a:latin typeface="Arial" pitchFamily="34" charset="0"/>
                <a:ea typeface="Arial" pitchFamily="34" charset="-122"/>
                <a:cs typeface="Arial" pitchFamily="34" charset="-120"/>
              </a:rPr>
              <a:t>☸️  ELK on Kubernetes</a:t>
            </a:r>
            <a:endParaRPr lang="en-US" sz="1200" dirty="0"/>
          </a:p>
        </p:txBody>
      </p:sp>
      <p:sp>
        <p:nvSpPr>
          <p:cNvPr id="19" name="Text 17"/>
          <p:cNvSpPr/>
          <p:nvPr/>
        </p:nvSpPr>
        <p:spPr>
          <a:xfrm>
            <a:off x="457200" y="3392424"/>
            <a:ext cx="2423160" cy="80467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Run the full stack with ECK (Elastic Cloud on Kubernetes) — the official Kubernetes operator for the Elastic stack.</a:t>
            </a:r>
            <a:endParaRPr lang="en-US" sz="1000" dirty="0"/>
          </a:p>
        </p:txBody>
      </p:sp>
      <p:sp>
        <p:nvSpPr>
          <p:cNvPr id="20" name="Shape 18"/>
          <p:cNvSpPr/>
          <p:nvPr/>
        </p:nvSpPr>
        <p:spPr>
          <a:xfrm>
            <a:off x="3172968" y="2990088"/>
            <a:ext cx="269748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1" name="Text 19"/>
          <p:cNvSpPr/>
          <p:nvPr/>
        </p:nvSpPr>
        <p:spPr>
          <a:xfrm>
            <a:off x="3310128" y="3063240"/>
            <a:ext cx="2423160" cy="292608"/>
          </a:xfrm>
          <a:prstGeom prst="rect">
            <a:avLst/>
          </a:prstGeom>
          <a:noFill/>
          <a:ln/>
        </p:spPr>
        <p:txBody>
          <a:bodyPr wrap="square" lIns="0" tIns="0" rIns="0" bIns="0" rtlCol="0" anchor="ctr"/>
          <a:lstStyle/>
          <a:p>
            <a:pPr indent="0" marL="0">
              <a:buNone/>
            </a:pPr>
            <a:r>
              <a:rPr lang="en-US" sz="1200" b="1" dirty="0">
                <a:solidFill>
                  <a:srgbClr val="0077CC"/>
                </a:solidFill>
                <a:latin typeface="Arial" pitchFamily="34" charset="0"/>
                <a:ea typeface="Arial" pitchFamily="34" charset="-122"/>
                <a:cs typeface="Arial" pitchFamily="34" charset="-120"/>
              </a:rPr>
              <a:t>📚  Official Docs</a:t>
            </a:r>
            <a:endParaRPr lang="en-US" sz="1200" dirty="0"/>
          </a:p>
        </p:txBody>
      </p:sp>
      <p:sp>
        <p:nvSpPr>
          <p:cNvPr id="22" name="Text 20"/>
          <p:cNvSpPr/>
          <p:nvPr/>
        </p:nvSpPr>
        <p:spPr>
          <a:xfrm>
            <a:off x="3310128" y="3392424"/>
            <a:ext cx="2423160" cy="80467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elastic.co/docs — Elasticsearch Guide, Logstash Reference, Kibana Guide. All free, comprehensive and kept up to date.</a:t>
            </a:r>
            <a:endParaRPr lang="en-US" sz="1000" dirty="0"/>
          </a:p>
        </p:txBody>
      </p:sp>
      <p:sp>
        <p:nvSpPr>
          <p:cNvPr id="23" name="Shape 21"/>
          <p:cNvSpPr/>
          <p:nvPr/>
        </p:nvSpPr>
        <p:spPr>
          <a:xfrm>
            <a:off x="6025896" y="2990088"/>
            <a:ext cx="2697480"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4" name="Text 22"/>
          <p:cNvSpPr/>
          <p:nvPr/>
        </p:nvSpPr>
        <p:spPr>
          <a:xfrm>
            <a:off x="6163056" y="3063240"/>
            <a:ext cx="2423160" cy="292608"/>
          </a:xfrm>
          <a:prstGeom prst="rect">
            <a:avLst/>
          </a:prstGeom>
          <a:noFill/>
          <a:ln/>
        </p:spPr>
        <p:txBody>
          <a:bodyPr wrap="square" lIns="0" tIns="0" rIns="0" bIns="0" rtlCol="0" anchor="ctr"/>
          <a:lstStyle/>
          <a:p>
            <a:pPr indent="0" marL="0">
              <a:buNone/>
            </a:pPr>
            <a:r>
              <a:rPr lang="en-US" sz="1200" b="1" dirty="0">
                <a:solidFill>
                  <a:srgbClr val="8B5CF6"/>
                </a:solidFill>
                <a:latin typeface="Arial" pitchFamily="34" charset="0"/>
                <a:ea typeface="Arial" pitchFamily="34" charset="-122"/>
                <a:cs typeface="Arial" pitchFamily="34" charset="-120"/>
              </a:rPr>
              <a:t>🏆  Elastic Certifications</a:t>
            </a:r>
            <a:endParaRPr lang="en-US" sz="1200" dirty="0"/>
          </a:p>
        </p:txBody>
      </p:sp>
      <p:sp>
        <p:nvSpPr>
          <p:cNvPr id="25" name="Text 23"/>
          <p:cNvSpPr/>
          <p:nvPr/>
        </p:nvSpPr>
        <p:spPr>
          <a:xfrm>
            <a:off x="6163056" y="3392424"/>
            <a:ext cx="2423160" cy="80467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Elastic Certified Engineer (ECE), Elastic Certified Analyst (ECA). Industry-recognised credentials.</a:t>
            </a:r>
            <a:endParaRPr lang="en-US" sz="1000" dirty="0"/>
          </a:p>
        </p:txBody>
      </p:sp>
      <p:sp>
        <p:nvSpPr>
          <p:cNvPr id="26" name="Shape 24"/>
          <p:cNvSpPr/>
          <p:nvPr/>
        </p:nvSpPr>
        <p:spPr>
          <a:xfrm>
            <a:off x="0" y="4846320"/>
            <a:ext cx="9144000" cy="297180"/>
          </a:xfrm>
          <a:prstGeom prst="rect">
            <a:avLst/>
          </a:prstGeom>
          <a:solidFill>
            <a:srgbClr val="0F172A"/>
          </a:solidFill>
          <a:ln w="12700">
            <a:solidFill>
              <a:srgbClr val="0F172A"/>
            </a:solidFill>
            <a:prstDash val="solid"/>
          </a:ln>
        </p:spPr>
      </p:sp>
      <p:sp>
        <p:nvSpPr>
          <p:cNvPr id="27" name="Text 25"/>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Next Steps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C2D12"/>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217920" y="-914400"/>
            <a:ext cx="4389120" cy="4389120"/>
          </a:xfrm>
          <a:prstGeom prst="ellipse">
            <a:avLst/>
          </a:prstGeom>
          <a:solidFill>
            <a:srgbClr val="EF4444">
              <a:alpha val="10000"/>
            </a:srgbClr>
          </a:solidFill>
          <a:ln w="12700">
            <a:solidFill>
              <a:srgbClr val="EF4444">
                <a:alpha val="18000"/>
              </a:srgbClr>
            </a:solidFill>
            <a:prstDash val="solid"/>
          </a:ln>
        </p:spPr>
      </p:sp>
      <p:sp>
        <p:nvSpPr>
          <p:cNvPr id="4" name="Text 2"/>
          <p:cNvSpPr/>
          <p:nvPr/>
        </p:nvSpPr>
        <p:spPr>
          <a:xfrm>
            <a:off x="594360" y="822960"/>
            <a:ext cx="73152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Training Complete.</a:t>
            </a:r>
            <a:endParaRPr lang="en-US" sz="4800" dirty="0"/>
          </a:p>
        </p:txBody>
      </p:sp>
      <p:sp>
        <p:nvSpPr>
          <p:cNvPr id="5" name="Shape 3"/>
          <p:cNvSpPr/>
          <p:nvPr/>
        </p:nvSpPr>
        <p:spPr>
          <a:xfrm>
            <a:off x="594360" y="1828800"/>
            <a:ext cx="4114800" cy="27432"/>
          </a:xfrm>
          <a:prstGeom prst="rect">
            <a:avLst/>
          </a:prstGeom>
          <a:solidFill>
            <a:srgbClr val="EF4444"/>
          </a:solidFill>
          <a:ln w="12700">
            <a:solidFill>
              <a:srgbClr val="EF4444"/>
            </a:solidFill>
            <a:prstDash val="solid"/>
          </a:ln>
        </p:spPr>
      </p:sp>
      <p:sp>
        <p:nvSpPr>
          <p:cNvPr id="6" name="Text 4"/>
          <p:cNvSpPr/>
          <p:nvPr/>
        </p:nvSpPr>
        <p:spPr>
          <a:xfrm>
            <a:off x="594360" y="1993392"/>
            <a:ext cx="7315200" cy="347472"/>
          </a:xfrm>
          <a:prstGeom prst="rect">
            <a:avLst/>
          </a:prstGeom>
          <a:noFill/>
          <a:ln/>
        </p:spPr>
        <p:txBody>
          <a:bodyPr wrap="square" lIns="0" tIns="0" rIns="0" bIns="0" rtlCol="0" anchor="ctr"/>
          <a:lstStyle/>
          <a:p>
            <a:pPr indent="0" marL="0">
              <a:buNone/>
            </a:pPr>
            <a:r>
              <a:rPr lang="en-US" sz="1400" dirty="0">
                <a:solidFill>
                  <a:srgbClr val="FCA5A5"/>
                </a:solidFill>
                <a:latin typeface="Arial" pitchFamily="34" charset="0"/>
                <a:ea typeface="Arial" pitchFamily="34" charset="-122"/>
                <a:cs typeface="Arial" pitchFamily="34" charset="-120"/>
              </a:rPr>
              <a:t>ELK Stack — 2 Day Training Programme</a:t>
            </a:r>
            <a:endParaRPr lang="en-US" sz="1400" dirty="0"/>
          </a:p>
        </p:txBody>
      </p:sp>
      <p:sp>
        <p:nvSpPr>
          <p:cNvPr id="7" name="Text 5"/>
          <p:cNvSpPr/>
          <p:nvPr/>
        </p:nvSpPr>
        <p:spPr>
          <a:xfrm>
            <a:off x="594360" y="2359152"/>
            <a:ext cx="7315200" cy="329184"/>
          </a:xfrm>
          <a:prstGeom prst="rect">
            <a:avLst/>
          </a:prstGeom>
          <a:noFill/>
          <a:ln/>
        </p:spPr>
        <p:txBody>
          <a:bodyPr wrap="square" lIns="0" tIns="0" rIns="0" bIns="0" rtlCol="0" anchor="ctr"/>
          <a:lstStyle/>
          <a:p>
            <a:pPr indent="0" marL="0">
              <a:buNone/>
            </a:pPr>
            <a:r>
              <a:rPr lang="en-US" sz="1200" dirty="0">
                <a:solidFill>
                  <a:srgbClr val="FCA5A5"/>
                </a:solidFill>
                <a:latin typeface="Arial" pitchFamily="34" charset="0"/>
                <a:ea typeface="Arial" pitchFamily="34" charset="-122"/>
                <a:cs typeface="Arial" pitchFamily="34" charset="-120"/>
              </a:rPr>
              <a:t>Elasticsearch 8.11  +  Logstash 8.11  +  Kibana 8.11</a:t>
            </a:r>
            <a:endParaRPr lang="en-US" sz="1200" dirty="0"/>
          </a:p>
        </p:txBody>
      </p:sp>
      <p:sp>
        <p:nvSpPr>
          <p:cNvPr id="8" name="Text 6"/>
          <p:cNvSpPr/>
          <p:nvPr/>
        </p:nvSpPr>
        <p:spPr>
          <a:xfrm>
            <a:off x="594360" y="2852928"/>
            <a:ext cx="8046720" cy="47548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Post-training:  </a:t>
            </a:r>
            <a:pPr indent="0" marL="0">
              <a:buNone/>
            </a:pPr>
            <a:r>
              <a:rPr lang="en-US" sz="1100" dirty="0">
                <a:solidFill>
                  <a:srgbClr val="FCA5A5"/>
                </a:solidFill>
                <a:latin typeface="Arial" pitchFamily="34" charset="0"/>
                <a:ea typeface="Arial" pitchFamily="34" charset="-122"/>
                <a:cs typeface="Arial" pitchFamily="34" charset="-120"/>
              </a:rPr>
              <a:t>Stop the stack: docker-compose down  •  Share lab files with students  •  Send elastic.co/docs link  •  Complete trainer feedback</a:t>
            </a:r>
            <a:endParaRPr lang="en-US" sz="1100" dirty="0"/>
          </a:p>
        </p:txBody>
      </p:sp>
      <p:sp>
        <p:nvSpPr>
          <p:cNvPr id="9" name="Shape 7"/>
          <p:cNvSpPr/>
          <p:nvPr/>
        </p:nvSpPr>
        <p:spPr>
          <a:xfrm>
            <a:off x="594360" y="3493008"/>
            <a:ext cx="3474720" cy="530352"/>
          </a:xfrm>
          <a:prstGeom prst="roundRect">
            <a:avLst>
              <a:gd name="adj" fmla="val 13793"/>
            </a:avLst>
          </a:prstGeom>
          <a:solidFill>
            <a:srgbClr val="EF4444"/>
          </a:solidFill>
          <a:ln w="12700">
            <a:solidFill>
              <a:srgbClr val="EF4444"/>
            </a:solidFill>
            <a:prstDash val="solid"/>
          </a:ln>
        </p:spPr>
      </p:sp>
      <p:sp>
        <p:nvSpPr>
          <p:cNvPr id="10" name="Text 8"/>
          <p:cNvSpPr/>
          <p:nvPr/>
        </p:nvSpPr>
        <p:spPr>
          <a:xfrm>
            <a:off x="594360" y="3493008"/>
            <a:ext cx="347472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CONFIDENTIAL — Do Not Distribute</a:t>
            </a:r>
            <a:endParaRPr lang="en-US" sz="1300" dirty="0"/>
          </a:p>
        </p:txBody>
      </p:sp>
      <p:sp>
        <p:nvSpPr>
          <p:cNvPr id="11" name="Shape 9"/>
          <p:cNvSpPr/>
          <p:nvPr/>
        </p:nvSpPr>
        <p:spPr>
          <a:xfrm>
            <a:off x="0" y="4754880"/>
            <a:ext cx="9144000" cy="388620"/>
          </a:xfrm>
          <a:prstGeom prst="rect">
            <a:avLst/>
          </a:prstGeom>
          <a:solidFill>
            <a:srgbClr val="450A0A"/>
          </a:solidFill>
          <a:ln w="12700">
            <a:solidFill>
              <a:srgbClr val="450A0A"/>
            </a:solidFill>
            <a:prstDash val="solid"/>
          </a:ln>
        </p:spPr>
      </p:sp>
      <p:sp>
        <p:nvSpPr>
          <p:cNvPr id="12" name="Text 10"/>
          <p:cNvSpPr/>
          <p:nvPr/>
        </p:nvSpPr>
        <p:spPr>
          <a:xfrm>
            <a:off x="457200" y="4773168"/>
            <a:ext cx="8229600" cy="320040"/>
          </a:xfrm>
          <a:prstGeom prst="rect">
            <a:avLst/>
          </a:prstGeom>
          <a:noFill/>
          <a:ln/>
        </p:spPr>
        <p:txBody>
          <a:bodyPr wrap="square" lIns="0" tIns="0" rIns="0" bIns="0" rtlCol="0" anchor="ctr"/>
          <a:lstStyle/>
          <a:p>
            <a:pPr algn="ctr" indent="0" marL="0">
              <a:buNone/>
            </a:pPr>
            <a:r>
              <a:rPr lang="en-US" sz="1000" dirty="0">
                <a:solidFill>
                  <a:srgbClr val="FCA5A5"/>
                </a:solidFill>
                <a:latin typeface="Arial" pitchFamily="34" charset="0"/>
                <a:ea typeface="Arial" pitchFamily="34" charset="-122"/>
                <a:cs typeface="Arial" pitchFamily="34" charset="-120"/>
              </a:rPr>
              <a:t>TRAINER GUIDE — ELK STACK — PART 6 OF 6  —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2026-07-02T13:27:22Z</dcterms:created>
  <dcterms:modified xsi:type="dcterms:W3CDTF">2026-07-02T13:27:22Z</dcterms:modified>
</cp:coreProperties>
</file>